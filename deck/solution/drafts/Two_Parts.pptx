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One click per step. Finish the talking point, then click.
Click 1: The product has two parts. Part one builds the policy library. It is done once for each service, and again whenever a policy changes. A policy owner is accountable for it. Part two reads every packet that arrives, using that library.
Click 2: The link between them is simple. Part two only ever uses what part one approved. The nurse's rules are never made up at the moment a case arrives.
Click 3: Part two is the daily work. Intake uploads the packet. We read the pages, find the service from the procedure code, read the details the policy cares about, check the evidence, and apply the rules to recommend approve, pend or escalate. Part one is the foundation. Part two is the flow most people picture.
Click 4: Same AI, two jobs. One prepares knowledge before any case. The other reads cases. In both, the AI drafts or reads, plain code decides, and a person signs. The AI never denies.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54864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PRODUCT</a:t>
            </a:r>
            <a:endParaRPr lang="en-US" sz="1100" dirty="0"/>
          </a:p>
        </p:txBody>
      </p:sp>
      <p:sp>
        <p:nvSpPr>
          <p:cNvPr id="3" name="heading"/>
          <p:cNvSpPr txBox="1"/>
          <p:nvPr/>
        </p:nvSpPr>
        <p:spPr>
          <a:xfrm>
            <a:off x="457200" y="502920"/>
            <a:ext cx="768096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The product has two parts.</a:t>
            </a:r>
            <a:endParaRPr lang="en-US" sz="2600" dirty="0"/>
          </a:p>
        </p:txBody>
      </p:sp>
      <p:sp>
        <p:nvSpPr>
          <p:cNvPr id="4" name="sub"/>
          <p:cNvSpPr txBox="1"/>
          <p:nvPr/>
        </p:nvSpPr>
        <p:spPr>
          <a:xfrm>
            <a:off x="7498080" y="502920"/>
            <a:ext cx="42336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Build the library once. Read every packet with it.</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AI is used in both parts. Code decides. A person signs. The AI never denies.</a:t>
            </a:r>
            <a:endParaRPr lang="en-US" sz="900" dirty="0"/>
          </a:p>
        </p:txBody>
      </p:sp>
      <p:sp>
        <p:nvSpPr>
          <p:cNvPr id="6" name="P1Card"/>
          <p:cNvSpPr/>
          <p:nvPr/>
        </p:nvSpPr>
        <p:spPr>
          <a:xfrm>
            <a:off x="457200" y="1325880"/>
            <a:ext cx="11274552" cy="1965960"/>
          </a:xfrm>
          <a:prstGeom prst="roundRect">
            <a:avLst>
              <a:gd name="adj" fmla="val 4651"/>
            </a:avLst>
          </a:prstGeom>
          <a:solidFill>
            <a:srgbClr val="FFFFFF"/>
          </a:solidFill>
          <a:ln w="15875">
            <a:solidFill>
              <a:srgbClr val="CBD5D1"/>
            </a:solidFill>
          </a:ln>
        </p:spPr>
        <p:txBody>
          <a:bodyPr wrap="square" lIns="128016" tIns="73152" rIns="128016" bIns="73152" rtlCol="0" anchor="ctr"/>
          <a:lstStyle/>
          <a:p>
            <a:pPr algn="l" indent="0" marL="0">
              <a:buNone/>
            </a:pPr>
            <a:endParaRPr lang="en-US" sz="800" dirty="0"/>
          </a:p>
        </p:txBody>
      </p:sp>
      <p:sp>
        <p:nvSpPr>
          <p:cNvPr id="7" name="P1Tag"/>
          <p:cNvSpPr txBox="1"/>
          <p:nvPr/>
        </p:nvSpPr>
        <p:spPr>
          <a:xfrm>
            <a:off x="685800" y="1600200"/>
            <a:ext cx="2377440" cy="228600"/>
          </a:xfrm>
          <a:prstGeom prst="rect">
            <a:avLst/>
          </a:prstGeom>
          <a:noFill/>
          <a:ln/>
        </p:spPr>
        <p:txBody>
          <a:bodyPr wrap="square" lIns="0" tIns="0" rIns="0" bIns="0" rtlCol="0" anchor="t"/>
          <a:lstStyle/>
          <a:p>
            <a:pPr algn="l" indent="0" marL="0">
              <a:buNone/>
            </a:pPr>
            <a:r>
              <a:rPr lang="en-US" sz="1000" b="1" spc="200" kern="0" dirty="0">
                <a:solidFill>
                  <a:srgbClr val="1F6F5C"/>
                </a:solidFill>
                <a:latin typeface="Calibri" pitchFamily="34" charset="0"/>
                <a:ea typeface="Calibri" pitchFamily="34" charset="-122"/>
                <a:cs typeface="Calibri" pitchFamily="34" charset="-120"/>
              </a:rPr>
              <a:t>PART 1</a:t>
            </a:r>
            <a:endParaRPr lang="en-US" sz="1000" dirty="0"/>
          </a:p>
        </p:txBody>
      </p:sp>
      <p:sp>
        <p:nvSpPr>
          <p:cNvPr id="8" name="P1Title"/>
          <p:cNvSpPr txBox="1"/>
          <p:nvPr/>
        </p:nvSpPr>
        <p:spPr>
          <a:xfrm>
            <a:off x="685800" y="1856232"/>
            <a:ext cx="2468880" cy="822960"/>
          </a:xfrm>
          <a:prstGeom prst="rect">
            <a:avLst/>
          </a:prstGeom>
          <a:noFill/>
          <a:ln/>
        </p:spPr>
        <p:txBody>
          <a:bodyPr wrap="square" lIns="0" tIns="0" rIns="0" bIns="0" rtlCol="0" anchor="t"/>
          <a:lstStyle/>
          <a:p>
            <a:pPr algn="l" indent="0" marL="0">
              <a:buNone/>
            </a:pPr>
            <a:r>
              <a:rPr lang="en-US" sz="1800" b="1" dirty="0">
                <a:solidFill>
                  <a:srgbClr val="16211E"/>
                </a:solidFill>
                <a:latin typeface="Calibri" pitchFamily="34" charset="0"/>
                <a:ea typeface="Calibri" pitchFamily="34" charset="-122"/>
                <a:cs typeface="Calibri" pitchFamily="34" charset="-120"/>
              </a:rPr>
              <a:t>Build the policy library</a:t>
            </a:r>
            <a:endParaRPr lang="en-US" sz="1800" dirty="0"/>
          </a:p>
        </p:txBody>
      </p:sp>
      <p:sp>
        <p:nvSpPr>
          <p:cNvPr id="9" name="P1Sub"/>
          <p:cNvSpPr txBox="1"/>
          <p:nvPr/>
        </p:nvSpPr>
        <p:spPr>
          <a:xfrm>
            <a:off x="685800" y="2560320"/>
            <a:ext cx="2468880" cy="594360"/>
          </a:xfrm>
          <a:prstGeom prst="rect">
            <a:avLst/>
          </a:prstGeom>
          <a:noFill/>
          <a:ln/>
        </p:spPr>
        <p:txBody>
          <a:bodyPr wrap="square" lIns="0" tIns="0" rIns="0" bIns="0" rtlCol="0" anchor="t"/>
          <a:lstStyle/>
          <a:p>
            <a:pPr algn="l" indent="0" marL="0">
              <a:buNone/>
            </a:pPr>
            <a:r>
              <a:rPr lang="en-US" sz="1100" dirty="0">
                <a:solidFill>
                  <a:srgbClr val="5C6B66"/>
                </a:solidFill>
                <a:latin typeface="Calibri" pitchFamily="34" charset="0"/>
                <a:ea typeface="Calibri" pitchFamily="34" charset="-122"/>
                <a:cs typeface="Calibri" pitchFamily="34" charset="-120"/>
              </a:rPr>
              <a:t>Policy owner. Once per service, and whenever a policy changes.</a:t>
            </a:r>
            <a:endParaRPr lang="en-US" sz="1100" dirty="0"/>
          </a:p>
        </p:txBody>
      </p:sp>
      <p:sp>
        <p:nvSpPr>
          <p:cNvPr id="10" name="P1C0"/>
          <p:cNvSpPr/>
          <p:nvPr/>
        </p:nvSpPr>
        <p:spPr>
          <a:xfrm>
            <a:off x="3429000" y="1645920"/>
            <a:ext cx="1783080" cy="1325880"/>
          </a:xfrm>
          <a:prstGeom prst="roundRect">
            <a:avLst>
              <a:gd name="adj" fmla="val 6897"/>
            </a:avLst>
          </a:prstGeom>
          <a:solidFill>
            <a:srgbClr val="FBE9E4"/>
          </a:solidFill>
          <a:ln w="15875">
            <a:solidFill>
              <a:srgbClr val="B8452F"/>
            </a:solidFill>
          </a:ln>
        </p:spPr>
        <p:txBody>
          <a:bodyPr wrap="square" lIns="109728" tIns="128016" rIns="109728" bIns="54864" rtlCol="0" anchor="t"/>
          <a:lstStyle/>
          <a:p>
            <a:pPr algn="l" indent="0" marL="0">
              <a:spcAft>
                <a:spcPts val="300"/>
              </a:spcAft>
              <a:buNone/>
            </a:pPr>
            <a:r>
              <a:rPr lang="en-US" sz="850" b="1" spc="150" kern="0" dirty="0">
                <a:solidFill>
                  <a:srgbClr val="B8452F"/>
                </a:solidFill>
                <a:latin typeface="Calibri" pitchFamily="34" charset="0"/>
                <a:ea typeface="Calibri" pitchFamily="34" charset="-122"/>
                <a:cs typeface="Calibri" pitchFamily="34" charset="-120"/>
              </a:rPr>
              <a:t>OUTSIDE SOURCE</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Official policy</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CMS, federal rules, Humana documents</a:t>
            </a:r>
            <a:endParaRPr lang="en-US" sz="850" dirty="0"/>
          </a:p>
        </p:txBody>
      </p:sp>
      <p:sp>
        <p:nvSpPr>
          <p:cNvPr id="11" name="P1C1"/>
          <p:cNvSpPr/>
          <p:nvPr/>
        </p:nvSpPr>
        <p:spPr>
          <a:xfrm>
            <a:off x="5394960" y="1645920"/>
            <a:ext cx="1783080" cy="1325880"/>
          </a:xfrm>
          <a:prstGeom prst="roundRect">
            <a:avLst>
              <a:gd name="adj" fmla="val 6897"/>
            </a:avLst>
          </a:prstGeom>
          <a:solidFill>
            <a:srgbClr val="EBE2F8"/>
          </a:solidFill>
          <a:ln w="15875">
            <a:solidFill>
              <a:srgbClr val="5F3AA8"/>
            </a:solidFill>
          </a:ln>
        </p:spPr>
        <p:txBody>
          <a:bodyPr wrap="square" lIns="109728" tIns="128016" rIns="109728" bIns="54864" rtlCol="0" anchor="t"/>
          <a:lstStyle/>
          <a:p>
            <a:pPr algn="l" indent="0" marL="0">
              <a:spcAft>
                <a:spcPts val="300"/>
              </a:spcAft>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Read and draft</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ETL + AI reads it, AI drafts the rules</a:t>
            </a:r>
            <a:endParaRPr lang="en-US" sz="850" dirty="0"/>
          </a:p>
        </p:txBody>
      </p:sp>
      <p:sp>
        <p:nvSpPr>
          <p:cNvPr id="12" name="P1A1"/>
          <p:cNvSpPr/>
          <p:nvPr/>
        </p:nvSpPr>
        <p:spPr>
          <a:xfrm>
            <a:off x="5221224" y="2308860"/>
            <a:ext cx="164592" cy="0"/>
          </a:xfrm>
          <a:prstGeom prst="line">
            <a:avLst/>
          </a:prstGeom>
          <a:noFill/>
          <a:ln w="22225">
            <a:solidFill>
              <a:srgbClr val="5C6B66"/>
            </a:solidFill>
            <a:prstDash val="solid"/>
            <a:tailEnd type="triangle"/>
          </a:ln>
        </p:spPr>
      </p:sp>
      <p:sp>
        <p:nvSpPr>
          <p:cNvPr id="13" name="P1C2"/>
          <p:cNvSpPr/>
          <p:nvPr/>
        </p:nvSpPr>
        <p:spPr>
          <a:xfrm>
            <a:off x="7360920" y="1645920"/>
            <a:ext cx="1783080" cy="1325880"/>
          </a:xfrm>
          <a:prstGeom prst="roundRect">
            <a:avLst>
              <a:gd name="adj" fmla="val 6897"/>
            </a:avLst>
          </a:prstGeom>
          <a:solidFill>
            <a:srgbClr val="FCEFD0"/>
          </a:solidFill>
          <a:ln w="15875">
            <a:solidFill>
              <a:srgbClr val="8A5A00"/>
            </a:solidFill>
          </a:ln>
        </p:spPr>
        <p:txBody>
          <a:bodyPr wrap="square" lIns="109728" tIns="128016" rIns="109728" bIns="54864" rtlCol="0" anchor="t"/>
          <a:lstStyle/>
          <a:p>
            <a:pPr algn="l" indent="0" marL="0">
              <a:spcAft>
                <a:spcPts val="300"/>
              </a:spcAft>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Check and approve</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Code checks, a person approves</a:t>
            </a:r>
            <a:endParaRPr lang="en-US" sz="850" dirty="0"/>
          </a:p>
        </p:txBody>
      </p:sp>
      <p:sp>
        <p:nvSpPr>
          <p:cNvPr id="14" name="P1A2"/>
          <p:cNvSpPr/>
          <p:nvPr/>
        </p:nvSpPr>
        <p:spPr>
          <a:xfrm>
            <a:off x="7187184" y="2308860"/>
            <a:ext cx="164592" cy="0"/>
          </a:xfrm>
          <a:prstGeom prst="line">
            <a:avLst/>
          </a:prstGeom>
          <a:noFill/>
          <a:ln w="22225">
            <a:solidFill>
              <a:srgbClr val="5C6B66"/>
            </a:solidFill>
            <a:prstDash val="solid"/>
            <a:tailEnd type="triangle"/>
          </a:ln>
        </p:spPr>
      </p:sp>
      <p:sp>
        <p:nvSpPr>
          <p:cNvPr id="15" name="P1C3"/>
          <p:cNvSpPr/>
          <p:nvPr/>
        </p:nvSpPr>
        <p:spPr>
          <a:xfrm>
            <a:off x="9326880" y="1645920"/>
            <a:ext cx="1783080" cy="1325880"/>
          </a:xfrm>
          <a:prstGeom prst="roundRect">
            <a:avLst>
              <a:gd name="adj" fmla="val 6897"/>
            </a:avLst>
          </a:prstGeom>
          <a:solidFill>
            <a:srgbClr val="E3F0EB"/>
          </a:solidFill>
          <a:ln w="15875">
            <a:solidFill>
              <a:srgbClr val="1F6F5C"/>
            </a:solidFill>
          </a:ln>
        </p:spPr>
        <p:txBody>
          <a:bodyPr wrap="square" lIns="109728" tIns="128016" rIns="109728"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 + DATA</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Link and publish</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Policy to codes to a service, versioned</a:t>
            </a:r>
            <a:endParaRPr lang="en-US" sz="850" dirty="0"/>
          </a:p>
        </p:txBody>
      </p:sp>
      <p:sp>
        <p:nvSpPr>
          <p:cNvPr id="16" name="P1A3"/>
          <p:cNvSpPr/>
          <p:nvPr/>
        </p:nvSpPr>
        <p:spPr>
          <a:xfrm>
            <a:off x="9153144" y="2308860"/>
            <a:ext cx="164592" cy="0"/>
          </a:xfrm>
          <a:prstGeom prst="line">
            <a:avLst/>
          </a:prstGeom>
          <a:noFill/>
          <a:ln w="22225">
            <a:solidFill>
              <a:srgbClr val="5C6B66"/>
            </a:solidFill>
            <a:prstDash val="solid"/>
            <a:tailEnd type="triangle"/>
          </a:ln>
        </p:spPr>
      </p:sp>
      <p:sp>
        <p:nvSpPr>
          <p:cNvPr id="17" name="Link"/>
          <p:cNvSpPr/>
          <p:nvPr/>
        </p:nvSpPr>
        <p:spPr>
          <a:xfrm>
            <a:off x="6099048" y="3310128"/>
            <a:ext cx="0" cy="457200"/>
          </a:xfrm>
          <a:prstGeom prst="line">
            <a:avLst/>
          </a:prstGeom>
          <a:noFill/>
          <a:ln w="22225">
            <a:solidFill>
              <a:srgbClr val="5C6B66"/>
            </a:solidFill>
            <a:prstDash val="solid"/>
            <a:tailEnd type="triangle"/>
          </a:ln>
        </p:spPr>
      </p:sp>
      <p:sp>
        <p:nvSpPr>
          <p:cNvPr id="18" name="LinkLbl"/>
          <p:cNvSpPr txBox="1"/>
          <p:nvPr/>
        </p:nvSpPr>
        <p:spPr>
          <a:xfrm>
            <a:off x="6355080" y="3364992"/>
            <a:ext cx="5029200" cy="365760"/>
          </a:xfrm>
          <a:prstGeom prst="rect">
            <a:avLst/>
          </a:prstGeom>
          <a:noFill/>
          <a:ln/>
        </p:spPr>
        <p:txBody>
          <a:bodyPr wrap="square" lIns="0" tIns="0" rIns="0" bIns="0" rtlCol="0" anchor="ctr"/>
          <a:lstStyle/>
          <a:p>
            <a:pPr algn="l" indent="0" marL="0">
              <a:buNone/>
            </a:pPr>
            <a:r>
              <a:rPr lang="en-US" sz="1200" b="1" dirty="0">
                <a:solidFill>
                  <a:srgbClr val="1F6F5C"/>
                </a:solidFill>
                <a:latin typeface="Calibri" pitchFamily="34" charset="0"/>
                <a:ea typeface="Calibri" pitchFamily="34" charset="-122"/>
                <a:cs typeface="Calibri" pitchFamily="34" charset="-120"/>
              </a:rPr>
              <a:t>Part 2 only ever uses what Part 1 approved</a:t>
            </a:r>
            <a:endParaRPr lang="en-US" sz="1200" dirty="0"/>
          </a:p>
        </p:txBody>
      </p:sp>
      <p:sp>
        <p:nvSpPr>
          <p:cNvPr id="19" name="P2Card"/>
          <p:cNvSpPr/>
          <p:nvPr/>
        </p:nvSpPr>
        <p:spPr>
          <a:xfrm>
            <a:off x="457200" y="3794760"/>
            <a:ext cx="11274552" cy="1965960"/>
          </a:xfrm>
          <a:prstGeom prst="roundRect">
            <a:avLst>
              <a:gd name="adj" fmla="val 4651"/>
            </a:avLst>
          </a:prstGeom>
          <a:solidFill>
            <a:srgbClr val="FFFFFF"/>
          </a:solidFill>
          <a:ln w="15875">
            <a:solidFill>
              <a:srgbClr val="CBD5D1"/>
            </a:solidFill>
          </a:ln>
        </p:spPr>
        <p:txBody>
          <a:bodyPr wrap="square" lIns="128016" tIns="73152" rIns="128016" bIns="73152" rtlCol="0" anchor="ctr"/>
          <a:lstStyle/>
          <a:p>
            <a:pPr algn="l" indent="0" marL="0">
              <a:buNone/>
            </a:pPr>
            <a:endParaRPr lang="en-US" sz="800" dirty="0"/>
          </a:p>
        </p:txBody>
      </p:sp>
      <p:sp>
        <p:nvSpPr>
          <p:cNvPr id="20" name="P2Tag"/>
          <p:cNvSpPr txBox="1"/>
          <p:nvPr/>
        </p:nvSpPr>
        <p:spPr>
          <a:xfrm>
            <a:off x="685800" y="4069080"/>
            <a:ext cx="2377440" cy="228600"/>
          </a:xfrm>
          <a:prstGeom prst="rect">
            <a:avLst/>
          </a:prstGeom>
          <a:noFill/>
          <a:ln/>
        </p:spPr>
        <p:txBody>
          <a:bodyPr wrap="square" lIns="0" tIns="0" rIns="0" bIns="0" rtlCol="0" anchor="t"/>
          <a:lstStyle/>
          <a:p>
            <a:pPr algn="l" indent="0" marL="0">
              <a:buNone/>
            </a:pPr>
            <a:r>
              <a:rPr lang="en-US" sz="1000" b="1" spc="200" kern="0" dirty="0">
                <a:solidFill>
                  <a:srgbClr val="1F6F5C"/>
                </a:solidFill>
                <a:latin typeface="Calibri" pitchFamily="34" charset="0"/>
                <a:ea typeface="Calibri" pitchFamily="34" charset="-122"/>
                <a:cs typeface="Calibri" pitchFamily="34" charset="-120"/>
              </a:rPr>
              <a:t>PART 2</a:t>
            </a:r>
            <a:endParaRPr lang="en-US" sz="1000" dirty="0"/>
          </a:p>
        </p:txBody>
      </p:sp>
      <p:sp>
        <p:nvSpPr>
          <p:cNvPr id="21" name="P2Title"/>
          <p:cNvSpPr txBox="1"/>
          <p:nvPr/>
        </p:nvSpPr>
        <p:spPr>
          <a:xfrm>
            <a:off x="685800" y="4325112"/>
            <a:ext cx="2468880" cy="822960"/>
          </a:xfrm>
          <a:prstGeom prst="rect">
            <a:avLst/>
          </a:prstGeom>
          <a:noFill/>
          <a:ln/>
        </p:spPr>
        <p:txBody>
          <a:bodyPr wrap="square" lIns="0" tIns="0" rIns="0" bIns="0" rtlCol="0" anchor="t"/>
          <a:lstStyle/>
          <a:p>
            <a:pPr algn="l" indent="0" marL="0">
              <a:buNone/>
            </a:pPr>
            <a:r>
              <a:rPr lang="en-US" sz="1800" b="1" dirty="0">
                <a:solidFill>
                  <a:srgbClr val="16211E"/>
                </a:solidFill>
                <a:latin typeface="Calibri" pitchFamily="34" charset="0"/>
                <a:ea typeface="Calibri" pitchFamily="34" charset="-122"/>
                <a:cs typeface="Calibri" pitchFamily="34" charset="-120"/>
              </a:rPr>
              <a:t>Read every packet</a:t>
            </a:r>
            <a:endParaRPr lang="en-US" sz="1800" dirty="0"/>
          </a:p>
        </p:txBody>
      </p:sp>
      <p:sp>
        <p:nvSpPr>
          <p:cNvPr id="22" name="P2Sub"/>
          <p:cNvSpPr txBox="1"/>
          <p:nvPr/>
        </p:nvSpPr>
        <p:spPr>
          <a:xfrm>
            <a:off x="685800" y="5029200"/>
            <a:ext cx="2468880" cy="594360"/>
          </a:xfrm>
          <a:prstGeom prst="rect">
            <a:avLst/>
          </a:prstGeom>
          <a:noFill/>
          <a:ln/>
        </p:spPr>
        <p:txBody>
          <a:bodyPr wrap="square" lIns="0" tIns="0" rIns="0" bIns="0" rtlCol="0" anchor="t"/>
          <a:lstStyle/>
          <a:p>
            <a:pPr algn="l" indent="0" marL="0">
              <a:buNone/>
            </a:pPr>
            <a:r>
              <a:rPr lang="en-US" sz="1100" dirty="0">
                <a:solidFill>
                  <a:srgbClr val="5C6B66"/>
                </a:solidFill>
                <a:latin typeface="Calibri" pitchFamily="34" charset="0"/>
                <a:ea typeface="Calibri" pitchFamily="34" charset="-122"/>
                <a:cs typeface="Calibri" pitchFamily="34" charset="-120"/>
              </a:rPr>
              <a:t>Intake, nurse and medical director. Every request.</a:t>
            </a:r>
            <a:endParaRPr lang="en-US" sz="1100" dirty="0"/>
          </a:p>
        </p:txBody>
      </p:sp>
      <p:sp>
        <p:nvSpPr>
          <p:cNvPr id="23" name="P2C0"/>
          <p:cNvSpPr/>
          <p:nvPr/>
        </p:nvSpPr>
        <p:spPr>
          <a:xfrm>
            <a:off x="3429000" y="4114800"/>
            <a:ext cx="1481328" cy="1325880"/>
          </a:xfrm>
          <a:prstGeom prst="roundRect">
            <a:avLst>
              <a:gd name="adj" fmla="val 6897"/>
            </a:avLst>
          </a:prstGeom>
          <a:solidFill>
            <a:srgbClr val="FCEFD0"/>
          </a:solidFill>
          <a:ln w="15875">
            <a:solidFill>
              <a:srgbClr val="8A5A00"/>
            </a:solidFill>
          </a:ln>
        </p:spPr>
        <p:txBody>
          <a:bodyPr wrap="square" lIns="109728" tIns="128016" rIns="109728" bIns="54864" rtlCol="0" anchor="t"/>
          <a:lstStyle/>
          <a:p>
            <a:pPr algn="l" indent="0" marL="0">
              <a:spcAft>
                <a:spcPts val="300"/>
              </a:spcAft>
              <a:buNone/>
            </a:pPr>
            <a:r>
              <a:rPr lang="en-US" sz="850" b="1" spc="150" kern="0" dirty="0">
                <a:solidFill>
                  <a:srgbClr val="8A5A00"/>
                </a:solidFill>
                <a:latin typeface="Calibri" pitchFamily="34" charset="0"/>
                <a:ea typeface="Calibri" pitchFamily="34" charset="-122"/>
                <a:cs typeface="Calibri" pitchFamily="34" charset="-120"/>
              </a:rPr>
              <a:t>PERSON</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Upload</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Intake uploads the PDF</a:t>
            </a:r>
            <a:endParaRPr lang="en-US" sz="850" dirty="0"/>
          </a:p>
        </p:txBody>
      </p:sp>
      <p:sp>
        <p:nvSpPr>
          <p:cNvPr id="24" name="P2C1"/>
          <p:cNvSpPr/>
          <p:nvPr/>
        </p:nvSpPr>
        <p:spPr>
          <a:xfrm>
            <a:off x="5093208" y="4114800"/>
            <a:ext cx="1481328" cy="1325880"/>
          </a:xfrm>
          <a:prstGeom prst="roundRect">
            <a:avLst>
              <a:gd name="adj" fmla="val 6897"/>
            </a:avLst>
          </a:prstGeom>
          <a:solidFill>
            <a:srgbClr val="FBE9E4"/>
          </a:solidFill>
          <a:ln w="15875">
            <a:solidFill>
              <a:srgbClr val="B8452F"/>
            </a:solidFill>
          </a:ln>
        </p:spPr>
        <p:txBody>
          <a:bodyPr wrap="square" lIns="109728" tIns="128016" rIns="109728" bIns="54864" rtlCol="0" anchor="t"/>
          <a:lstStyle/>
          <a:p>
            <a:pPr algn="l" indent="0" marL="0">
              <a:spcAft>
                <a:spcPts val="300"/>
              </a:spcAft>
              <a:buNone/>
            </a:pPr>
            <a:r>
              <a:rPr lang="en-US" sz="850" b="1" spc="150" kern="0" dirty="0">
                <a:solidFill>
                  <a:srgbClr val="B8452F"/>
                </a:solidFill>
                <a:latin typeface="Calibri" pitchFamily="34" charset="0"/>
                <a:ea typeface="Calibri" pitchFamily="34" charset="-122"/>
                <a:cs typeface="Calibri" pitchFamily="34" charset="-120"/>
              </a:rPr>
              <a:t>ETL + 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Read the pages</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ETL + AI makes typed pieces</a:t>
            </a:r>
            <a:endParaRPr lang="en-US" sz="850" dirty="0"/>
          </a:p>
        </p:txBody>
      </p:sp>
      <p:sp>
        <p:nvSpPr>
          <p:cNvPr id="25" name="P2A1"/>
          <p:cNvSpPr/>
          <p:nvPr/>
        </p:nvSpPr>
        <p:spPr>
          <a:xfrm>
            <a:off x="4919472" y="4777740"/>
            <a:ext cx="164592" cy="0"/>
          </a:xfrm>
          <a:prstGeom prst="line">
            <a:avLst/>
          </a:prstGeom>
          <a:noFill/>
          <a:ln w="22225">
            <a:solidFill>
              <a:srgbClr val="5C6B66"/>
            </a:solidFill>
            <a:prstDash val="solid"/>
            <a:tailEnd type="triangle"/>
          </a:ln>
        </p:spPr>
      </p:sp>
      <p:sp>
        <p:nvSpPr>
          <p:cNvPr id="26" name="P2C2"/>
          <p:cNvSpPr/>
          <p:nvPr/>
        </p:nvSpPr>
        <p:spPr>
          <a:xfrm>
            <a:off x="6757416" y="4114800"/>
            <a:ext cx="1481328" cy="1325880"/>
          </a:xfrm>
          <a:prstGeom prst="roundRect">
            <a:avLst>
              <a:gd name="adj" fmla="val 6897"/>
            </a:avLst>
          </a:prstGeom>
          <a:solidFill>
            <a:srgbClr val="E3F0EB"/>
          </a:solidFill>
          <a:ln w="15875">
            <a:solidFill>
              <a:srgbClr val="1F6F5C"/>
            </a:solidFill>
          </a:ln>
        </p:spPr>
        <p:txBody>
          <a:bodyPr wrap="square" lIns="109728" tIns="128016" rIns="109728"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Find the service</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The procedure code picks it</a:t>
            </a:r>
            <a:endParaRPr lang="en-US" sz="850" dirty="0"/>
          </a:p>
        </p:txBody>
      </p:sp>
      <p:sp>
        <p:nvSpPr>
          <p:cNvPr id="27" name="P2A2"/>
          <p:cNvSpPr/>
          <p:nvPr/>
        </p:nvSpPr>
        <p:spPr>
          <a:xfrm>
            <a:off x="6583680" y="4777740"/>
            <a:ext cx="164592" cy="0"/>
          </a:xfrm>
          <a:prstGeom prst="line">
            <a:avLst/>
          </a:prstGeom>
          <a:noFill/>
          <a:ln w="22225">
            <a:solidFill>
              <a:srgbClr val="5C6B66"/>
            </a:solidFill>
            <a:prstDash val="solid"/>
            <a:tailEnd type="triangle"/>
          </a:ln>
        </p:spPr>
      </p:sp>
      <p:sp>
        <p:nvSpPr>
          <p:cNvPr id="28" name="P2C3"/>
          <p:cNvSpPr/>
          <p:nvPr/>
        </p:nvSpPr>
        <p:spPr>
          <a:xfrm>
            <a:off x="8421624" y="4114800"/>
            <a:ext cx="1481328" cy="1325880"/>
          </a:xfrm>
          <a:prstGeom prst="roundRect">
            <a:avLst>
              <a:gd name="adj" fmla="val 6897"/>
            </a:avLst>
          </a:prstGeom>
          <a:solidFill>
            <a:srgbClr val="EBE2F8"/>
          </a:solidFill>
          <a:ln w="15875">
            <a:solidFill>
              <a:srgbClr val="5F3AA8"/>
            </a:solidFill>
          </a:ln>
        </p:spPr>
        <p:txBody>
          <a:bodyPr wrap="square" lIns="109728" tIns="128016" rIns="109728" bIns="54864" rtlCol="0" anchor="t"/>
          <a:lstStyle/>
          <a:p>
            <a:pPr algn="l" indent="0" marL="0">
              <a:spcAft>
                <a:spcPts val="300"/>
              </a:spcAft>
              <a:buNone/>
            </a:pPr>
            <a:r>
              <a:rPr lang="en-US" sz="850" b="1" spc="150" kern="0" dirty="0">
                <a:solidFill>
                  <a:srgbClr val="5F3AA8"/>
                </a:solidFill>
                <a:latin typeface="Calibri" pitchFamily="34" charset="0"/>
                <a:ea typeface="Calibri" pitchFamily="34" charset="-122"/>
                <a:cs typeface="Calibri" pitchFamily="34" charset="-120"/>
              </a:rPr>
              <a:t>AI</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Read and check</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AI reads details, code checks the evidence</a:t>
            </a:r>
            <a:endParaRPr lang="en-US" sz="850" dirty="0"/>
          </a:p>
        </p:txBody>
      </p:sp>
      <p:sp>
        <p:nvSpPr>
          <p:cNvPr id="29" name="P2A3"/>
          <p:cNvSpPr/>
          <p:nvPr/>
        </p:nvSpPr>
        <p:spPr>
          <a:xfrm>
            <a:off x="8247888" y="4777740"/>
            <a:ext cx="164592" cy="0"/>
          </a:xfrm>
          <a:prstGeom prst="line">
            <a:avLst/>
          </a:prstGeom>
          <a:noFill/>
          <a:ln w="22225">
            <a:solidFill>
              <a:srgbClr val="5C6B66"/>
            </a:solidFill>
            <a:prstDash val="solid"/>
            <a:tailEnd type="triangle"/>
          </a:ln>
        </p:spPr>
      </p:sp>
      <p:sp>
        <p:nvSpPr>
          <p:cNvPr id="30" name="P2C4"/>
          <p:cNvSpPr/>
          <p:nvPr/>
        </p:nvSpPr>
        <p:spPr>
          <a:xfrm>
            <a:off x="10085832" y="4114800"/>
            <a:ext cx="1481328" cy="1325880"/>
          </a:xfrm>
          <a:prstGeom prst="roundRect">
            <a:avLst>
              <a:gd name="adj" fmla="val 6897"/>
            </a:avLst>
          </a:prstGeom>
          <a:solidFill>
            <a:srgbClr val="E3F0EB"/>
          </a:solidFill>
          <a:ln w="15875">
            <a:solidFill>
              <a:srgbClr val="1F6F5C"/>
            </a:solidFill>
          </a:ln>
        </p:spPr>
        <p:txBody>
          <a:bodyPr wrap="square" lIns="109728" tIns="128016" rIns="109728" bIns="54864" rtlCol="0" anchor="t"/>
          <a:lstStyle/>
          <a:p>
            <a:pPr algn="l" indent="0" marL="0">
              <a:spcAft>
                <a:spcPts val="300"/>
              </a:spcAft>
              <a:buNone/>
            </a:pPr>
            <a:r>
              <a:rPr lang="en-US" sz="850" b="1" spc="150" kern="0" dirty="0">
                <a:solidFill>
                  <a:srgbClr val="1F6F5C"/>
                </a:solidFill>
                <a:latin typeface="Calibri" pitchFamily="34" charset="0"/>
                <a:ea typeface="Calibri" pitchFamily="34" charset="-122"/>
                <a:cs typeface="Calibri" pitchFamily="34" charset="-120"/>
              </a:rPr>
              <a:t>CODE</a:t>
            </a:r>
            <a:endParaRPr lang="en-US" sz="850" dirty="0"/>
          </a:p>
          <a:p>
            <a:pPr algn="l" indent="0" marL="0">
              <a:spcAft>
                <a:spcPts val="300"/>
              </a:spcAft>
              <a:buNone/>
            </a:pPr>
            <a:r>
              <a:rPr lang="en-US" sz="1300" b="1" dirty="0">
                <a:solidFill>
                  <a:srgbClr val="16211E"/>
                </a:solidFill>
                <a:latin typeface="Calibri" pitchFamily="34" charset="0"/>
                <a:ea typeface="Calibri" pitchFamily="34" charset="-122"/>
                <a:cs typeface="Calibri" pitchFamily="34" charset="-120"/>
              </a:rPr>
              <a:t>Recommend</a:t>
            </a:r>
            <a:endParaRPr lang="en-US" sz="850" dirty="0"/>
          </a:p>
          <a:p>
            <a:pPr algn="l" indent="0" marL="0">
              <a:buNone/>
            </a:pPr>
            <a:r>
              <a:rPr lang="en-US" sz="1050" dirty="0">
                <a:solidFill>
                  <a:srgbClr val="5C6B66"/>
                </a:solidFill>
                <a:latin typeface="Calibri" pitchFamily="34" charset="0"/>
                <a:ea typeface="Calibri" pitchFamily="34" charset="-122"/>
                <a:cs typeface="Calibri" pitchFamily="34" charset="-120"/>
              </a:rPr>
              <a:t>Rules engine: approve, pend or escalate</a:t>
            </a:r>
            <a:endParaRPr lang="en-US" sz="850" dirty="0"/>
          </a:p>
        </p:txBody>
      </p:sp>
      <p:sp>
        <p:nvSpPr>
          <p:cNvPr id="31" name="P2A4"/>
          <p:cNvSpPr/>
          <p:nvPr/>
        </p:nvSpPr>
        <p:spPr>
          <a:xfrm>
            <a:off x="9912096" y="4777740"/>
            <a:ext cx="164592" cy="0"/>
          </a:xfrm>
          <a:prstGeom prst="line">
            <a:avLst/>
          </a:prstGeom>
          <a:noFill/>
          <a:ln w="22225">
            <a:solidFill>
              <a:srgbClr val="5C6B66"/>
            </a:solidFill>
            <a:prstDash val="solid"/>
            <a:tailEnd type="triangle"/>
          </a:ln>
        </p:spPr>
      </p:sp>
      <p:sp>
        <p:nvSpPr>
          <p:cNvPr id="32" name="Bar"/>
          <p:cNvSpPr/>
          <p:nvPr/>
        </p:nvSpPr>
        <p:spPr>
          <a:xfrm>
            <a:off x="457200" y="5897880"/>
            <a:ext cx="11274552" cy="502920"/>
          </a:xfrm>
          <a:prstGeom prst="roundRect">
            <a:avLst>
              <a:gd name="adj" fmla="val 14545"/>
            </a:avLst>
          </a:prstGeom>
          <a:solidFill>
            <a:srgbClr val="1F6F5C"/>
          </a:solidFill>
          <a:ln w="15875">
            <a:solidFill>
              <a:srgbClr val="1F6F5C"/>
            </a:solidFill>
          </a:ln>
        </p:spPr>
        <p:txBody>
          <a:bodyPr wrap="square" lIns="182880" tIns="36576" rIns="182880" bIns="36576"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AI, two jobs. One prepares knowledge before any case. The other reads cases.</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12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12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12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12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12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nodeType="withEffect">
                                  <p:stCondLst>
                                    <p:cond delay="12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12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12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12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nodeType="withEffect">
                                  <p:stCondLst>
                                    <p:cond delay="12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50"/>
                                        <p:tgtEl>
                                          <p:spTgt spid="17"/>
                                        </p:tgtEl>
                                      </p:cBhvr>
                                    </p:animEffect>
                                  </p:childTnLst>
                                </p:cTn>
                              </p:par>
                              <p:par>
                                <p:cTn id="43" presetID="10" presetClass="entr" presetSubtype="0" fill="hold" grpId="0" nodeType="withEffect">
                                  <p:stCondLst>
                                    <p:cond delay="12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5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childTnLst>
                                </p:cTn>
                              </p:par>
                              <p:par>
                                <p:cTn id="51" presetID="10" presetClass="entr" presetSubtype="0" fill="hold" grpId="0" nodeType="withEffect">
                                  <p:stCondLst>
                                    <p:cond delay="12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childTnLst>
                                </p:cTn>
                              </p:par>
                              <p:par>
                                <p:cTn id="54" presetID="10" presetClass="entr" presetSubtype="0" fill="hold" grpId="0" nodeType="withEffect">
                                  <p:stCondLst>
                                    <p:cond delay="12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50"/>
                                        <p:tgtEl>
                                          <p:spTgt spid="21"/>
                                        </p:tgtEl>
                                      </p:cBhvr>
                                    </p:animEffect>
                                  </p:childTnLst>
                                </p:cTn>
                              </p:par>
                              <p:par>
                                <p:cTn id="57" presetID="10" presetClass="entr" presetSubtype="0" fill="hold" grpId="0" nodeType="withEffect">
                                  <p:stCondLst>
                                    <p:cond delay="12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50"/>
                                        <p:tgtEl>
                                          <p:spTgt spid="22"/>
                                        </p:tgtEl>
                                      </p:cBhvr>
                                    </p:animEffect>
                                  </p:childTnLst>
                                </p:cTn>
                              </p:par>
                              <p:par>
                                <p:cTn id="60" presetID="10" presetClass="entr" presetSubtype="0" fill="hold" grpId="0" nodeType="withEffect">
                                  <p:stCondLst>
                                    <p:cond delay="12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50"/>
                                        <p:tgtEl>
                                          <p:spTgt spid="23"/>
                                        </p:tgtEl>
                                      </p:cBhvr>
                                    </p:animEffect>
                                  </p:childTnLst>
                                </p:cTn>
                              </p:par>
                              <p:par>
                                <p:cTn id="63" presetID="10" presetClass="entr" presetSubtype="0" fill="hold" grpId="0" nodeType="withEffect">
                                  <p:stCondLst>
                                    <p:cond delay="12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50"/>
                                        <p:tgtEl>
                                          <p:spTgt spid="24"/>
                                        </p:tgtEl>
                                      </p:cBhvr>
                                    </p:animEffect>
                                  </p:childTnLst>
                                </p:cTn>
                              </p:par>
                              <p:par>
                                <p:cTn id="66" presetID="10" presetClass="entr" presetSubtype="0" fill="hold" nodeType="withEffect">
                                  <p:stCondLst>
                                    <p:cond delay="12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50"/>
                                        <p:tgtEl>
                                          <p:spTgt spid="25"/>
                                        </p:tgtEl>
                                      </p:cBhvr>
                                    </p:animEffect>
                                  </p:childTnLst>
                                </p:cTn>
                              </p:par>
                              <p:par>
                                <p:cTn id="69" presetID="10" presetClass="entr" presetSubtype="0" fill="hold" grpId="0" nodeType="withEffect">
                                  <p:stCondLst>
                                    <p:cond delay="12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50"/>
                                        <p:tgtEl>
                                          <p:spTgt spid="26"/>
                                        </p:tgtEl>
                                      </p:cBhvr>
                                    </p:animEffect>
                                  </p:childTnLst>
                                </p:cTn>
                              </p:par>
                              <p:par>
                                <p:cTn id="72" presetID="10" presetClass="entr" presetSubtype="0" fill="hold" nodeType="withEffect">
                                  <p:stCondLst>
                                    <p:cond delay="12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grpId="0" nodeType="withEffect">
                                  <p:stCondLst>
                                    <p:cond delay="1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par>
                                <p:cTn id="78" presetID="10" presetClass="entr" presetSubtype="0" fill="hold" nodeType="withEffect">
                                  <p:stCondLst>
                                    <p:cond delay="12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50"/>
                                        <p:tgtEl>
                                          <p:spTgt spid="29"/>
                                        </p:tgtEl>
                                      </p:cBhvr>
                                    </p:animEffect>
                                  </p:childTnLst>
                                </p:cTn>
                              </p:par>
                              <p:par>
                                <p:cTn id="81" presetID="10" presetClass="entr" presetSubtype="0" fill="hold" grpId="0" nodeType="withEffect">
                                  <p:stCondLst>
                                    <p:cond delay="12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50"/>
                                        <p:tgtEl>
                                          <p:spTgt spid="30"/>
                                        </p:tgtEl>
                                      </p:cBhvr>
                                    </p:animEffect>
                                  </p:childTnLst>
                                </p:cTn>
                              </p:par>
                              <p:par>
                                <p:cTn id="84" presetID="10" presetClass="entr" presetSubtype="0" fill="hold" nodeType="withEffect">
                                  <p:stCondLst>
                                    <p:cond delay="12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animBg="1"/>
      <p:bldP spid="11" grpId="0" animBg="1"/>
      <p:bldP spid="13" grpId="0" animBg="1"/>
      <p:bldP spid="15" grpId="0" animBg="1"/>
      <p:bldP spid="18" grpId="0"/>
      <p:bldP spid="19" grpId="0" animBg="1"/>
      <p:bldP spid="20" grpId="0"/>
      <p:bldP spid="21" grpId="0"/>
      <p:bldP spid="22" grpId="0"/>
      <p:bldP spid="23" grpId="0" animBg="1"/>
      <p:bldP spid="24" grpId="0" animBg="1"/>
      <p:bldP spid="26" grpId="0" animBg="1"/>
      <p:bldP spid="28" grpId="0" animBg="1"/>
      <p:bldP spid="30" grpId="0" animBg="1"/>
      <p:bldP spid="3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product has two parts</dc:title>
  <dc:subject>PptxGenJS Presentation</dc:subject>
  <dc:creator>Nisha Mishra</dc:creator>
  <cp:lastModifiedBy>Nisha Mishra</cp:lastModifiedBy>
  <cp:revision>1</cp:revision>
  <dcterms:created xsi:type="dcterms:W3CDTF">2026-10-04T22:25:57Z</dcterms:created>
  <dcterms:modified xsi:type="dcterms:W3CDTF">2026-10-04T22:25:57Z</dcterms:modified>
</cp:coreProperties>
</file>