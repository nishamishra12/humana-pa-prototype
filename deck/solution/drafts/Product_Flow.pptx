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slide. One click per step. Finish the talking point, then click.
Click 1: The top row is how it works today. A packet arrives by fax or portal. Intake checks it in. The nurse reads fourteen pages and hunts across systems. A missing detail goes back to the provider and the case starts again. With the product underneath, intake uploads the PDF. That is all intake does.
Click 2: The system reads the packet, finds the details the policy cares about, cites each one, and checks them against the library.
Click 3: The nurse opens a checklist with the evidence beside every item and a recommendation. The nurse is reviewing, not hunting.
Click 4: The nurse approves, asks the provider one precise question, or escalates. A missing detail is found at the start, not after a loop.
Click 5: A medical director decides the hard cases, with the evidence already attached. Only a medical director can deny.
Click 6: What changes: the nurse starts from a cited checklist, not a stack of pages. A missing detail is found at once. Hard cases reach a physician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PRODUCT</a:t>
            </a:r>
            <a:endParaRPr lang="en-US" sz="1100" dirty="0"/>
          </a:p>
        </p:txBody>
      </p:sp>
      <p:sp>
        <p:nvSpPr>
          <p:cNvPr id="3" name="heading"/>
          <p:cNvSpPr txBox="1"/>
          <p:nvPr/>
        </p:nvSpPr>
        <p:spPr>
          <a:xfrm>
            <a:off x="45720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all of that underneath, the flow is simple.</a:t>
            </a:r>
            <a:endParaRPr lang="en-US" sz="2600" dirty="0"/>
          </a:p>
        </p:txBody>
      </p:sp>
      <p:sp>
        <p:nvSpPr>
          <p:cNvPr id="4" name="sub"/>
          <p:cNvSpPr txBox="1"/>
          <p:nvPr/>
        </p:nvSpPr>
        <p:spPr>
          <a:xfrm>
            <a:off x="7498080" y="502920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person now does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still confirms every recommendation. Only a medical director can deny.</a:t>
            </a:r>
            <a:endParaRPr lang="en-US" sz="900" dirty="0"/>
          </a:p>
        </p:txBody>
      </p:sp>
      <p:sp>
        <p:nvSpPr>
          <p:cNvPr id="6" name="TodayLbl"/>
          <p:cNvSpPr txBox="1"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0"/>
          <p:cNvSpPr/>
          <p:nvPr/>
        </p:nvSpPr>
        <p:spPr>
          <a:xfrm>
            <a:off x="457200" y="164592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 w="12700">
            <a:solidFill>
              <a:srgbClr val="CBD5D1"/>
            </a:solidFill>
          </a:ln>
        </p:spPr>
        <p:txBody>
          <a:bodyPr wrap="square" lIns="128016" tIns="128016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or portal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sends the packet</a:t>
            </a:r>
            <a:endParaRPr lang="en-US" sz="1300" dirty="0"/>
          </a:p>
        </p:txBody>
      </p:sp>
      <p:sp>
        <p:nvSpPr>
          <p:cNvPr id="8" name="T1"/>
          <p:cNvSpPr/>
          <p:nvPr/>
        </p:nvSpPr>
        <p:spPr>
          <a:xfrm>
            <a:off x="2743200" y="164592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 w="12700">
            <a:solidFill>
              <a:srgbClr val="CBD5D1"/>
            </a:solidFill>
          </a:ln>
        </p:spPr>
        <p:txBody>
          <a:bodyPr wrap="square" lIns="128016" tIns="128016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checks it in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it to a nurse</a:t>
            </a:r>
            <a:endParaRPr lang="en-US" sz="1300" dirty="0"/>
          </a:p>
        </p:txBody>
      </p:sp>
      <p:sp>
        <p:nvSpPr>
          <p:cNvPr id="9" name="TA1"/>
          <p:cNvSpPr/>
          <p:nvPr/>
        </p:nvSpPr>
        <p:spPr>
          <a:xfrm>
            <a:off x="2569464" y="2212848"/>
            <a:ext cx="164592" cy="0"/>
          </a:xfrm>
          <a:prstGeom prst="line">
            <a:avLst/>
          </a:prstGeom>
          <a:noFill/>
          <a:ln w="22225">
            <a:solidFill>
              <a:srgbClr val="9AA5A1"/>
            </a:solidFill>
            <a:prstDash val="solid"/>
            <a:tailEnd type="triangle"/>
          </a:ln>
        </p:spPr>
      </p:sp>
      <p:sp>
        <p:nvSpPr>
          <p:cNvPr id="10" name="T2"/>
          <p:cNvSpPr/>
          <p:nvPr/>
        </p:nvSpPr>
        <p:spPr>
          <a:xfrm>
            <a:off x="5029200" y="164592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 w="12700">
            <a:solidFill>
              <a:srgbClr val="CBD5D1"/>
            </a:solidFill>
          </a:ln>
        </p:spPr>
        <p:txBody>
          <a:bodyPr wrap="square" lIns="128016" tIns="128016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reads 14 pages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across policy, benefits and provider systems</a:t>
            </a:r>
            <a:endParaRPr lang="en-US" sz="1300" dirty="0"/>
          </a:p>
        </p:txBody>
      </p:sp>
      <p:sp>
        <p:nvSpPr>
          <p:cNvPr id="11" name="TA2"/>
          <p:cNvSpPr/>
          <p:nvPr/>
        </p:nvSpPr>
        <p:spPr>
          <a:xfrm>
            <a:off x="4855464" y="2212848"/>
            <a:ext cx="164592" cy="0"/>
          </a:xfrm>
          <a:prstGeom prst="line">
            <a:avLst/>
          </a:prstGeom>
          <a:noFill/>
          <a:ln w="22225">
            <a:solidFill>
              <a:srgbClr val="9AA5A1"/>
            </a:solidFill>
            <a:prstDash val="solid"/>
            <a:tailEnd type="triangle"/>
          </a:ln>
        </p:spPr>
      </p:sp>
      <p:sp>
        <p:nvSpPr>
          <p:cNvPr id="12" name="T3"/>
          <p:cNvSpPr/>
          <p:nvPr/>
        </p:nvSpPr>
        <p:spPr>
          <a:xfrm>
            <a:off x="7315200" y="164592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 w="12700">
            <a:solidFill>
              <a:srgbClr val="CBD5D1"/>
            </a:solidFill>
          </a:ln>
        </p:spPr>
        <p:txBody>
          <a:bodyPr wrap="square" lIns="128016" tIns="128016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detail?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Pend. Back to the provider. The case starts again</a:t>
            </a:r>
            <a:endParaRPr lang="en-US" sz="1300" dirty="0"/>
          </a:p>
        </p:txBody>
      </p:sp>
      <p:sp>
        <p:nvSpPr>
          <p:cNvPr id="13" name="TA3"/>
          <p:cNvSpPr/>
          <p:nvPr/>
        </p:nvSpPr>
        <p:spPr>
          <a:xfrm>
            <a:off x="7141464" y="2212848"/>
            <a:ext cx="164592" cy="0"/>
          </a:xfrm>
          <a:prstGeom prst="line">
            <a:avLst/>
          </a:prstGeom>
          <a:noFill/>
          <a:ln w="22225">
            <a:solidFill>
              <a:srgbClr val="9AA5A1"/>
            </a:solidFill>
            <a:prstDash val="solid"/>
            <a:tailEnd type="triangle"/>
          </a:ln>
        </p:spPr>
      </p:sp>
      <p:sp>
        <p:nvSpPr>
          <p:cNvPr id="14" name="T4"/>
          <p:cNvSpPr/>
          <p:nvPr/>
        </p:nvSpPr>
        <p:spPr>
          <a:xfrm>
            <a:off x="9601200" y="164592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 w="12700">
            <a:solidFill>
              <a:srgbClr val="CBD5D1"/>
            </a:solidFill>
          </a:ln>
        </p:spPr>
        <p:txBody>
          <a:bodyPr wrap="square" lIns="128016" tIns="128016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or escalate to a medical director</a:t>
            </a:r>
            <a:endParaRPr lang="en-US" sz="1300" dirty="0"/>
          </a:p>
        </p:txBody>
      </p:sp>
      <p:sp>
        <p:nvSpPr>
          <p:cNvPr id="15" name="TA4"/>
          <p:cNvSpPr/>
          <p:nvPr/>
        </p:nvSpPr>
        <p:spPr>
          <a:xfrm>
            <a:off x="9427464" y="2212848"/>
            <a:ext cx="164592" cy="0"/>
          </a:xfrm>
          <a:prstGeom prst="line">
            <a:avLst/>
          </a:prstGeom>
          <a:noFill/>
          <a:ln w="22225">
            <a:solidFill>
              <a:srgbClr val="9AA5A1"/>
            </a:solidFill>
            <a:prstDash val="solid"/>
            <a:tailEnd type="triangle"/>
          </a:ln>
        </p:spPr>
      </p:sp>
      <p:sp>
        <p:nvSpPr>
          <p:cNvPr id="16" name="NewLbl"/>
          <p:cNvSpPr txBox="1"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 DESK</a:t>
            </a:r>
            <a:endParaRPr lang="en-US" sz="1100" dirty="0"/>
          </a:p>
        </p:txBody>
      </p:sp>
      <p:sp>
        <p:nvSpPr>
          <p:cNvPr id="17" name="N0"/>
          <p:cNvSpPr/>
          <p:nvPr/>
        </p:nvSpPr>
        <p:spPr>
          <a:xfrm>
            <a:off x="457200" y="36118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128016" tIns="237744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uploads the PDF</a:t>
            </a:r>
            <a:endParaRPr lang="en-US" sz="8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all intake does</a:t>
            </a:r>
            <a:endParaRPr lang="en-US" sz="850" dirty="0"/>
          </a:p>
        </p:txBody>
      </p:sp>
      <p:sp>
        <p:nvSpPr>
          <p:cNvPr id="18" name="NB0"/>
          <p:cNvSpPr/>
          <p:nvPr/>
        </p:nvSpPr>
        <p:spPr>
          <a:xfrm>
            <a:off x="484632" y="34564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N1"/>
          <p:cNvSpPr/>
          <p:nvPr/>
        </p:nvSpPr>
        <p:spPr>
          <a:xfrm>
            <a:off x="2743200" y="36118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EBE2F8"/>
          </a:solidFill>
          <a:ln w="15875">
            <a:solidFill>
              <a:srgbClr val="5F3AA8"/>
            </a:solidFill>
          </a:ln>
        </p:spPr>
        <p:txBody>
          <a:bodyPr wrap="square" lIns="128016" tIns="237744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reads it</a:t>
            </a:r>
            <a:endParaRPr lang="en-US" sz="8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details, cites each one, checks the policy</a:t>
            </a:r>
            <a:endParaRPr lang="en-US" sz="850" dirty="0"/>
          </a:p>
        </p:txBody>
      </p:sp>
      <p:sp>
        <p:nvSpPr>
          <p:cNvPr id="20" name="NB1"/>
          <p:cNvSpPr/>
          <p:nvPr/>
        </p:nvSpPr>
        <p:spPr>
          <a:xfrm>
            <a:off x="2770632" y="34564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NA1"/>
          <p:cNvSpPr/>
          <p:nvPr/>
        </p:nvSpPr>
        <p:spPr>
          <a:xfrm>
            <a:off x="2569464" y="4270248"/>
            <a:ext cx="16459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2" name="N2"/>
          <p:cNvSpPr/>
          <p:nvPr/>
        </p:nvSpPr>
        <p:spPr>
          <a:xfrm>
            <a:off x="5029200" y="36118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128016" tIns="237744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sees a checklist</a:t>
            </a:r>
            <a:endParaRPr lang="en-US" sz="8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beside each item, and a recommendation</a:t>
            </a:r>
            <a:endParaRPr lang="en-US" sz="850" dirty="0"/>
          </a:p>
        </p:txBody>
      </p:sp>
      <p:sp>
        <p:nvSpPr>
          <p:cNvPr id="23" name="NB2"/>
          <p:cNvSpPr/>
          <p:nvPr/>
        </p:nvSpPr>
        <p:spPr>
          <a:xfrm>
            <a:off x="5056632" y="34564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NA2"/>
          <p:cNvSpPr/>
          <p:nvPr/>
        </p:nvSpPr>
        <p:spPr>
          <a:xfrm>
            <a:off x="4855464" y="4270248"/>
            <a:ext cx="16459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5" name="N3"/>
          <p:cNvSpPr/>
          <p:nvPr/>
        </p:nvSpPr>
        <p:spPr>
          <a:xfrm>
            <a:off x="7315200" y="36118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128016" tIns="237744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ask, or escalate</a:t>
            </a:r>
            <a:endParaRPr lang="en-US" sz="8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detail becomes one precise question</a:t>
            </a:r>
            <a:endParaRPr lang="en-US" sz="850" dirty="0"/>
          </a:p>
        </p:txBody>
      </p:sp>
      <p:sp>
        <p:nvSpPr>
          <p:cNvPr id="26" name="NB3"/>
          <p:cNvSpPr/>
          <p:nvPr/>
        </p:nvSpPr>
        <p:spPr>
          <a:xfrm>
            <a:off x="7342632" y="34564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NA3"/>
          <p:cNvSpPr/>
          <p:nvPr/>
        </p:nvSpPr>
        <p:spPr>
          <a:xfrm>
            <a:off x="7141464" y="4270248"/>
            <a:ext cx="16459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8" name="N4"/>
          <p:cNvSpPr/>
          <p:nvPr/>
        </p:nvSpPr>
        <p:spPr>
          <a:xfrm>
            <a:off x="9601200" y="36118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128016" tIns="237744" rIns="128016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director decides</a:t>
            </a:r>
            <a:endParaRPr lang="en-US" sz="8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hard cases. Only they can deny</a:t>
            </a:r>
            <a:endParaRPr lang="en-US" sz="850" dirty="0"/>
          </a:p>
        </p:txBody>
      </p:sp>
      <p:sp>
        <p:nvSpPr>
          <p:cNvPr id="29" name="NB4"/>
          <p:cNvSpPr/>
          <p:nvPr/>
        </p:nvSpPr>
        <p:spPr>
          <a:xfrm>
            <a:off x="9628632" y="34564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NA4"/>
          <p:cNvSpPr/>
          <p:nvPr/>
        </p:nvSpPr>
        <p:spPr>
          <a:xfrm>
            <a:off x="9427464" y="4270248"/>
            <a:ext cx="16459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1" name="Bar"/>
          <p:cNvSpPr/>
          <p:nvPr/>
        </p:nvSpPr>
        <p:spPr>
          <a:xfrm>
            <a:off x="457200" y="525780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201168" tIns="109728" rIns="201168" bIns="54864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spc="15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starts from a cited checklist, not a stack of pages. A missing detail is found at once, not after a loop. Hard cases reach a physician early, with the evidence attached.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flow, today and with PA Desk</dc:title>
  <dc:subject>PptxGenJS Presentation</dc:subject>
  <dc:creator>Nisha Mishra</dc:creator>
  <cp:lastModifiedBy>Nisha Mishra</cp:lastModifiedBy>
  <cp:revision>1</cp:revision>
  <dcterms:created xsi:type="dcterms:W3CDTF">2026-10-04T22:25:58Z</dcterms:created>
  <dcterms:modified xsi:type="dcterms:W3CDTF">2026-10-04T22:25:58Z</dcterms:modified>
</cp:coreProperties>
</file>