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One click per step. Finish the talking point, then click.
Click 1: One thing we deliberately did not build is the member's view. The brief's sixth friction is the member waiting in the dark. It is real. We chose not to build it first, and every phase should have a reason I can say out loud.
Click 2: Reason one. A status is only as good as the record behind it. If we show a member a status it must be right, so we build the trusted decision record first.
Click 3: Reason two. It touches a regulated interface. Member messages and a status screen need their own compliance and security review. That is its own project.
Click 4: Reason three. Waiting costs nothing. The record built in phase one is exactly what the member view will read. Phase one is the foundation, not a detour.
Click 5: And the timing works. From January 2027 plans must offer a Patient Access API that includes prior authorization information, about three months away. The decision record we build now is what feeds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eyebrow"/>
          <p:cNvSpPr txBox="1"/>
          <p:nvPr/>
        </p:nvSpPr>
        <p:spPr>
          <a:xfrm>
            <a:off x="457200" y="274320"/>
            <a:ext cx="5486400" cy="256032"/>
          </a:xfrm>
          <a:prstGeom prst="rect">
            <a:avLst/>
          </a:prstGeom>
          <a:noFill/>
          <a:ln/>
        </p:spPr>
        <p:txBody>
          <a:bodyPr wrap="square" lIns="0" tIns="0" rIns="0" bIns="0" rtlCol="0" anchor="t"/>
          <a:lstStyle/>
          <a:p>
            <a:pPr algn="l" indent="0" marL="0">
              <a:buNone/>
            </a:pPr>
            <a:r>
              <a:rPr lang="en-US" sz="1100" b="1" spc="300" kern="0" dirty="0">
                <a:solidFill>
                  <a:srgbClr val="1F6F5C"/>
                </a:solidFill>
                <a:latin typeface="Calibri" pitchFamily="34" charset="0"/>
                <a:ea typeface="Calibri" pitchFamily="34" charset="-122"/>
                <a:cs typeface="Calibri" pitchFamily="34" charset="-120"/>
              </a:rPr>
              <a:t>A CHOICE WE MADE</a:t>
            </a:r>
            <a:endParaRPr lang="en-US" sz="1100" dirty="0"/>
          </a:p>
        </p:txBody>
      </p:sp>
      <p:sp>
        <p:nvSpPr>
          <p:cNvPr id="3" name="heading"/>
          <p:cNvSpPr txBox="1"/>
          <p:nvPr/>
        </p:nvSpPr>
        <p:spPr>
          <a:xfrm>
            <a:off x="457200" y="502920"/>
            <a:ext cx="7680960" cy="685800"/>
          </a:xfrm>
          <a:prstGeom prst="rect">
            <a:avLst/>
          </a:prstGeom>
          <a:noFill/>
          <a:ln/>
        </p:spPr>
        <p:txBody>
          <a:bodyPr wrap="square" lIns="0" tIns="0" rIns="0" bIns="0" rtlCol="0" anchor="ctr"/>
          <a:lstStyle/>
          <a:p>
            <a:pPr algn="l" indent="0" marL="0">
              <a:buNone/>
            </a:pPr>
            <a:r>
              <a:rPr lang="en-US" sz="2600" dirty="0">
                <a:solidFill>
                  <a:srgbClr val="16211E"/>
                </a:solidFill>
                <a:latin typeface="Cambria" pitchFamily="34" charset="0"/>
                <a:ea typeface="Cambria" pitchFamily="34" charset="-122"/>
                <a:cs typeface="Cambria" pitchFamily="34" charset="-120"/>
              </a:rPr>
              <a:t>We did not build the member's view. Here is why.</a:t>
            </a:r>
            <a:endParaRPr lang="en-US" sz="2600" dirty="0"/>
          </a:p>
        </p:txBody>
      </p:sp>
      <p:sp>
        <p:nvSpPr>
          <p:cNvPr id="4" name="sub"/>
          <p:cNvSpPr txBox="1"/>
          <p:nvPr/>
        </p:nvSpPr>
        <p:spPr>
          <a:xfrm>
            <a:off x="7498080" y="502920"/>
            <a:ext cx="4233672" cy="685800"/>
          </a:xfrm>
          <a:prstGeom prst="rect">
            <a:avLst/>
          </a:prstGeom>
          <a:noFill/>
          <a:ln/>
        </p:spPr>
        <p:txBody>
          <a:bodyPr wrap="square" lIns="0" tIns="0" rIns="0" bIns="0" rtlCol="0" anchor="ctr"/>
          <a:lstStyle/>
          <a:p>
            <a:pPr algn="r" indent="0" marL="0">
              <a:buNone/>
            </a:pPr>
            <a:r>
              <a:rPr lang="en-US" sz="1400" dirty="0">
                <a:solidFill>
                  <a:srgbClr val="5C6B66"/>
                </a:solidFill>
                <a:latin typeface="Calibri" pitchFamily="34" charset="0"/>
                <a:ea typeface="Calibri" pitchFamily="34" charset="-122"/>
                <a:cs typeface="Calibri" pitchFamily="34" charset="-120"/>
              </a:rPr>
              <a:t>Phase 2, with reasons</a:t>
            </a:r>
            <a:endParaRPr lang="en-US" sz="1400" dirty="0"/>
          </a:p>
        </p:txBody>
      </p:sp>
      <p:sp>
        <p:nvSpPr>
          <p:cNvPr id="5" name="footer"/>
          <p:cNvSpPr txBox="1"/>
          <p:nvPr/>
        </p:nvSpPr>
        <p:spPr>
          <a:xfrm>
            <a:off x="457200" y="6492240"/>
            <a:ext cx="11274552" cy="228600"/>
          </a:xfrm>
          <a:prstGeom prst="rect">
            <a:avLst/>
          </a:prstGeom>
          <a:noFill/>
          <a:ln/>
        </p:spPr>
        <p:txBody>
          <a:bodyPr wrap="square" lIns="0" tIns="0" rIns="0" bIns="0" rtlCol="0" anchor="t"/>
          <a:lstStyle/>
          <a:p>
            <a:pPr algn="l" indent="0" marL="0">
              <a:buNone/>
            </a:pPr>
            <a:r>
              <a:rPr lang="en-US" sz="900" dirty="0">
                <a:solidFill>
                  <a:srgbClr val="5C6B66"/>
                </a:solidFill>
                <a:latin typeface="Calibri" pitchFamily="34" charset="0"/>
                <a:ea typeface="Calibri" pitchFamily="34" charset="-122"/>
                <a:cs typeface="Calibri" pitchFamily="34" charset="-120"/>
              </a:rPr>
              <a:t>Sources: CMS-0057-F fact sheet (cms.gov), Patient Access API requirement from January 1, 2027. The brief's sixth friction point is the member waiting in the dark.</a:t>
            </a:r>
            <a:endParaRPr lang="en-US" sz="900" dirty="0"/>
          </a:p>
        </p:txBody>
      </p:sp>
      <p:sp>
        <p:nvSpPr>
          <p:cNvPr id="6" name="Left"/>
          <p:cNvSpPr/>
          <p:nvPr/>
        </p:nvSpPr>
        <p:spPr>
          <a:xfrm>
            <a:off x="457200" y="1371600"/>
            <a:ext cx="3840480" cy="3749040"/>
          </a:xfrm>
          <a:prstGeom prst="roundRect">
            <a:avLst>
              <a:gd name="adj" fmla="val 2927"/>
            </a:avLst>
          </a:prstGeom>
          <a:solidFill>
            <a:srgbClr val="EBE2F8"/>
          </a:solidFill>
          <a:ln w="19050">
            <a:solidFill>
              <a:srgbClr val="5F3AA8"/>
            </a:solidFill>
          </a:ln>
        </p:spPr>
        <p:txBody>
          <a:bodyPr wrap="square" lIns="256032" tIns="228600" rIns="256032" bIns="91440" rtlCol="0" anchor="t"/>
          <a:lstStyle/>
          <a:p>
            <a:pPr algn="l" indent="0" marL="0">
              <a:spcAft>
                <a:spcPts val="600"/>
              </a:spcAft>
              <a:buNone/>
            </a:pPr>
            <a:r>
              <a:rPr lang="en-US" sz="900" b="1" spc="150" kern="0" dirty="0">
                <a:solidFill>
                  <a:srgbClr val="5F3AA8"/>
                </a:solidFill>
                <a:latin typeface="Calibri" pitchFamily="34" charset="0"/>
                <a:ea typeface="Calibri" pitchFamily="34" charset="-122"/>
                <a:cs typeface="Calibri" pitchFamily="34" charset="-120"/>
              </a:rPr>
              <a:t>THE SIXTH FRICTION</a:t>
            </a:r>
            <a:endParaRPr lang="en-US" sz="900" dirty="0"/>
          </a:p>
          <a:p>
            <a:pPr algn="l" indent="0" marL="0">
              <a:spcAft>
                <a:spcPts val="1000"/>
              </a:spcAft>
              <a:buNone/>
            </a:pPr>
            <a:r>
              <a:rPr lang="en-US" sz="2200" dirty="0">
                <a:solidFill>
                  <a:srgbClr val="16211E"/>
                </a:solidFill>
                <a:latin typeface="Cambria" pitchFamily="34" charset="0"/>
                <a:ea typeface="Cambria" pitchFamily="34" charset="-122"/>
                <a:cs typeface="Cambria" pitchFamily="34" charset="-120"/>
              </a:rPr>
              <a:t>The member waits with no view of where the request stands.</a:t>
            </a:r>
            <a:endParaRPr lang="en-US" sz="900" dirty="0"/>
          </a:p>
          <a:p>
            <a:pPr algn="l" indent="0" marL="0">
              <a:buNone/>
            </a:pPr>
            <a:r>
              <a:rPr lang="en-US" sz="1300" b="1" dirty="0">
                <a:solidFill>
                  <a:srgbClr val="5F3AA8"/>
                </a:solidFill>
                <a:latin typeface="Calibri" pitchFamily="34" charset="0"/>
                <a:ea typeface="Calibri" pitchFamily="34" charset="-122"/>
                <a:cs typeface="Calibri" pitchFamily="34" charset="-120"/>
              </a:rPr>
              <a:t>A real problem. We chose not to build it first.</a:t>
            </a:r>
            <a:endParaRPr lang="en-US" sz="900" dirty="0"/>
          </a:p>
        </p:txBody>
      </p:sp>
      <p:sp>
        <p:nvSpPr>
          <p:cNvPr id="7" name="R1"/>
          <p:cNvSpPr/>
          <p:nvPr/>
        </p:nvSpPr>
        <p:spPr>
          <a:xfrm>
            <a:off x="4572000" y="1371600"/>
            <a:ext cx="7159752" cy="1143000"/>
          </a:xfrm>
          <a:prstGeom prst="roundRect">
            <a:avLst>
              <a:gd name="adj" fmla="val 8000"/>
            </a:avLst>
          </a:prstGeom>
          <a:solidFill>
            <a:srgbClr val="FFFFFF"/>
          </a:solidFill>
          <a:ln w="15875">
            <a:solidFill>
              <a:srgbClr val="CBD5D1"/>
            </a:solidFill>
          </a:ln>
        </p:spPr>
        <p:txBody>
          <a:bodyPr wrap="square" lIns="640080" tIns="146304" rIns="182880" bIns="54864" rtlCol="0" anchor="t"/>
          <a:lstStyle/>
          <a:p>
            <a:pPr algn="l" indent="0" marL="0">
              <a:spcAft>
                <a:spcPts val="400"/>
              </a:spcAft>
              <a:buNone/>
            </a:pPr>
            <a:r>
              <a:rPr lang="en-US" sz="1500" b="1" dirty="0">
                <a:solidFill>
                  <a:srgbClr val="16211E"/>
                </a:solidFill>
                <a:latin typeface="Calibri" pitchFamily="34" charset="0"/>
                <a:ea typeface="Calibri" pitchFamily="34" charset="-122"/>
                <a:cs typeface="Calibri" pitchFamily="34" charset="-120"/>
              </a:rPr>
              <a:t>A status is only as good as the record behind it</a:t>
            </a:r>
            <a:endParaRPr lang="en-US" sz="1500" dirty="0"/>
          </a:p>
          <a:p>
            <a:pPr algn="l" indent="0" marL="0">
              <a:buNone/>
            </a:pPr>
            <a:r>
              <a:rPr lang="en-US" sz="1150" dirty="0">
                <a:solidFill>
                  <a:srgbClr val="5C6B66"/>
                </a:solidFill>
                <a:latin typeface="Calibri" pitchFamily="34" charset="0"/>
                <a:ea typeface="Calibri" pitchFamily="34" charset="-122"/>
                <a:cs typeface="Calibri" pitchFamily="34" charset="-120"/>
              </a:rPr>
              <a:t>If we show a member a status, it must be right. So we build the trusted decision record first.</a:t>
            </a:r>
            <a:endParaRPr lang="en-US" sz="1500" dirty="0"/>
          </a:p>
        </p:txBody>
      </p:sp>
      <p:sp>
        <p:nvSpPr>
          <p:cNvPr id="8" name="Rn1"/>
          <p:cNvSpPr/>
          <p:nvPr/>
        </p:nvSpPr>
        <p:spPr>
          <a:xfrm>
            <a:off x="4718304" y="1536192"/>
            <a:ext cx="310896" cy="310896"/>
          </a:xfrm>
          <a:prstGeom prst="roundRect">
            <a:avLst>
              <a:gd name="adj" fmla="val 50000"/>
            </a:avLst>
          </a:prstGeom>
          <a:solidFill>
            <a:srgbClr val="5F3AA8"/>
          </a:solidFill>
          <a:ln w="12700">
            <a:solidFill>
              <a:srgbClr val="5F3AA8"/>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R2"/>
          <p:cNvSpPr/>
          <p:nvPr/>
        </p:nvSpPr>
        <p:spPr>
          <a:xfrm>
            <a:off x="4572000" y="2651760"/>
            <a:ext cx="7159752" cy="1143000"/>
          </a:xfrm>
          <a:prstGeom prst="roundRect">
            <a:avLst>
              <a:gd name="adj" fmla="val 8000"/>
            </a:avLst>
          </a:prstGeom>
          <a:solidFill>
            <a:srgbClr val="FFFFFF"/>
          </a:solidFill>
          <a:ln w="15875">
            <a:solidFill>
              <a:srgbClr val="CBD5D1"/>
            </a:solidFill>
          </a:ln>
        </p:spPr>
        <p:txBody>
          <a:bodyPr wrap="square" lIns="640080" tIns="146304" rIns="182880" bIns="54864" rtlCol="0" anchor="t"/>
          <a:lstStyle/>
          <a:p>
            <a:pPr algn="l" indent="0" marL="0">
              <a:spcAft>
                <a:spcPts val="400"/>
              </a:spcAft>
              <a:buNone/>
            </a:pPr>
            <a:r>
              <a:rPr lang="en-US" sz="1500" b="1" dirty="0">
                <a:solidFill>
                  <a:srgbClr val="16211E"/>
                </a:solidFill>
                <a:latin typeface="Calibri" pitchFamily="34" charset="0"/>
                <a:ea typeface="Calibri" pitchFamily="34" charset="-122"/>
                <a:cs typeface="Calibri" pitchFamily="34" charset="-120"/>
              </a:rPr>
              <a:t>It touches a regulated interface</a:t>
            </a:r>
            <a:endParaRPr lang="en-US" sz="1500" dirty="0"/>
          </a:p>
          <a:p>
            <a:pPr algn="l" indent="0" marL="0">
              <a:buNone/>
            </a:pPr>
            <a:r>
              <a:rPr lang="en-US" sz="1150" dirty="0">
                <a:solidFill>
                  <a:srgbClr val="5C6B66"/>
                </a:solidFill>
                <a:latin typeface="Calibri" pitchFamily="34" charset="0"/>
                <a:ea typeface="Calibri" pitchFamily="34" charset="-122"/>
                <a:cs typeface="Calibri" pitchFamily="34" charset="-120"/>
              </a:rPr>
              <a:t>Member messages and a status screen need their own compliance and security review. That is its own project.</a:t>
            </a:r>
            <a:endParaRPr lang="en-US" sz="1500" dirty="0"/>
          </a:p>
        </p:txBody>
      </p:sp>
      <p:sp>
        <p:nvSpPr>
          <p:cNvPr id="10" name="Rn2"/>
          <p:cNvSpPr/>
          <p:nvPr/>
        </p:nvSpPr>
        <p:spPr>
          <a:xfrm>
            <a:off x="4718304" y="2816352"/>
            <a:ext cx="310896" cy="310896"/>
          </a:xfrm>
          <a:prstGeom prst="roundRect">
            <a:avLst>
              <a:gd name="adj" fmla="val 50000"/>
            </a:avLst>
          </a:prstGeom>
          <a:solidFill>
            <a:srgbClr val="5F3AA8"/>
          </a:solidFill>
          <a:ln w="12700">
            <a:solidFill>
              <a:srgbClr val="5F3AA8"/>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R3"/>
          <p:cNvSpPr/>
          <p:nvPr/>
        </p:nvSpPr>
        <p:spPr>
          <a:xfrm>
            <a:off x="4572000" y="3931920"/>
            <a:ext cx="7159752" cy="1143000"/>
          </a:xfrm>
          <a:prstGeom prst="roundRect">
            <a:avLst>
              <a:gd name="adj" fmla="val 8000"/>
            </a:avLst>
          </a:prstGeom>
          <a:solidFill>
            <a:srgbClr val="FFFFFF"/>
          </a:solidFill>
          <a:ln w="15875">
            <a:solidFill>
              <a:srgbClr val="CBD5D1"/>
            </a:solidFill>
          </a:ln>
        </p:spPr>
        <p:txBody>
          <a:bodyPr wrap="square" lIns="640080" tIns="146304" rIns="182880" bIns="54864" rtlCol="0" anchor="t"/>
          <a:lstStyle/>
          <a:p>
            <a:pPr algn="l" indent="0" marL="0">
              <a:spcAft>
                <a:spcPts val="400"/>
              </a:spcAft>
              <a:buNone/>
            </a:pPr>
            <a:r>
              <a:rPr lang="en-US" sz="1500" b="1" dirty="0">
                <a:solidFill>
                  <a:srgbClr val="16211E"/>
                </a:solidFill>
                <a:latin typeface="Calibri" pitchFamily="34" charset="0"/>
                <a:ea typeface="Calibri" pitchFamily="34" charset="-122"/>
                <a:cs typeface="Calibri" pitchFamily="34" charset="-120"/>
              </a:rPr>
              <a:t>Waiting costs nothing</a:t>
            </a:r>
            <a:endParaRPr lang="en-US" sz="1500" dirty="0"/>
          </a:p>
          <a:p>
            <a:pPr algn="l" indent="0" marL="0">
              <a:buNone/>
            </a:pPr>
            <a:r>
              <a:rPr lang="en-US" sz="1150" dirty="0">
                <a:solidFill>
                  <a:srgbClr val="5C6B66"/>
                </a:solidFill>
                <a:latin typeface="Calibri" pitchFamily="34" charset="0"/>
                <a:ea typeface="Calibri" pitchFamily="34" charset="-122"/>
                <a:cs typeface="Calibri" pitchFamily="34" charset="-120"/>
              </a:rPr>
              <a:t>The record built now is exactly what the member view will read. Phase 1 is the foundation, not a detour.</a:t>
            </a:r>
            <a:endParaRPr lang="en-US" sz="1500" dirty="0"/>
          </a:p>
        </p:txBody>
      </p:sp>
      <p:sp>
        <p:nvSpPr>
          <p:cNvPr id="12" name="Rn3"/>
          <p:cNvSpPr/>
          <p:nvPr/>
        </p:nvSpPr>
        <p:spPr>
          <a:xfrm>
            <a:off x="4718304" y="4096512"/>
            <a:ext cx="310896" cy="310896"/>
          </a:xfrm>
          <a:prstGeom prst="roundRect">
            <a:avLst>
              <a:gd name="adj" fmla="val 50000"/>
            </a:avLst>
          </a:prstGeom>
          <a:solidFill>
            <a:srgbClr val="5F3AA8"/>
          </a:solidFill>
          <a:ln w="12700">
            <a:solidFill>
              <a:srgbClr val="5F3AA8"/>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3" name="Jan"/>
          <p:cNvSpPr/>
          <p:nvPr/>
        </p:nvSpPr>
        <p:spPr>
          <a:xfrm>
            <a:off x="457200" y="5349240"/>
            <a:ext cx="11274552" cy="960120"/>
          </a:xfrm>
          <a:prstGeom prst="roundRect">
            <a:avLst>
              <a:gd name="adj" fmla="val 9524"/>
            </a:avLst>
          </a:prstGeom>
          <a:solidFill>
            <a:srgbClr val="DDF3E7"/>
          </a:solidFill>
          <a:ln w="12700">
            <a:solidFill>
              <a:srgbClr val="18764A"/>
            </a:solidFill>
          </a:ln>
        </p:spPr>
        <p:txBody>
          <a:bodyPr wrap="square" lIns="201168" tIns="73152" rIns="201168" bIns="73152" rtlCol="0" anchor="ctr"/>
          <a:lstStyle/>
          <a:p>
            <a:pPr algn="l" indent="0" marL="0">
              <a:buNone/>
            </a:pPr>
            <a:r>
              <a:rPr lang="en-US" sz="1200" b="1" dirty="0">
                <a:solidFill>
                  <a:srgbClr val="1F6F5C"/>
                </a:solidFill>
                <a:latin typeface="Calibri" pitchFamily="34" charset="0"/>
                <a:ea typeface="Calibri" pitchFamily="34" charset="-122"/>
                <a:cs typeface="Calibri" pitchFamily="34" charset="-120"/>
              </a:rPr>
              <a:t>What makes the timing right  </a:t>
            </a:r>
            <a:pPr algn="l" indent="0" marL="0">
              <a:buNone/>
            </a:pPr>
            <a:r>
              <a:rPr lang="en-US" sz="1200" dirty="0">
                <a:solidFill>
                  <a:srgbClr val="16211E"/>
                </a:solidFill>
                <a:latin typeface="Calibri" pitchFamily="34" charset="0"/>
                <a:ea typeface="Calibri" pitchFamily="34" charset="-122"/>
                <a:cs typeface="Calibri" pitchFamily="34" charset="-120"/>
              </a:rPr>
              <a:t>From January 1, 2027, plans must offer a Patient Access API that includes prior authorization information. That is about three months away. The decision record we build now is what feeds it.</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childTnLst>
                                </p:cTn>
                              </p:par>
                              <p:par>
                                <p:cTn id="13" presetID="10" presetClass="entr" presetSubtype="0" fill="hold" grpId="0" nodeType="withEffect">
                                  <p:stCondLst>
                                    <p:cond delay="12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5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50"/>
                                        <p:tgtEl>
                                          <p:spTgt spid="9"/>
                                        </p:tgtEl>
                                      </p:cBhvr>
                                    </p:animEffect>
                                  </p:childTnLst>
                                </p:cTn>
                              </p:par>
                              <p:par>
                                <p:cTn id="21" presetID="10" presetClass="entr" presetSubtype="0" fill="hold" grpId="0" nodeType="withEffect">
                                  <p:stCondLst>
                                    <p:cond delay="12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5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12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we did not build</dc:title>
  <dc:subject>PptxGenJS Presentation</dc:subject>
  <dc:creator>Nisha Mishra</dc:creator>
  <cp:lastModifiedBy>Nisha Mishra</cp:lastModifiedBy>
  <cp:revision>1</cp:revision>
  <dcterms:created xsi:type="dcterms:W3CDTF">2026-10-04T22:26:00Z</dcterms:created>
  <dcterms:modified xsi:type="dcterms:W3CDTF">2026-10-04T22:26:00Z</dcterms:modified>
</cp:coreProperties>
</file>