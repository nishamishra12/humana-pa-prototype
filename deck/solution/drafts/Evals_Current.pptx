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slide. One click per step. Finish the talking point, then click.
Click 1: How do I know it works? Three checks, and I rerun all three on every change. First, does it read the packet right. Nine packets with known answers: approve, pend, escalate, a conflicting value, a ruled-out condition, a recent heart attack, and a noisy scan. Five runs in a row. Forty-five of forty-five right. Fifty-three of fifty-three details found. None invented.
Click 2: Second, can a person trust the citation. I judged twenty-four cited sentences myself with the answer key hidden. Three in four were a clear yes, and nearly nine in ten were yes or partly. I also planted wrong pairs and the product caught all five. The weak spot is a claim with several parts that cites only one sentence. The fix is to show the whole passage.
Click 3: Third, hard packets from a separate author who never saw our code. Forty packets, twenty-eight needing a person. I look at recall first, because a miss is a wrong approval. The first run caught fifty-seven percent. After fixes it caught eighty-six percent, and wrong approvals fell from twelve to four. I tuned on this same set, so these later numbers show what I improved, not a clean accuracy. A fresh set is the final test.
Click 4: The honest part. These packets are made up and I wrote most of them. This proves the plumbing works. It does not prove accuracy on real faxes. The real test is real, de-identified cases labeled by senior nurses before the tool sees them. And the design means a mistake is a flag, never a denial.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457200" y="274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KNOW IT WORKS</a:t>
            </a:r>
            <a:endParaRPr lang="en-US" sz="1100" dirty="0"/>
          </a:p>
        </p:txBody>
      </p:sp>
      <p:sp>
        <p:nvSpPr>
          <p:cNvPr id="3" name="heading"/>
          <p:cNvSpPr txBox="1"/>
          <p:nvPr/>
        </p:nvSpPr>
        <p:spPr>
          <a:xfrm>
            <a:off x="457200" y="502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checks. Rerun on every change.</a:t>
            </a:r>
            <a:endParaRPr lang="en-US" sz="2600" dirty="0"/>
          </a:p>
        </p:txBody>
      </p:sp>
      <p:sp>
        <p:nvSpPr>
          <p:cNvPr id="4" name="sub"/>
          <p:cNvSpPr txBox="1"/>
          <p:nvPr/>
        </p:nvSpPr>
        <p:spPr>
          <a:xfrm>
            <a:off x="7498080" y="502920"/>
            <a:ext cx="4233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packets are made up</a:t>
            </a:r>
            <a:endParaRPr lang="en-US" sz="1400" dirty="0"/>
          </a:p>
        </p:txBody>
      </p:sp>
      <p:sp>
        <p:nvSpPr>
          <p:cNvPr id="5" name="footer"/>
          <p:cNvSpPr txBox="1"/>
          <p:nvPr/>
        </p:nvSpPr>
        <p:spPr>
          <a:xfrm>
            <a:off x="457200" y="649224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 Desk eval scorecard. 9 packets x 5 runs, a 24-item human citation audit, and 40 packets from a separate author. Synthetic data.</a:t>
            </a:r>
            <a:endParaRPr lang="en-US" sz="900" dirty="0"/>
          </a:p>
        </p:txBody>
      </p:sp>
      <p:sp>
        <p:nvSpPr>
          <p:cNvPr id="6" name="E1"/>
          <p:cNvSpPr/>
          <p:nvPr/>
        </p:nvSpPr>
        <p:spPr>
          <a:xfrm>
            <a:off x="457200" y="1325880"/>
            <a:ext cx="3630168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875">
            <a:solidFill>
              <a:srgbClr val="CBD5D1"/>
            </a:solidFill>
          </a:ln>
        </p:spPr>
        <p:txBody>
          <a:bodyPr wrap="square" lIns="182880" tIns="146304" rIns="182880" bIns="9144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Does it read the packet right?</a:t>
            </a:r>
            <a:endParaRPr lang="en-US" sz="1200" dirty="0"/>
          </a:p>
          <a:p>
            <a:pPr algn="l" indent="0" marL="0">
              <a:buNone/>
            </a:pPr>
            <a:r>
              <a:rPr lang="en-US" sz="32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of 45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right. 9 packets, 5 runs.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of 53 details found when they were there.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of 65 absent details claimed as present.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17 seconds a packet.</a:t>
            </a:r>
            <a:endParaRPr lang="en-US" sz="1200" dirty="0"/>
          </a:p>
        </p:txBody>
      </p:sp>
      <p:sp>
        <p:nvSpPr>
          <p:cNvPr id="7" name="E2"/>
          <p:cNvSpPr/>
          <p:nvPr/>
        </p:nvSpPr>
        <p:spPr>
          <a:xfrm>
            <a:off x="4279392" y="1325880"/>
            <a:ext cx="3630168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875">
            <a:solidFill>
              <a:srgbClr val="CBD5D1"/>
            </a:solidFill>
          </a:ln>
        </p:spPr>
        <p:txBody>
          <a:bodyPr wrap="square" lIns="182880" tIns="146304" rIns="182880" bIns="9144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Can a person trust the citation?</a:t>
            </a:r>
            <a:endParaRPr lang="en-US" sz="1200" dirty="0"/>
          </a:p>
          <a:p>
            <a:pPr algn="l" indent="0" marL="0">
              <a:buNone/>
            </a:pPr>
            <a:r>
              <a:rPr lang="en-US" sz="32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 yes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24 citations judged by a person. 87.5% yes or partly.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5 planted wrong citations caught.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spot: a claim with several parts cites one sentence.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show the whole supporting passage.</a:t>
            </a:r>
            <a:endParaRPr lang="en-US" sz="1200" dirty="0"/>
          </a:p>
        </p:txBody>
      </p:sp>
      <p:sp>
        <p:nvSpPr>
          <p:cNvPr id="8" name="E3"/>
          <p:cNvSpPr/>
          <p:nvPr/>
        </p:nvSpPr>
        <p:spPr>
          <a:xfrm>
            <a:off x="8101584" y="1325880"/>
            <a:ext cx="3630168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5875">
            <a:solidFill>
              <a:srgbClr val="CBD5D1"/>
            </a:solidFill>
          </a:ln>
        </p:spPr>
        <p:txBody>
          <a:bodyPr wrap="square" lIns="182880" tIns="146304" rIns="182880" bIns="9144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Hard packets from another author</a:t>
            </a:r>
            <a:endParaRPr lang="en-US" sz="1200" dirty="0"/>
          </a:p>
          <a:p>
            <a:pPr algn="l" indent="0" marL="0">
              <a:buNone/>
            </a:pPr>
            <a:r>
              <a:rPr lang="en-US" sz="3200" dirty="0">
                <a:solidFill>
                  <a:srgbClr val="1621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 to 86%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cases needing a person caught, first run to run 4.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packets, 28 needing a person, 12 hard categories.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approvals fell from 12 to 4.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C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tuned on this same set, so a fresh set is the final test.</a:t>
            </a:r>
            <a:endParaRPr lang="en-US" sz="1200" dirty="0"/>
          </a:p>
        </p:txBody>
      </p:sp>
      <p:sp>
        <p:nvSpPr>
          <p:cNvPr id="9" name="Limits"/>
          <p:cNvSpPr/>
          <p:nvPr/>
        </p:nvSpPr>
        <p:spPr>
          <a:xfrm>
            <a:off x="457200" y="4983480"/>
            <a:ext cx="11274552" cy="713232"/>
          </a:xfrm>
          <a:prstGeom prst="roundRect">
            <a:avLst>
              <a:gd name="adj" fmla="val 10256"/>
            </a:avLst>
          </a:prstGeom>
          <a:solidFill>
            <a:srgbClr val="FCEFD0"/>
          </a:solidFill>
          <a:ln w="9525">
            <a:solidFill>
              <a:srgbClr val="8A5A00"/>
            </a:solidFill>
          </a:ln>
        </p:spPr>
        <p:txBody>
          <a:bodyPr wrap="square" lIns="182880" tIns="54864" rIns="182880" bIns="54864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 not show yet  </a:t>
            </a:r>
            <a:pPr algn="l" indent="0" marL="0">
              <a:buNone/>
            </a:pPr>
            <a:r>
              <a:rPr lang="en-US" sz="1150" dirty="0">
                <a:solidFill>
                  <a:srgbClr val="16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faxes. These packets are made up and most were written by us. The real test is real, de-identified cases labeled by senior nurses before the tool sees them.</a:t>
            </a:r>
            <a:endParaRPr lang="en-US" sz="1200" dirty="0"/>
          </a:p>
        </p:txBody>
      </p:sp>
      <p:sp>
        <p:nvSpPr>
          <p:cNvPr id="10" name="Point"/>
          <p:cNvSpPr/>
          <p:nvPr/>
        </p:nvSpPr>
        <p:spPr>
          <a:xfrm>
            <a:off x="457200" y="5779008"/>
            <a:ext cx="11274552" cy="640080"/>
          </a:xfrm>
          <a:prstGeom prst="roundRect">
            <a:avLst>
              <a:gd name="adj" fmla="val 11429"/>
            </a:avLst>
          </a:prstGeom>
          <a:solidFill>
            <a:srgbClr val="1F6F5C"/>
          </a:solidFill>
          <a:ln w="15875">
            <a:solidFill>
              <a:srgbClr val="1F6F5C"/>
            </a:solidFill>
          </a:ln>
        </p:spPr>
        <p:txBody>
          <a:bodyPr wrap="square" lIns="228600" tIns="45720" rIns="228600" bIns="4572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guess. Never a denial.  </a:t>
            </a:r>
            <a:pPr algn="ctr" indent="0" marL="0">
              <a:buNone/>
            </a:pPr>
            <a:r>
              <a:rPr lang="en-US" sz="1150" dirty="0">
                <a:solidFill>
                  <a:srgbClr val="D5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detail it cannot find goes to the nurse as 'not sure'. Only a medical director can deny.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we know it works</dc:title>
  <dc:subject>PptxGenJS Presentation</dc:subject>
  <dc:creator>Nisha Mishra</dc:creator>
  <cp:lastModifiedBy>Nisha Mishra</cp:lastModifiedBy>
  <cp:revision>1</cp:revision>
  <dcterms:created xsi:type="dcterms:W3CDTF">2026-10-04T22:25:59Z</dcterms:created>
  <dcterms:modified xsi:type="dcterms:W3CDTF">2026-10-04T22:25:59Z</dcterms:modified>
</cp:coreProperties>
</file>