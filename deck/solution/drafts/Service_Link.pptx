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One click per step. Finish the talking point, then click.
Click 1: A service is the thing that ties it together. A service is any product or business name we choose for a kind of request. 'ICD for heart failure', 'lumbar fusion', 'CPAP therapy'. It is not a medical standard. It is how the business groups the work.
Click 2: First, the procedure codes. Every request carries a code that names the procedure. A CPT code is five digits. A HCPCS code is a letter and four digits, used for equipment and supplies. The code on the request is how a packet finds its service. Each code we store has a source, a CMS billing article.
Click 3: Second, the policies. The service lists the policies it is checked against, in order of authority. Federal regulation first, then national and local policies, then the plan's own. Each policy brings its approved rules.
Click 4: Third, the details. The service lists what the packet reader must look for. Each detail is one question. The rules compare the answers with the policy.
Click 5: In production, which services we onboard first comes from Humana's own history of prior authorization requests. Volume, pend rate and reversals by procedure code give a rollout plan. In the prototype the owner sees the same signal live, as requests without a policy.
Click 6: A service is not switched on at once. It starts as planned, a name and a code on the rollout list. It becomes a pilot when it has a policy, a code and its details, and nurses check every recommendation. It goes live only after a written note on what was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eyebrow"/>
          <p:cNvSpPr txBox="1"/>
          <p:nvPr/>
        </p:nvSpPr>
        <p:spPr>
          <a:xfrm>
            <a:off x="457200" y="274320"/>
            <a:ext cx="5486400" cy="256032"/>
          </a:xfrm>
          <a:prstGeom prst="rect">
            <a:avLst/>
          </a:prstGeom>
          <a:noFill/>
          <a:ln/>
        </p:spPr>
        <p:txBody>
          <a:bodyPr wrap="square" lIns="0" tIns="0" rIns="0" bIns="0" rtlCol="0" anchor="t"/>
          <a:lstStyle/>
          <a:p>
            <a:pPr algn="l" indent="0" marL="0">
              <a:buNone/>
            </a:pPr>
            <a:r>
              <a:rPr lang="en-US" sz="1100" b="1" spc="300" kern="0" dirty="0">
                <a:solidFill>
                  <a:srgbClr val="1F6F5C"/>
                </a:solidFill>
                <a:latin typeface="Calibri" pitchFamily="34" charset="0"/>
                <a:ea typeface="Calibri" pitchFamily="34" charset="-122"/>
                <a:cs typeface="Calibri" pitchFamily="34" charset="-120"/>
              </a:rPr>
              <a:t>THE PRODUCT, PART 1 OF 2</a:t>
            </a:r>
            <a:endParaRPr lang="en-US" sz="1100" dirty="0"/>
          </a:p>
        </p:txBody>
      </p:sp>
      <p:sp>
        <p:nvSpPr>
          <p:cNvPr id="3" name="heading"/>
          <p:cNvSpPr txBox="1"/>
          <p:nvPr/>
        </p:nvSpPr>
        <p:spPr>
          <a:xfrm>
            <a:off x="457200" y="502920"/>
            <a:ext cx="7680960" cy="685800"/>
          </a:xfrm>
          <a:prstGeom prst="rect">
            <a:avLst/>
          </a:prstGeom>
          <a:noFill/>
          <a:ln/>
        </p:spPr>
        <p:txBody>
          <a:bodyPr wrap="square" lIns="0" tIns="0" rIns="0" bIns="0" rtlCol="0" anchor="ctr"/>
          <a:lstStyle/>
          <a:p>
            <a:pPr algn="l" indent="0" marL="0">
              <a:buNone/>
            </a:pPr>
            <a:r>
              <a:rPr lang="en-US" sz="2600" dirty="0">
                <a:solidFill>
                  <a:srgbClr val="16211E"/>
                </a:solidFill>
                <a:latin typeface="Cambria" pitchFamily="34" charset="0"/>
                <a:ea typeface="Cambria" pitchFamily="34" charset="-122"/>
                <a:cs typeface="Cambria" pitchFamily="34" charset="-120"/>
              </a:rPr>
              <a:t>A service is what ties it together.</a:t>
            </a:r>
            <a:endParaRPr lang="en-US" sz="2600" dirty="0"/>
          </a:p>
        </p:txBody>
      </p:sp>
      <p:sp>
        <p:nvSpPr>
          <p:cNvPr id="4" name="sub"/>
          <p:cNvSpPr txBox="1"/>
          <p:nvPr/>
        </p:nvSpPr>
        <p:spPr>
          <a:xfrm>
            <a:off x="7498080" y="502920"/>
            <a:ext cx="4233672" cy="685800"/>
          </a:xfrm>
          <a:prstGeom prst="rect">
            <a:avLst/>
          </a:prstGeom>
          <a:noFill/>
          <a:ln/>
        </p:spPr>
        <p:txBody>
          <a:bodyPr wrap="square" lIns="0" tIns="0" rIns="0" bIns="0" rtlCol="0" anchor="ctr"/>
          <a:lstStyle/>
          <a:p>
            <a:pPr algn="r" indent="0" marL="0">
              <a:buNone/>
            </a:pPr>
            <a:r>
              <a:rPr lang="en-US" sz="1400" dirty="0">
                <a:solidFill>
                  <a:srgbClr val="5C6B66"/>
                </a:solidFill>
                <a:latin typeface="Calibri" pitchFamily="34" charset="0"/>
                <a:ea typeface="Calibri" pitchFamily="34" charset="-122"/>
                <a:cs typeface="Calibri" pitchFamily="34" charset="-120"/>
              </a:rPr>
              <a:t>Any product or business name we choose</a:t>
            </a:r>
            <a:endParaRPr lang="en-US" sz="1400" dirty="0"/>
          </a:p>
        </p:txBody>
      </p:sp>
      <p:sp>
        <p:nvSpPr>
          <p:cNvPr id="5" name="footer"/>
          <p:cNvSpPr txBox="1"/>
          <p:nvPr/>
        </p:nvSpPr>
        <p:spPr>
          <a:xfrm>
            <a:off x="457200" y="6492240"/>
            <a:ext cx="11274552" cy="228600"/>
          </a:xfrm>
          <a:prstGeom prst="rect">
            <a:avLst/>
          </a:prstGeom>
          <a:noFill/>
          <a:ln/>
        </p:spPr>
        <p:txBody>
          <a:bodyPr wrap="square" lIns="0" tIns="0" rIns="0" bIns="0" rtlCol="0" anchor="t"/>
          <a:lstStyle/>
          <a:p>
            <a:pPr algn="l" indent="0" marL="0">
              <a:buNone/>
            </a:pPr>
            <a:r>
              <a:rPr lang="en-US" sz="900" dirty="0">
                <a:solidFill>
                  <a:srgbClr val="5C6B66"/>
                </a:solidFill>
                <a:latin typeface="Calibri" pitchFamily="34" charset="0"/>
                <a:ea typeface="Calibri" pitchFamily="34" charset="-122"/>
                <a:cs typeface="Calibri" pitchFamily="34" charset="-120"/>
              </a:rPr>
              <a:t>Example: the implantable defibrillator (ICD) service. Codes come from CMS billing articles, each with its source.</a:t>
            </a:r>
            <a:endParaRPr lang="en-US" sz="900" dirty="0"/>
          </a:p>
        </p:txBody>
      </p:sp>
      <p:sp>
        <p:nvSpPr>
          <p:cNvPr id="6" name="Hub"/>
          <p:cNvSpPr/>
          <p:nvPr/>
        </p:nvSpPr>
        <p:spPr>
          <a:xfrm>
            <a:off x="4160520" y="2834640"/>
            <a:ext cx="3867912" cy="1325880"/>
          </a:xfrm>
          <a:prstGeom prst="roundRect">
            <a:avLst>
              <a:gd name="adj" fmla="val 8276"/>
            </a:avLst>
          </a:prstGeom>
          <a:solidFill>
            <a:srgbClr val="E3F0EB"/>
          </a:solidFill>
          <a:ln w="25400">
            <a:solidFill>
              <a:srgbClr val="1F6F5C"/>
            </a:solidFill>
          </a:ln>
        </p:spPr>
        <p:txBody>
          <a:bodyPr wrap="square" lIns="137160" tIns="91440" rIns="137160" bIns="91440" rtlCol="0" anchor="ctr"/>
          <a:lstStyle/>
          <a:p>
            <a:pPr algn="ctr" indent="0" marL="0">
              <a:spcAft>
                <a:spcPts val="300"/>
              </a:spcAft>
              <a:buNone/>
            </a:pPr>
            <a:r>
              <a:rPr lang="en-US" sz="900" b="1" spc="200" kern="0" dirty="0">
                <a:solidFill>
                  <a:srgbClr val="1F6F5C"/>
                </a:solidFill>
                <a:latin typeface="Calibri" pitchFamily="34" charset="0"/>
                <a:ea typeface="Calibri" pitchFamily="34" charset="-122"/>
                <a:cs typeface="Calibri" pitchFamily="34" charset="-120"/>
              </a:rPr>
              <a:t>SERVICE</a:t>
            </a:r>
            <a:endParaRPr lang="en-US" sz="900" dirty="0"/>
          </a:p>
          <a:p>
            <a:pPr algn="ctr" indent="0" marL="0">
              <a:spcAft>
                <a:spcPts val="400"/>
              </a:spcAft>
              <a:buNone/>
            </a:pPr>
            <a:r>
              <a:rPr lang="en-US" sz="2200" b="1" dirty="0">
                <a:solidFill>
                  <a:srgbClr val="16211E"/>
                </a:solidFill>
                <a:latin typeface="Calibri" pitchFamily="34" charset="0"/>
                <a:ea typeface="Calibri" pitchFamily="34" charset="-122"/>
                <a:cs typeface="Calibri" pitchFamily="34" charset="-120"/>
              </a:rPr>
              <a:t>ICD for heart failure</a:t>
            </a:r>
            <a:endParaRPr lang="en-US" sz="900" dirty="0"/>
          </a:p>
          <a:p>
            <a:pPr algn="ctr" indent="0" marL="0">
              <a:buNone/>
            </a:pPr>
            <a:r>
              <a:rPr lang="en-US" sz="1100" dirty="0">
                <a:solidFill>
                  <a:srgbClr val="5C6B66"/>
                </a:solidFill>
                <a:latin typeface="Calibri" pitchFamily="34" charset="0"/>
                <a:ea typeface="Calibri" pitchFamily="34" charset="-122"/>
                <a:cs typeface="Calibri" pitchFamily="34" charset="-120"/>
              </a:rPr>
              <a:t>Any name the business uses for a kind of request</a:t>
            </a:r>
            <a:endParaRPr lang="en-US" sz="900" dirty="0"/>
          </a:p>
        </p:txBody>
      </p:sp>
      <p:sp>
        <p:nvSpPr>
          <p:cNvPr id="7" name="Codes"/>
          <p:cNvSpPr/>
          <p:nvPr/>
        </p:nvSpPr>
        <p:spPr>
          <a:xfrm>
            <a:off x="457200" y="2514600"/>
            <a:ext cx="3108960" cy="1965960"/>
          </a:xfrm>
          <a:prstGeom prst="roundRect">
            <a:avLst>
              <a:gd name="adj" fmla="val 4651"/>
            </a:avLst>
          </a:prstGeom>
          <a:solidFill>
            <a:srgbClr val="E3F0EB"/>
          </a:solidFill>
          <a:ln w="15875">
            <a:solidFill>
              <a:srgbClr val="1F6F5C"/>
            </a:solidFill>
          </a:ln>
        </p:spPr>
        <p:txBody>
          <a:bodyPr wrap="square" lIns="164592" tIns="182880" rIns="164592" bIns="73152" rtlCol="0" anchor="t"/>
          <a:lstStyle/>
          <a:p>
            <a:pPr algn="l" indent="0" marL="0">
              <a:spcAft>
                <a:spcPts val="300"/>
              </a:spcAft>
              <a:buNone/>
            </a:pPr>
            <a:r>
              <a:rPr lang="en-US" sz="850" b="1" spc="150" kern="0" dirty="0">
                <a:solidFill>
                  <a:srgbClr val="1F6F5C"/>
                </a:solidFill>
                <a:latin typeface="Calibri" pitchFamily="34" charset="0"/>
                <a:ea typeface="Calibri" pitchFamily="34" charset="-122"/>
                <a:cs typeface="Calibri" pitchFamily="34" charset="-120"/>
              </a:rPr>
              <a:t>CODE + DATA</a:t>
            </a:r>
            <a:endParaRPr lang="en-US" sz="850" dirty="0"/>
          </a:p>
          <a:p>
            <a:pPr algn="l" indent="0" marL="0">
              <a:spcAft>
                <a:spcPts val="300"/>
              </a:spcAft>
              <a:buNone/>
            </a:pPr>
            <a:r>
              <a:rPr lang="en-US" sz="1500" b="1" dirty="0">
                <a:solidFill>
                  <a:srgbClr val="16211E"/>
                </a:solidFill>
                <a:latin typeface="Calibri" pitchFamily="34" charset="0"/>
                <a:ea typeface="Calibri" pitchFamily="34" charset="-122"/>
                <a:cs typeface="Calibri" pitchFamily="34" charset="-120"/>
              </a:rPr>
              <a:t>Procedure codes in</a:t>
            </a:r>
            <a:endParaRPr lang="en-US" sz="850" dirty="0"/>
          </a:p>
          <a:p>
            <a:pPr algn="l" indent="0" marL="0">
              <a:buNone/>
            </a:pPr>
            <a:r>
              <a:rPr lang="en-US" sz="1100" dirty="0">
                <a:solidFill>
                  <a:srgbClr val="5C6B66"/>
                </a:solidFill>
                <a:latin typeface="Calibri" pitchFamily="34" charset="0"/>
                <a:ea typeface="Calibri" pitchFamily="34" charset="-122"/>
                <a:cs typeface="Calibri" pitchFamily="34" charset="-120"/>
              </a:rPr>
              <a:t>The short code on every request that names the procedure. CPT is five digits, like 33249. HCPCS is a letter and four digits, used for equipment, like E0601. This is how a packet finds its service.</a:t>
            </a:r>
            <a:endParaRPr lang="en-US" sz="850" dirty="0"/>
          </a:p>
        </p:txBody>
      </p:sp>
      <p:sp>
        <p:nvSpPr>
          <p:cNvPr id="8" name="ACodes"/>
          <p:cNvSpPr/>
          <p:nvPr/>
        </p:nvSpPr>
        <p:spPr>
          <a:xfrm>
            <a:off x="3593592" y="3502152"/>
            <a:ext cx="530352" cy="0"/>
          </a:xfrm>
          <a:prstGeom prst="line">
            <a:avLst/>
          </a:prstGeom>
          <a:noFill/>
          <a:ln w="22225">
            <a:solidFill>
              <a:srgbClr val="5C6B66"/>
            </a:solidFill>
            <a:prstDash val="solid"/>
            <a:tailEnd type="triangle"/>
          </a:ln>
        </p:spPr>
      </p:sp>
      <p:sp>
        <p:nvSpPr>
          <p:cNvPr id="9" name="Pols"/>
          <p:cNvSpPr/>
          <p:nvPr/>
        </p:nvSpPr>
        <p:spPr>
          <a:xfrm>
            <a:off x="8622792" y="2514600"/>
            <a:ext cx="3108960" cy="1965960"/>
          </a:xfrm>
          <a:prstGeom prst="roundRect">
            <a:avLst>
              <a:gd name="adj" fmla="val 4651"/>
            </a:avLst>
          </a:prstGeom>
          <a:solidFill>
            <a:srgbClr val="E3F0EB"/>
          </a:solidFill>
          <a:ln w="15875">
            <a:solidFill>
              <a:srgbClr val="1F6F5C"/>
            </a:solidFill>
          </a:ln>
        </p:spPr>
        <p:txBody>
          <a:bodyPr wrap="square" lIns="164592" tIns="182880" rIns="164592" bIns="73152" rtlCol="0" anchor="t"/>
          <a:lstStyle/>
          <a:p>
            <a:pPr algn="l" indent="0" marL="0">
              <a:spcAft>
                <a:spcPts val="300"/>
              </a:spcAft>
              <a:buNone/>
            </a:pPr>
            <a:r>
              <a:rPr lang="en-US" sz="850" b="1" spc="150" kern="0" dirty="0">
                <a:solidFill>
                  <a:srgbClr val="1F6F5C"/>
                </a:solidFill>
                <a:latin typeface="Calibri" pitchFamily="34" charset="0"/>
                <a:ea typeface="Calibri" pitchFamily="34" charset="-122"/>
                <a:cs typeface="Calibri" pitchFamily="34" charset="-120"/>
              </a:rPr>
              <a:t>CODE + DATA</a:t>
            </a:r>
            <a:endParaRPr lang="en-US" sz="850" dirty="0"/>
          </a:p>
          <a:p>
            <a:pPr algn="l" indent="0" marL="0">
              <a:spcAft>
                <a:spcPts val="300"/>
              </a:spcAft>
              <a:buNone/>
            </a:pPr>
            <a:r>
              <a:rPr lang="en-US" sz="1500" b="1" dirty="0">
                <a:solidFill>
                  <a:srgbClr val="16211E"/>
                </a:solidFill>
                <a:latin typeface="Calibri" pitchFamily="34" charset="0"/>
                <a:ea typeface="Calibri" pitchFamily="34" charset="-122"/>
                <a:cs typeface="Calibri" pitchFamily="34" charset="-120"/>
              </a:rPr>
              <a:t>Policies it checks against</a:t>
            </a:r>
            <a:endParaRPr lang="en-US" sz="850" dirty="0"/>
          </a:p>
          <a:p>
            <a:pPr algn="l" indent="0" marL="0">
              <a:buNone/>
            </a:pPr>
            <a:r>
              <a:rPr lang="en-US" sz="1100" dirty="0">
                <a:solidFill>
                  <a:srgbClr val="5C6B66"/>
                </a:solidFill>
                <a:latin typeface="Calibri" pitchFamily="34" charset="0"/>
                <a:ea typeface="Calibri" pitchFamily="34" charset="-122"/>
                <a:cs typeface="Calibri" pitchFamily="34" charset="-120"/>
              </a:rPr>
              <a:t>In order of authority: federal regulation, national policy (NCD), local policy (LCD), the plan's own policy, then commercial criteria. Each brings its rules.</a:t>
            </a:r>
            <a:endParaRPr lang="en-US" sz="850" dirty="0"/>
          </a:p>
        </p:txBody>
      </p:sp>
      <p:sp>
        <p:nvSpPr>
          <p:cNvPr id="10" name="APols"/>
          <p:cNvSpPr/>
          <p:nvPr/>
        </p:nvSpPr>
        <p:spPr>
          <a:xfrm flipH="1">
            <a:off x="8065008" y="3502152"/>
            <a:ext cx="530352" cy="0"/>
          </a:xfrm>
          <a:prstGeom prst="line">
            <a:avLst/>
          </a:prstGeom>
          <a:noFill/>
          <a:ln w="22225">
            <a:solidFill>
              <a:srgbClr val="5C6B66"/>
            </a:solidFill>
            <a:prstDash val="solid"/>
            <a:tailEnd type="triangle"/>
          </a:ln>
        </p:spPr>
      </p:sp>
      <p:sp>
        <p:nvSpPr>
          <p:cNvPr id="11" name="Dets"/>
          <p:cNvSpPr/>
          <p:nvPr/>
        </p:nvSpPr>
        <p:spPr>
          <a:xfrm>
            <a:off x="3703320" y="4754880"/>
            <a:ext cx="4754880" cy="1097280"/>
          </a:xfrm>
          <a:prstGeom prst="roundRect">
            <a:avLst>
              <a:gd name="adj" fmla="val 8333"/>
            </a:avLst>
          </a:prstGeom>
          <a:solidFill>
            <a:srgbClr val="EBE2F8"/>
          </a:solidFill>
          <a:ln w="15875">
            <a:solidFill>
              <a:srgbClr val="5F3AA8"/>
            </a:solidFill>
          </a:ln>
        </p:spPr>
        <p:txBody>
          <a:bodyPr wrap="square" lIns="164592" tIns="182880" rIns="164592" bIns="54864" rtlCol="0" anchor="t"/>
          <a:lstStyle/>
          <a:p>
            <a:pPr algn="l" indent="0" marL="0">
              <a:spcAft>
                <a:spcPts val="300"/>
              </a:spcAft>
              <a:buNone/>
            </a:pPr>
            <a:r>
              <a:rPr lang="en-US" sz="850" b="1" spc="150" kern="0" dirty="0">
                <a:solidFill>
                  <a:srgbClr val="5F3AA8"/>
                </a:solidFill>
                <a:latin typeface="Calibri" pitchFamily="34" charset="0"/>
                <a:ea typeface="Calibri" pitchFamily="34" charset="-122"/>
                <a:cs typeface="Calibri" pitchFamily="34" charset="-120"/>
              </a:rPr>
              <a:t>AI</a:t>
            </a:r>
            <a:endParaRPr lang="en-US" sz="850" dirty="0"/>
          </a:p>
          <a:p>
            <a:pPr algn="l" indent="0" marL="0">
              <a:spcAft>
                <a:spcPts val="300"/>
              </a:spcAft>
              <a:buNone/>
            </a:pPr>
            <a:r>
              <a:rPr lang="en-US" sz="1400" b="1" dirty="0">
                <a:solidFill>
                  <a:srgbClr val="16211E"/>
                </a:solidFill>
                <a:latin typeface="Calibri" pitchFamily="34" charset="0"/>
                <a:ea typeface="Calibri" pitchFamily="34" charset="-122"/>
                <a:cs typeface="Calibri" pitchFamily="34" charset="-120"/>
              </a:rPr>
              <a:t>Details the reader looks for in the packet</a:t>
            </a:r>
            <a:endParaRPr lang="en-US" sz="850" dirty="0"/>
          </a:p>
          <a:p>
            <a:pPr algn="l" indent="0" marL="0">
              <a:buNone/>
            </a:pPr>
            <a:r>
              <a:rPr lang="en-US" sz="1100" dirty="0">
                <a:solidFill>
                  <a:srgbClr val="5C6B66"/>
                </a:solidFill>
                <a:latin typeface="Calibri" pitchFamily="34" charset="0"/>
                <a:ea typeface="Calibri" pitchFamily="34" charset="-122"/>
                <a:cs typeface="Calibri" pitchFamily="34" charset="-120"/>
              </a:rPr>
              <a:t>For this service: ejection fraction, how it was measured, recent heart attack, months on medicines. Each is one question the AI answers from the packet.</a:t>
            </a:r>
            <a:endParaRPr lang="en-US" sz="850" dirty="0"/>
          </a:p>
        </p:txBody>
      </p:sp>
      <p:sp>
        <p:nvSpPr>
          <p:cNvPr id="12" name="ADets"/>
          <p:cNvSpPr/>
          <p:nvPr/>
        </p:nvSpPr>
        <p:spPr>
          <a:xfrm>
            <a:off x="6099048" y="4187952"/>
            <a:ext cx="0" cy="530352"/>
          </a:xfrm>
          <a:prstGeom prst="line">
            <a:avLst/>
          </a:prstGeom>
          <a:noFill/>
          <a:ln w="22225">
            <a:solidFill>
              <a:srgbClr val="5C6B66"/>
            </a:solidFill>
            <a:prstDash val="solid"/>
            <a:tailEnd type="triangle"/>
          </a:ln>
        </p:spPr>
      </p:sp>
      <p:sp>
        <p:nvSpPr>
          <p:cNvPr id="13" name="LCLbl"/>
          <p:cNvSpPr txBox="1"/>
          <p:nvPr/>
        </p:nvSpPr>
        <p:spPr>
          <a:xfrm>
            <a:off x="457200" y="5943600"/>
            <a:ext cx="1828800" cy="457200"/>
          </a:xfrm>
          <a:prstGeom prst="rect">
            <a:avLst/>
          </a:prstGeom>
          <a:noFill/>
          <a:ln/>
        </p:spPr>
        <p:txBody>
          <a:bodyPr wrap="square" lIns="0" tIns="0" rIns="0" bIns="0" rtlCol="0" anchor="ctr"/>
          <a:lstStyle/>
          <a:p>
            <a:pPr algn="l" indent="0" marL="0">
              <a:buNone/>
            </a:pPr>
            <a:r>
              <a:rPr lang="en-US" sz="1100" b="1" dirty="0">
                <a:solidFill>
                  <a:srgbClr val="16211E"/>
                </a:solidFill>
                <a:latin typeface="Calibri" pitchFamily="34" charset="0"/>
                <a:ea typeface="Calibri" pitchFamily="34" charset="-122"/>
                <a:cs typeface="Calibri" pitchFamily="34" charset="-120"/>
              </a:rPr>
              <a:t>A service moves through</a:t>
            </a:r>
            <a:endParaRPr lang="en-US" sz="1100" dirty="0"/>
          </a:p>
        </p:txBody>
      </p:sp>
      <p:sp>
        <p:nvSpPr>
          <p:cNvPr id="14" name="LC0"/>
          <p:cNvSpPr/>
          <p:nvPr/>
        </p:nvSpPr>
        <p:spPr>
          <a:xfrm>
            <a:off x="2331720" y="5897880"/>
            <a:ext cx="2880360" cy="530352"/>
          </a:xfrm>
          <a:prstGeom prst="roundRect">
            <a:avLst>
              <a:gd name="adj" fmla="val 13793"/>
            </a:avLst>
          </a:prstGeom>
          <a:solidFill>
            <a:srgbClr val="F3F5F4"/>
          </a:solidFill>
          <a:ln w="12700">
            <a:solidFill>
              <a:srgbClr val="CBD5D1"/>
            </a:solidFill>
          </a:ln>
        </p:spPr>
        <p:txBody>
          <a:bodyPr wrap="square" lIns="109728" tIns="27432" rIns="109728" bIns="27432" rtlCol="0" anchor="ctr"/>
          <a:lstStyle/>
          <a:p>
            <a:pPr algn="l" indent="0" marL="0">
              <a:buNone/>
            </a:pPr>
            <a:r>
              <a:rPr lang="en-US" sz="1200" b="1" dirty="0">
                <a:solidFill>
                  <a:srgbClr val="5C6B66"/>
                </a:solidFill>
                <a:latin typeface="Calibri" pitchFamily="34" charset="0"/>
                <a:ea typeface="Calibri" pitchFamily="34" charset="-122"/>
                <a:cs typeface="Calibri" pitchFamily="34" charset="-120"/>
              </a:rPr>
              <a:t>Planned  </a:t>
            </a:r>
            <a:pPr algn="l" indent="0" marL="0">
              <a:buNone/>
            </a:pPr>
            <a:r>
              <a:rPr lang="en-US" sz="1000" dirty="0">
                <a:solidFill>
                  <a:srgbClr val="5C6B66"/>
                </a:solidFill>
                <a:latin typeface="Calibri" pitchFamily="34" charset="0"/>
                <a:ea typeface="Calibri" pitchFamily="34" charset="-122"/>
                <a:cs typeface="Calibri" pitchFamily="34" charset="-120"/>
              </a:rPr>
              <a:t>On the rollout list. No packet is sent to it</a:t>
            </a:r>
            <a:endParaRPr lang="en-US" sz="1200" dirty="0"/>
          </a:p>
        </p:txBody>
      </p:sp>
      <p:sp>
        <p:nvSpPr>
          <p:cNvPr id="15" name="LC1"/>
          <p:cNvSpPr/>
          <p:nvPr/>
        </p:nvSpPr>
        <p:spPr>
          <a:xfrm>
            <a:off x="5486400" y="5897880"/>
            <a:ext cx="2880360" cy="530352"/>
          </a:xfrm>
          <a:prstGeom prst="roundRect">
            <a:avLst>
              <a:gd name="adj" fmla="val 13793"/>
            </a:avLst>
          </a:prstGeom>
          <a:solidFill>
            <a:srgbClr val="FCEFD0"/>
          </a:solidFill>
          <a:ln w="12700">
            <a:solidFill>
              <a:srgbClr val="8A5A00"/>
            </a:solidFill>
          </a:ln>
        </p:spPr>
        <p:txBody>
          <a:bodyPr wrap="square" lIns="109728" tIns="27432" rIns="109728" bIns="27432" rtlCol="0" anchor="ctr"/>
          <a:lstStyle/>
          <a:p>
            <a:pPr algn="l" indent="0" marL="0">
              <a:buNone/>
            </a:pPr>
            <a:r>
              <a:rPr lang="en-US" sz="1200" b="1" dirty="0">
                <a:solidFill>
                  <a:srgbClr val="8A5A00"/>
                </a:solidFill>
                <a:latin typeface="Calibri" pitchFamily="34" charset="0"/>
                <a:ea typeface="Calibri" pitchFamily="34" charset="-122"/>
                <a:cs typeface="Calibri" pitchFamily="34" charset="-120"/>
              </a:rPr>
              <a:t>Pilot  </a:t>
            </a:r>
            <a:pPr algn="l" indent="0" marL="0">
              <a:buNone/>
            </a:pPr>
            <a:r>
              <a:rPr lang="en-US" sz="1000" dirty="0">
                <a:solidFill>
                  <a:srgbClr val="5C6B66"/>
                </a:solidFill>
                <a:latin typeface="Calibri" pitchFamily="34" charset="0"/>
                <a:ea typeface="Calibri" pitchFamily="34" charset="-122"/>
                <a:cs typeface="Calibri" pitchFamily="34" charset="-120"/>
              </a:rPr>
              <a:t>Switched on. Nurses check every recommendation</a:t>
            </a:r>
            <a:endParaRPr lang="en-US" sz="1200" dirty="0"/>
          </a:p>
        </p:txBody>
      </p:sp>
      <p:sp>
        <p:nvSpPr>
          <p:cNvPr id="16" name="LA1"/>
          <p:cNvSpPr/>
          <p:nvPr/>
        </p:nvSpPr>
        <p:spPr>
          <a:xfrm>
            <a:off x="5212080" y="6163056"/>
            <a:ext cx="246888" cy="0"/>
          </a:xfrm>
          <a:prstGeom prst="line">
            <a:avLst/>
          </a:prstGeom>
          <a:noFill/>
          <a:ln w="22225">
            <a:solidFill>
              <a:srgbClr val="5C6B66"/>
            </a:solidFill>
            <a:prstDash val="solid"/>
            <a:tailEnd type="triangle"/>
          </a:ln>
        </p:spPr>
      </p:sp>
      <p:sp>
        <p:nvSpPr>
          <p:cNvPr id="17" name="LC2"/>
          <p:cNvSpPr/>
          <p:nvPr/>
        </p:nvSpPr>
        <p:spPr>
          <a:xfrm>
            <a:off x="8641080" y="5897880"/>
            <a:ext cx="2880360" cy="530352"/>
          </a:xfrm>
          <a:prstGeom prst="roundRect">
            <a:avLst>
              <a:gd name="adj" fmla="val 13793"/>
            </a:avLst>
          </a:prstGeom>
          <a:solidFill>
            <a:srgbClr val="DDF3E7"/>
          </a:solidFill>
          <a:ln w="12700">
            <a:solidFill>
              <a:srgbClr val="18764A"/>
            </a:solidFill>
          </a:ln>
        </p:spPr>
        <p:txBody>
          <a:bodyPr wrap="square" lIns="109728" tIns="27432" rIns="109728" bIns="27432" rtlCol="0" anchor="ctr"/>
          <a:lstStyle/>
          <a:p>
            <a:pPr algn="l" indent="0" marL="0">
              <a:buNone/>
            </a:pPr>
            <a:r>
              <a:rPr lang="en-US" sz="1200" b="1" dirty="0">
                <a:solidFill>
                  <a:srgbClr val="18764A"/>
                </a:solidFill>
                <a:latin typeface="Calibri" pitchFamily="34" charset="0"/>
                <a:ea typeface="Calibri" pitchFamily="34" charset="-122"/>
                <a:cs typeface="Calibri" pitchFamily="34" charset="-120"/>
              </a:rPr>
              <a:t>Live  </a:t>
            </a:r>
            <a:pPr algn="l" indent="0" marL="0">
              <a:buNone/>
            </a:pPr>
            <a:r>
              <a:rPr lang="en-US" sz="1000" dirty="0">
                <a:solidFill>
                  <a:srgbClr val="5C6B66"/>
                </a:solidFill>
                <a:latin typeface="Calibri" pitchFamily="34" charset="0"/>
                <a:ea typeface="Calibri" pitchFamily="34" charset="-122"/>
                <a:cs typeface="Calibri" pitchFamily="34" charset="-120"/>
              </a:rPr>
              <a:t>Switched on and tested</a:t>
            </a:r>
            <a:endParaRPr lang="en-US" sz="1200" dirty="0"/>
          </a:p>
        </p:txBody>
      </p:sp>
      <p:sp>
        <p:nvSpPr>
          <p:cNvPr id="18" name="LA2"/>
          <p:cNvSpPr/>
          <p:nvPr/>
        </p:nvSpPr>
        <p:spPr>
          <a:xfrm>
            <a:off x="8366760" y="6163056"/>
            <a:ext cx="246888" cy="0"/>
          </a:xfrm>
          <a:prstGeom prst="line">
            <a:avLst/>
          </a:prstGeom>
          <a:noFill/>
          <a:ln w="22225">
            <a:solidFill>
              <a:srgbClr val="5C6B66"/>
            </a:solidFill>
            <a:prstDash val="solid"/>
            <a:tailEnd type="triangle"/>
          </a:ln>
        </p:spPr>
      </p:sp>
      <p:sp>
        <p:nvSpPr>
          <p:cNvPr id="19" name="Gtm"/>
          <p:cNvSpPr/>
          <p:nvPr/>
        </p:nvSpPr>
        <p:spPr>
          <a:xfrm>
            <a:off x="3246120" y="1353312"/>
            <a:ext cx="5696712" cy="1097280"/>
          </a:xfrm>
          <a:prstGeom prst="roundRect">
            <a:avLst>
              <a:gd name="adj" fmla="val 8333"/>
            </a:avLst>
          </a:prstGeom>
          <a:solidFill>
            <a:srgbClr val="FBE9E4"/>
          </a:solidFill>
          <a:ln w="15875">
            <a:solidFill>
              <a:srgbClr val="B8452F"/>
            </a:solidFill>
          </a:ln>
        </p:spPr>
        <p:txBody>
          <a:bodyPr wrap="square" lIns="164592" tIns="91440" rIns="164592" bIns="54864" rtlCol="0" anchor="t"/>
          <a:lstStyle/>
          <a:p>
            <a:pPr algn="l" indent="0" marL="0">
              <a:spcAft>
                <a:spcPts val="300"/>
              </a:spcAft>
              <a:buNone/>
            </a:pPr>
            <a:r>
              <a:rPr lang="en-US" sz="900" b="1" spc="200" kern="0" dirty="0">
                <a:solidFill>
                  <a:srgbClr val="B8452F"/>
                </a:solidFill>
                <a:latin typeface="Calibri" pitchFamily="34" charset="0"/>
                <a:ea typeface="Calibri" pitchFamily="34" charset="-122"/>
                <a:cs typeface="Calibri" pitchFamily="34" charset="-120"/>
              </a:rPr>
              <a:t>WHICH SERVICES FIRST?</a:t>
            </a:r>
            <a:endParaRPr lang="en-US" sz="900" dirty="0"/>
          </a:p>
          <a:p>
            <a:pPr algn="l" indent="0" marL="0">
              <a:buNone/>
            </a:pPr>
            <a:r>
              <a:rPr lang="en-US" sz="1100" dirty="0">
                <a:solidFill>
                  <a:srgbClr val="16211E"/>
                </a:solidFill>
                <a:latin typeface="Calibri" pitchFamily="34" charset="0"/>
                <a:ea typeface="Calibri" pitchFamily="34" charset="-122"/>
                <a:cs typeface="Calibri" pitchFamily="34" charset="-120"/>
              </a:rPr>
              <a:t>In production, Humana's own history of prior authorization requests sets the rollout plan: volume, pends and reversals by procedure code. In the prototype, the owner sees the same signal as 'Requests without a policy'.</a:t>
            </a:r>
            <a:endParaRPr lang="en-US" sz="900" dirty="0"/>
          </a:p>
        </p:txBody>
      </p:sp>
      <p:sp>
        <p:nvSpPr>
          <p:cNvPr id="20" name="AGtm"/>
          <p:cNvSpPr/>
          <p:nvPr/>
        </p:nvSpPr>
        <p:spPr>
          <a:xfrm>
            <a:off x="6099048" y="2468880"/>
            <a:ext cx="0" cy="329184"/>
          </a:xfrm>
          <a:prstGeom prst="line">
            <a:avLst/>
          </a:prstGeom>
          <a:noFill/>
          <a:ln w="22225">
            <a:solidFill>
              <a:srgbClr val="5C6B66"/>
            </a:solidFill>
            <a:prstDash val="solid"/>
            <a:tailEnd type="triangle"/>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childTnLst>
                                </p:cTn>
                              </p:par>
                              <p:par>
                                <p:cTn id="13" presetID="10" presetClass="entr" presetSubtype="0" fill="hold" nodeType="withEffect">
                                  <p:stCondLst>
                                    <p:cond delay="12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5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50"/>
                                        <p:tgtEl>
                                          <p:spTgt spid="9"/>
                                        </p:tgtEl>
                                      </p:cBhvr>
                                    </p:animEffect>
                                  </p:childTnLst>
                                </p:cTn>
                              </p:par>
                              <p:par>
                                <p:cTn id="21" presetID="10" presetClass="entr" presetSubtype="0" fill="hold" nodeType="withEffect">
                                  <p:stCondLst>
                                    <p:cond delay="12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5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nodeType="withEffect">
                                  <p:stCondLst>
                                    <p:cond delay="12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450"/>
                                        <p:tgtEl>
                                          <p:spTgt spid="19"/>
                                        </p:tgtEl>
                                      </p:cBhvr>
                                    </p:animEffect>
                                  </p:childTnLst>
                                </p:cTn>
                              </p:par>
                              <p:par>
                                <p:cTn id="37" presetID="10" presetClass="entr" presetSubtype="0" fill="hold" nodeType="withEffect">
                                  <p:stCondLst>
                                    <p:cond delay="12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450"/>
                                        <p:tgtEl>
                                          <p:spTgt spid="20"/>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450"/>
                                        <p:tgtEl>
                                          <p:spTgt spid="13"/>
                                        </p:tgtEl>
                                      </p:cBhvr>
                                    </p:animEffect>
                                  </p:childTnLst>
                                </p:cTn>
                              </p:par>
                              <p:par>
                                <p:cTn id="45" presetID="10" presetClass="entr" presetSubtype="0" fill="hold" grpId="0" nodeType="withEffect">
                                  <p:stCondLst>
                                    <p:cond delay="12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450"/>
                                        <p:tgtEl>
                                          <p:spTgt spid="14"/>
                                        </p:tgtEl>
                                      </p:cBhvr>
                                    </p:animEffect>
                                  </p:childTnLst>
                                </p:cTn>
                              </p:par>
                              <p:par>
                                <p:cTn id="48" presetID="10" presetClass="entr" presetSubtype="0" fill="hold" grpId="0" nodeType="withEffect">
                                  <p:stCondLst>
                                    <p:cond delay="12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450"/>
                                        <p:tgtEl>
                                          <p:spTgt spid="15"/>
                                        </p:tgtEl>
                                      </p:cBhvr>
                                    </p:animEffect>
                                  </p:childTnLst>
                                </p:cTn>
                              </p:par>
                              <p:par>
                                <p:cTn id="51" presetID="10" presetClass="entr" presetSubtype="0" fill="hold" nodeType="withEffect">
                                  <p:stCondLst>
                                    <p:cond delay="12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450"/>
                                        <p:tgtEl>
                                          <p:spTgt spid="16"/>
                                        </p:tgtEl>
                                      </p:cBhvr>
                                    </p:animEffect>
                                  </p:childTnLst>
                                </p:cTn>
                              </p:par>
                              <p:par>
                                <p:cTn id="54" presetID="10" presetClass="entr" presetSubtype="0" fill="hold" grpId="0" nodeType="withEffect">
                                  <p:stCondLst>
                                    <p:cond delay="12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450"/>
                                        <p:tgtEl>
                                          <p:spTgt spid="17"/>
                                        </p:tgtEl>
                                      </p:cBhvr>
                                    </p:animEffect>
                                  </p:childTnLst>
                                </p:cTn>
                              </p:par>
                              <p:par>
                                <p:cTn id="57" presetID="10" presetClass="entr" presetSubtype="0" fill="hold" nodeType="withEffect">
                                  <p:stCondLst>
                                    <p:cond delay="12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1" grpId="0" animBg="1"/>
      <p:bldP spid="19" grpId="0" animBg="1"/>
      <p:bldP spid="13" grpId="0"/>
      <p:bldP spid="14" grpId="0" animBg="1"/>
      <p:bldP spid="15" grpId="0" animBg="1"/>
      <p:bldP spid="17"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service links codes, policies and details</dc:title>
  <dc:subject>PptxGenJS Presentation</dc:subject>
  <dc:creator>Nisha Mishra</dc:creator>
  <cp:lastModifiedBy>Nisha Mishra</cp:lastModifiedBy>
  <cp:revision>1</cp:revision>
  <dcterms:created xsi:type="dcterms:W3CDTF">2026-10-04T22:25:57Z</dcterms:created>
  <dcterms:modified xsi:type="dcterms:W3CDTF">2026-10-04T22:25:57Z</dcterms:modified>
</cp:coreProperties>
</file>