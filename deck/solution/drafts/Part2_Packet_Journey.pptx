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One click per step. Finish the talking point, then click.
Click 1: The intake coordinator uploads the packet. One PDF, a fax or a scan. Today this is the same step. Nothing about intake changes except what happens next.
Click 2: The pages go through an ETL step with AI inside. It decides how to read each page, as typed text or as a scan, and splits the page into pieces: titles, paragraphs, tables. Each piece keeps its page and where it sits on the page, the bounding box. The output is a list of typed pieces with their positions. That is what everything later works from.
Click 3: Next we find the service. The procedure code on the request is matched to a service in the library. If no service uses that code, the packet is flagged 'No policy yet' and nothing is guessed. The nurse decides, and the policy owner sees the demand.
Click 4: An AI reads the packet and fills one form, the details this service needs. It reads three times and the answers must agree. Where it counts dates, our code does the counting. If it cannot tell, it says so. It never guesses.
Click 5: Then we check the evidence. For every detail, plain code finds the quoted sentence on its page. A second AI call checks the sentence really supports the claim. If not, the detail loses its tick and the nurse sees that.
Click 6: The rules engine is plain code. It compares the details with the approved rules. A missing detail means pend. An unclear one means verify. A rule that is not met means escalate. Everything met means approve. The same details always give the same answer. There is no deny in its vocabulary.
Click 7: The nurse sees a checklist with the evidence beside each item and confirms the recommendation. Hard cases go to a medical director. Only a medical director can deny, and writes the reason.
Click 8: The point to land: the AI reads and cites. Code decides. A nurse confirms. A medical director alone can deny.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54864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THE PRODUCT, PART 2 OF 2</a:t>
            </a:r>
            <a:endParaRPr lang="en-US" sz="1100" dirty="0"/>
          </a:p>
        </p:txBody>
      </p:sp>
      <p:sp>
        <p:nvSpPr>
          <p:cNvPr id="3" name="heading"/>
          <p:cNvSpPr txBox="1"/>
          <p:nvPr/>
        </p:nvSpPr>
        <p:spPr>
          <a:xfrm>
            <a:off x="457200" y="502920"/>
            <a:ext cx="768096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Then every packet is read with that library.</a:t>
            </a:r>
            <a:endParaRPr lang="en-US" sz="2600" dirty="0"/>
          </a:p>
        </p:txBody>
      </p:sp>
      <p:sp>
        <p:nvSpPr>
          <p:cNvPr id="4" name="sub"/>
          <p:cNvSpPr txBox="1"/>
          <p:nvPr/>
        </p:nvSpPr>
        <p:spPr>
          <a:xfrm>
            <a:off x="7498080" y="502920"/>
            <a:ext cx="4233672" cy="685800"/>
          </a:xfrm>
          <a:prstGeom prst="rect">
            <a:avLst/>
          </a:prstGeom>
          <a:noFill/>
          <a:ln/>
        </p:spPr>
        <p:txBody>
          <a:bodyPr wrap="square" lIns="0" tIns="0" rIns="0" bIns="0" rtlCol="0" anchor="ctr"/>
          <a:lstStyle/>
          <a:p>
            <a:pPr algn="r" indent="0" marL="0">
              <a:buNone/>
            </a:pPr>
            <a:r>
              <a:rPr lang="en-US" sz="1400" dirty="0">
                <a:solidFill>
                  <a:srgbClr val="5C6B66"/>
                </a:solidFill>
                <a:latin typeface="Calibri" pitchFamily="34" charset="0"/>
                <a:ea typeface="Calibri" pitchFamily="34" charset="-122"/>
                <a:cs typeface="Calibri" pitchFamily="34" charset="-120"/>
              </a:rPr>
              <a:t>The AI reads and cites. Code decides.</a:t>
            </a:r>
            <a:endParaRPr lang="en-US" sz="1400" dirty="0"/>
          </a:p>
        </p:txBody>
      </p:sp>
      <p:sp>
        <p:nvSpPr>
          <p:cNvPr id="5"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All packets are made up. The reader and the evidence check use an AI model. The rules engine is plain code and cannot deny.</a:t>
            </a:r>
            <a:endParaRPr lang="en-US" sz="900" dirty="0"/>
          </a:p>
        </p:txBody>
      </p:sp>
      <p:sp>
        <p:nvSpPr>
          <p:cNvPr id="6" name="S0"/>
          <p:cNvSpPr/>
          <p:nvPr/>
        </p:nvSpPr>
        <p:spPr>
          <a:xfrm>
            <a:off x="457200" y="1417320"/>
            <a:ext cx="1481328" cy="1783080"/>
          </a:xfrm>
          <a:prstGeom prst="roundRect">
            <a:avLst>
              <a:gd name="adj" fmla="val 6173"/>
            </a:avLst>
          </a:prstGeom>
          <a:solidFill>
            <a:srgbClr val="FCEFD0"/>
          </a:solidFill>
          <a:ln w="15875">
            <a:solidFill>
              <a:srgbClr val="8A5A00"/>
            </a:solidFill>
          </a:ln>
        </p:spPr>
        <p:txBody>
          <a:bodyPr wrap="square" lIns="91440" tIns="274320" rIns="91440" bIns="54864" rtlCol="0" anchor="t"/>
          <a:lstStyle/>
          <a:p>
            <a:pPr algn="l" indent="0" marL="0">
              <a:spcAft>
                <a:spcPts val="300"/>
              </a:spcAft>
              <a:buNone/>
            </a:pPr>
            <a:r>
              <a:rPr lang="en-US" sz="850" b="1" spc="150" kern="0" dirty="0">
                <a:solidFill>
                  <a:srgbClr val="8A5A00"/>
                </a:solidFill>
                <a:latin typeface="Calibri" pitchFamily="34" charset="0"/>
                <a:ea typeface="Calibri" pitchFamily="34" charset="-122"/>
                <a:cs typeface="Calibri" pitchFamily="34" charset="-120"/>
              </a:rPr>
              <a:t>PERSON</a:t>
            </a:r>
            <a:endParaRPr lang="en-US" sz="850" dirty="0"/>
          </a:p>
          <a:p>
            <a:pPr algn="l" indent="0" marL="0">
              <a:spcAft>
                <a:spcPts val="300"/>
              </a:spcAft>
              <a:buNone/>
            </a:pPr>
            <a:r>
              <a:rPr lang="en-US" sz="1300" b="1" dirty="0">
                <a:solidFill>
                  <a:srgbClr val="16211E"/>
                </a:solidFill>
                <a:latin typeface="Calibri" pitchFamily="34" charset="0"/>
                <a:ea typeface="Calibri" pitchFamily="34" charset="-122"/>
                <a:cs typeface="Calibri" pitchFamily="34" charset="-120"/>
              </a:rPr>
              <a:t>Intake uploads</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One PDF per request, up to 15 MB</a:t>
            </a:r>
            <a:endParaRPr lang="en-US" sz="850" dirty="0"/>
          </a:p>
        </p:txBody>
      </p:sp>
      <p:sp>
        <p:nvSpPr>
          <p:cNvPr id="7" name="B0"/>
          <p:cNvSpPr/>
          <p:nvPr/>
        </p:nvSpPr>
        <p:spPr>
          <a:xfrm>
            <a:off x="484632" y="1261872"/>
            <a:ext cx="310896" cy="310896"/>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E0"/>
          <p:cNvSpPr/>
          <p:nvPr/>
        </p:nvSpPr>
        <p:spPr>
          <a:xfrm>
            <a:off x="457200" y="3310128"/>
            <a:ext cx="1481328" cy="868680"/>
          </a:xfrm>
          <a:prstGeom prst="roundRect">
            <a:avLst>
              <a:gd name="adj" fmla="val 6316"/>
            </a:avLst>
          </a:prstGeom>
          <a:solidFill>
            <a:srgbClr val="FFFFFF"/>
          </a:solidFill>
          <a:ln w="9525">
            <a:solidFill>
              <a:srgbClr val="CBD5D1"/>
            </a:solidFill>
          </a:ln>
        </p:spPr>
        <p:txBody>
          <a:bodyPr wrap="square" lIns="73152" tIns="54864" rIns="73152" bIns="36576" rtlCol="0" anchor="t"/>
          <a:lstStyle/>
          <a:p>
            <a:pPr algn="l" indent="0" marL="0">
              <a:buNone/>
            </a:pPr>
            <a:r>
              <a:rPr lang="en-US" sz="950" i="1" dirty="0">
                <a:solidFill>
                  <a:srgbClr val="5C6B66"/>
                </a:solidFill>
                <a:latin typeface="Calibri" pitchFamily="34" charset="0"/>
                <a:ea typeface="Calibri" pitchFamily="34" charset="-122"/>
                <a:cs typeface="Calibri" pitchFamily="34" charset="-120"/>
              </a:rPr>
              <a:t>Fax, portal or scan. A packet of 14 pages</a:t>
            </a:r>
            <a:endParaRPr lang="en-US" sz="950" dirty="0"/>
          </a:p>
        </p:txBody>
      </p:sp>
      <p:sp>
        <p:nvSpPr>
          <p:cNvPr id="9" name="S1"/>
          <p:cNvSpPr/>
          <p:nvPr/>
        </p:nvSpPr>
        <p:spPr>
          <a:xfrm>
            <a:off x="2089404" y="1417320"/>
            <a:ext cx="1481328" cy="1783080"/>
          </a:xfrm>
          <a:prstGeom prst="roundRect">
            <a:avLst>
              <a:gd name="adj" fmla="val 6173"/>
            </a:avLst>
          </a:prstGeom>
          <a:solidFill>
            <a:srgbClr val="FBE9E4"/>
          </a:solidFill>
          <a:ln w="15875">
            <a:solidFill>
              <a:srgbClr val="B8452F"/>
            </a:solidFill>
          </a:ln>
        </p:spPr>
        <p:txBody>
          <a:bodyPr wrap="square" lIns="91440" tIns="274320" rIns="91440" bIns="54864" rtlCol="0" anchor="t"/>
          <a:lstStyle/>
          <a:p>
            <a:pPr algn="l" indent="0" marL="0">
              <a:spcAft>
                <a:spcPts val="300"/>
              </a:spcAft>
              <a:buNone/>
            </a:pPr>
            <a:r>
              <a:rPr lang="en-US" sz="850" b="1" spc="150" kern="0" dirty="0">
                <a:solidFill>
                  <a:srgbClr val="B8452F"/>
                </a:solidFill>
                <a:latin typeface="Calibri" pitchFamily="34" charset="0"/>
                <a:ea typeface="Calibri" pitchFamily="34" charset="-122"/>
                <a:cs typeface="Calibri" pitchFamily="34" charset="-120"/>
              </a:rPr>
              <a:t>ETL + AI</a:t>
            </a:r>
            <a:endParaRPr lang="en-US" sz="850" dirty="0"/>
          </a:p>
          <a:p>
            <a:pPr algn="l" indent="0" marL="0">
              <a:spcAft>
                <a:spcPts val="300"/>
              </a:spcAft>
              <a:buNone/>
            </a:pPr>
            <a:r>
              <a:rPr lang="en-US" sz="1300" b="1" dirty="0">
                <a:solidFill>
                  <a:srgbClr val="16211E"/>
                </a:solidFill>
                <a:latin typeface="Calibri" pitchFamily="34" charset="0"/>
                <a:ea typeface="Calibri" pitchFamily="34" charset="-122"/>
                <a:cs typeface="Calibri" pitchFamily="34" charset="-120"/>
              </a:rPr>
              <a:t>Read the pages</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Chooses how to read each page, typed text or scan. Splits it into pieces with their boxes</a:t>
            </a:r>
            <a:endParaRPr lang="en-US" sz="850" dirty="0"/>
          </a:p>
        </p:txBody>
      </p:sp>
      <p:sp>
        <p:nvSpPr>
          <p:cNvPr id="10" name="B1"/>
          <p:cNvSpPr/>
          <p:nvPr/>
        </p:nvSpPr>
        <p:spPr>
          <a:xfrm>
            <a:off x="2116836" y="1261872"/>
            <a:ext cx="310896" cy="310896"/>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E1"/>
          <p:cNvSpPr/>
          <p:nvPr/>
        </p:nvSpPr>
        <p:spPr>
          <a:xfrm>
            <a:off x="2089404" y="3310128"/>
            <a:ext cx="1481328" cy="868680"/>
          </a:xfrm>
          <a:prstGeom prst="roundRect">
            <a:avLst>
              <a:gd name="adj" fmla="val 6316"/>
            </a:avLst>
          </a:prstGeom>
          <a:solidFill>
            <a:srgbClr val="FFFFFF"/>
          </a:solidFill>
          <a:ln w="9525">
            <a:solidFill>
              <a:srgbClr val="CBD5D1"/>
            </a:solidFill>
          </a:ln>
        </p:spPr>
        <p:txBody>
          <a:bodyPr wrap="square" lIns="73152" tIns="54864" rIns="73152" bIns="36576" rtlCol="0" anchor="t"/>
          <a:lstStyle/>
          <a:p>
            <a:pPr algn="l" indent="0" marL="0">
              <a:buNone/>
            </a:pPr>
            <a:r>
              <a:rPr lang="en-US" sz="950" i="1" dirty="0">
                <a:solidFill>
                  <a:srgbClr val="5C6B66"/>
                </a:solidFill>
                <a:latin typeface="Calibri" pitchFamily="34" charset="0"/>
                <a:ea typeface="Calibri" pitchFamily="34" charset="-122"/>
                <a:cs typeface="Calibri" pitchFamily="34" charset="-120"/>
              </a:rPr>
              <a:t>Title, paragraph, table. Each keeps its page and box</a:t>
            </a:r>
            <a:endParaRPr lang="en-US" sz="950" dirty="0"/>
          </a:p>
        </p:txBody>
      </p:sp>
      <p:sp>
        <p:nvSpPr>
          <p:cNvPr id="12" name="A1"/>
          <p:cNvSpPr/>
          <p:nvPr/>
        </p:nvSpPr>
        <p:spPr>
          <a:xfrm>
            <a:off x="1947672" y="2308860"/>
            <a:ext cx="132588" cy="0"/>
          </a:xfrm>
          <a:prstGeom prst="line">
            <a:avLst/>
          </a:prstGeom>
          <a:noFill/>
          <a:ln w="22225">
            <a:solidFill>
              <a:srgbClr val="5C6B66"/>
            </a:solidFill>
            <a:prstDash val="solid"/>
            <a:tailEnd type="triangle"/>
          </a:ln>
        </p:spPr>
      </p:sp>
      <p:sp>
        <p:nvSpPr>
          <p:cNvPr id="13" name="S2"/>
          <p:cNvSpPr/>
          <p:nvPr/>
        </p:nvSpPr>
        <p:spPr>
          <a:xfrm>
            <a:off x="3721608" y="1417320"/>
            <a:ext cx="1481328" cy="1783080"/>
          </a:xfrm>
          <a:prstGeom prst="roundRect">
            <a:avLst>
              <a:gd name="adj" fmla="val 6173"/>
            </a:avLst>
          </a:prstGeom>
          <a:solidFill>
            <a:srgbClr val="E3F0EB"/>
          </a:solidFill>
          <a:ln w="15875">
            <a:solidFill>
              <a:srgbClr val="1F6F5C"/>
            </a:solidFill>
          </a:ln>
        </p:spPr>
        <p:txBody>
          <a:bodyPr wrap="square" lIns="91440" tIns="274320" rIns="91440" bIns="54864" rtlCol="0" anchor="t"/>
          <a:lstStyle/>
          <a:p>
            <a:pPr algn="l" indent="0" marL="0">
              <a:spcAft>
                <a:spcPts val="300"/>
              </a:spcAft>
              <a:buNone/>
            </a:pPr>
            <a:r>
              <a:rPr lang="en-US" sz="850" b="1" spc="150" kern="0" dirty="0">
                <a:solidFill>
                  <a:srgbClr val="1F6F5C"/>
                </a:solidFill>
                <a:latin typeface="Calibri" pitchFamily="34" charset="0"/>
                <a:ea typeface="Calibri" pitchFamily="34" charset="-122"/>
                <a:cs typeface="Calibri" pitchFamily="34" charset="-120"/>
              </a:rPr>
              <a:t>CODE</a:t>
            </a:r>
            <a:endParaRPr lang="en-US" sz="850" dirty="0"/>
          </a:p>
          <a:p>
            <a:pPr algn="l" indent="0" marL="0">
              <a:spcAft>
                <a:spcPts val="300"/>
              </a:spcAft>
              <a:buNone/>
            </a:pPr>
            <a:r>
              <a:rPr lang="en-US" sz="1300" b="1" dirty="0">
                <a:solidFill>
                  <a:srgbClr val="16211E"/>
                </a:solidFill>
                <a:latin typeface="Calibri" pitchFamily="34" charset="0"/>
                <a:ea typeface="Calibri" pitchFamily="34" charset="-122"/>
                <a:cs typeface="Calibri" pitchFamily="34" charset="-120"/>
              </a:rPr>
              <a:t>Find the service</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The procedure code on the request picks the service</a:t>
            </a:r>
            <a:endParaRPr lang="en-US" sz="850" dirty="0"/>
          </a:p>
        </p:txBody>
      </p:sp>
      <p:sp>
        <p:nvSpPr>
          <p:cNvPr id="14" name="B2"/>
          <p:cNvSpPr/>
          <p:nvPr/>
        </p:nvSpPr>
        <p:spPr>
          <a:xfrm>
            <a:off x="3749040" y="1261872"/>
            <a:ext cx="310896" cy="310896"/>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E2"/>
          <p:cNvSpPr/>
          <p:nvPr/>
        </p:nvSpPr>
        <p:spPr>
          <a:xfrm>
            <a:off x="3721608" y="3310128"/>
            <a:ext cx="1481328" cy="868680"/>
          </a:xfrm>
          <a:prstGeom prst="roundRect">
            <a:avLst>
              <a:gd name="adj" fmla="val 6316"/>
            </a:avLst>
          </a:prstGeom>
          <a:solidFill>
            <a:srgbClr val="FFFFFF"/>
          </a:solidFill>
          <a:ln w="9525">
            <a:solidFill>
              <a:srgbClr val="CBD5D1"/>
            </a:solidFill>
          </a:ln>
        </p:spPr>
        <p:txBody>
          <a:bodyPr wrap="square" lIns="73152" tIns="54864" rIns="73152" bIns="36576" rtlCol="0" anchor="t"/>
          <a:lstStyle/>
          <a:p>
            <a:pPr algn="l" indent="0" marL="0">
              <a:buNone/>
            </a:pPr>
            <a:r>
              <a:rPr lang="en-US" sz="950" i="1" dirty="0">
                <a:solidFill>
                  <a:srgbClr val="5C6B66"/>
                </a:solidFill>
                <a:latin typeface="Calibri" pitchFamily="34" charset="0"/>
                <a:ea typeface="Calibri" pitchFamily="34" charset="-122"/>
                <a:cs typeface="Calibri" pitchFamily="34" charset="-120"/>
              </a:rPr>
              <a:t>E0601 leads to CPAP. 33249 leads to ICD</a:t>
            </a:r>
            <a:endParaRPr lang="en-US" sz="950" dirty="0"/>
          </a:p>
        </p:txBody>
      </p:sp>
      <p:sp>
        <p:nvSpPr>
          <p:cNvPr id="16" name="A2"/>
          <p:cNvSpPr/>
          <p:nvPr/>
        </p:nvSpPr>
        <p:spPr>
          <a:xfrm>
            <a:off x="3579876" y="2308860"/>
            <a:ext cx="132588" cy="0"/>
          </a:xfrm>
          <a:prstGeom prst="line">
            <a:avLst/>
          </a:prstGeom>
          <a:noFill/>
          <a:ln w="22225">
            <a:solidFill>
              <a:srgbClr val="5C6B66"/>
            </a:solidFill>
            <a:prstDash val="solid"/>
            <a:tailEnd type="triangle"/>
          </a:ln>
        </p:spPr>
      </p:sp>
      <p:sp>
        <p:nvSpPr>
          <p:cNvPr id="17" name="S3"/>
          <p:cNvSpPr/>
          <p:nvPr/>
        </p:nvSpPr>
        <p:spPr>
          <a:xfrm>
            <a:off x="5353812" y="1417320"/>
            <a:ext cx="1481328" cy="1783080"/>
          </a:xfrm>
          <a:prstGeom prst="roundRect">
            <a:avLst>
              <a:gd name="adj" fmla="val 6173"/>
            </a:avLst>
          </a:prstGeom>
          <a:solidFill>
            <a:srgbClr val="EBE2F8"/>
          </a:solidFill>
          <a:ln w="15875">
            <a:solidFill>
              <a:srgbClr val="5F3AA8"/>
            </a:solidFill>
          </a:ln>
        </p:spPr>
        <p:txBody>
          <a:bodyPr wrap="square" lIns="91440" tIns="274320" rIns="91440" bIns="54864" rtlCol="0" anchor="t"/>
          <a:lstStyle/>
          <a:p>
            <a:pPr algn="l" indent="0" marL="0">
              <a:spcAft>
                <a:spcPts val="300"/>
              </a:spcAft>
              <a:buNone/>
            </a:pPr>
            <a:r>
              <a:rPr lang="en-US" sz="850" b="1" spc="150" kern="0" dirty="0">
                <a:solidFill>
                  <a:srgbClr val="5F3AA8"/>
                </a:solidFill>
                <a:latin typeface="Calibri" pitchFamily="34" charset="0"/>
                <a:ea typeface="Calibri" pitchFamily="34" charset="-122"/>
                <a:cs typeface="Calibri" pitchFamily="34" charset="-120"/>
              </a:rPr>
              <a:t>AI</a:t>
            </a:r>
            <a:endParaRPr lang="en-US" sz="850" dirty="0"/>
          </a:p>
          <a:p>
            <a:pPr algn="l" indent="0" marL="0">
              <a:spcAft>
                <a:spcPts val="300"/>
              </a:spcAft>
              <a:buNone/>
            </a:pPr>
            <a:r>
              <a:rPr lang="en-US" sz="1300" b="1" dirty="0">
                <a:solidFill>
                  <a:srgbClr val="16211E"/>
                </a:solidFill>
                <a:latin typeface="Calibri" pitchFamily="34" charset="0"/>
                <a:ea typeface="Calibri" pitchFamily="34" charset="-122"/>
                <a:cs typeface="Calibri" pitchFamily="34" charset="-120"/>
              </a:rPr>
              <a:t>Read the details</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AI fills one form: the details this service needs. Three reads must agree</a:t>
            </a:r>
            <a:endParaRPr lang="en-US" sz="850" dirty="0"/>
          </a:p>
        </p:txBody>
      </p:sp>
      <p:sp>
        <p:nvSpPr>
          <p:cNvPr id="18" name="B3"/>
          <p:cNvSpPr/>
          <p:nvPr/>
        </p:nvSpPr>
        <p:spPr>
          <a:xfrm>
            <a:off x="5381244" y="1261872"/>
            <a:ext cx="310896" cy="310896"/>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9" name="E3"/>
          <p:cNvSpPr/>
          <p:nvPr/>
        </p:nvSpPr>
        <p:spPr>
          <a:xfrm>
            <a:off x="5353812" y="3310128"/>
            <a:ext cx="1481328" cy="868680"/>
          </a:xfrm>
          <a:prstGeom prst="roundRect">
            <a:avLst>
              <a:gd name="adj" fmla="val 6316"/>
            </a:avLst>
          </a:prstGeom>
          <a:solidFill>
            <a:srgbClr val="FFFFFF"/>
          </a:solidFill>
          <a:ln w="9525">
            <a:solidFill>
              <a:srgbClr val="CBD5D1"/>
            </a:solidFill>
          </a:ln>
        </p:spPr>
        <p:txBody>
          <a:bodyPr wrap="square" lIns="73152" tIns="54864" rIns="73152" bIns="36576" rtlCol="0" anchor="t"/>
          <a:lstStyle/>
          <a:p>
            <a:pPr algn="l" indent="0" marL="0">
              <a:buNone/>
            </a:pPr>
            <a:r>
              <a:rPr lang="en-US" sz="950" i="1" dirty="0">
                <a:solidFill>
                  <a:srgbClr val="5C6B66"/>
                </a:solidFill>
                <a:latin typeface="Calibri" pitchFamily="34" charset="0"/>
                <a:ea typeface="Calibri" pitchFamily="34" charset="-122"/>
                <a:cs typeface="Calibri" pitchFamily="34" charset="-120"/>
              </a:rPr>
              <a:t>Ejection fraction 28%, from page 3</a:t>
            </a:r>
            <a:endParaRPr lang="en-US" sz="950" dirty="0"/>
          </a:p>
        </p:txBody>
      </p:sp>
      <p:sp>
        <p:nvSpPr>
          <p:cNvPr id="20" name="A3"/>
          <p:cNvSpPr/>
          <p:nvPr/>
        </p:nvSpPr>
        <p:spPr>
          <a:xfrm>
            <a:off x="5212080" y="2308860"/>
            <a:ext cx="132588" cy="0"/>
          </a:xfrm>
          <a:prstGeom prst="line">
            <a:avLst/>
          </a:prstGeom>
          <a:noFill/>
          <a:ln w="22225">
            <a:solidFill>
              <a:srgbClr val="5C6B66"/>
            </a:solidFill>
            <a:prstDash val="solid"/>
            <a:tailEnd type="triangle"/>
          </a:ln>
        </p:spPr>
      </p:sp>
      <p:sp>
        <p:nvSpPr>
          <p:cNvPr id="21" name="S4"/>
          <p:cNvSpPr/>
          <p:nvPr/>
        </p:nvSpPr>
        <p:spPr>
          <a:xfrm>
            <a:off x="6986016" y="1417320"/>
            <a:ext cx="1481328" cy="1783080"/>
          </a:xfrm>
          <a:prstGeom prst="roundRect">
            <a:avLst>
              <a:gd name="adj" fmla="val 6173"/>
            </a:avLst>
          </a:prstGeom>
          <a:solidFill>
            <a:srgbClr val="E3F0EB"/>
          </a:solidFill>
          <a:ln w="15875">
            <a:solidFill>
              <a:srgbClr val="1F6F5C"/>
            </a:solidFill>
          </a:ln>
        </p:spPr>
        <p:txBody>
          <a:bodyPr wrap="square" lIns="91440" tIns="274320" rIns="91440" bIns="54864" rtlCol="0" anchor="t"/>
          <a:lstStyle/>
          <a:p>
            <a:pPr algn="l" indent="0" marL="0">
              <a:spcAft>
                <a:spcPts val="300"/>
              </a:spcAft>
              <a:buNone/>
            </a:pPr>
            <a:r>
              <a:rPr lang="en-US" sz="850" b="1" spc="150" kern="0" dirty="0">
                <a:solidFill>
                  <a:srgbClr val="1F6F5C"/>
                </a:solidFill>
                <a:latin typeface="Calibri" pitchFamily="34" charset="0"/>
                <a:ea typeface="Calibri" pitchFamily="34" charset="-122"/>
                <a:cs typeface="Calibri" pitchFamily="34" charset="-120"/>
              </a:rPr>
              <a:t>CODE + AI</a:t>
            </a:r>
            <a:endParaRPr lang="en-US" sz="850" dirty="0"/>
          </a:p>
          <a:p>
            <a:pPr algn="l" indent="0" marL="0">
              <a:spcAft>
                <a:spcPts val="300"/>
              </a:spcAft>
              <a:buNone/>
            </a:pPr>
            <a:r>
              <a:rPr lang="en-US" sz="1300" b="1" dirty="0">
                <a:solidFill>
                  <a:srgbClr val="16211E"/>
                </a:solidFill>
                <a:latin typeface="Calibri" pitchFamily="34" charset="0"/>
                <a:ea typeface="Calibri" pitchFamily="34" charset="-122"/>
                <a:cs typeface="Calibri" pitchFamily="34" charset="-120"/>
              </a:rPr>
              <a:t>Check the evidence</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Code finds each quote on its page. A second AI checks it says that</a:t>
            </a:r>
            <a:endParaRPr lang="en-US" sz="850" dirty="0"/>
          </a:p>
        </p:txBody>
      </p:sp>
      <p:sp>
        <p:nvSpPr>
          <p:cNvPr id="22" name="B4"/>
          <p:cNvSpPr/>
          <p:nvPr/>
        </p:nvSpPr>
        <p:spPr>
          <a:xfrm>
            <a:off x="7013448" y="1261872"/>
            <a:ext cx="310896" cy="310896"/>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3" name="E4"/>
          <p:cNvSpPr/>
          <p:nvPr/>
        </p:nvSpPr>
        <p:spPr>
          <a:xfrm>
            <a:off x="6986016" y="3310128"/>
            <a:ext cx="1481328" cy="868680"/>
          </a:xfrm>
          <a:prstGeom prst="roundRect">
            <a:avLst>
              <a:gd name="adj" fmla="val 6316"/>
            </a:avLst>
          </a:prstGeom>
          <a:solidFill>
            <a:srgbClr val="FFFFFF"/>
          </a:solidFill>
          <a:ln w="9525">
            <a:solidFill>
              <a:srgbClr val="CBD5D1"/>
            </a:solidFill>
          </a:ln>
        </p:spPr>
        <p:txBody>
          <a:bodyPr wrap="square" lIns="73152" tIns="54864" rIns="73152" bIns="36576" rtlCol="0" anchor="t"/>
          <a:lstStyle/>
          <a:p>
            <a:pPr algn="l" indent="0" marL="0">
              <a:buNone/>
            </a:pPr>
            <a:r>
              <a:rPr lang="en-US" sz="950" i="1" dirty="0">
                <a:solidFill>
                  <a:srgbClr val="5C6B66"/>
                </a:solidFill>
                <a:latin typeface="Calibri" pitchFamily="34" charset="0"/>
                <a:ea typeface="Calibri" pitchFamily="34" charset="-122"/>
                <a:cs typeface="Calibri" pitchFamily="34" charset="-120"/>
              </a:rPr>
              <a:t>Is 'LVEF 28%' on page 3? Does it support the claim?</a:t>
            </a:r>
            <a:endParaRPr lang="en-US" sz="950" dirty="0"/>
          </a:p>
        </p:txBody>
      </p:sp>
      <p:sp>
        <p:nvSpPr>
          <p:cNvPr id="24" name="A4"/>
          <p:cNvSpPr/>
          <p:nvPr/>
        </p:nvSpPr>
        <p:spPr>
          <a:xfrm>
            <a:off x="6844284" y="2308860"/>
            <a:ext cx="132588" cy="0"/>
          </a:xfrm>
          <a:prstGeom prst="line">
            <a:avLst/>
          </a:prstGeom>
          <a:noFill/>
          <a:ln w="22225">
            <a:solidFill>
              <a:srgbClr val="5C6B66"/>
            </a:solidFill>
            <a:prstDash val="solid"/>
            <a:tailEnd type="triangle"/>
          </a:ln>
        </p:spPr>
      </p:sp>
      <p:sp>
        <p:nvSpPr>
          <p:cNvPr id="25" name="S5"/>
          <p:cNvSpPr/>
          <p:nvPr/>
        </p:nvSpPr>
        <p:spPr>
          <a:xfrm>
            <a:off x="8618220" y="1417320"/>
            <a:ext cx="1481328" cy="1783080"/>
          </a:xfrm>
          <a:prstGeom prst="roundRect">
            <a:avLst>
              <a:gd name="adj" fmla="val 6173"/>
            </a:avLst>
          </a:prstGeom>
          <a:solidFill>
            <a:srgbClr val="E3F0EB"/>
          </a:solidFill>
          <a:ln w="15875">
            <a:solidFill>
              <a:srgbClr val="1F6F5C"/>
            </a:solidFill>
          </a:ln>
        </p:spPr>
        <p:txBody>
          <a:bodyPr wrap="square" lIns="91440" tIns="274320" rIns="91440" bIns="54864" rtlCol="0" anchor="t"/>
          <a:lstStyle/>
          <a:p>
            <a:pPr algn="l" indent="0" marL="0">
              <a:spcAft>
                <a:spcPts val="300"/>
              </a:spcAft>
              <a:buNone/>
            </a:pPr>
            <a:r>
              <a:rPr lang="en-US" sz="850" b="1" spc="150" kern="0" dirty="0">
                <a:solidFill>
                  <a:srgbClr val="1F6F5C"/>
                </a:solidFill>
                <a:latin typeface="Calibri" pitchFamily="34" charset="0"/>
                <a:ea typeface="Calibri" pitchFamily="34" charset="-122"/>
                <a:cs typeface="Calibri" pitchFamily="34" charset="-120"/>
              </a:rPr>
              <a:t>CODE</a:t>
            </a:r>
            <a:endParaRPr lang="en-US" sz="850" dirty="0"/>
          </a:p>
          <a:p>
            <a:pPr algn="l" indent="0" marL="0">
              <a:spcAft>
                <a:spcPts val="300"/>
              </a:spcAft>
              <a:buNone/>
            </a:pPr>
            <a:r>
              <a:rPr lang="en-US" sz="1300" b="1" dirty="0">
                <a:solidFill>
                  <a:srgbClr val="16211E"/>
                </a:solidFill>
                <a:latin typeface="Calibri" pitchFamily="34" charset="0"/>
                <a:ea typeface="Calibri" pitchFamily="34" charset="-122"/>
                <a:cs typeface="Calibri" pitchFamily="34" charset="-120"/>
              </a:rPr>
              <a:t>Apply the rules</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Plain code compares the details with the approved rules</a:t>
            </a:r>
            <a:endParaRPr lang="en-US" sz="850" dirty="0"/>
          </a:p>
        </p:txBody>
      </p:sp>
      <p:sp>
        <p:nvSpPr>
          <p:cNvPr id="26" name="B5"/>
          <p:cNvSpPr/>
          <p:nvPr/>
        </p:nvSpPr>
        <p:spPr>
          <a:xfrm>
            <a:off x="8645652" y="1261872"/>
            <a:ext cx="310896" cy="310896"/>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7" name="E5"/>
          <p:cNvSpPr/>
          <p:nvPr/>
        </p:nvSpPr>
        <p:spPr>
          <a:xfrm>
            <a:off x="8618220" y="3310128"/>
            <a:ext cx="1481328" cy="868680"/>
          </a:xfrm>
          <a:prstGeom prst="roundRect">
            <a:avLst>
              <a:gd name="adj" fmla="val 6316"/>
            </a:avLst>
          </a:prstGeom>
          <a:solidFill>
            <a:srgbClr val="FFFFFF"/>
          </a:solidFill>
          <a:ln w="9525">
            <a:solidFill>
              <a:srgbClr val="CBD5D1"/>
            </a:solidFill>
          </a:ln>
        </p:spPr>
        <p:txBody>
          <a:bodyPr wrap="square" lIns="73152" tIns="54864" rIns="73152" bIns="36576" rtlCol="0" anchor="t"/>
          <a:lstStyle/>
          <a:p>
            <a:pPr algn="l" indent="0" marL="0">
              <a:buNone/>
            </a:pPr>
            <a:r>
              <a:rPr lang="en-US" sz="950" i="1" dirty="0">
                <a:solidFill>
                  <a:srgbClr val="5C6B66"/>
                </a:solidFill>
                <a:latin typeface="Calibri" pitchFamily="34" charset="0"/>
                <a:ea typeface="Calibri" pitchFamily="34" charset="-122"/>
                <a:cs typeface="Calibri" pitchFamily="34" charset="-120"/>
              </a:rPr>
              <a:t>Missing: pend. Unsure: verify. Rule not met: escalate. All met: approve</a:t>
            </a:r>
            <a:endParaRPr lang="en-US" sz="950" dirty="0"/>
          </a:p>
        </p:txBody>
      </p:sp>
      <p:sp>
        <p:nvSpPr>
          <p:cNvPr id="28" name="A5"/>
          <p:cNvSpPr/>
          <p:nvPr/>
        </p:nvSpPr>
        <p:spPr>
          <a:xfrm>
            <a:off x="8476488" y="2308860"/>
            <a:ext cx="132588" cy="0"/>
          </a:xfrm>
          <a:prstGeom prst="line">
            <a:avLst/>
          </a:prstGeom>
          <a:noFill/>
          <a:ln w="22225">
            <a:solidFill>
              <a:srgbClr val="5C6B66"/>
            </a:solidFill>
            <a:prstDash val="solid"/>
            <a:tailEnd type="triangle"/>
          </a:ln>
        </p:spPr>
      </p:sp>
      <p:sp>
        <p:nvSpPr>
          <p:cNvPr id="29" name="S6"/>
          <p:cNvSpPr/>
          <p:nvPr/>
        </p:nvSpPr>
        <p:spPr>
          <a:xfrm>
            <a:off x="10250424" y="1417320"/>
            <a:ext cx="1481328" cy="1783080"/>
          </a:xfrm>
          <a:prstGeom prst="roundRect">
            <a:avLst>
              <a:gd name="adj" fmla="val 6173"/>
            </a:avLst>
          </a:prstGeom>
          <a:solidFill>
            <a:srgbClr val="FCEFD0"/>
          </a:solidFill>
          <a:ln w="15875">
            <a:solidFill>
              <a:srgbClr val="8A5A00"/>
            </a:solidFill>
          </a:ln>
        </p:spPr>
        <p:txBody>
          <a:bodyPr wrap="square" lIns="91440" tIns="274320" rIns="91440" bIns="54864" rtlCol="0" anchor="t"/>
          <a:lstStyle/>
          <a:p>
            <a:pPr algn="l" indent="0" marL="0">
              <a:spcAft>
                <a:spcPts val="300"/>
              </a:spcAft>
              <a:buNone/>
            </a:pPr>
            <a:r>
              <a:rPr lang="en-US" sz="850" b="1" spc="150" kern="0" dirty="0">
                <a:solidFill>
                  <a:srgbClr val="8A5A00"/>
                </a:solidFill>
                <a:latin typeface="Calibri" pitchFamily="34" charset="0"/>
                <a:ea typeface="Calibri" pitchFamily="34" charset="-122"/>
                <a:cs typeface="Calibri" pitchFamily="34" charset="-120"/>
              </a:rPr>
              <a:t>PERSON</a:t>
            </a:r>
            <a:endParaRPr lang="en-US" sz="850" dirty="0"/>
          </a:p>
          <a:p>
            <a:pPr algn="l" indent="0" marL="0">
              <a:spcAft>
                <a:spcPts val="300"/>
              </a:spcAft>
              <a:buNone/>
            </a:pPr>
            <a:r>
              <a:rPr lang="en-US" sz="1300" b="1" dirty="0">
                <a:solidFill>
                  <a:srgbClr val="16211E"/>
                </a:solidFill>
                <a:latin typeface="Calibri" pitchFamily="34" charset="0"/>
                <a:ea typeface="Calibri" pitchFamily="34" charset="-122"/>
                <a:cs typeface="Calibri" pitchFamily="34" charset="-120"/>
              </a:rPr>
              <a:t>A person decides</a:t>
            </a:r>
            <a:endParaRPr lang="en-US" sz="850" dirty="0"/>
          </a:p>
          <a:p>
            <a:pPr algn="l" indent="0" marL="0">
              <a:buNone/>
            </a:pPr>
            <a:r>
              <a:rPr lang="en-US" sz="1000" dirty="0">
                <a:solidFill>
                  <a:srgbClr val="5C6B66"/>
                </a:solidFill>
                <a:latin typeface="Calibri" pitchFamily="34" charset="0"/>
                <a:ea typeface="Calibri" pitchFamily="34" charset="-122"/>
                <a:cs typeface="Calibri" pitchFamily="34" charset="-120"/>
              </a:rPr>
              <a:t>The nurse sees a cited checklist and confirms</a:t>
            </a:r>
            <a:endParaRPr lang="en-US" sz="850" dirty="0"/>
          </a:p>
        </p:txBody>
      </p:sp>
      <p:sp>
        <p:nvSpPr>
          <p:cNvPr id="30" name="B6"/>
          <p:cNvSpPr/>
          <p:nvPr/>
        </p:nvSpPr>
        <p:spPr>
          <a:xfrm>
            <a:off x="10277856" y="1261872"/>
            <a:ext cx="310896" cy="310896"/>
          </a:xfrm>
          <a:prstGeom prst="roundRect">
            <a:avLst>
              <a:gd name="adj" fmla="val 50000"/>
            </a:avLst>
          </a:prstGeom>
          <a:solidFill>
            <a:srgbClr val="1F6F5C"/>
          </a:solidFill>
          <a:ln w="12700">
            <a:solidFill>
              <a:srgbClr val="1F6F5C"/>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1" name="E6"/>
          <p:cNvSpPr/>
          <p:nvPr/>
        </p:nvSpPr>
        <p:spPr>
          <a:xfrm>
            <a:off x="10250424" y="3310128"/>
            <a:ext cx="1481328" cy="868680"/>
          </a:xfrm>
          <a:prstGeom prst="roundRect">
            <a:avLst>
              <a:gd name="adj" fmla="val 6316"/>
            </a:avLst>
          </a:prstGeom>
          <a:solidFill>
            <a:srgbClr val="FFFFFF"/>
          </a:solidFill>
          <a:ln w="9525">
            <a:solidFill>
              <a:srgbClr val="CBD5D1"/>
            </a:solidFill>
          </a:ln>
        </p:spPr>
        <p:txBody>
          <a:bodyPr wrap="square" lIns="73152" tIns="54864" rIns="73152" bIns="36576" rtlCol="0" anchor="t"/>
          <a:lstStyle/>
          <a:p>
            <a:pPr algn="l" indent="0" marL="0">
              <a:buNone/>
            </a:pPr>
            <a:r>
              <a:rPr lang="en-US" sz="950" i="1" dirty="0">
                <a:solidFill>
                  <a:srgbClr val="5C6B66"/>
                </a:solidFill>
                <a:latin typeface="Calibri" pitchFamily="34" charset="0"/>
                <a:ea typeface="Calibri" pitchFamily="34" charset="-122"/>
                <a:cs typeface="Calibri" pitchFamily="34" charset="-120"/>
              </a:rPr>
              <a:t>A medical director decides the hard cases</a:t>
            </a:r>
            <a:endParaRPr lang="en-US" sz="950" dirty="0"/>
          </a:p>
        </p:txBody>
      </p:sp>
      <p:sp>
        <p:nvSpPr>
          <p:cNvPr id="32" name="A6"/>
          <p:cNvSpPr/>
          <p:nvPr/>
        </p:nvSpPr>
        <p:spPr>
          <a:xfrm>
            <a:off x="10108692" y="2308860"/>
            <a:ext cx="132588" cy="0"/>
          </a:xfrm>
          <a:prstGeom prst="line">
            <a:avLst/>
          </a:prstGeom>
          <a:noFill/>
          <a:ln w="22225">
            <a:solidFill>
              <a:srgbClr val="5C6B66"/>
            </a:solidFill>
            <a:prstDash val="solid"/>
            <a:tailEnd type="triangle"/>
          </a:ln>
        </p:spPr>
      </p:sp>
      <p:sp>
        <p:nvSpPr>
          <p:cNvPr id="33" name="ANo"/>
          <p:cNvSpPr/>
          <p:nvPr/>
        </p:nvSpPr>
        <p:spPr>
          <a:xfrm>
            <a:off x="4462272" y="4178808"/>
            <a:ext cx="0" cy="347472"/>
          </a:xfrm>
          <a:prstGeom prst="line">
            <a:avLst/>
          </a:prstGeom>
          <a:noFill/>
          <a:ln w="22225">
            <a:solidFill>
              <a:srgbClr val="B8452F"/>
            </a:solidFill>
            <a:prstDash val="dash"/>
            <a:tailEnd type="triangle"/>
          </a:ln>
        </p:spPr>
      </p:sp>
      <p:sp>
        <p:nvSpPr>
          <p:cNvPr id="34" name="NoSvc"/>
          <p:cNvSpPr/>
          <p:nvPr/>
        </p:nvSpPr>
        <p:spPr>
          <a:xfrm>
            <a:off x="457200" y="4526280"/>
            <a:ext cx="4206240" cy="914400"/>
          </a:xfrm>
          <a:prstGeom prst="roundRect">
            <a:avLst>
              <a:gd name="adj" fmla="val 10000"/>
            </a:avLst>
          </a:prstGeom>
          <a:solidFill>
            <a:srgbClr val="FBE9E4"/>
          </a:solidFill>
          <a:ln w="15875">
            <a:solidFill>
              <a:srgbClr val="B8452F"/>
            </a:solidFill>
          </a:ln>
        </p:spPr>
        <p:txBody>
          <a:bodyPr wrap="square" lIns="128016" tIns="73152" rIns="128016" bIns="36576" rtlCol="0" anchor="t"/>
          <a:lstStyle/>
          <a:p>
            <a:pPr algn="l" indent="0" marL="0">
              <a:spcAft>
                <a:spcPts val="200"/>
              </a:spcAft>
              <a:buNone/>
            </a:pPr>
            <a:r>
              <a:rPr lang="en-US" sz="900" b="1" spc="150" kern="0" dirty="0">
                <a:solidFill>
                  <a:srgbClr val="B8452F"/>
                </a:solidFill>
                <a:latin typeface="Calibri" pitchFamily="34" charset="0"/>
                <a:ea typeface="Calibri" pitchFamily="34" charset="-122"/>
                <a:cs typeface="Calibri" pitchFamily="34" charset="-120"/>
              </a:rPr>
              <a:t>NO SERVICE FOR THIS CODE</a:t>
            </a:r>
            <a:endParaRPr lang="en-US" sz="900" dirty="0"/>
          </a:p>
          <a:p>
            <a:pPr algn="l" indent="0" marL="0">
              <a:buNone/>
            </a:pPr>
            <a:r>
              <a:rPr lang="en-US" sz="1050" dirty="0">
                <a:solidFill>
                  <a:srgbClr val="16211E"/>
                </a:solidFill>
                <a:latin typeface="Calibri" pitchFamily="34" charset="0"/>
                <a:ea typeface="Calibri" pitchFamily="34" charset="-122"/>
                <a:cs typeface="Calibri" pitchFamily="34" charset="-120"/>
              </a:rPr>
              <a:t>Flagged 'No policy yet'. Nothing is guessed. The nurse decides. The owner sees it in Requests without a policy.</a:t>
            </a:r>
            <a:endParaRPr lang="en-US" sz="900" dirty="0"/>
          </a:p>
        </p:txBody>
      </p:sp>
      <p:sp>
        <p:nvSpPr>
          <p:cNvPr id="35" name="AOut"/>
          <p:cNvSpPr/>
          <p:nvPr/>
        </p:nvSpPr>
        <p:spPr>
          <a:xfrm>
            <a:off x="10991088" y="4178808"/>
            <a:ext cx="0" cy="347472"/>
          </a:xfrm>
          <a:prstGeom prst="line">
            <a:avLst/>
          </a:prstGeom>
          <a:noFill/>
          <a:ln w="22225">
            <a:solidFill>
              <a:srgbClr val="1F6F5C"/>
            </a:solidFill>
            <a:prstDash val="dash"/>
            <a:tailEnd type="triangle"/>
          </a:ln>
        </p:spPr>
      </p:sp>
      <p:sp>
        <p:nvSpPr>
          <p:cNvPr id="36" name="Out0"/>
          <p:cNvSpPr/>
          <p:nvPr/>
        </p:nvSpPr>
        <p:spPr>
          <a:xfrm>
            <a:off x="5029200" y="4526280"/>
            <a:ext cx="2103120" cy="914400"/>
          </a:xfrm>
          <a:prstGeom prst="roundRect">
            <a:avLst>
              <a:gd name="adj" fmla="val 10000"/>
            </a:avLst>
          </a:prstGeom>
          <a:solidFill>
            <a:srgbClr val="DDF3E7"/>
          </a:solidFill>
          <a:ln w="15875">
            <a:solidFill>
              <a:srgbClr val="18764A"/>
            </a:solidFill>
          </a:ln>
        </p:spPr>
        <p:txBody>
          <a:bodyPr wrap="square" lIns="109728" tIns="73152" rIns="109728" bIns="36576" rtlCol="0" anchor="t"/>
          <a:lstStyle/>
          <a:p>
            <a:pPr algn="l" indent="0" marL="0">
              <a:spcAft>
                <a:spcPts val="200"/>
              </a:spcAft>
              <a:buNone/>
            </a:pPr>
            <a:r>
              <a:rPr lang="en-US" sz="1300" b="1" dirty="0">
                <a:solidFill>
                  <a:srgbClr val="18764A"/>
                </a:solidFill>
                <a:latin typeface="Calibri" pitchFamily="34" charset="0"/>
                <a:ea typeface="Calibri" pitchFamily="34" charset="-122"/>
                <a:cs typeface="Calibri" pitchFamily="34" charset="-120"/>
              </a:rPr>
              <a:t>Approve</a:t>
            </a:r>
            <a:endParaRPr lang="en-US" sz="1300" dirty="0"/>
          </a:p>
          <a:p>
            <a:pPr algn="l" indent="0" marL="0">
              <a:buNone/>
            </a:pPr>
            <a:r>
              <a:rPr lang="en-US" sz="1000" dirty="0">
                <a:solidFill>
                  <a:srgbClr val="5C6B66"/>
                </a:solidFill>
                <a:latin typeface="Calibri" pitchFamily="34" charset="0"/>
                <a:ea typeface="Calibri" pitchFamily="34" charset="-122"/>
                <a:cs typeface="Calibri" pitchFamily="34" charset="-120"/>
              </a:rPr>
              <a:t>The packet is complete and every rule is met</a:t>
            </a:r>
            <a:endParaRPr lang="en-US" sz="1300" dirty="0"/>
          </a:p>
        </p:txBody>
      </p:sp>
      <p:sp>
        <p:nvSpPr>
          <p:cNvPr id="37" name="Out1"/>
          <p:cNvSpPr/>
          <p:nvPr/>
        </p:nvSpPr>
        <p:spPr>
          <a:xfrm>
            <a:off x="7269480" y="4526280"/>
            <a:ext cx="2103120" cy="914400"/>
          </a:xfrm>
          <a:prstGeom prst="roundRect">
            <a:avLst>
              <a:gd name="adj" fmla="val 10000"/>
            </a:avLst>
          </a:prstGeom>
          <a:solidFill>
            <a:srgbClr val="FCEFD0"/>
          </a:solidFill>
          <a:ln w="15875">
            <a:solidFill>
              <a:srgbClr val="8A5A00"/>
            </a:solidFill>
          </a:ln>
        </p:spPr>
        <p:txBody>
          <a:bodyPr wrap="square" lIns="109728" tIns="73152" rIns="109728" bIns="36576" rtlCol="0" anchor="t"/>
          <a:lstStyle/>
          <a:p>
            <a:pPr algn="l" indent="0" marL="0">
              <a:spcAft>
                <a:spcPts val="200"/>
              </a:spcAft>
              <a:buNone/>
            </a:pPr>
            <a:r>
              <a:rPr lang="en-US" sz="1300" b="1" dirty="0">
                <a:solidFill>
                  <a:srgbClr val="8A5A00"/>
                </a:solidFill>
                <a:latin typeface="Calibri" pitchFamily="34" charset="0"/>
                <a:ea typeface="Calibri" pitchFamily="34" charset="-122"/>
                <a:cs typeface="Calibri" pitchFamily="34" charset="-120"/>
              </a:rPr>
              <a:t>Pend</a:t>
            </a:r>
            <a:endParaRPr lang="en-US" sz="1300" dirty="0"/>
          </a:p>
          <a:p>
            <a:pPr algn="l" indent="0" marL="0">
              <a:buNone/>
            </a:pPr>
            <a:r>
              <a:rPr lang="en-US" sz="1000" dirty="0">
                <a:solidFill>
                  <a:srgbClr val="5C6B66"/>
                </a:solidFill>
                <a:latin typeface="Calibri" pitchFamily="34" charset="0"/>
                <a:ea typeface="Calibri" pitchFamily="34" charset="-122"/>
                <a:cs typeface="Calibri" pitchFamily="34" charset="-120"/>
              </a:rPr>
              <a:t>One precise question to the provider</a:t>
            </a:r>
            <a:endParaRPr lang="en-US" sz="1300" dirty="0"/>
          </a:p>
        </p:txBody>
      </p:sp>
      <p:sp>
        <p:nvSpPr>
          <p:cNvPr id="38" name="Out2"/>
          <p:cNvSpPr/>
          <p:nvPr/>
        </p:nvSpPr>
        <p:spPr>
          <a:xfrm>
            <a:off x="9509760" y="4526280"/>
            <a:ext cx="2103120" cy="914400"/>
          </a:xfrm>
          <a:prstGeom prst="roundRect">
            <a:avLst>
              <a:gd name="adj" fmla="val 10000"/>
            </a:avLst>
          </a:prstGeom>
          <a:solidFill>
            <a:srgbClr val="EBE2F8"/>
          </a:solidFill>
          <a:ln w="15875">
            <a:solidFill>
              <a:srgbClr val="5F3AA8"/>
            </a:solidFill>
          </a:ln>
        </p:spPr>
        <p:txBody>
          <a:bodyPr wrap="square" lIns="109728" tIns="73152" rIns="109728" bIns="36576" rtlCol="0" anchor="t"/>
          <a:lstStyle/>
          <a:p>
            <a:pPr algn="l" indent="0" marL="0">
              <a:spcAft>
                <a:spcPts val="200"/>
              </a:spcAft>
              <a:buNone/>
            </a:pPr>
            <a:r>
              <a:rPr lang="en-US" sz="1300" b="1" dirty="0">
                <a:solidFill>
                  <a:srgbClr val="5F3AA8"/>
                </a:solidFill>
                <a:latin typeface="Calibri" pitchFamily="34" charset="0"/>
                <a:ea typeface="Calibri" pitchFamily="34" charset="-122"/>
                <a:cs typeface="Calibri" pitchFamily="34" charset="-120"/>
              </a:rPr>
              <a:t>Escalate</a:t>
            </a:r>
            <a:endParaRPr lang="en-US" sz="1300" dirty="0"/>
          </a:p>
          <a:p>
            <a:pPr algn="l" indent="0" marL="0">
              <a:buNone/>
            </a:pPr>
            <a:r>
              <a:rPr lang="en-US" sz="1000" dirty="0">
                <a:solidFill>
                  <a:srgbClr val="5C6B66"/>
                </a:solidFill>
                <a:latin typeface="Calibri" pitchFamily="34" charset="0"/>
                <a:ea typeface="Calibri" pitchFamily="34" charset="-122"/>
                <a:cs typeface="Calibri" pitchFamily="34" charset="-120"/>
              </a:rPr>
              <a:t>To a medical director, who alone can deny</a:t>
            </a:r>
            <a:endParaRPr lang="en-US" sz="1300" dirty="0"/>
          </a:p>
        </p:txBody>
      </p:sp>
      <p:sp>
        <p:nvSpPr>
          <p:cNvPr id="39" name="Bar"/>
          <p:cNvSpPr/>
          <p:nvPr/>
        </p:nvSpPr>
        <p:spPr>
          <a:xfrm>
            <a:off x="457200" y="5669280"/>
            <a:ext cx="11274552" cy="640080"/>
          </a:xfrm>
          <a:prstGeom prst="roundRect">
            <a:avLst>
              <a:gd name="adj" fmla="val 11429"/>
            </a:avLst>
          </a:prstGeom>
          <a:solidFill>
            <a:srgbClr val="1F6F5C"/>
          </a:solidFill>
          <a:ln w="15875">
            <a:solidFill>
              <a:srgbClr val="1F6F5C"/>
            </a:solidFill>
          </a:ln>
        </p:spPr>
        <p:txBody>
          <a:bodyPr wrap="square" lIns="182880" tIns="45720" rIns="182880" bIns="4572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AI reads and cites. Code decides. A nurse confirms. Only a medical director can deny.</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par>
                                <p:cTn id="11" presetID="10" presetClass="entr" presetSubtype="0" fill="hold" grpId="0" nodeType="withEffect">
                                  <p:stCondLst>
                                    <p:cond delay="12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5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450"/>
                                        <p:tgtEl>
                                          <p:spTgt spid="12"/>
                                        </p:tgtEl>
                                      </p:cBhvr>
                                    </p:animEffect>
                                  </p:childTnLst>
                                </p:cTn>
                              </p:par>
                              <p:par>
                                <p:cTn id="19" presetID="10" presetClass="entr" presetSubtype="0" fill="hold" grpId="0" nodeType="withEffect">
                                  <p:stCondLst>
                                    <p:cond delay="12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childTnLst>
                                </p:cTn>
                              </p:par>
                              <p:par>
                                <p:cTn id="22" presetID="10" presetClass="entr" presetSubtype="0" fill="hold" grpId="0" nodeType="withEffect">
                                  <p:stCondLst>
                                    <p:cond delay="12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50"/>
                                        <p:tgtEl>
                                          <p:spTgt spid="10"/>
                                        </p:tgtEl>
                                      </p:cBhvr>
                                    </p:animEffect>
                                  </p:childTnLst>
                                </p:cTn>
                              </p:par>
                              <p:par>
                                <p:cTn id="25" presetID="10" presetClass="entr" presetSubtype="0" fill="hold" grpId="0" nodeType="withEffect">
                                  <p:stCondLst>
                                    <p:cond delay="12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5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50"/>
                                        <p:tgtEl>
                                          <p:spTgt spid="16"/>
                                        </p:tgtEl>
                                      </p:cBhvr>
                                    </p:animEffect>
                                  </p:childTnLst>
                                </p:cTn>
                              </p:par>
                              <p:par>
                                <p:cTn id="33" presetID="10" presetClass="entr" presetSubtype="0" fill="hold" grpId="0" nodeType="withEffect">
                                  <p:stCondLst>
                                    <p:cond delay="12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par>
                                <p:cTn id="36" presetID="10" presetClass="entr" presetSubtype="0" fill="hold" grpId="0" nodeType="withEffect">
                                  <p:stCondLst>
                                    <p:cond delay="12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50"/>
                                        <p:tgtEl>
                                          <p:spTgt spid="14"/>
                                        </p:tgtEl>
                                      </p:cBhvr>
                                    </p:animEffect>
                                  </p:childTnLst>
                                </p:cTn>
                              </p:par>
                              <p:par>
                                <p:cTn id="39" presetID="10" presetClass="entr" presetSubtype="0" fill="hold" grpId="0" nodeType="withEffect">
                                  <p:stCondLst>
                                    <p:cond delay="12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50"/>
                                        <p:tgtEl>
                                          <p:spTgt spid="15"/>
                                        </p:tgtEl>
                                      </p:cBhvr>
                                    </p:animEffect>
                                  </p:childTnLst>
                                </p:cTn>
                              </p:par>
                              <p:par>
                                <p:cTn id="42" presetID="10" presetClass="entr" presetSubtype="0" fill="hold" nodeType="withEffect">
                                  <p:stCondLst>
                                    <p:cond delay="120"/>
                                  </p:stCondLst>
                                  <p:childTnLst>
                                    <p:set>
                                      <p:cBhvr>
                                        <p:cTn id="43" dur="1" fill="hold">
                                          <p:stCondLst>
                                            <p:cond delay="0"/>
                                          </p:stCondLst>
                                        </p:cTn>
                                        <p:tgtEl>
                                          <p:spTgt spid="33"/>
                                        </p:tgtEl>
                                        <p:attrNameLst>
                                          <p:attrName>style.visibility</p:attrName>
                                        </p:attrNameLst>
                                      </p:cBhvr>
                                      <p:to>
                                        <p:strVal val="visible"/>
                                      </p:to>
                                    </p:set>
                                    <p:animEffect transition="in" filter="fade">
                                      <p:cBhvr>
                                        <p:cTn id="44" dur="450"/>
                                        <p:tgtEl>
                                          <p:spTgt spid="33"/>
                                        </p:tgtEl>
                                      </p:cBhvr>
                                    </p:animEffect>
                                  </p:childTnLst>
                                </p:cTn>
                              </p:par>
                              <p:par>
                                <p:cTn id="45" presetID="10" presetClass="entr" presetSubtype="0" fill="hold" grpId="0" nodeType="withEffect">
                                  <p:stCondLst>
                                    <p:cond delay="12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450"/>
                                        <p:tgtEl>
                                          <p:spTgt spid="3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450"/>
                                        <p:tgtEl>
                                          <p:spTgt spid="20"/>
                                        </p:tgtEl>
                                      </p:cBhvr>
                                    </p:animEffect>
                                  </p:childTnLst>
                                </p:cTn>
                              </p:par>
                              <p:par>
                                <p:cTn id="53" presetID="10" presetClass="entr" presetSubtype="0" fill="hold" grpId="0" nodeType="withEffect">
                                  <p:stCondLst>
                                    <p:cond delay="12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450"/>
                                        <p:tgtEl>
                                          <p:spTgt spid="17"/>
                                        </p:tgtEl>
                                      </p:cBhvr>
                                    </p:animEffect>
                                  </p:childTnLst>
                                </p:cTn>
                              </p:par>
                              <p:par>
                                <p:cTn id="56" presetID="10" presetClass="entr" presetSubtype="0" fill="hold" grpId="0" nodeType="withEffect">
                                  <p:stCondLst>
                                    <p:cond delay="12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450"/>
                                        <p:tgtEl>
                                          <p:spTgt spid="18"/>
                                        </p:tgtEl>
                                      </p:cBhvr>
                                    </p:animEffect>
                                  </p:childTnLst>
                                </p:cTn>
                              </p:par>
                              <p:par>
                                <p:cTn id="59" presetID="10" presetClass="entr" presetSubtype="0" fill="hold" grpId="0" nodeType="withEffect">
                                  <p:stCondLst>
                                    <p:cond delay="12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450"/>
                                        <p:tgtEl>
                                          <p:spTgt spid="19"/>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450"/>
                                        <p:tgtEl>
                                          <p:spTgt spid="24"/>
                                        </p:tgtEl>
                                      </p:cBhvr>
                                    </p:animEffect>
                                  </p:childTnLst>
                                </p:cTn>
                              </p:par>
                              <p:par>
                                <p:cTn id="67" presetID="10" presetClass="entr" presetSubtype="0" fill="hold" grpId="0" nodeType="withEffect">
                                  <p:stCondLst>
                                    <p:cond delay="12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450"/>
                                        <p:tgtEl>
                                          <p:spTgt spid="21"/>
                                        </p:tgtEl>
                                      </p:cBhvr>
                                    </p:animEffect>
                                  </p:childTnLst>
                                </p:cTn>
                              </p:par>
                              <p:par>
                                <p:cTn id="70" presetID="10" presetClass="entr" presetSubtype="0" fill="hold" grpId="0" nodeType="withEffect">
                                  <p:stCondLst>
                                    <p:cond delay="120"/>
                                  </p:stCondLst>
                                  <p:childTnLst>
                                    <p:set>
                                      <p:cBhvr>
                                        <p:cTn id="71" dur="1" fill="hold">
                                          <p:stCondLst>
                                            <p:cond delay="0"/>
                                          </p:stCondLst>
                                        </p:cTn>
                                        <p:tgtEl>
                                          <p:spTgt spid="22"/>
                                        </p:tgtEl>
                                        <p:attrNameLst>
                                          <p:attrName>style.visibility</p:attrName>
                                        </p:attrNameLst>
                                      </p:cBhvr>
                                      <p:to>
                                        <p:strVal val="visible"/>
                                      </p:to>
                                    </p:set>
                                    <p:animEffect transition="in" filter="fade">
                                      <p:cBhvr>
                                        <p:cTn id="72" dur="450"/>
                                        <p:tgtEl>
                                          <p:spTgt spid="22"/>
                                        </p:tgtEl>
                                      </p:cBhvr>
                                    </p:animEffect>
                                  </p:childTnLst>
                                </p:cTn>
                              </p:par>
                              <p:par>
                                <p:cTn id="73" presetID="10" presetClass="entr" presetSubtype="0" fill="hold" grpId="0" nodeType="withEffect">
                                  <p:stCondLst>
                                    <p:cond delay="120"/>
                                  </p:stCondLst>
                                  <p:childTnLst>
                                    <p:set>
                                      <p:cBhvr>
                                        <p:cTn id="74" dur="1" fill="hold">
                                          <p:stCondLst>
                                            <p:cond delay="0"/>
                                          </p:stCondLst>
                                        </p:cTn>
                                        <p:tgtEl>
                                          <p:spTgt spid="23"/>
                                        </p:tgtEl>
                                        <p:attrNameLst>
                                          <p:attrName>style.visibility</p:attrName>
                                        </p:attrNameLst>
                                      </p:cBhvr>
                                      <p:to>
                                        <p:strVal val="visible"/>
                                      </p:to>
                                    </p:set>
                                    <p:animEffect transition="in" filter="fade">
                                      <p:cBhvr>
                                        <p:cTn id="75" dur="450"/>
                                        <p:tgtEl>
                                          <p:spTgt spid="23"/>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450"/>
                                        <p:tgtEl>
                                          <p:spTgt spid="28"/>
                                        </p:tgtEl>
                                      </p:cBhvr>
                                    </p:animEffect>
                                  </p:childTnLst>
                                </p:cTn>
                              </p:par>
                              <p:par>
                                <p:cTn id="81" presetID="10" presetClass="entr" presetSubtype="0" fill="hold" grpId="0" nodeType="withEffect">
                                  <p:stCondLst>
                                    <p:cond delay="120"/>
                                  </p:stCondLst>
                                  <p:childTnLst>
                                    <p:set>
                                      <p:cBhvr>
                                        <p:cTn id="82" dur="1" fill="hold">
                                          <p:stCondLst>
                                            <p:cond delay="0"/>
                                          </p:stCondLst>
                                        </p:cTn>
                                        <p:tgtEl>
                                          <p:spTgt spid="25"/>
                                        </p:tgtEl>
                                        <p:attrNameLst>
                                          <p:attrName>style.visibility</p:attrName>
                                        </p:attrNameLst>
                                      </p:cBhvr>
                                      <p:to>
                                        <p:strVal val="visible"/>
                                      </p:to>
                                    </p:set>
                                    <p:animEffect transition="in" filter="fade">
                                      <p:cBhvr>
                                        <p:cTn id="83" dur="450"/>
                                        <p:tgtEl>
                                          <p:spTgt spid="25"/>
                                        </p:tgtEl>
                                      </p:cBhvr>
                                    </p:animEffect>
                                  </p:childTnLst>
                                </p:cTn>
                              </p:par>
                              <p:par>
                                <p:cTn id="84" presetID="10" presetClass="entr" presetSubtype="0" fill="hold" grpId="0" nodeType="withEffect">
                                  <p:stCondLst>
                                    <p:cond delay="120"/>
                                  </p:stCondLst>
                                  <p:childTnLst>
                                    <p:set>
                                      <p:cBhvr>
                                        <p:cTn id="85" dur="1" fill="hold">
                                          <p:stCondLst>
                                            <p:cond delay="0"/>
                                          </p:stCondLst>
                                        </p:cTn>
                                        <p:tgtEl>
                                          <p:spTgt spid="26"/>
                                        </p:tgtEl>
                                        <p:attrNameLst>
                                          <p:attrName>style.visibility</p:attrName>
                                        </p:attrNameLst>
                                      </p:cBhvr>
                                      <p:to>
                                        <p:strVal val="visible"/>
                                      </p:to>
                                    </p:set>
                                    <p:animEffect transition="in" filter="fade">
                                      <p:cBhvr>
                                        <p:cTn id="86" dur="450"/>
                                        <p:tgtEl>
                                          <p:spTgt spid="26"/>
                                        </p:tgtEl>
                                      </p:cBhvr>
                                    </p:animEffect>
                                  </p:childTnLst>
                                </p:cTn>
                              </p:par>
                              <p:par>
                                <p:cTn id="87" presetID="10" presetClass="entr" presetSubtype="0" fill="hold" grpId="0" nodeType="withEffect">
                                  <p:stCondLst>
                                    <p:cond delay="120"/>
                                  </p:stCondLst>
                                  <p:childTnLst>
                                    <p:set>
                                      <p:cBhvr>
                                        <p:cTn id="88" dur="1" fill="hold">
                                          <p:stCondLst>
                                            <p:cond delay="0"/>
                                          </p:stCondLst>
                                        </p:cTn>
                                        <p:tgtEl>
                                          <p:spTgt spid="27"/>
                                        </p:tgtEl>
                                        <p:attrNameLst>
                                          <p:attrName>style.visibility</p:attrName>
                                        </p:attrNameLst>
                                      </p:cBhvr>
                                      <p:to>
                                        <p:strVal val="visible"/>
                                      </p:to>
                                    </p:set>
                                    <p:animEffect transition="in" filter="fade">
                                      <p:cBhvr>
                                        <p:cTn id="89" dur="450"/>
                                        <p:tgtEl>
                                          <p:spTgt spid="27"/>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450"/>
                                        <p:tgtEl>
                                          <p:spTgt spid="32"/>
                                        </p:tgtEl>
                                      </p:cBhvr>
                                    </p:animEffect>
                                  </p:childTnLst>
                                </p:cTn>
                              </p:par>
                              <p:par>
                                <p:cTn id="95" presetID="10" presetClass="entr" presetSubtype="0" fill="hold" grpId="0" nodeType="withEffect">
                                  <p:stCondLst>
                                    <p:cond delay="120"/>
                                  </p:stCondLst>
                                  <p:childTnLst>
                                    <p:set>
                                      <p:cBhvr>
                                        <p:cTn id="96" dur="1" fill="hold">
                                          <p:stCondLst>
                                            <p:cond delay="0"/>
                                          </p:stCondLst>
                                        </p:cTn>
                                        <p:tgtEl>
                                          <p:spTgt spid="29"/>
                                        </p:tgtEl>
                                        <p:attrNameLst>
                                          <p:attrName>style.visibility</p:attrName>
                                        </p:attrNameLst>
                                      </p:cBhvr>
                                      <p:to>
                                        <p:strVal val="visible"/>
                                      </p:to>
                                    </p:set>
                                    <p:animEffect transition="in" filter="fade">
                                      <p:cBhvr>
                                        <p:cTn id="97" dur="450"/>
                                        <p:tgtEl>
                                          <p:spTgt spid="29"/>
                                        </p:tgtEl>
                                      </p:cBhvr>
                                    </p:animEffect>
                                  </p:childTnLst>
                                </p:cTn>
                              </p:par>
                              <p:par>
                                <p:cTn id="98" presetID="10" presetClass="entr" presetSubtype="0" fill="hold" grpId="0" nodeType="withEffect">
                                  <p:stCondLst>
                                    <p:cond delay="120"/>
                                  </p:stCondLst>
                                  <p:childTnLst>
                                    <p:set>
                                      <p:cBhvr>
                                        <p:cTn id="99" dur="1" fill="hold">
                                          <p:stCondLst>
                                            <p:cond delay="0"/>
                                          </p:stCondLst>
                                        </p:cTn>
                                        <p:tgtEl>
                                          <p:spTgt spid="30"/>
                                        </p:tgtEl>
                                        <p:attrNameLst>
                                          <p:attrName>style.visibility</p:attrName>
                                        </p:attrNameLst>
                                      </p:cBhvr>
                                      <p:to>
                                        <p:strVal val="visible"/>
                                      </p:to>
                                    </p:set>
                                    <p:animEffect transition="in" filter="fade">
                                      <p:cBhvr>
                                        <p:cTn id="100" dur="450"/>
                                        <p:tgtEl>
                                          <p:spTgt spid="30"/>
                                        </p:tgtEl>
                                      </p:cBhvr>
                                    </p:animEffect>
                                  </p:childTnLst>
                                </p:cTn>
                              </p:par>
                              <p:par>
                                <p:cTn id="101" presetID="10" presetClass="entr" presetSubtype="0" fill="hold" grpId="0" nodeType="withEffect">
                                  <p:stCondLst>
                                    <p:cond delay="120"/>
                                  </p:stCondLst>
                                  <p:childTnLst>
                                    <p:set>
                                      <p:cBhvr>
                                        <p:cTn id="102" dur="1" fill="hold">
                                          <p:stCondLst>
                                            <p:cond delay="0"/>
                                          </p:stCondLst>
                                        </p:cTn>
                                        <p:tgtEl>
                                          <p:spTgt spid="31"/>
                                        </p:tgtEl>
                                        <p:attrNameLst>
                                          <p:attrName>style.visibility</p:attrName>
                                        </p:attrNameLst>
                                      </p:cBhvr>
                                      <p:to>
                                        <p:strVal val="visible"/>
                                      </p:to>
                                    </p:set>
                                    <p:animEffect transition="in" filter="fade">
                                      <p:cBhvr>
                                        <p:cTn id="103" dur="450"/>
                                        <p:tgtEl>
                                          <p:spTgt spid="31"/>
                                        </p:tgtEl>
                                      </p:cBhvr>
                                    </p:animEffect>
                                  </p:childTnLst>
                                </p:cTn>
                              </p:par>
                              <p:par>
                                <p:cTn id="104" presetID="10" presetClass="entr" presetSubtype="0" fill="hold" nodeType="withEffect">
                                  <p:stCondLst>
                                    <p:cond delay="12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450"/>
                                        <p:tgtEl>
                                          <p:spTgt spid="35"/>
                                        </p:tgtEl>
                                      </p:cBhvr>
                                    </p:animEffect>
                                  </p:childTnLst>
                                </p:cTn>
                              </p:par>
                              <p:par>
                                <p:cTn id="107" presetID="10" presetClass="entr" presetSubtype="0" fill="hold" grpId="0" nodeType="withEffect">
                                  <p:stCondLst>
                                    <p:cond delay="12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450"/>
                                        <p:tgtEl>
                                          <p:spTgt spid="36"/>
                                        </p:tgtEl>
                                      </p:cBhvr>
                                    </p:animEffect>
                                  </p:childTnLst>
                                </p:cTn>
                              </p:par>
                              <p:par>
                                <p:cTn id="110" presetID="10" presetClass="entr" presetSubtype="0" fill="hold" grpId="0" nodeType="withEffect">
                                  <p:stCondLst>
                                    <p:cond delay="12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450"/>
                                        <p:tgtEl>
                                          <p:spTgt spid="37"/>
                                        </p:tgtEl>
                                      </p:cBhvr>
                                    </p:animEffect>
                                  </p:childTnLst>
                                </p:cTn>
                              </p:par>
                              <p:par>
                                <p:cTn id="113" presetID="10" presetClass="entr" presetSubtype="0" fill="hold" grpId="0" nodeType="withEffect">
                                  <p:stCondLst>
                                    <p:cond delay="12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450"/>
                                        <p:tgtEl>
                                          <p:spTgt spid="38"/>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39"/>
                                        </p:tgtEl>
                                        <p:attrNameLst>
                                          <p:attrName>style.visibility</p:attrName>
                                        </p:attrNameLst>
                                      </p:cBhvr>
                                      <p:to>
                                        <p:strVal val="visible"/>
                                      </p:to>
                                    </p:set>
                                    <p:animEffect transition="in" filter="fade">
                                      <p:cBhvr>
                                        <p:cTn id="120" dur="4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3" grpId="0" animBg="1"/>
      <p:bldP spid="14" grpId="0" animBg="1"/>
      <p:bldP spid="15" grpId="0" animBg="1"/>
      <p:bldP spid="34" grpId="0" animBg="1"/>
      <p:bldP spid="17" grpId="0" animBg="1"/>
      <p:bldP spid="18" grpId="0" animBg="1"/>
      <p:bldP spid="19" grpId="0" animBg="1"/>
      <p:bldP spid="21" grpId="0" animBg="1"/>
      <p:bldP spid="22" grpId="0" animBg="1"/>
      <p:bldP spid="23" grpId="0" animBg="1"/>
      <p:bldP spid="25" grpId="0" animBg="1"/>
      <p:bldP spid="26" grpId="0" animBg="1"/>
      <p:bldP spid="27" grpId="0" animBg="1"/>
      <p:bldP spid="29" grpId="0" animBg="1"/>
      <p:bldP spid="30" grpId="0" animBg="1"/>
      <p:bldP spid="31" grpId="0" animBg="1"/>
      <p:bldP spid="36" grpId="0" animBg="1"/>
      <p:bldP spid="37" grpId="0" animBg="1"/>
      <p:bldP spid="38" grpId="0" animBg="1"/>
      <p:bldP spid="39"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2: a packet's journey</dc:title>
  <dc:subject>PptxGenJS Presentation</dc:subject>
  <dc:creator>Nisha Mishra</dc:creator>
  <cp:lastModifiedBy>Nisha Mishra</cp:lastModifiedBy>
  <cp:revision>1</cp:revision>
  <dcterms:created xsi:type="dcterms:W3CDTF">2026-10-04T22:25:58Z</dcterms:created>
  <dcterms:modified xsi:type="dcterms:W3CDTF">2026-10-04T22:25:58Z</dcterms:modified>
</cp:coreProperties>
</file>