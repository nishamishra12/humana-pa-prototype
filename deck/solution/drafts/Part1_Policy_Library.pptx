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One click per step. Finish the talking point, then click.
Click 1: Today the nurse looks up the policy by hand for every case. We start there: the official policy. CMS publishes national and local coverage determinations. Federal rules sit above them. Humana has its own documents. Each one says what must be true for a service to be covered.
Click 2: We read the policy with an ETL step that has AI inside. It keeps the structure: titles, paragraphs, tables and the page each came from. A flat blob of text would lose the sections the rules hang on.
Click 3: An AI drafts the rules. Each requirement becomes one rule. For each rule it names the detail a nurse needs to check, and copies the exact sentence the rule came from. Those details are what we later look for in the packet.
Click 4: Plain code checks the draft. Is the quote really in the policy? Is every number in the quote? Does the detail exist? Anything that fails is shown to the owner, never dropped. No AI in this step.
Click 5: A policy owner approves, edits or rejects every rule, with the official text beside it. The AI drafts. It never publishes. A rule that needs a detail we cannot read yet waits.
Click 6: Then we link it. Each policy is tied to procedure codes. A code, a CPT or HCPCS code, is the short code on every request that names the procedure, for example 33249 for an implantable defibrillator. The policy joins a service. A service is any product or business name we choose for a kind of request. The service holds its codes, its policies and the details to look for. In production, historical Humana prior authorization volume decides which services we onboard first. We publish one versioned library.
Click 7: What we get: a versioned library of services. Every rule is tied to the official sentence and approved by a named person. Every code has a source. A new service goes from planned to pilot to live, and any version can be rolled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57200" y="274320"/>
            <a:ext cx="5486400" cy="256032"/>
          </a:xfrm>
          <a:prstGeom prst="rect">
            <a:avLst/>
          </a:prstGeom>
          <a:noFill/>
          <a:ln/>
        </p:spPr>
        <p:txBody>
          <a:bodyPr wrap="square" lIns="0" tIns="0" rIns="0" bIns="0" rtlCol="0" anchor="t"/>
          <a:lstStyle/>
          <a:p>
            <a:pPr algn="l" indent="0" marL="0">
              <a:buNone/>
            </a:pPr>
            <a:r>
              <a:rPr lang="en-US" sz="1100" b="1" spc="300" kern="0" dirty="0">
                <a:solidFill>
                  <a:srgbClr val="1F6F5C"/>
                </a:solidFill>
                <a:latin typeface="Calibri" pitchFamily="34" charset="0"/>
                <a:ea typeface="Calibri" pitchFamily="34" charset="-122"/>
                <a:cs typeface="Calibri" pitchFamily="34" charset="-120"/>
              </a:rPr>
              <a:t>THE PRODUCT, PART 1 OF 2</a:t>
            </a:r>
            <a:endParaRPr lang="en-US" sz="1100" dirty="0"/>
          </a:p>
        </p:txBody>
      </p:sp>
      <p:sp>
        <p:nvSpPr>
          <p:cNvPr id="3" name="heading"/>
          <p:cNvSpPr txBox="1"/>
          <p:nvPr/>
        </p:nvSpPr>
        <p:spPr>
          <a:xfrm>
            <a:off x="457200" y="502920"/>
            <a:ext cx="7680960" cy="685800"/>
          </a:xfrm>
          <a:prstGeom prst="rect">
            <a:avLst/>
          </a:prstGeom>
          <a:noFill/>
          <a:ln/>
        </p:spPr>
        <p:txBody>
          <a:bodyPr wrap="square" lIns="0" tIns="0" rIns="0" bIns="0" rtlCol="0" anchor="ctr"/>
          <a:lstStyle/>
          <a:p>
            <a:pPr algn="l" indent="0" marL="0">
              <a:buNone/>
            </a:pPr>
            <a:r>
              <a:rPr lang="en-US" sz="2600" dirty="0">
                <a:solidFill>
                  <a:srgbClr val="16211E"/>
                </a:solidFill>
                <a:latin typeface="Cambria" pitchFamily="34" charset="0"/>
                <a:ea typeface="Cambria" pitchFamily="34" charset="-122"/>
                <a:cs typeface="Cambria" pitchFamily="34" charset="-120"/>
              </a:rPr>
              <a:t>First, build the library the nurse checks against.</a:t>
            </a:r>
            <a:endParaRPr lang="en-US" sz="2600" dirty="0"/>
          </a:p>
        </p:txBody>
      </p:sp>
      <p:sp>
        <p:nvSpPr>
          <p:cNvPr id="4" name="sub"/>
          <p:cNvSpPr txBox="1"/>
          <p:nvPr/>
        </p:nvSpPr>
        <p:spPr>
          <a:xfrm>
            <a:off x="7498080" y="502920"/>
            <a:ext cx="4233672" cy="685800"/>
          </a:xfrm>
          <a:prstGeom prst="rect">
            <a:avLst/>
          </a:prstGeom>
          <a:noFill/>
          <a:ln/>
        </p:spPr>
        <p:txBody>
          <a:bodyPr wrap="square" lIns="0" tIns="0" rIns="0" bIns="0" rtlCol="0" anchor="ctr"/>
          <a:lstStyle/>
          <a:p>
            <a:pPr algn="r" indent="0" marL="0">
              <a:buNone/>
            </a:pPr>
            <a:r>
              <a:rPr lang="en-US" sz="1400" dirty="0">
                <a:solidFill>
                  <a:srgbClr val="5C6B66"/>
                </a:solidFill>
                <a:latin typeface="Calibri" pitchFamily="34" charset="0"/>
                <a:ea typeface="Calibri" pitchFamily="34" charset="-122"/>
                <a:cs typeface="Calibri" pitchFamily="34" charset="-120"/>
              </a:rPr>
              <a:t>Done once per service, and on every policy change</a:t>
            </a:r>
            <a:endParaRPr lang="en-US" sz="1400" dirty="0"/>
          </a:p>
        </p:txBody>
      </p:sp>
      <p:sp>
        <p:nvSpPr>
          <p:cNvPr id="5" name="footer"/>
          <p:cNvSpPr txBox="1"/>
          <p:nvPr/>
        </p:nvSpPr>
        <p:spPr>
          <a:xfrm>
            <a:off x="457200" y="6492240"/>
            <a:ext cx="11274552" cy="228600"/>
          </a:xfrm>
          <a:prstGeom prst="rect">
            <a:avLst/>
          </a:prstGeom>
          <a:noFill/>
          <a:ln/>
        </p:spPr>
        <p:txBody>
          <a:bodyPr wrap="square" lIns="0" tIns="0" rIns="0" bIns="0" rtlCol="0" anchor="t"/>
          <a:lstStyle/>
          <a:p>
            <a:pPr algn="l" indent="0" marL="0">
              <a:buNone/>
            </a:pPr>
            <a:r>
              <a:rPr lang="en-US" sz="900" dirty="0">
                <a:solidFill>
                  <a:srgbClr val="5C6B66"/>
                </a:solidFill>
                <a:latin typeface="Calibri" pitchFamily="34" charset="0"/>
                <a:ea typeface="Calibri" pitchFamily="34" charset="-122"/>
                <a:cs typeface="Calibri" pitchFamily="34" charset="-120"/>
              </a:rPr>
              <a:t>Policies shown are public Medicare policies. The Humana policy and MCG slots are placeholders.</a:t>
            </a:r>
            <a:endParaRPr lang="en-US" sz="900" dirty="0"/>
          </a:p>
        </p:txBody>
      </p:sp>
      <p:sp>
        <p:nvSpPr>
          <p:cNvPr id="6" name="Today"/>
          <p:cNvSpPr/>
          <p:nvPr/>
        </p:nvSpPr>
        <p:spPr>
          <a:xfrm>
            <a:off x="457200" y="1325880"/>
            <a:ext cx="11274552" cy="457200"/>
          </a:xfrm>
          <a:prstGeom prst="roundRect">
            <a:avLst>
              <a:gd name="adj" fmla="val 16000"/>
            </a:avLst>
          </a:prstGeom>
          <a:solidFill>
            <a:srgbClr val="F3F5F4"/>
          </a:solidFill>
          <a:ln w="9525">
            <a:solidFill>
              <a:srgbClr val="CBD5D1"/>
            </a:solidFill>
          </a:ln>
        </p:spPr>
        <p:txBody>
          <a:bodyPr wrap="square" lIns="146304" tIns="36576" rIns="146304" bIns="36576" rtlCol="0" anchor="ctr"/>
          <a:lstStyle/>
          <a:p>
            <a:pPr algn="l" indent="0" marL="0">
              <a:buNone/>
            </a:pPr>
            <a:r>
              <a:rPr lang="en-US" sz="1200" b="1" dirty="0">
                <a:solidFill>
                  <a:srgbClr val="16211E"/>
                </a:solidFill>
                <a:latin typeface="Calibri" pitchFamily="34" charset="0"/>
                <a:ea typeface="Calibri" pitchFamily="34" charset="-122"/>
                <a:cs typeface="Calibri" pitchFamily="34" charset="-120"/>
              </a:rPr>
              <a:t>Today a nurse looks these up by hand, for every case: </a:t>
            </a:r>
            <a:pPr algn="l" indent="0" marL="0">
              <a:buNone/>
            </a:pPr>
            <a:r>
              <a:rPr lang="en-US" sz="1200" dirty="0">
                <a:solidFill>
                  <a:srgbClr val="5C6B66"/>
                </a:solidFill>
                <a:latin typeface="Calibri" pitchFamily="34" charset="0"/>
                <a:ea typeface="Calibri" pitchFamily="34" charset="-122"/>
                <a:cs typeface="Calibri" pitchFamily="34" charset="-120"/>
              </a:rPr>
              <a:t>CMS national and local coverage policies, federal rules, and Humana's own documents.</a:t>
            </a:r>
            <a:endParaRPr lang="en-US" sz="1200" dirty="0"/>
          </a:p>
        </p:txBody>
      </p:sp>
      <p:sp>
        <p:nvSpPr>
          <p:cNvPr id="7" name="S0"/>
          <p:cNvSpPr/>
          <p:nvPr/>
        </p:nvSpPr>
        <p:spPr>
          <a:xfrm>
            <a:off x="457200" y="2103120"/>
            <a:ext cx="1737360" cy="1554480"/>
          </a:xfrm>
          <a:prstGeom prst="roundRect">
            <a:avLst>
              <a:gd name="adj" fmla="val 5882"/>
            </a:avLst>
          </a:prstGeom>
          <a:solidFill>
            <a:srgbClr val="FBE9E4"/>
          </a:solidFill>
          <a:ln w="15875">
            <a:solidFill>
              <a:srgbClr val="B8452F"/>
            </a:solidFill>
          </a:ln>
        </p:spPr>
        <p:txBody>
          <a:bodyPr wrap="square" lIns="128016" tIns="274320" rIns="128016" bIns="73152" rtlCol="0" anchor="t"/>
          <a:lstStyle/>
          <a:p>
            <a:pPr algn="l" indent="0" marL="0">
              <a:spcAft>
                <a:spcPts val="300"/>
              </a:spcAft>
              <a:buNone/>
            </a:pPr>
            <a:r>
              <a:rPr lang="en-US" sz="850" b="1" spc="150" kern="0" dirty="0">
                <a:solidFill>
                  <a:srgbClr val="B8452F"/>
                </a:solidFill>
                <a:latin typeface="Calibri" pitchFamily="34" charset="0"/>
                <a:ea typeface="Calibri" pitchFamily="34" charset="-122"/>
                <a:cs typeface="Calibri" pitchFamily="34" charset="-120"/>
              </a:rPr>
              <a:t>OUTSIDE SOURCE</a:t>
            </a:r>
            <a:endParaRPr lang="en-US" sz="850" dirty="0"/>
          </a:p>
          <a:p>
            <a:pPr algn="l" indent="0" marL="0">
              <a:spcAft>
                <a:spcPts val="300"/>
              </a:spcAft>
              <a:buNone/>
            </a:pPr>
            <a:r>
              <a:rPr lang="en-US" sz="1350" b="1" dirty="0">
                <a:solidFill>
                  <a:srgbClr val="16211E"/>
                </a:solidFill>
                <a:latin typeface="Calibri" pitchFamily="34" charset="0"/>
                <a:ea typeface="Calibri" pitchFamily="34" charset="-122"/>
                <a:cs typeface="Calibri" pitchFamily="34" charset="-120"/>
              </a:rPr>
              <a:t>Official policy</a:t>
            </a:r>
            <a:endParaRPr lang="en-US" sz="850" dirty="0"/>
          </a:p>
          <a:p>
            <a:pPr algn="l" indent="0" marL="0">
              <a:buNone/>
            </a:pPr>
            <a:r>
              <a:rPr lang="en-US" sz="1050" dirty="0">
                <a:solidFill>
                  <a:srgbClr val="5C6B66"/>
                </a:solidFill>
                <a:latin typeface="Calibri" pitchFamily="34" charset="0"/>
                <a:ea typeface="Calibri" pitchFamily="34" charset="-122"/>
                <a:cs typeface="Calibri" pitchFamily="34" charset="-120"/>
              </a:rPr>
              <a:t>CMS national and local policies, federal rules, or a plan's own PDF</a:t>
            </a:r>
            <a:endParaRPr lang="en-US" sz="850" dirty="0"/>
          </a:p>
        </p:txBody>
      </p:sp>
      <p:sp>
        <p:nvSpPr>
          <p:cNvPr id="8" name="B0"/>
          <p:cNvSpPr/>
          <p:nvPr/>
        </p:nvSpPr>
        <p:spPr>
          <a:xfrm>
            <a:off x="484632" y="1947672"/>
            <a:ext cx="310896" cy="310896"/>
          </a:xfrm>
          <a:prstGeom prst="roundRect">
            <a:avLst>
              <a:gd name="adj" fmla="val 50000"/>
            </a:avLst>
          </a:prstGeom>
          <a:solidFill>
            <a:srgbClr val="1F6F5C"/>
          </a:solidFill>
          <a:ln w="12700">
            <a:solidFill>
              <a:srgbClr val="1F6F5C"/>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E0"/>
          <p:cNvSpPr/>
          <p:nvPr/>
        </p:nvSpPr>
        <p:spPr>
          <a:xfrm>
            <a:off x="457200" y="3785616"/>
            <a:ext cx="1737360" cy="658368"/>
          </a:xfrm>
          <a:prstGeom prst="roundRect">
            <a:avLst>
              <a:gd name="adj" fmla="val 8333"/>
            </a:avLst>
          </a:prstGeom>
          <a:solidFill>
            <a:srgbClr val="FFFFFF"/>
          </a:solidFill>
          <a:ln w="9525">
            <a:solidFill>
              <a:srgbClr val="CBD5D1"/>
            </a:solidFill>
          </a:ln>
        </p:spPr>
        <p:txBody>
          <a:bodyPr wrap="square" lIns="91440" tIns="36576" rIns="91440" bIns="36576" rtlCol="0" anchor="t"/>
          <a:lstStyle/>
          <a:p>
            <a:pPr algn="l" indent="0" marL="0">
              <a:buNone/>
            </a:pPr>
            <a:r>
              <a:rPr lang="en-US" sz="1000" i="1" dirty="0">
                <a:solidFill>
                  <a:srgbClr val="5C6B66"/>
                </a:solidFill>
                <a:latin typeface="Calibri" pitchFamily="34" charset="0"/>
                <a:ea typeface="Calibri" pitchFamily="34" charset="-122"/>
                <a:cs typeface="Calibri" pitchFamily="34" charset="-120"/>
              </a:rPr>
              <a:t>NCD 20.4, LCD L37848, 42 CFR 412.3</a:t>
            </a:r>
            <a:endParaRPr lang="en-US" sz="1000" dirty="0"/>
          </a:p>
        </p:txBody>
      </p:sp>
      <p:sp>
        <p:nvSpPr>
          <p:cNvPr id="10" name="S1"/>
          <p:cNvSpPr/>
          <p:nvPr/>
        </p:nvSpPr>
        <p:spPr>
          <a:xfrm>
            <a:off x="2364638" y="2103120"/>
            <a:ext cx="1737360" cy="1554480"/>
          </a:xfrm>
          <a:prstGeom prst="roundRect">
            <a:avLst>
              <a:gd name="adj" fmla="val 5882"/>
            </a:avLst>
          </a:prstGeom>
          <a:solidFill>
            <a:srgbClr val="FBE9E4"/>
          </a:solidFill>
          <a:ln w="15875">
            <a:solidFill>
              <a:srgbClr val="B8452F"/>
            </a:solidFill>
          </a:ln>
        </p:spPr>
        <p:txBody>
          <a:bodyPr wrap="square" lIns="128016" tIns="274320" rIns="128016" bIns="73152" rtlCol="0" anchor="t"/>
          <a:lstStyle/>
          <a:p>
            <a:pPr algn="l" indent="0" marL="0">
              <a:spcAft>
                <a:spcPts val="300"/>
              </a:spcAft>
              <a:buNone/>
            </a:pPr>
            <a:r>
              <a:rPr lang="en-US" sz="850" b="1" spc="150" kern="0" dirty="0">
                <a:solidFill>
                  <a:srgbClr val="B8452F"/>
                </a:solidFill>
                <a:latin typeface="Calibri" pitchFamily="34" charset="0"/>
                <a:ea typeface="Calibri" pitchFamily="34" charset="-122"/>
                <a:cs typeface="Calibri" pitchFamily="34" charset="-120"/>
              </a:rPr>
              <a:t>ETL + AI</a:t>
            </a:r>
            <a:endParaRPr lang="en-US" sz="850" dirty="0"/>
          </a:p>
          <a:p>
            <a:pPr algn="l" indent="0" marL="0">
              <a:spcAft>
                <a:spcPts val="300"/>
              </a:spcAft>
              <a:buNone/>
            </a:pPr>
            <a:r>
              <a:rPr lang="en-US" sz="1350" b="1" dirty="0">
                <a:solidFill>
                  <a:srgbClr val="16211E"/>
                </a:solidFill>
                <a:latin typeface="Calibri" pitchFamily="34" charset="0"/>
                <a:ea typeface="Calibri" pitchFamily="34" charset="-122"/>
                <a:cs typeface="Calibri" pitchFamily="34" charset="-120"/>
              </a:rPr>
              <a:t>Read the policy</a:t>
            </a:r>
            <a:endParaRPr lang="en-US" sz="850" dirty="0"/>
          </a:p>
          <a:p>
            <a:pPr algn="l" indent="0" marL="0">
              <a:buNone/>
            </a:pPr>
            <a:r>
              <a:rPr lang="en-US" sz="1050" dirty="0">
                <a:solidFill>
                  <a:srgbClr val="5C6B66"/>
                </a:solidFill>
                <a:latin typeface="Calibri" pitchFamily="34" charset="0"/>
                <a:ea typeface="Calibri" pitchFamily="34" charset="-122"/>
                <a:cs typeface="Calibri" pitchFamily="34" charset="-120"/>
              </a:rPr>
              <a:t>Every page becomes typed pieces: titles, paragraphs, tables, with their pages</a:t>
            </a:r>
            <a:endParaRPr lang="en-US" sz="850" dirty="0"/>
          </a:p>
        </p:txBody>
      </p:sp>
      <p:sp>
        <p:nvSpPr>
          <p:cNvPr id="11" name="B1"/>
          <p:cNvSpPr/>
          <p:nvPr/>
        </p:nvSpPr>
        <p:spPr>
          <a:xfrm>
            <a:off x="2392070" y="1947672"/>
            <a:ext cx="310896" cy="310896"/>
          </a:xfrm>
          <a:prstGeom prst="roundRect">
            <a:avLst>
              <a:gd name="adj" fmla="val 50000"/>
            </a:avLst>
          </a:prstGeom>
          <a:solidFill>
            <a:srgbClr val="1F6F5C"/>
          </a:solidFill>
          <a:ln w="12700">
            <a:solidFill>
              <a:srgbClr val="1F6F5C"/>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E1"/>
          <p:cNvSpPr/>
          <p:nvPr/>
        </p:nvSpPr>
        <p:spPr>
          <a:xfrm>
            <a:off x="2364638" y="3785616"/>
            <a:ext cx="1737360" cy="658368"/>
          </a:xfrm>
          <a:prstGeom prst="roundRect">
            <a:avLst>
              <a:gd name="adj" fmla="val 8333"/>
            </a:avLst>
          </a:prstGeom>
          <a:solidFill>
            <a:srgbClr val="FFFFFF"/>
          </a:solidFill>
          <a:ln w="9525">
            <a:solidFill>
              <a:srgbClr val="CBD5D1"/>
            </a:solidFill>
          </a:ln>
        </p:spPr>
        <p:txBody>
          <a:bodyPr wrap="square" lIns="91440" tIns="36576" rIns="91440" bIns="36576" rtlCol="0" anchor="t"/>
          <a:lstStyle/>
          <a:p>
            <a:pPr algn="l" indent="0" marL="0">
              <a:buNone/>
            </a:pPr>
            <a:r>
              <a:rPr lang="en-US" sz="1000" i="1" dirty="0">
                <a:solidFill>
                  <a:srgbClr val="5C6B66"/>
                </a:solidFill>
                <a:latin typeface="Calibri" pitchFamily="34" charset="0"/>
                <a:ea typeface="Calibri" pitchFamily="34" charset="-122"/>
                <a:cs typeface="Calibri" pitchFamily="34" charset="-120"/>
              </a:rPr>
              <a:t>A heading, a paragraph, a table. Page numbers kept</a:t>
            </a:r>
            <a:endParaRPr lang="en-US" sz="1000" dirty="0"/>
          </a:p>
        </p:txBody>
      </p:sp>
      <p:sp>
        <p:nvSpPr>
          <p:cNvPr id="13" name="A1"/>
          <p:cNvSpPr/>
          <p:nvPr/>
        </p:nvSpPr>
        <p:spPr>
          <a:xfrm>
            <a:off x="2203704" y="2880360"/>
            <a:ext cx="151790" cy="0"/>
          </a:xfrm>
          <a:prstGeom prst="line">
            <a:avLst/>
          </a:prstGeom>
          <a:noFill/>
          <a:ln w="22225">
            <a:solidFill>
              <a:srgbClr val="5C6B66"/>
            </a:solidFill>
            <a:prstDash val="solid"/>
            <a:tailEnd type="triangle"/>
          </a:ln>
        </p:spPr>
      </p:sp>
      <p:sp>
        <p:nvSpPr>
          <p:cNvPr id="14" name="S2"/>
          <p:cNvSpPr/>
          <p:nvPr/>
        </p:nvSpPr>
        <p:spPr>
          <a:xfrm>
            <a:off x="4272077" y="2103120"/>
            <a:ext cx="1737360" cy="1554480"/>
          </a:xfrm>
          <a:prstGeom prst="roundRect">
            <a:avLst>
              <a:gd name="adj" fmla="val 5882"/>
            </a:avLst>
          </a:prstGeom>
          <a:solidFill>
            <a:srgbClr val="EBE2F8"/>
          </a:solidFill>
          <a:ln w="15875">
            <a:solidFill>
              <a:srgbClr val="5F3AA8"/>
            </a:solidFill>
          </a:ln>
        </p:spPr>
        <p:txBody>
          <a:bodyPr wrap="square" lIns="128016" tIns="274320" rIns="128016" bIns="73152" rtlCol="0" anchor="t"/>
          <a:lstStyle/>
          <a:p>
            <a:pPr algn="l" indent="0" marL="0">
              <a:spcAft>
                <a:spcPts val="300"/>
              </a:spcAft>
              <a:buNone/>
            </a:pPr>
            <a:r>
              <a:rPr lang="en-US" sz="850" b="1" spc="150" kern="0" dirty="0">
                <a:solidFill>
                  <a:srgbClr val="5F3AA8"/>
                </a:solidFill>
                <a:latin typeface="Calibri" pitchFamily="34" charset="0"/>
                <a:ea typeface="Calibri" pitchFamily="34" charset="-122"/>
                <a:cs typeface="Calibri" pitchFamily="34" charset="-120"/>
              </a:rPr>
              <a:t>AI</a:t>
            </a:r>
            <a:endParaRPr lang="en-US" sz="850" dirty="0"/>
          </a:p>
          <a:p>
            <a:pPr algn="l" indent="0" marL="0">
              <a:spcAft>
                <a:spcPts val="300"/>
              </a:spcAft>
              <a:buNone/>
            </a:pPr>
            <a:r>
              <a:rPr lang="en-US" sz="1350" b="1" dirty="0">
                <a:solidFill>
                  <a:srgbClr val="16211E"/>
                </a:solidFill>
                <a:latin typeface="Calibri" pitchFamily="34" charset="0"/>
                <a:ea typeface="Calibri" pitchFamily="34" charset="-122"/>
                <a:cs typeface="Calibri" pitchFamily="34" charset="-120"/>
              </a:rPr>
              <a:t>Draft the rules</a:t>
            </a:r>
            <a:endParaRPr lang="en-US" sz="850" dirty="0"/>
          </a:p>
          <a:p>
            <a:pPr algn="l" indent="0" marL="0">
              <a:buNone/>
            </a:pPr>
            <a:r>
              <a:rPr lang="en-US" sz="1050" dirty="0">
                <a:solidFill>
                  <a:srgbClr val="5C6B66"/>
                </a:solidFill>
                <a:latin typeface="Calibri" pitchFamily="34" charset="0"/>
                <a:ea typeface="Calibri" pitchFamily="34" charset="-122"/>
                <a:cs typeface="Calibri" pitchFamily="34" charset="-120"/>
              </a:rPr>
              <a:t>AI turns each requirement into a rule and the detail a nurse must check</a:t>
            </a:r>
            <a:endParaRPr lang="en-US" sz="850" dirty="0"/>
          </a:p>
        </p:txBody>
      </p:sp>
      <p:sp>
        <p:nvSpPr>
          <p:cNvPr id="15" name="B2"/>
          <p:cNvSpPr/>
          <p:nvPr/>
        </p:nvSpPr>
        <p:spPr>
          <a:xfrm>
            <a:off x="4299509" y="1947672"/>
            <a:ext cx="310896" cy="310896"/>
          </a:xfrm>
          <a:prstGeom prst="roundRect">
            <a:avLst>
              <a:gd name="adj" fmla="val 50000"/>
            </a:avLst>
          </a:prstGeom>
          <a:solidFill>
            <a:srgbClr val="1F6F5C"/>
          </a:solidFill>
          <a:ln w="12700">
            <a:solidFill>
              <a:srgbClr val="1F6F5C"/>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E2"/>
          <p:cNvSpPr/>
          <p:nvPr/>
        </p:nvSpPr>
        <p:spPr>
          <a:xfrm>
            <a:off x="4272077" y="3785616"/>
            <a:ext cx="1737360" cy="658368"/>
          </a:xfrm>
          <a:prstGeom prst="roundRect">
            <a:avLst>
              <a:gd name="adj" fmla="val 8333"/>
            </a:avLst>
          </a:prstGeom>
          <a:solidFill>
            <a:srgbClr val="FFFFFF"/>
          </a:solidFill>
          <a:ln w="9525">
            <a:solidFill>
              <a:srgbClr val="CBD5D1"/>
            </a:solidFill>
          </a:ln>
        </p:spPr>
        <p:txBody>
          <a:bodyPr wrap="square" lIns="91440" tIns="36576" rIns="91440" bIns="36576" rtlCol="0" anchor="t"/>
          <a:lstStyle/>
          <a:p>
            <a:pPr algn="l" indent="0" marL="0">
              <a:buNone/>
            </a:pPr>
            <a:r>
              <a:rPr lang="en-US" sz="1000" i="1" dirty="0">
                <a:solidFill>
                  <a:srgbClr val="5C6B66"/>
                </a:solidFill>
                <a:latin typeface="Calibri" pitchFamily="34" charset="0"/>
                <a:ea typeface="Calibri" pitchFamily="34" charset="-122"/>
                <a:cs typeface="Calibri" pitchFamily="34" charset="-120"/>
              </a:rPr>
              <a:t>"LVEF 35% or less" is checked on the detail 'ejection fraction'</a:t>
            </a:r>
            <a:endParaRPr lang="en-US" sz="1000" dirty="0"/>
          </a:p>
        </p:txBody>
      </p:sp>
      <p:sp>
        <p:nvSpPr>
          <p:cNvPr id="17" name="A2"/>
          <p:cNvSpPr/>
          <p:nvPr/>
        </p:nvSpPr>
        <p:spPr>
          <a:xfrm>
            <a:off x="4111142" y="2880360"/>
            <a:ext cx="151790" cy="0"/>
          </a:xfrm>
          <a:prstGeom prst="line">
            <a:avLst/>
          </a:prstGeom>
          <a:noFill/>
          <a:ln w="22225">
            <a:solidFill>
              <a:srgbClr val="5C6B66"/>
            </a:solidFill>
            <a:prstDash val="solid"/>
            <a:tailEnd type="triangle"/>
          </a:ln>
        </p:spPr>
      </p:sp>
      <p:sp>
        <p:nvSpPr>
          <p:cNvPr id="18" name="S3"/>
          <p:cNvSpPr/>
          <p:nvPr/>
        </p:nvSpPr>
        <p:spPr>
          <a:xfrm>
            <a:off x="6179515" y="2103120"/>
            <a:ext cx="1737360" cy="1554480"/>
          </a:xfrm>
          <a:prstGeom prst="roundRect">
            <a:avLst>
              <a:gd name="adj" fmla="val 5882"/>
            </a:avLst>
          </a:prstGeom>
          <a:solidFill>
            <a:srgbClr val="E3F0EB"/>
          </a:solidFill>
          <a:ln w="15875">
            <a:solidFill>
              <a:srgbClr val="1F6F5C"/>
            </a:solidFill>
          </a:ln>
        </p:spPr>
        <p:txBody>
          <a:bodyPr wrap="square" lIns="128016" tIns="274320" rIns="128016" bIns="73152" rtlCol="0" anchor="t"/>
          <a:lstStyle/>
          <a:p>
            <a:pPr algn="l" indent="0" marL="0">
              <a:spcAft>
                <a:spcPts val="300"/>
              </a:spcAft>
              <a:buNone/>
            </a:pPr>
            <a:r>
              <a:rPr lang="en-US" sz="850" b="1" spc="150" kern="0" dirty="0">
                <a:solidFill>
                  <a:srgbClr val="1F6F5C"/>
                </a:solidFill>
                <a:latin typeface="Calibri" pitchFamily="34" charset="0"/>
                <a:ea typeface="Calibri" pitchFamily="34" charset="-122"/>
                <a:cs typeface="Calibri" pitchFamily="34" charset="-120"/>
              </a:rPr>
              <a:t>CODE</a:t>
            </a:r>
            <a:endParaRPr lang="en-US" sz="850" dirty="0"/>
          </a:p>
          <a:p>
            <a:pPr algn="l" indent="0" marL="0">
              <a:spcAft>
                <a:spcPts val="300"/>
              </a:spcAft>
              <a:buNone/>
            </a:pPr>
            <a:r>
              <a:rPr lang="en-US" sz="1350" b="1" dirty="0">
                <a:solidFill>
                  <a:srgbClr val="16211E"/>
                </a:solidFill>
                <a:latin typeface="Calibri" pitchFamily="34" charset="0"/>
                <a:ea typeface="Calibri" pitchFamily="34" charset="-122"/>
                <a:cs typeface="Calibri" pitchFamily="34" charset="-120"/>
              </a:rPr>
              <a:t>Check the draft</a:t>
            </a:r>
            <a:endParaRPr lang="en-US" sz="850" dirty="0"/>
          </a:p>
          <a:p>
            <a:pPr algn="l" indent="0" marL="0">
              <a:buNone/>
            </a:pPr>
            <a:r>
              <a:rPr lang="en-US" sz="1050" dirty="0">
                <a:solidFill>
                  <a:srgbClr val="5C6B66"/>
                </a:solidFill>
                <a:latin typeface="Calibri" pitchFamily="34" charset="0"/>
                <a:ea typeface="Calibri" pitchFamily="34" charset="-122"/>
                <a:cs typeface="Calibri" pitchFamily="34" charset="-120"/>
              </a:rPr>
              <a:t>Code checks every quote, number and detail against the policy text</a:t>
            </a:r>
            <a:endParaRPr lang="en-US" sz="850" dirty="0"/>
          </a:p>
        </p:txBody>
      </p:sp>
      <p:sp>
        <p:nvSpPr>
          <p:cNvPr id="19" name="B3"/>
          <p:cNvSpPr/>
          <p:nvPr/>
        </p:nvSpPr>
        <p:spPr>
          <a:xfrm>
            <a:off x="6206947" y="1947672"/>
            <a:ext cx="310896" cy="310896"/>
          </a:xfrm>
          <a:prstGeom prst="roundRect">
            <a:avLst>
              <a:gd name="adj" fmla="val 50000"/>
            </a:avLst>
          </a:prstGeom>
          <a:solidFill>
            <a:srgbClr val="1F6F5C"/>
          </a:solidFill>
          <a:ln w="12700">
            <a:solidFill>
              <a:srgbClr val="1F6F5C"/>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0" name="E3"/>
          <p:cNvSpPr/>
          <p:nvPr/>
        </p:nvSpPr>
        <p:spPr>
          <a:xfrm>
            <a:off x="6179515" y="3785616"/>
            <a:ext cx="1737360" cy="658368"/>
          </a:xfrm>
          <a:prstGeom prst="roundRect">
            <a:avLst>
              <a:gd name="adj" fmla="val 8333"/>
            </a:avLst>
          </a:prstGeom>
          <a:solidFill>
            <a:srgbClr val="FFFFFF"/>
          </a:solidFill>
          <a:ln w="9525">
            <a:solidFill>
              <a:srgbClr val="CBD5D1"/>
            </a:solidFill>
          </a:ln>
        </p:spPr>
        <p:txBody>
          <a:bodyPr wrap="square" lIns="91440" tIns="36576" rIns="91440" bIns="36576" rtlCol="0" anchor="t"/>
          <a:lstStyle/>
          <a:p>
            <a:pPr algn="l" indent="0" marL="0">
              <a:buNone/>
            </a:pPr>
            <a:r>
              <a:rPr lang="en-US" sz="1000" i="1" dirty="0">
                <a:solidFill>
                  <a:srgbClr val="5C6B66"/>
                </a:solidFill>
                <a:latin typeface="Calibri" pitchFamily="34" charset="0"/>
                <a:ea typeface="Calibri" pitchFamily="34" charset="-122"/>
                <a:cs typeface="Calibri" pitchFamily="34" charset="-120"/>
              </a:rPr>
              <a:t>Is the quote in the policy? Is the 35 in the quote?</a:t>
            </a:r>
            <a:endParaRPr lang="en-US" sz="1000" dirty="0"/>
          </a:p>
        </p:txBody>
      </p:sp>
      <p:sp>
        <p:nvSpPr>
          <p:cNvPr id="21" name="A3"/>
          <p:cNvSpPr/>
          <p:nvPr/>
        </p:nvSpPr>
        <p:spPr>
          <a:xfrm>
            <a:off x="6018581" y="2880360"/>
            <a:ext cx="151790" cy="0"/>
          </a:xfrm>
          <a:prstGeom prst="line">
            <a:avLst/>
          </a:prstGeom>
          <a:noFill/>
          <a:ln w="22225">
            <a:solidFill>
              <a:srgbClr val="5C6B66"/>
            </a:solidFill>
            <a:prstDash val="solid"/>
            <a:tailEnd type="triangle"/>
          </a:ln>
        </p:spPr>
      </p:sp>
      <p:sp>
        <p:nvSpPr>
          <p:cNvPr id="22" name="S4"/>
          <p:cNvSpPr/>
          <p:nvPr/>
        </p:nvSpPr>
        <p:spPr>
          <a:xfrm>
            <a:off x="8086954" y="2103120"/>
            <a:ext cx="1737360" cy="1554480"/>
          </a:xfrm>
          <a:prstGeom prst="roundRect">
            <a:avLst>
              <a:gd name="adj" fmla="val 5882"/>
            </a:avLst>
          </a:prstGeom>
          <a:solidFill>
            <a:srgbClr val="FCEFD0"/>
          </a:solidFill>
          <a:ln w="15875">
            <a:solidFill>
              <a:srgbClr val="8A5A00"/>
            </a:solidFill>
          </a:ln>
        </p:spPr>
        <p:txBody>
          <a:bodyPr wrap="square" lIns="128016" tIns="274320" rIns="128016" bIns="73152" rtlCol="0" anchor="t"/>
          <a:lstStyle/>
          <a:p>
            <a:pPr algn="l" indent="0" marL="0">
              <a:spcAft>
                <a:spcPts val="300"/>
              </a:spcAft>
              <a:buNone/>
            </a:pPr>
            <a:r>
              <a:rPr lang="en-US" sz="850" b="1" spc="150" kern="0" dirty="0">
                <a:solidFill>
                  <a:srgbClr val="8A5A00"/>
                </a:solidFill>
                <a:latin typeface="Calibri" pitchFamily="34" charset="0"/>
                <a:ea typeface="Calibri" pitchFamily="34" charset="-122"/>
                <a:cs typeface="Calibri" pitchFamily="34" charset="-120"/>
              </a:rPr>
              <a:t>PERSON</a:t>
            </a:r>
            <a:endParaRPr lang="en-US" sz="850" dirty="0"/>
          </a:p>
          <a:p>
            <a:pPr algn="l" indent="0" marL="0">
              <a:spcAft>
                <a:spcPts val="300"/>
              </a:spcAft>
              <a:buNone/>
            </a:pPr>
            <a:r>
              <a:rPr lang="en-US" sz="1350" b="1" dirty="0">
                <a:solidFill>
                  <a:srgbClr val="16211E"/>
                </a:solidFill>
                <a:latin typeface="Calibri" pitchFamily="34" charset="0"/>
                <a:ea typeface="Calibri" pitchFamily="34" charset="-122"/>
                <a:cs typeface="Calibri" pitchFamily="34" charset="-120"/>
              </a:rPr>
              <a:t>Owner approves</a:t>
            </a:r>
            <a:endParaRPr lang="en-US" sz="850" dirty="0"/>
          </a:p>
          <a:p>
            <a:pPr algn="l" indent="0" marL="0">
              <a:buNone/>
            </a:pPr>
            <a:r>
              <a:rPr lang="en-US" sz="1050" dirty="0">
                <a:solidFill>
                  <a:srgbClr val="5C6B66"/>
                </a:solidFill>
                <a:latin typeface="Calibri" pitchFamily="34" charset="0"/>
                <a:ea typeface="Calibri" pitchFamily="34" charset="-122"/>
                <a:cs typeface="Calibri" pitchFamily="34" charset="-120"/>
              </a:rPr>
              <a:t>A policy owner approves, edits or rejects each rule</a:t>
            </a:r>
            <a:endParaRPr lang="en-US" sz="850" dirty="0"/>
          </a:p>
        </p:txBody>
      </p:sp>
      <p:sp>
        <p:nvSpPr>
          <p:cNvPr id="23" name="B4"/>
          <p:cNvSpPr/>
          <p:nvPr/>
        </p:nvSpPr>
        <p:spPr>
          <a:xfrm>
            <a:off x="8114386" y="1947672"/>
            <a:ext cx="310896" cy="310896"/>
          </a:xfrm>
          <a:prstGeom prst="roundRect">
            <a:avLst>
              <a:gd name="adj" fmla="val 50000"/>
            </a:avLst>
          </a:prstGeom>
          <a:solidFill>
            <a:srgbClr val="1F6F5C"/>
          </a:solidFill>
          <a:ln w="12700">
            <a:solidFill>
              <a:srgbClr val="1F6F5C"/>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4" name="E4"/>
          <p:cNvSpPr/>
          <p:nvPr/>
        </p:nvSpPr>
        <p:spPr>
          <a:xfrm>
            <a:off x="8086954" y="3785616"/>
            <a:ext cx="1737360" cy="658368"/>
          </a:xfrm>
          <a:prstGeom prst="roundRect">
            <a:avLst>
              <a:gd name="adj" fmla="val 8333"/>
            </a:avLst>
          </a:prstGeom>
          <a:solidFill>
            <a:srgbClr val="FFFFFF"/>
          </a:solidFill>
          <a:ln w="9525">
            <a:solidFill>
              <a:srgbClr val="CBD5D1"/>
            </a:solidFill>
          </a:ln>
        </p:spPr>
        <p:txBody>
          <a:bodyPr wrap="square" lIns="91440" tIns="36576" rIns="91440" bIns="36576" rtlCol="0" anchor="t"/>
          <a:lstStyle/>
          <a:p>
            <a:pPr algn="l" indent="0" marL="0">
              <a:buNone/>
            </a:pPr>
            <a:r>
              <a:rPr lang="en-US" sz="1000" i="1" dirty="0">
                <a:solidFill>
                  <a:srgbClr val="5C6B66"/>
                </a:solidFill>
                <a:latin typeface="Calibri" pitchFamily="34" charset="0"/>
                <a:ea typeface="Calibri" pitchFamily="34" charset="-122"/>
                <a:cs typeface="Calibri" pitchFamily="34" charset="-120"/>
              </a:rPr>
              <a:t>Nothing is live until a person approves it</a:t>
            </a:r>
            <a:endParaRPr lang="en-US" sz="1000" dirty="0"/>
          </a:p>
        </p:txBody>
      </p:sp>
      <p:sp>
        <p:nvSpPr>
          <p:cNvPr id="25" name="A4"/>
          <p:cNvSpPr/>
          <p:nvPr/>
        </p:nvSpPr>
        <p:spPr>
          <a:xfrm>
            <a:off x="7926019" y="2880360"/>
            <a:ext cx="151790" cy="0"/>
          </a:xfrm>
          <a:prstGeom prst="line">
            <a:avLst/>
          </a:prstGeom>
          <a:noFill/>
          <a:ln w="22225">
            <a:solidFill>
              <a:srgbClr val="5C6B66"/>
            </a:solidFill>
            <a:prstDash val="solid"/>
            <a:tailEnd type="triangle"/>
          </a:ln>
        </p:spPr>
      </p:sp>
      <p:sp>
        <p:nvSpPr>
          <p:cNvPr id="26" name="S5"/>
          <p:cNvSpPr/>
          <p:nvPr/>
        </p:nvSpPr>
        <p:spPr>
          <a:xfrm>
            <a:off x="9994392" y="2103120"/>
            <a:ext cx="1737360" cy="1554480"/>
          </a:xfrm>
          <a:prstGeom prst="roundRect">
            <a:avLst>
              <a:gd name="adj" fmla="val 5882"/>
            </a:avLst>
          </a:prstGeom>
          <a:solidFill>
            <a:srgbClr val="E3F0EB"/>
          </a:solidFill>
          <a:ln w="15875">
            <a:solidFill>
              <a:srgbClr val="1F6F5C"/>
            </a:solidFill>
          </a:ln>
        </p:spPr>
        <p:txBody>
          <a:bodyPr wrap="square" lIns="128016" tIns="274320" rIns="128016" bIns="73152" rtlCol="0" anchor="t"/>
          <a:lstStyle/>
          <a:p>
            <a:pPr algn="l" indent="0" marL="0">
              <a:spcAft>
                <a:spcPts val="300"/>
              </a:spcAft>
              <a:buNone/>
            </a:pPr>
            <a:r>
              <a:rPr lang="en-US" sz="850" b="1" spc="150" kern="0" dirty="0">
                <a:solidFill>
                  <a:srgbClr val="1F6F5C"/>
                </a:solidFill>
                <a:latin typeface="Calibri" pitchFamily="34" charset="0"/>
                <a:ea typeface="Calibri" pitchFamily="34" charset="-122"/>
                <a:cs typeface="Calibri" pitchFamily="34" charset="-120"/>
              </a:rPr>
              <a:t>CODE + DATA</a:t>
            </a:r>
            <a:endParaRPr lang="en-US" sz="850" dirty="0"/>
          </a:p>
          <a:p>
            <a:pPr algn="l" indent="0" marL="0">
              <a:spcAft>
                <a:spcPts val="300"/>
              </a:spcAft>
              <a:buNone/>
            </a:pPr>
            <a:r>
              <a:rPr lang="en-US" sz="1350" b="1" dirty="0">
                <a:solidFill>
                  <a:srgbClr val="16211E"/>
                </a:solidFill>
                <a:latin typeface="Calibri" pitchFamily="34" charset="0"/>
                <a:ea typeface="Calibri" pitchFamily="34" charset="-122"/>
                <a:cs typeface="Calibri" pitchFamily="34" charset="-120"/>
              </a:rPr>
              <a:t>Link and publish</a:t>
            </a:r>
            <a:endParaRPr lang="en-US" sz="850" dirty="0"/>
          </a:p>
          <a:p>
            <a:pPr algn="l" indent="0" marL="0">
              <a:buNone/>
            </a:pPr>
            <a:r>
              <a:rPr lang="en-US" sz="1050" dirty="0">
                <a:solidFill>
                  <a:srgbClr val="5C6B66"/>
                </a:solidFill>
                <a:latin typeface="Calibri" pitchFamily="34" charset="0"/>
                <a:ea typeface="Calibri" pitchFamily="34" charset="-122"/>
                <a:cs typeface="Calibri" pitchFamily="34" charset="-120"/>
              </a:rPr>
              <a:t>Policy to procedure codes to a service. One versioned library</a:t>
            </a:r>
            <a:endParaRPr lang="en-US" sz="850" dirty="0"/>
          </a:p>
        </p:txBody>
      </p:sp>
      <p:sp>
        <p:nvSpPr>
          <p:cNvPr id="27" name="B5"/>
          <p:cNvSpPr/>
          <p:nvPr/>
        </p:nvSpPr>
        <p:spPr>
          <a:xfrm>
            <a:off x="10021824" y="1947672"/>
            <a:ext cx="310896" cy="310896"/>
          </a:xfrm>
          <a:prstGeom prst="roundRect">
            <a:avLst>
              <a:gd name="adj" fmla="val 50000"/>
            </a:avLst>
          </a:prstGeom>
          <a:solidFill>
            <a:srgbClr val="1F6F5C"/>
          </a:solidFill>
          <a:ln w="12700">
            <a:solidFill>
              <a:srgbClr val="1F6F5C"/>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8" name="E5"/>
          <p:cNvSpPr/>
          <p:nvPr/>
        </p:nvSpPr>
        <p:spPr>
          <a:xfrm>
            <a:off x="9994392" y="3785616"/>
            <a:ext cx="1737360" cy="658368"/>
          </a:xfrm>
          <a:prstGeom prst="roundRect">
            <a:avLst>
              <a:gd name="adj" fmla="val 8333"/>
            </a:avLst>
          </a:prstGeom>
          <a:solidFill>
            <a:srgbClr val="FFFFFF"/>
          </a:solidFill>
          <a:ln w="9525">
            <a:solidFill>
              <a:srgbClr val="CBD5D1"/>
            </a:solidFill>
          </a:ln>
        </p:spPr>
        <p:txBody>
          <a:bodyPr wrap="square" lIns="91440" tIns="36576" rIns="91440" bIns="36576" rtlCol="0" anchor="t"/>
          <a:lstStyle/>
          <a:p>
            <a:pPr algn="l" indent="0" marL="0">
              <a:buNone/>
            </a:pPr>
            <a:r>
              <a:rPr lang="en-US" sz="1000" i="1" dirty="0">
                <a:solidFill>
                  <a:srgbClr val="5C6B66"/>
                </a:solidFill>
                <a:latin typeface="Calibri" pitchFamily="34" charset="0"/>
                <a:ea typeface="Calibri" pitchFamily="34" charset="-122"/>
                <a:cs typeface="Calibri" pitchFamily="34" charset="-120"/>
              </a:rPr>
              <a:t>Code 33249 leads to the ICD service and its rules</a:t>
            </a:r>
            <a:endParaRPr lang="en-US" sz="1000" dirty="0"/>
          </a:p>
        </p:txBody>
      </p:sp>
      <p:sp>
        <p:nvSpPr>
          <p:cNvPr id="29" name="A5"/>
          <p:cNvSpPr/>
          <p:nvPr/>
        </p:nvSpPr>
        <p:spPr>
          <a:xfrm>
            <a:off x="9833458" y="2880360"/>
            <a:ext cx="151790" cy="0"/>
          </a:xfrm>
          <a:prstGeom prst="line">
            <a:avLst/>
          </a:prstGeom>
          <a:noFill/>
          <a:ln w="22225">
            <a:solidFill>
              <a:srgbClr val="5C6B66"/>
            </a:solidFill>
            <a:prstDash val="solid"/>
            <a:tailEnd type="triangle"/>
          </a:ln>
        </p:spPr>
      </p:sp>
      <p:sp>
        <p:nvSpPr>
          <p:cNvPr id="30" name="GetBox"/>
          <p:cNvSpPr/>
          <p:nvPr/>
        </p:nvSpPr>
        <p:spPr>
          <a:xfrm>
            <a:off x="457200" y="4846320"/>
            <a:ext cx="11274552" cy="1444752"/>
          </a:xfrm>
          <a:prstGeom prst="roundRect">
            <a:avLst>
              <a:gd name="adj" fmla="val 6329"/>
            </a:avLst>
          </a:prstGeom>
          <a:solidFill>
            <a:srgbClr val="DDF3E7"/>
          </a:solidFill>
          <a:ln w="12700">
            <a:solidFill>
              <a:srgbClr val="18764A"/>
            </a:solidFill>
          </a:ln>
        </p:spPr>
        <p:txBody>
          <a:bodyPr wrap="square" lIns="182880" tIns="91440" rIns="182880" bIns="45720" rtlCol="0" anchor="t"/>
          <a:lstStyle/>
          <a:p>
            <a:pPr algn="l" indent="0" marL="0">
              <a:buNone/>
            </a:pPr>
            <a:r>
              <a:rPr lang="en-US" sz="1000" b="1" spc="200" kern="0" dirty="0">
                <a:solidFill>
                  <a:srgbClr val="1F6F5C"/>
                </a:solidFill>
                <a:latin typeface="Calibri" pitchFamily="34" charset="0"/>
                <a:ea typeface="Calibri" pitchFamily="34" charset="-122"/>
                <a:cs typeface="Calibri" pitchFamily="34" charset="-120"/>
              </a:rPr>
              <a:t>WHAT WE GET</a:t>
            </a:r>
            <a:endParaRPr lang="en-US" sz="1000" dirty="0"/>
          </a:p>
        </p:txBody>
      </p:sp>
      <p:sp>
        <p:nvSpPr>
          <p:cNvPr id="31" name="G0"/>
          <p:cNvSpPr txBox="1"/>
          <p:nvPr/>
        </p:nvSpPr>
        <p:spPr>
          <a:xfrm>
            <a:off x="658368" y="5212080"/>
            <a:ext cx="5303520" cy="457200"/>
          </a:xfrm>
          <a:prstGeom prst="rect">
            <a:avLst/>
          </a:prstGeom>
          <a:noFill/>
          <a:ln/>
        </p:spPr>
        <p:txBody>
          <a:bodyPr wrap="square" lIns="0" tIns="0" rIns="0" bIns="0" rtlCol="0" anchor="t"/>
          <a:lstStyle/>
          <a:p>
            <a:pPr algn="l" indent="0" marL="0">
              <a:buNone/>
            </a:pPr>
            <a:r>
              <a:rPr lang="en-US" sz="1200" b="1" dirty="0">
                <a:solidFill>
                  <a:srgbClr val="18764A"/>
                </a:solidFill>
                <a:latin typeface="Calibri" pitchFamily="34" charset="0"/>
                <a:ea typeface="Calibri" pitchFamily="34" charset="-122"/>
                <a:cs typeface="Calibri" pitchFamily="34" charset="-120"/>
              </a:rPr>
              <a:t>✓  </a:t>
            </a:r>
            <a:pPr algn="l" indent="0" marL="0">
              <a:buNone/>
            </a:pPr>
            <a:r>
              <a:rPr lang="en-US" sz="1150" dirty="0">
                <a:solidFill>
                  <a:srgbClr val="16211E"/>
                </a:solidFill>
                <a:latin typeface="Calibri" pitchFamily="34" charset="0"/>
                <a:ea typeface="Calibri" pitchFamily="34" charset="-122"/>
                <a:cs typeface="Calibri" pitchFamily="34" charset="-120"/>
              </a:rPr>
              <a:t>A versioned library of services. Each has its procedure codes, its policies and the details to look for.</a:t>
            </a:r>
            <a:endParaRPr lang="en-US" sz="1200" dirty="0"/>
          </a:p>
        </p:txBody>
      </p:sp>
      <p:sp>
        <p:nvSpPr>
          <p:cNvPr id="32" name="G1"/>
          <p:cNvSpPr txBox="1"/>
          <p:nvPr/>
        </p:nvSpPr>
        <p:spPr>
          <a:xfrm>
            <a:off x="6217920" y="5212080"/>
            <a:ext cx="5303520" cy="457200"/>
          </a:xfrm>
          <a:prstGeom prst="rect">
            <a:avLst/>
          </a:prstGeom>
          <a:noFill/>
          <a:ln/>
        </p:spPr>
        <p:txBody>
          <a:bodyPr wrap="square" lIns="0" tIns="0" rIns="0" bIns="0" rtlCol="0" anchor="t"/>
          <a:lstStyle/>
          <a:p>
            <a:pPr algn="l" indent="0" marL="0">
              <a:buNone/>
            </a:pPr>
            <a:r>
              <a:rPr lang="en-US" sz="1200" b="1" dirty="0">
                <a:solidFill>
                  <a:srgbClr val="18764A"/>
                </a:solidFill>
                <a:latin typeface="Calibri" pitchFamily="34" charset="0"/>
                <a:ea typeface="Calibri" pitchFamily="34" charset="-122"/>
                <a:cs typeface="Calibri" pitchFamily="34" charset="-120"/>
              </a:rPr>
              <a:t>✓  </a:t>
            </a:r>
            <a:pPr algn="l" indent="0" marL="0">
              <a:buNone/>
            </a:pPr>
            <a:r>
              <a:rPr lang="en-US" sz="1150" dirty="0">
                <a:solidFill>
                  <a:srgbClr val="16211E"/>
                </a:solidFill>
                <a:latin typeface="Calibri" pitchFamily="34" charset="0"/>
                <a:ea typeface="Calibri" pitchFamily="34" charset="-122"/>
                <a:cs typeface="Calibri" pitchFamily="34" charset="-120"/>
              </a:rPr>
              <a:t>Every rule tied to the exact official sentence, and approved by a named owner.</a:t>
            </a:r>
            <a:endParaRPr lang="en-US" sz="1200" dirty="0"/>
          </a:p>
        </p:txBody>
      </p:sp>
      <p:sp>
        <p:nvSpPr>
          <p:cNvPr id="33" name="G2"/>
          <p:cNvSpPr txBox="1"/>
          <p:nvPr/>
        </p:nvSpPr>
        <p:spPr>
          <a:xfrm>
            <a:off x="658368" y="5715000"/>
            <a:ext cx="5303520" cy="457200"/>
          </a:xfrm>
          <a:prstGeom prst="rect">
            <a:avLst/>
          </a:prstGeom>
          <a:noFill/>
          <a:ln/>
        </p:spPr>
        <p:txBody>
          <a:bodyPr wrap="square" lIns="0" tIns="0" rIns="0" bIns="0" rtlCol="0" anchor="t"/>
          <a:lstStyle/>
          <a:p>
            <a:pPr algn="l" indent="0" marL="0">
              <a:buNone/>
            </a:pPr>
            <a:r>
              <a:rPr lang="en-US" sz="1200" b="1" dirty="0">
                <a:solidFill>
                  <a:srgbClr val="18764A"/>
                </a:solidFill>
                <a:latin typeface="Calibri" pitchFamily="34" charset="0"/>
                <a:ea typeface="Calibri" pitchFamily="34" charset="-122"/>
                <a:cs typeface="Calibri" pitchFamily="34" charset="-120"/>
              </a:rPr>
              <a:t>✓  </a:t>
            </a:r>
            <a:pPr algn="l" indent="0" marL="0">
              <a:buNone/>
            </a:pPr>
            <a:r>
              <a:rPr lang="en-US" sz="1150" dirty="0">
                <a:solidFill>
                  <a:srgbClr val="16211E"/>
                </a:solidFill>
                <a:latin typeface="Calibri" pitchFamily="34" charset="0"/>
                <a:ea typeface="Calibri" pitchFamily="34" charset="-122"/>
                <a:cs typeface="Calibri" pitchFamily="34" charset="-120"/>
              </a:rPr>
              <a:t>Every procedure code with its source, and every change in an audit trail.</a:t>
            </a:r>
            <a:endParaRPr lang="en-US" sz="1200" dirty="0"/>
          </a:p>
        </p:txBody>
      </p:sp>
      <p:sp>
        <p:nvSpPr>
          <p:cNvPr id="34" name="G3"/>
          <p:cNvSpPr txBox="1"/>
          <p:nvPr/>
        </p:nvSpPr>
        <p:spPr>
          <a:xfrm>
            <a:off x="6217920" y="5715000"/>
            <a:ext cx="5303520" cy="457200"/>
          </a:xfrm>
          <a:prstGeom prst="rect">
            <a:avLst/>
          </a:prstGeom>
          <a:noFill/>
          <a:ln/>
        </p:spPr>
        <p:txBody>
          <a:bodyPr wrap="square" lIns="0" tIns="0" rIns="0" bIns="0" rtlCol="0" anchor="t"/>
          <a:lstStyle/>
          <a:p>
            <a:pPr algn="l" indent="0" marL="0">
              <a:buNone/>
            </a:pPr>
            <a:r>
              <a:rPr lang="en-US" sz="1200" b="1" dirty="0">
                <a:solidFill>
                  <a:srgbClr val="18764A"/>
                </a:solidFill>
                <a:latin typeface="Calibri" pitchFamily="34" charset="0"/>
                <a:ea typeface="Calibri" pitchFamily="34" charset="-122"/>
                <a:cs typeface="Calibri" pitchFamily="34" charset="-120"/>
              </a:rPr>
              <a:t>✓  </a:t>
            </a:r>
            <a:pPr algn="l" indent="0" marL="0">
              <a:buNone/>
            </a:pPr>
            <a:r>
              <a:rPr lang="en-US" sz="1150" dirty="0">
                <a:solidFill>
                  <a:srgbClr val="16211E"/>
                </a:solidFill>
                <a:latin typeface="Calibri" pitchFamily="34" charset="0"/>
                <a:ea typeface="Calibri" pitchFamily="34" charset="-122"/>
                <a:cs typeface="Calibri" pitchFamily="34" charset="-120"/>
              </a:rPr>
              <a:t>A new service moves from planned to pilot to live. Any version can be rolled back.</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par>
                                <p:cTn id="8" presetID="10" presetClass="entr" presetSubtype="0" fill="hold" grpId="0" nodeType="withEffect">
                                  <p:stCondLst>
                                    <p:cond delay="12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50"/>
                                        <p:tgtEl>
                                          <p:spTgt spid="8"/>
                                        </p:tgtEl>
                                      </p:cBhvr>
                                    </p:animEffect>
                                  </p:childTnLst>
                                </p:cTn>
                              </p:par>
                              <p:par>
                                <p:cTn id="11" presetID="10" presetClass="entr" presetSubtype="0" fill="hold" grpId="0" nodeType="withEffect">
                                  <p:stCondLst>
                                    <p:cond delay="12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5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19" presetID="10" presetClass="entr" presetSubtype="0" fill="hold" grpId="0" nodeType="withEffect">
                                  <p:stCondLst>
                                    <p:cond delay="12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par>
                                <p:cTn id="22" presetID="10" presetClass="entr" presetSubtype="0" fill="hold" grpId="0" nodeType="withEffect">
                                  <p:stCondLst>
                                    <p:cond delay="12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50"/>
                                        <p:tgtEl>
                                          <p:spTgt spid="11"/>
                                        </p:tgtEl>
                                      </p:cBhvr>
                                    </p:animEffect>
                                  </p:childTnLst>
                                </p:cTn>
                              </p:par>
                              <p:par>
                                <p:cTn id="25" presetID="10" presetClass="entr" presetSubtype="0" fill="hold" grpId="0" nodeType="withEffect">
                                  <p:stCondLst>
                                    <p:cond delay="12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5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par>
                                <p:cTn id="33" presetID="10" presetClass="entr" presetSubtype="0" fill="hold" grpId="0" nodeType="withEffect">
                                  <p:stCondLst>
                                    <p:cond delay="12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50"/>
                                        <p:tgtEl>
                                          <p:spTgt spid="14"/>
                                        </p:tgtEl>
                                      </p:cBhvr>
                                    </p:animEffect>
                                  </p:childTnLst>
                                </p:cTn>
                              </p:par>
                              <p:par>
                                <p:cTn id="36" presetID="10" presetClass="entr" presetSubtype="0" fill="hold" grpId="0" nodeType="withEffect">
                                  <p:stCondLst>
                                    <p:cond delay="12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50"/>
                                        <p:tgtEl>
                                          <p:spTgt spid="15"/>
                                        </p:tgtEl>
                                      </p:cBhvr>
                                    </p:animEffect>
                                  </p:childTnLst>
                                </p:cTn>
                              </p:par>
                              <p:par>
                                <p:cTn id="39" presetID="10" presetClass="entr" presetSubtype="0" fill="hold" grpId="0" nodeType="withEffect">
                                  <p:stCondLst>
                                    <p:cond delay="12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50"/>
                                        <p:tgtEl>
                                          <p:spTgt spid="16"/>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450"/>
                                        <p:tgtEl>
                                          <p:spTgt spid="21"/>
                                        </p:tgtEl>
                                      </p:cBhvr>
                                    </p:animEffect>
                                  </p:childTnLst>
                                </p:cTn>
                              </p:par>
                              <p:par>
                                <p:cTn id="47" presetID="10" presetClass="entr" presetSubtype="0" fill="hold" grpId="0" nodeType="withEffect">
                                  <p:stCondLst>
                                    <p:cond delay="12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12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grpId="0" nodeType="withEffect">
                                  <p:stCondLst>
                                    <p:cond delay="12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fade">
                                      <p:cBhvr>
                                        <p:cTn id="60" dur="450"/>
                                        <p:tgtEl>
                                          <p:spTgt spid="25"/>
                                        </p:tgtEl>
                                      </p:cBhvr>
                                    </p:animEffect>
                                  </p:childTnLst>
                                </p:cTn>
                              </p:par>
                              <p:par>
                                <p:cTn id="61" presetID="10" presetClass="entr" presetSubtype="0" fill="hold" grpId="0" nodeType="withEffect">
                                  <p:stCondLst>
                                    <p:cond delay="12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450"/>
                                        <p:tgtEl>
                                          <p:spTgt spid="22"/>
                                        </p:tgtEl>
                                      </p:cBhvr>
                                    </p:animEffect>
                                  </p:childTnLst>
                                </p:cTn>
                              </p:par>
                              <p:par>
                                <p:cTn id="64" presetID="10" presetClass="entr" presetSubtype="0" fill="hold" grpId="0" nodeType="withEffect">
                                  <p:stCondLst>
                                    <p:cond delay="12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450"/>
                                        <p:tgtEl>
                                          <p:spTgt spid="23"/>
                                        </p:tgtEl>
                                      </p:cBhvr>
                                    </p:animEffect>
                                  </p:childTnLst>
                                </p:cTn>
                              </p:par>
                              <p:par>
                                <p:cTn id="67" presetID="10" presetClass="entr" presetSubtype="0" fill="hold" grpId="0" nodeType="withEffect">
                                  <p:stCondLst>
                                    <p:cond delay="12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450"/>
                                        <p:tgtEl>
                                          <p:spTgt spid="24"/>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450"/>
                                        <p:tgtEl>
                                          <p:spTgt spid="29"/>
                                        </p:tgtEl>
                                      </p:cBhvr>
                                    </p:animEffect>
                                  </p:childTnLst>
                                </p:cTn>
                              </p:par>
                              <p:par>
                                <p:cTn id="75" presetID="10" presetClass="entr" presetSubtype="0" fill="hold" grpId="0" nodeType="withEffect">
                                  <p:stCondLst>
                                    <p:cond delay="12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450"/>
                                        <p:tgtEl>
                                          <p:spTgt spid="26"/>
                                        </p:tgtEl>
                                      </p:cBhvr>
                                    </p:animEffect>
                                  </p:childTnLst>
                                </p:cTn>
                              </p:par>
                              <p:par>
                                <p:cTn id="78" presetID="10" presetClass="entr" presetSubtype="0" fill="hold" grpId="0" nodeType="withEffect">
                                  <p:stCondLst>
                                    <p:cond delay="12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450"/>
                                        <p:tgtEl>
                                          <p:spTgt spid="27"/>
                                        </p:tgtEl>
                                      </p:cBhvr>
                                    </p:animEffect>
                                  </p:childTnLst>
                                </p:cTn>
                              </p:par>
                              <p:par>
                                <p:cTn id="81" presetID="10" presetClass="entr" presetSubtype="0" fill="hold" grpId="0" nodeType="withEffect">
                                  <p:stCondLst>
                                    <p:cond delay="12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450"/>
                                        <p:tgtEl>
                                          <p:spTgt spid="28"/>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450"/>
                                        <p:tgtEl>
                                          <p:spTgt spid="30"/>
                                        </p:tgtEl>
                                      </p:cBhvr>
                                    </p:animEffect>
                                  </p:childTnLst>
                                </p:cTn>
                              </p:par>
                              <p:par>
                                <p:cTn id="89" presetID="10" presetClass="entr" presetSubtype="0" fill="hold" grpId="0" nodeType="withEffect">
                                  <p:stCondLst>
                                    <p:cond delay="12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450"/>
                                        <p:tgtEl>
                                          <p:spTgt spid="31"/>
                                        </p:tgtEl>
                                      </p:cBhvr>
                                    </p:animEffect>
                                  </p:childTnLst>
                                </p:cTn>
                              </p:par>
                              <p:par>
                                <p:cTn id="92" presetID="10" presetClass="entr" presetSubtype="0" fill="hold" grpId="0" nodeType="withEffect">
                                  <p:stCondLst>
                                    <p:cond delay="120"/>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450"/>
                                        <p:tgtEl>
                                          <p:spTgt spid="32"/>
                                        </p:tgtEl>
                                      </p:cBhvr>
                                    </p:animEffect>
                                  </p:childTnLst>
                                </p:cTn>
                              </p:par>
                              <p:par>
                                <p:cTn id="95" presetID="10" presetClass="entr" presetSubtype="0" fill="hold" grpId="0" nodeType="withEffect">
                                  <p:stCondLst>
                                    <p:cond delay="120"/>
                                  </p:stCondLst>
                                  <p:childTnLst>
                                    <p:set>
                                      <p:cBhvr>
                                        <p:cTn id="96" dur="1" fill="hold">
                                          <p:stCondLst>
                                            <p:cond delay="0"/>
                                          </p:stCondLst>
                                        </p:cTn>
                                        <p:tgtEl>
                                          <p:spTgt spid="33"/>
                                        </p:tgtEl>
                                        <p:attrNameLst>
                                          <p:attrName>style.visibility</p:attrName>
                                        </p:attrNameLst>
                                      </p:cBhvr>
                                      <p:to>
                                        <p:strVal val="visible"/>
                                      </p:to>
                                    </p:set>
                                    <p:animEffect transition="in" filter="fade">
                                      <p:cBhvr>
                                        <p:cTn id="97" dur="450"/>
                                        <p:tgtEl>
                                          <p:spTgt spid="33"/>
                                        </p:tgtEl>
                                      </p:cBhvr>
                                    </p:animEffect>
                                  </p:childTnLst>
                                </p:cTn>
                              </p:par>
                              <p:par>
                                <p:cTn id="98" presetID="10" presetClass="entr" presetSubtype="0" fill="hold" grpId="0" nodeType="withEffect">
                                  <p:stCondLst>
                                    <p:cond delay="120"/>
                                  </p:stCondLst>
                                  <p:childTnLst>
                                    <p:set>
                                      <p:cBhvr>
                                        <p:cTn id="99" dur="1" fill="hold">
                                          <p:stCondLst>
                                            <p:cond delay="0"/>
                                          </p:stCondLst>
                                        </p:cTn>
                                        <p:tgtEl>
                                          <p:spTgt spid="34"/>
                                        </p:tgtEl>
                                        <p:attrNameLst>
                                          <p:attrName>style.visibility</p:attrName>
                                        </p:attrNameLst>
                                      </p:cBhvr>
                                      <p:to>
                                        <p:strVal val="visible"/>
                                      </p:to>
                                    </p:set>
                                    <p:animEffect transition="in" filter="fade">
                                      <p:cBhvr>
                                        <p:cTn id="100" dur="4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4" grpId="0" animBg="1"/>
      <p:bldP spid="15" grpId="0" animBg="1"/>
      <p:bldP spid="16" grpId="0" animBg="1"/>
      <p:bldP spid="18" grpId="0" animBg="1"/>
      <p:bldP spid="19" grpId="0" animBg="1"/>
      <p:bldP spid="20" grpId="0" animBg="1"/>
      <p:bldP spid="22" grpId="0" animBg="1"/>
      <p:bldP spid="23" grpId="0" animBg="1"/>
      <p:bldP spid="24" grpId="0" animBg="1"/>
      <p:bldP spid="26" grpId="0" animBg="1"/>
      <p:bldP spid="27" grpId="0" animBg="1"/>
      <p:bldP spid="28" grpId="0" animBg="1"/>
      <p:bldP spid="30" grpId="0" animBg="1"/>
      <p:bldP spid="31" grpId="0"/>
      <p:bldP spid="32" grpId="0"/>
      <p:bldP spid="33" grpId="0"/>
      <p:bldP spid="3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 1: building the policy library</dc:title>
  <dc:subject>PptxGenJS Presentation</dc:subject>
  <dc:creator>Nisha Mishra</dc:creator>
  <cp:lastModifiedBy>Nisha Mishra</cp:lastModifiedBy>
  <cp:revision>1</cp:revision>
  <dcterms:created xsi:type="dcterms:W3CDTF">2026-10-04T22:25:57Z</dcterms:created>
  <dcterms:modified xsi:type="dcterms:W3CDTF">2026-10-04T22:25:57Z</dcterms:modified>
</cp:coreProperties>
</file>