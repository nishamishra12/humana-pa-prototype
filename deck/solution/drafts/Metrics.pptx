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slide. One click per step. Finish the talking point, then click.
Click 1: One number to win: the right-first-time rate. Out of every hundred requests, how many get the right answer the first time, with no back and forth. That helps the member, the provider, the nurse, and the plan's appeals bill. We only know it fully months later, so in the demo I show early signals.
Click 2: The early signals we can see in days. The first-review rate: cases decided on the first review with no pend. The avoidable pend rate: pends where the provider says they already sent it. The avoidable escalation rate: escalations a director sends back to the nurse.
Click 3: Guardrails so we do not cheat. We must not slow Humana down against the CMS clock. If the share of approvals jumps, we may be approving too much to look good. And the AI never denies.
Click 4: And for the AI itself. I look at recall first: of the cases that needed a person, how many did we catch. A miss is a wrong approval, the dangerous failure. Then precision: of the cases we flagged, how many really needed a person. An extra flag costs a few minutes of nurse time. Then whether it finds the details that are there, and whether it makes any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eyebrow"/>
          <p:cNvSpPr txBox="1"/>
          <p:nvPr/>
        </p:nvSpPr>
        <p:spPr>
          <a:xfrm>
            <a:off x="457200" y="274320"/>
            <a:ext cx="5486400" cy="256032"/>
          </a:xfrm>
          <a:prstGeom prst="rect">
            <a:avLst/>
          </a:prstGeom>
          <a:noFill/>
          <a:ln/>
        </p:spPr>
        <p:txBody>
          <a:bodyPr wrap="square" lIns="0" tIns="0" rIns="0" bIns="0" rtlCol="0" anchor="t"/>
          <a:lstStyle/>
          <a:p>
            <a:pPr algn="l" indent="0" marL="0">
              <a:buNone/>
            </a:pPr>
            <a:r>
              <a:rPr lang="en-US" sz="1100" b="1" spc="300" kern="0" dirty="0">
                <a:solidFill>
                  <a:srgbClr val="1F6F5C"/>
                </a:solidFill>
                <a:latin typeface="Calibri" pitchFamily="34" charset="0"/>
                <a:ea typeface="Calibri" pitchFamily="34" charset="-122"/>
                <a:cs typeface="Calibri" pitchFamily="34" charset="-120"/>
              </a:rPr>
              <a:t>METRICS</a:t>
            </a:r>
            <a:endParaRPr lang="en-US" sz="1100" dirty="0"/>
          </a:p>
        </p:txBody>
      </p:sp>
      <p:sp>
        <p:nvSpPr>
          <p:cNvPr id="3" name="heading"/>
          <p:cNvSpPr txBox="1"/>
          <p:nvPr/>
        </p:nvSpPr>
        <p:spPr>
          <a:xfrm>
            <a:off x="457200" y="502920"/>
            <a:ext cx="7680960" cy="685800"/>
          </a:xfrm>
          <a:prstGeom prst="rect">
            <a:avLst/>
          </a:prstGeom>
          <a:noFill/>
          <a:ln/>
        </p:spPr>
        <p:txBody>
          <a:bodyPr wrap="square" lIns="0" tIns="0" rIns="0" bIns="0" rtlCol="0" anchor="ctr"/>
          <a:lstStyle/>
          <a:p>
            <a:pPr algn="l" indent="0" marL="0">
              <a:buNone/>
            </a:pPr>
            <a:r>
              <a:rPr lang="en-US" sz="2600" dirty="0">
                <a:solidFill>
                  <a:srgbClr val="16211E"/>
                </a:solidFill>
                <a:latin typeface="Cambria" pitchFamily="34" charset="0"/>
                <a:ea typeface="Cambria" pitchFamily="34" charset="-122"/>
                <a:cs typeface="Cambria" pitchFamily="34" charset="-120"/>
              </a:rPr>
              <a:t>One number to win, and guardrails so we do not cheat.</a:t>
            </a:r>
            <a:endParaRPr lang="en-US" sz="2600" dirty="0"/>
          </a:p>
        </p:txBody>
      </p:sp>
      <p:sp>
        <p:nvSpPr>
          <p:cNvPr id="4" name="sub"/>
          <p:cNvSpPr txBox="1"/>
          <p:nvPr/>
        </p:nvSpPr>
        <p:spPr>
          <a:xfrm>
            <a:off x="7498080" y="502920"/>
            <a:ext cx="4233672" cy="685800"/>
          </a:xfrm>
          <a:prstGeom prst="rect">
            <a:avLst/>
          </a:prstGeom>
          <a:noFill/>
          <a:ln/>
        </p:spPr>
        <p:txBody>
          <a:bodyPr wrap="square" lIns="0" tIns="0" rIns="0" bIns="0" rtlCol="0" anchor="ctr"/>
          <a:lstStyle/>
          <a:p>
            <a:pPr algn="r" indent="0" marL="0">
              <a:buNone/>
            </a:pPr>
            <a:r>
              <a:rPr lang="en-US" sz="1400" dirty="0">
                <a:solidFill>
                  <a:srgbClr val="5C6B66"/>
                </a:solidFill>
                <a:latin typeface="Calibri" pitchFamily="34" charset="0"/>
                <a:ea typeface="Calibri" pitchFamily="34" charset="-122"/>
                <a:cs typeface="Calibri" pitchFamily="34" charset="-120"/>
              </a:rPr>
              <a:t>Right first time</a:t>
            </a:r>
            <a:endParaRPr lang="en-US" sz="1400" dirty="0"/>
          </a:p>
        </p:txBody>
      </p:sp>
      <p:sp>
        <p:nvSpPr>
          <p:cNvPr id="5" name="footer"/>
          <p:cNvSpPr txBox="1"/>
          <p:nvPr/>
        </p:nvSpPr>
        <p:spPr>
          <a:xfrm>
            <a:off x="457200" y="6492240"/>
            <a:ext cx="11274552" cy="228600"/>
          </a:xfrm>
          <a:prstGeom prst="rect">
            <a:avLst/>
          </a:prstGeom>
          <a:noFill/>
          <a:ln/>
        </p:spPr>
        <p:txBody>
          <a:bodyPr wrap="square" lIns="0" tIns="0" rIns="0" bIns="0" rtlCol="0" anchor="t"/>
          <a:lstStyle/>
          <a:p>
            <a:pPr algn="l" indent="0" marL="0">
              <a:buNone/>
            </a:pPr>
            <a:r>
              <a:rPr lang="en-US" sz="900" dirty="0">
                <a:solidFill>
                  <a:srgbClr val="5C6B66"/>
                </a:solidFill>
                <a:latin typeface="Calibri" pitchFamily="34" charset="0"/>
                <a:ea typeface="Calibri" pitchFamily="34" charset="-122"/>
                <a:cs typeface="Calibri" pitchFamily="34" charset="-120"/>
              </a:rPr>
              <a:t>Source: docs/METRICS_FRAMEWORK.md. Humana's public figure for context: 64.7% of appealed Medicare Advantage denials were overturned in 2025.</a:t>
            </a:r>
            <a:endParaRPr lang="en-US" sz="900" dirty="0"/>
          </a:p>
        </p:txBody>
      </p:sp>
      <p:sp>
        <p:nvSpPr>
          <p:cNvPr id="6" name="M1"/>
          <p:cNvSpPr/>
          <p:nvPr/>
        </p:nvSpPr>
        <p:spPr>
          <a:xfrm>
            <a:off x="457200" y="1371600"/>
            <a:ext cx="3630168" cy="2834640"/>
          </a:xfrm>
          <a:prstGeom prst="roundRect">
            <a:avLst>
              <a:gd name="adj" fmla="val 3226"/>
            </a:avLst>
          </a:prstGeom>
          <a:solidFill>
            <a:srgbClr val="E3F0EB"/>
          </a:solidFill>
          <a:ln w="15875">
            <a:solidFill>
              <a:srgbClr val="1F6F5C"/>
            </a:solidFill>
          </a:ln>
        </p:spPr>
        <p:txBody>
          <a:bodyPr wrap="square" lIns="182880" tIns="146304" rIns="182880" bIns="54864" rtlCol="0" anchor="t"/>
          <a:lstStyle/>
          <a:p>
            <a:pPr algn="l" indent="0" marL="0">
              <a:spcAft>
                <a:spcPts val="300"/>
              </a:spcAft>
              <a:buNone/>
            </a:pPr>
            <a:r>
              <a:rPr lang="en-US" sz="900" b="1" spc="150" kern="0" dirty="0">
                <a:solidFill>
                  <a:srgbClr val="1F6F5C"/>
                </a:solidFill>
                <a:latin typeface="Calibri" pitchFamily="34" charset="0"/>
                <a:ea typeface="Calibri" pitchFamily="34" charset="-122"/>
                <a:cs typeface="Calibri" pitchFamily="34" charset="-120"/>
              </a:rPr>
              <a:t>NORTH STAR</a:t>
            </a:r>
            <a:endParaRPr lang="en-US" sz="900" dirty="0"/>
          </a:p>
          <a:p>
            <a:pPr algn="l" indent="0" marL="0">
              <a:spcAft>
                <a:spcPts val="600"/>
              </a:spcAft>
              <a:buNone/>
            </a:pPr>
            <a:r>
              <a:rPr lang="en-US" sz="2000" b="1" dirty="0">
                <a:solidFill>
                  <a:srgbClr val="16211E"/>
                </a:solidFill>
                <a:latin typeface="Cambria" pitchFamily="34" charset="0"/>
                <a:ea typeface="Cambria" pitchFamily="34" charset="-122"/>
                <a:cs typeface="Cambria" pitchFamily="34" charset="-120"/>
              </a:rPr>
              <a:t>Right-first-time rate</a:t>
            </a:r>
            <a:endParaRPr lang="en-US" sz="900" dirty="0"/>
          </a:p>
          <a:p>
            <a:pPr algn="l" indent="0" marL="0">
              <a:buNone/>
            </a:pPr>
            <a:r>
              <a:rPr lang="en-US" sz="1150" b="1" dirty="0">
                <a:solidFill>
                  <a:srgbClr val="16211E"/>
                </a:solidFill>
                <a:latin typeface="Calibri" pitchFamily="34" charset="0"/>
                <a:ea typeface="Calibri" pitchFamily="34" charset="-122"/>
                <a:cs typeface="Calibri" pitchFamily="34" charset="-120"/>
              </a:rPr>
              <a:t>Of every 100 requests, how many get the right answer the first time, with no back and forth.</a:t>
            </a:r>
            <a:endParaRPr lang="en-US" sz="900" dirty="0"/>
          </a:p>
          <a:p>
            <a:pPr algn="l" indent="0" marL="0">
              <a:buNone/>
            </a:pPr>
            <a:r>
              <a:rPr lang="en-US" sz="1150" b="1" dirty="0">
                <a:solidFill>
                  <a:srgbClr val="16211E"/>
                </a:solidFill>
                <a:latin typeface="Calibri" pitchFamily="34" charset="0"/>
                <a:ea typeface="Calibri" pitchFamily="34" charset="-122"/>
                <a:cs typeface="Calibri" pitchFamily="34" charset="-120"/>
              </a:rPr>
              <a:t>We only know it fully months later, so in the demo we show the early signals.</a:t>
            </a:r>
            <a:endParaRPr lang="en-US" sz="900" dirty="0"/>
          </a:p>
        </p:txBody>
      </p:sp>
      <p:sp>
        <p:nvSpPr>
          <p:cNvPr id="7" name="M2"/>
          <p:cNvSpPr/>
          <p:nvPr/>
        </p:nvSpPr>
        <p:spPr>
          <a:xfrm>
            <a:off x="4279392" y="1371600"/>
            <a:ext cx="3630168" cy="2834640"/>
          </a:xfrm>
          <a:prstGeom prst="roundRect">
            <a:avLst>
              <a:gd name="adj" fmla="val 3226"/>
            </a:avLst>
          </a:prstGeom>
          <a:solidFill>
            <a:srgbClr val="FFFFFF"/>
          </a:solidFill>
          <a:ln w="15875">
            <a:solidFill>
              <a:srgbClr val="CBD5D1"/>
            </a:solidFill>
          </a:ln>
        </p:spPr>
        <p:txBody>
          <a:bodyPr wrap="square" lIns="182880" tIns="146304" rIns="182880" bIns="54864" rtlCol="0" anchor="t"/>
          <a:lstStyle/>
          <a:p>
            <a:pPr algn="l" indent="0" marL="0">
              <a:spcAft>
                <a:spcPts val="300"/>
              </a:spcAft>
              <a:buNone/>
            </a:pPr>
            <a:r>
              <a:rPr lang="en-US" sz="900" b="1" spc="150" kern="0" dirty="0">
                <a:solidFill>
                  <a:srgbClr val="5C6B66"/>
                </a:solidFill>
                <a:latin typeface="Calibri" pitchFamily="34" charset="0"/>
                <a:ea typeface="Calibri" pitchFamily="34" charset="-122"/>
                <a:cs typeface="Calibri" pitchFamily="34" charset="-120"/>
              </a:rPr>
              <a:t>EARLY SIGNALS, SEEN IN DAYS</a:t>
            </a:r>
            <a:endParaRPr lang="en-US" sz="900" dirty="0"/>
          </a:p>
          <a:p>
            <a:pPr algn="l" indent="0" marL="0">
              <a:buNone/>
            </a:pPr>
            <a:r>
              <a:rPr lang="en-US" sz="1150" b="1" dirty="0">
                <a:solidFill>
                  <a:srgbClr val="16211E"/>
                </a:solidFill>
                <a:latin typeface="Calibri" pitchFamily="34" charset="0"/>
                <a:ea typeface="Calibri" pitchFamily="34" charset="-122"/>
                <a:cs typeface="Calibri" pitchFamily="34" charset="-120"/>
              </a:rPr>
              <a:t>First-review rate</a:t>
            </a:r>
            <a:endParaRPr lang="en-US" sz="900" dirty="0"/>
          </a:p>
          <a:p>
            <a:pPr algn="l" indent="0" marL="0">
              <a:spcAft>
                <a:spcPts val="500"/>
              </a:spcAft>
              <a:buNone/>
            </a:pPr>
            <a:r>
              <a:rPr lang="en-US" sz="1050" dirty="0">
                <a:solidFill>
                  <a:srgbClr val="5C6B66"/>
                </a:solidFill>
                <a:latin typeface="Calibri" pitchFamily="34" charset="0"/>
                <a:ea typeface="Calibri" pitchFamily="34" charset="-122"/>
                <a:cs typeface="Calibri" pitchFamily="34" charset="-120"/>
              </a:rPr>
              <a:t>Decided on the first review with no pend. Higher is better.</a:t>
            </a:r>
            <a:endParaRPr lang="en-US" sz="900" dirty="0"/>
          </a:p>
          <a:p>
            <a:pPr algn="l" indent="0" marL="0">
              <a:buNone/>
            </a:pPr>
            <a:r>
              <a:rPr lang="en-US" sz="1150" b="1" dirty="0">
                <a:solidFill>
                  <a:srgbClr val="16211E"/>
                </a:solidFill>
                <a:latin typeface="Calibri" pitchFamily="34" charset="0"/>
                <a:ea typeface="Calibri" pitchFamily="34" charset="-122"/>
                <a:cs typeface="Calibri" pitchFamily="34" charset="-120"/>
              </a:rPr>
              <a:t>Avoidable pend rate</a:t>
            </a:r>
            <a:endParaRPr lang="en-US" sz="900" dirty="0"/>
          </a:p>
          <a:p>
            <a:pPr algn="l" indent="0" marL="0">
              <a:spcAft>
                <a:spcPts val="500"/>
              </a:spcAft>
              <a:buNone/>
            </a:pPr>
            <a:r>
              <a:rPr lang="en-US" sz="1050" dirty="0">
                <a:solidFill>
                  <a:srgbClr val="5C6B66"/>
                </a:solidFill>
                <a:latin typeface="Calibri" pitchFamily="34" charset="0"/>
                <a:ea typeface="Calibri" pitchFamily="34" charset="-122"/>
                <a:cs typeface="Calibri" pitchFamily="34" charset="-120"/>
              </a:rPr>
              <a:t>Pends where the provider says 'I already sent that'. Lower is better.</a:t>
            </a:r>
            <a:endParaRPr lang="en-US" sz="900" dirty="0"/>
          </a:p>
          <a:p>
            <a:pPr algn="l" indent="0" marL="0">
              <a:buNone/>
            </a:pPr>
            <a:r>
              <a:rPr lang="en-US" sz="1150" b="1" dirty="0">
                <a:solidFill>
                  <a:srgbClr val="16211E"/>
                </a:solidFill>
                <a:latin typeface="Calibri" pitchFamily="34" charset="0"/>
                <a:ea typeface="Calibri" pitchFamily="34" charset="-122"/>
                <a:cs typeface="Calibri" pitchFamily="34" charset="-120"/>
              </a:rPr>
              <a:t>Avoidable escalation rate</a:t>
            </a:r>
            <a:endParaRPr lang="en-US" sz="900" dirty="0"/>
          </a:p>
          <a:p>
            <a:pPr algn="l" indent="0" marL="0">
              <a:spcAft>
                <a:spcPts val="500"/>
              </a:spcAft>
              <a:buNone/>
            </a:pPr>
            <a:r>
              <a:rPr lang="en-US" sz="1050" dirty="0">
                <a:solidFill>
                  <a:srgbClr val="5C6B66"/>
                </a:solidFill>
                <a:latin typeface="Calibri" pitchFamily="34" charset="0"/>
                <a:ea typeface="Calibri" pitchFamily="34" charset="-122"/>
                <a:cs typeface="Calibri" pitchFamily="34" charset="-120"/>
              </a:rPr>
              <a:t>Escalations the director sends back. Lower is better.</a:t>
            </a:r>
            <a:endParaRPr lang="en-US" sz="900" dirty="0"/>
          </a:p>
        </p:txBody>
      </p:sp>
      <p:sp>
        <p:nvSpPr>
          <p:cNvPr id="8" name="M3"/>
          <p:cNvSpPr/>
          <p:nvPr/>
        </p:nvSpPr>
        <p:spPr>
          <a:xfrm>
            <a:off x="8101584" y="1371600"/>
            <a:ext cx="3630168" cy="2834640"/>
          </a:xfrm>
          <a:prstGeom prst="roundRect">
            <a:avLst>
              <a:gd name="adj" fmla="val 3226"/>
            </a:avLst>
          </a:prstGeom>
          <a:solidFill>
            <a:srgbClr val="FBE9E4"/>
          </a:solidFill>
          <a:ln w="15875">
            <a:solidFill>
              <a:srgbClr val="B8452F"/>
            </a:solidFill>
          </a:ln>
        </p:spPr>
        <p:txBody>
          <a:bodyPr wrap="square" lIns="182880" tIns="146304" rIns="182880" bIns="54864" rtlCol="0" anchor="t"/>
          <a:lstStyle/>
          <a:p>
            <a:pPr algn="l" indent="0" marL="0">
              <a:spcAft>
                <a:spcPts val="300"/>
              </a:spcAft>
              <a:buNone/>
            </a:pPr>
            <a:r>
              <a:rPr lang="en-US" sz="900" b="1" spc="150" kern="0" dirty="0">
                <a:solidFill>
                  <a:srgbClr val="B8452F"/>
                </a:solidFill>
                <a:latin typeface="Calibri" pitchFamily="34" charset="0"/>
                <a:ea typeface="Calibri" pitchFamily="34" charset="-122"/>
                <a:cs typeface="Calibri" pitchFamily="34" charset="-120"/>
              </a:rPr>
              <a:t>GUARDRAILS</a:t>
            </a:r>
            <a:endParaRPr lang="en-US" sz="900" dirty="0"/>
          </a:p>
          <a:p>
            <a:pPr algn="l" indent="0" marL="0">
              <a:buNone/>
            </a:pPr>
            <a:r>
              <a:rPr lang="en-US" sz="1150" b="1" dirty="0">
                <a:solidFill>
                  <a:srgbClr val="16211E"/>
                </a:solidFill>
                <a:latin typeface="Calibri" pitchFamily="34" charset="0"/>
                <a:ea typeface="Calibri" pitchFamily="34" charset="-122"/>
                <a:cs typeface="Calibri" pitchFamily="34" charset="-120"/>
              </a:rPr>
              <a:t>Time limit</a:t>
            </a:r>
            <a:endParaRPr lang="en-US" sz="900" dirty="0"/>
          </a:p>
          <a:p>
            <a:pPr algn="l" indent="0" marL="0">
              <a:spcAft>
                <a:spcPts val="500"/>
              </a:spcAft>
              <a:buNone/>
            </a:pPr>
            <a:r>
              <a:rPr lang="en-US" sz="1050" dirty="0">
                <a:solidFill>
                  <a:srgbClr val="5C6B66"/>
                </a:solidFill>
                <a:latin typeface="Calibri" pitchFamily="34" charset="0"/>
                <a:ea typeface="Calibri" pitchFamily="34" charset="-122"/>
                <a:cs typeface="Calibri" pitchFamily="34" charset="-120"/>
              </a:rPr>
              <a:t>We must not slow Humana down. It already meets the CMS clock.</a:t>
            </a:r>
            <a:endParaRPr lang="en-US" sz="900" dirty="0"/>
          </a:p>
          <a:p>
            <a:pPr algn="l" indent="0" marL="0">
              <a:buNone/>
            </a:pPr>
            <a:r>
              <a:rPr lang="en-US" sz="1150" b="1" dirty="0">
                <a:solidFill>
                  <a:srgbClr val="16211E"/>
                </a:solidFill>
                <a:latin typeface="Calibri" pitchFamily="34" charset="0"/>
                <a:ea typeface="Calibri" pitchFamily="34" charset="-122"/>
                <a:cs typeface="Calibri" pitchFamily="34" charset="-120"/>
              </a:rPr>
              <a:t>Approvals</a:t>
            </a:r>
            <a:endParaRPr lang="en-US" sz="900" dirty="0"/>
          </a:p>
          <a:p>
            <a:pPr algn="l" indent="0" marL="0">
              <a:spcAft>
                <a:spcPts val="500"/>
              </a:spcAft>
              <a:buNone/>
            </a:pPr>
            <a:r>
              <a:rPr lang="en-US" sz="1050" dirty="0">
                <a:solidFill>
                  <a:srgbClr val="5C6B66"/>
                </a:solidFill>
                <a:latin typeface="Calibri" pitchFamily="34" charset="0"/>
                <a:ea typeface="Calibri" pitchFamily="34" charset="-122"/>
                <a:cs typeface="Calibri" pitchFamily="34" charset="-120"/>
              </a:rPr>
              <a:t>If the share of approvals jumps, we may be approving too much.</a:t>
            </a:r>
            <a:endParaRPr lang="en-US" sz="900" dirty="0"/>
          </a:p>
          <a:p>
            <a:pPr algn="l" indent="0" marL="0">
              <a:buNone/>
            </a:pPr>
            <a:r>
              <a:rPr lang="en-US" sz="1150" b="1" dirty="0">
                <a:solidFill>
                  <a:srgbClr val="16211E"/>
                </a:solidFill>
                <a:latin typeface="Calibri" pitchFamily="34" charset="0"/>
                <a:ea typeface="Calibri" pitchFamily="34" charset="-122"/>
                <a:cs typeface="Calibri" pitchFamily="34" charset="-120"/>
              </a:rPr>
              <a:t>No AI denials</a:t>
            </a:r>
            <a:endParaRPr lang="en-US" sz="900" dirty="0"/>
          </a:p>
          <a:p>
            <a:pPr algn="l" indent="0" marL="0">
              <a:spcAft>
                <a:spcPts val="500"/>
              </a:spcAft>
              <a:buNone/>
            </a:pPr>
            <a:r>
              <a:rPr lang="en-US" sz="1050" dirty="0">
                <a:solidFill>
                  <a:srgbClr val="5C6B66"/>
                </a:solidFill>
                <a:latin typeface="Calibri" pitchFamily="34" charset="0"/>
                <a:ea typeface="Calibri" pitchFamily="34" charset="-122"/>
                <a:cs typeface="Calibri" pitchFamily="34" charset="-120"/>
              </a:rPr>
              <a:t>The AI never denies. A director denies and writes the reason.</a:t>
            </a:r>
            <a:endParaRPr lang="en-US" sz="900" dirty="0"/>
          </a:p>
        </p:txBody>
      </p:sp>
      <p:sp>
        <p:nvSpPr>
          <p:cNvPr id="9" name="MAi"/>
          <p:cNvSpPr/>
          <p:nvPr/>
        </p:nvSpPr>
        <p:spPr>
          <a:xfrm>
            <a:off x="457200" y="4434840"/>
            <a:ext cx="11274552" cy="1874520"/>
          </a:xfrm>
          <a:prstGeom prst="roundRect">
            <a:avLst>
              <a:gd name="adj" fmla="val 4878"/>
            </a:avLst>
          </a:prstGeom>
          <a:solidFill>
            <a:srgbClr val="EBE2F8"/>
          </a:solidFill>
          <a:ln w="15875">
            <a:solidFill>
              <a:srgbClr val="5F3AA8"/>
            </a:solidFill>
          </a:ln>
        </p:spPr>
        <p:txBody>
          <a:bodyPr wrap="square" lIns="182880" tIns="128016" rIns="182880" bIns="54864" rtlCol="0" anchor="t"/>
          <a:lstStyle/>
          <a:p>
            <a:pPr algn="l" indent="0" marL="0">
              <a:buNone/>
            </a:pPr>
            <a:r>
              <a:rPr lang="en-US" sz="900" b="1" spc="150" kern="0" dirty="0">
                <a:solidFill>
                  <a:srgbClr val="5F3AA8"/>
                </a:solidFill>
                <a:latin typeface="Calibri" pitchFamily="34" charset="0"/>
                <a:ea typeface="Calibri" pitchFamily="34" charset="-122"/>
                <a:cs typeface="Calibri" pitchFamily="34" charset="-120"/>
              </a:rPr>
              <a:t>IS THE AI DOING ITS JOB</a:t>
            </a:r>
            <a:endParaRPr lang="en-US" sz="900" dirty="0"/>
          </a:p>
        </p:txBody>
      </p:sp>
      <p:sp>
        <p:nvSpPr>
          <p:cNvPr id="10" name="AI0"/>
          <p:cNvSpPr txBox="1"/>
          <p:nvPr/>
        </p:nvSpPr>
        <p:spPr>
          <a:xfrm>
            <a:off x="658368" y="4846320"/>
            <a:ext cx="3566160" cy="658368"/>
          </a:xfrm>
          <a:prstGeom prst="rect">
            <a:avLst/>
          </a:prstGeom>
          <a:noFill/>
          <a:ln/>
        </p:spPr>
        <p:txBody>
          <a:bodyPr wrap="square" lIns="0" tIns="0" rIns="0" bIns="0" rtlCol="0" anchor="t"/>
          <a:lstStyle/>
          <a:p>
            <a:pPr algn="l" indent="0" marL="0">
              <a:buNone/>
            </a:pPr>
            <a:r>
              <a:rPr lang="en-US" sz="1200" b="1" dirty="0">
                <a:solidFill>
                  <a:srgbClr val="16211E"/>
                </a:solidFill>
                <a:latin typeface="Calibri" pitchFamily="34" charset="0"/>
                <a:ea typeface="Calibri" pitchFamily="34" charset="-122"/>
                <a:cs typeface="Calibri" pitchFamily="34" charset="-120"/>
              </a:rPr>
              <a:t>Catches what needs a person</a:t>
            </a:r>
            <a:endParaRPr lang="en-US" sz="1200" dirty="0"/>
          </a:p>
          <a:p>
            <a:pPr algn="l" indent="0" marL="0">
              <a:buNone/>
            </a:pPr>
            <a:r>
              <a:rPr lang="en-US" sz="1050" dirty="0">
                <a:solidFill>
                  <a:srgbClr val="5C6B66"/>
                </a:solidFill>
                <a:latin typeface="Calibri" pitchFamily="34" charset="0"/>
                <a:ea typeface="Calibri" pitchFamily="34" charset="-122"/>
                <a:cs typeface="Calibri" pitchFamily="34" charset="-120"/>
              </a:rPr>
              <a:t>Of the cases that needed a person, how many we flagged. We look at this first.</a:t>
            </a:r>
            <a:endParaRPr lang="en-US" sz="1200" dirty="0"/>
          </a:p>
        </p:txBody>
      </p:sp>
      <p:sp>
        <p:nvSpPr>
          <p:cNvPr id="11" name="AI1"/>
          <p:cNvSpPr txBox="1"/>
          <p:nvPr/>
        </p:nvSpPr>
        <p:spPr>
          <a:xfrm>
            <a:off x="4407408" y="4846320"/>
            <a:ext cx="3566160" cy="658368"/>
          </a:xfrm>
          <a:prstGeom prst="rect">
            <a:avLst/>
          </a:prstGeom>
          <a:noFill/>
          <a:ln/>
        </p:spPr>
        <p:txBody>
          <a:bodyPr wrap="square" lIns="0" tIns="0" rIns="0" bIns="0" rtlCol="0" anchor="t"/>
          <a:lstStyle/>
          <a:p>
            <a:pPr algn="l" indent="0" marL="0">
              <a:buNone/>
            </a:pPr>
            <a:r>
              <a:rPr lang="en-US" sz="1200" b="1" dirty="0">
                <a:solidFill>
                  <a:srgbClr val="16211E"/>
                </a:solidFill>
                <a:latin typeface="Calibri" pitchFamily="34" charset="0"/>
                <a:ea typeface="Calibri" pitchFamily="34" charset="-122"/>
                <a:cs typeface="Calibri" pitchFamily="34" charset="-120"/>
              </a:rPr>
              <a:t>Flags that were right</a:t>
            </a:r>
            <a:endParaRPr lang="en-US" sz="1200" dirty="0"/>
          </a:p>
          <a:p>
            <a:pPr algn="l" indent="0" marL="0">
              <a:buNone/>
            </a:pPr>
            <a:r>
              <a:rPr lang="en-US" sz="1050" dirty="0">
                <a:solidFill>
                  <a:srgbClr val="5C6B66"/>
                </a:solidFill>
                <a:latin typeface="Calibri" pitchFamily="34" charset="0"/>
                <a:ea typeface="Calibri" pitchFamily="34" charset="-122"/>
                <a:cs typeface="Calibri" pitchFamily="34" charset="-120"/>
              </a:rPr>
              <a:t>Of the cases we flagged, how many really needed a person. A miss costs nurse time.</a:t>
            </a:r>
            <a:endParaRPr lang="en-US" sz="1200" dirty="0"/>
          </a:p>
        </p:txBody>
      </p:sp>
      <p:sp>
        <p:nvSpPr>
          <p:cNvPr id="12" name="AI2"/>
          <p:cNvSpPr txBox="1"/>
          <p:nvPr/>
        </p:nvSpPr>
        <p:spPr>
          <a:xfrm>
            <a:off x="8156448" y="4846320"/>
            <a:ext cx="3566160" cy="658368"/>
          </a:xfrm>
          <a:prstGeom prst="rect">
            <a:avLst/>
          </a:prstGeom>
          <a:noFill/>
          <a:ln/>
        </p:spPr>
        <p:txBody>
          <a:bodyPr wrap="square" lIns="0" tIns="0" rIns="0" bIns="0" rtlCol="0" anchor="t"/>
          <a:lstStyle/>
          <a:p>
            <a:pPr algn="l" indent="0" marL="0">
              <a:buNone/>
            </a:pPr>
            <a:r>
              <a:rPr lang="en-US" sz="1200" b="1" dirty="0">
                <a:solidFill>
                  <a:srgbClr val="16211E"/>
                </a:solidFill>
                <a:latin typeface="Calibri" pitchFamily="34" charset="0"/>
                <a:ea typeface="Calibri" pitchFamily="34" charset="-122"/>
                <a:cs typeface="Calibri" pitchFamily="34" charset="-120"/>
              </a:rPr>
              <a:t>Wrong approvals</a:t>
            </a:r>
            <a:endParaRPr lang="en-US" sz="1200" dirty="0"/>
          </a:p>
          <a:p>
            <a:pPr algn="l" indent="0" marL="0">
              <a:buNone/>
            </a:pPr>
            <a:r>
              <a:rPr lang="en-US" sz="1050" dirty="0">
                <a:solidFill>
                  <a:srgbClr val="5C6B66"/>
                </a:solidFill>
                <a:latin typeface="Calibri" pitchFamily="34" charset="0"/>
                <a:ea typeface="Calibri" pitchFamily="34" charset="-122"/>
                <a:cs typeface="Calibri" pitchFamily="34" charset="-120"/>
              </a:rPr>
              <a:t>A case that needed a person but was approved. The dangerous failure.</a:t>
            </a:r>
            <a:endParaRPr lang="en-US" sz="1200" dirty="0"/>
          </a:p>
        </p:txBody>
      </p:sp>
      <p:sp>
        <p:nvSpPr>
          <p:cNvPr id="13" name="AI3"/>
          <p:cNvSpPr txBox="1"/>
          <p:nvPr/>
        </p:nvSpPr>
        <p:spPr>
          <a:xfrm>
            <a:off x="658368" y="5559552"/>
            <a:ext cx="3566160" cy="658368"/>
          </a:xfrm>
          <a:prstGeom prst="rect">
            <a:avLst/>
          </a:prstGeom>
          <a:noFill/>
          <a:ln/>
        </p:spPr>
        <p:txBody>
          <a:bodyPr wrap="square" lIns="0" tIns="0" rIns="0" bIns="0" rtlCol="0" anchor="t"/>
          <a:lstStyle/>
          <a:p>
            <a:pPr algn="l" indent="0" marL="0">
              <a:buNone/>
            </a:pPr>
            <a:r>
              <a:rPr lang="en-US" sz="1200" b="1" dirty="0">
                <a:solidFill>
                  <a:srgbClr val="16211E"/>
                </a:solidFill>
                <a:latin typeface="Calibri" pitchFamily="34" charset="0"/>
                <a:ea typeface="Calibri" pitchFamily="34" charset="-122"/>
                <a:cs typeface="Calibri" pitchFamily="34" charset="-120"/>
              </a:rPr>
              <a:t>Finds details that are there</a:t>
            </a:r>
            <a:endParaRPr lang="en-US" sz="1200" dirty="0"/>
          </a:p>
          <a:p>
            <a:pPr algn="l" indent="0" marL="0">
              <a:buNone/>
            </a:pPr>
            <a:r>
              <a:rPr lang="en-US" sz="1050" dirty="0">
                <a:solidFill>
                  <a:srgbClr val="5C6B66"/>
                </a:solidFill>
                <a:latin typeface="Calibri" pitchFamily="34" charset="0"/>
                <a:ea typeface="Calibri" pitchFamily="34" charset="-122"/>
                <a:cs typeface="Calibri" pitchFamily="34" charset="-120"/>
              </a:rPr>
              <a:t>Of the details in the packet, how many the AI found.</a:t>
            </a:r>
            <a:endParaRPr lang="en-US" sz="1200" dirty="0"/>
          </a:p>
        </p:txBody>
      </p:sp>
      <p:sp>
        <p:nvSpPr>
          <p:cNvPr id="14" name="AI4"/>
          <p:cNvSpPr txBox="1"/>
          <p:nvPr/>
        </p:nvSpPr>
        <p:spPr>
          <a:xfrm>
            <a:off x="4407408" y="5559552"/>
            <a:ext cx="3566160" cy="658368"/>
          </a:xfrm>
          <a:prstGeom prst="rect">
            <a:avLst/>
          </a:prstGeom>
          <a:noFill/>
          <a:ln/>
        </p:spPr>
        <p:txBody>
          <a:bodyPr wrap="square" lIns="0" tIns="0" rIns="0" bIns="0" rtlCol="0" anchor="t"/>
          <a:lstStyle/>
          <a:p>
            <a:pPr algn="l" indent="0" marL="0">
              <a:buNone/>
            </a:pPr>
            <a:r>
              <a:rPr lang="en-US" sz="1200" b="1" dirty="0">
                <a:solidFill>
                  <a:srgbClr val="16211E"/>
                </a:solidFill>
                <a:latin typeface="Calibri" pitchFamily="34" charset="0"/>
                <a:ea typeface="Calibri" pitchFamily="34" charset="-122"/>
                <a:cs typeface="Calibri" pitchFamily="34" charset="-120"/>
              </a:rPr>
              <a:t>Makes up details</a:t>
            </a:r>
            <a:endParaRPr lang="en-US" sz="1200" dirty="0"/>
          </a:p>
          <a:p>
            <a:pPr algn="l" indent="0" marL="0">
              <a:buNone/>
            </a:pPr>
            <a:r>
              <a:rPr lang="en-US" sz="1050" dirty="0">
                <a:solidFill>
                  <a:srgbClr val="5C6B66"/>
                </a:solidFill>
                <a:latin typeface="Calibri" pitchFamily="34" charset="0"/>
                <a:ea typeface="Calibri" pitchFamily="34" charset="-122"/>
                <a:cs typeface="Calibri" pitchFamily="34" charset="-120"/>
              </a:rPr>
              <a:t>How often the AI claims a detail that is not there.</a:t>
            </a:r>
            <a:endParaRPr lang="en-US" sz="1200" dirty="0"/>
          </a:p>
        </p:txBody>
      </p:sp>
      <p:sp>
        <p:nvSpPr>
          <p:cNvPr id="15" name="AI5"/>
          <p:cNvSpPr txBox="1"/>
          <p:nvPr/>
        </p:nvSpPr>
        <p:spPr>
          <a:xfrm>
            <a:off x="8156448" y="5559552"/>
            <a:ext cx="3566160" cy="658368"/>
          </a:xfrm>
          <a:prstGeom prst="rect">
            <a:avLst/>
          </a:prstGeom>
          <a:noFill/>
          <a:ln/>
        </p:spPr>
        <p:txBody>
          <a:bodyPr wrap="square" lIns="0" tIns="0" rIns="0" bIns="0" rtlCol="0" anchor="t"/>
          <a:lstStyle/>
          <a:p>
            <a:pPr algn="l" indent="0" marL="0">
              <a:buNone/>
            </a:pPr>
            <a:r>
              <a:rPr lang="en-US" sz="1200" b="1" dirty="0">
                <a:solidFill>
                  <a:srgbClr val="16211E"/>
                </a:solidFill>
                <a:latin typeface="Calibri" pitchFamily="34" charset="0"/>
                <a:ea typeface="Calibri" pitchFamily="34" charset="-122"/>
                <a:cs typeface="Calibri" pitchFamily="34" charset="-120"/>
              </a:rPr>
              <a:t>Seconds per packet</a:t>
            </a:r>
            <a:endParaRPr lang="en-US" sz="1200" dirty="0"/>
          </a:p>
          <a:p>
            <a:pPr algn="l" indent="0" marL="0">
              <a:buNone/>
            </a:pPr>
            <a:r>
              <a:rPr lang="en-US" sz="1050" dirty="0">
                <a:solidFill>
                  <a:srgbClr val="5C6B66"/>
                </a:solidFill>
                <a:latin typeface="Calibri" pitchFamily="34" charset="0"/>
                <a:ea typeface="Calibri" pitchFamily="34" charset="-122"/>
                <a:cs typeface="Calibri" pitchFamily="34" charset="-120"/>
              </a:rPr>
              <a:t>How long one packet takes to read.</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5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45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45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50"/>
                                        <p:tgtEl>
                                          <p:spTgt spid="9"/>
                                        </p:tgtEl>
                                      </p:cBhvr>
                                    </p:animEffect>
                                  </p:childTnLst>
                                </p:cTn>
                              </p:par>
                              <p:par>
                                <p:cTn id="23" presetID="10" presetClass="entr" presetSubtype="0" fill="hold" grpId="0" nodeType="withEffect">
                                  <p:stCondLst>
                                    <p:cond delay="12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50"/>
                                        <p:tgtEl>
                                          <p:spTgt spid="10"/>
                                        </p:tgtEl>
                                      </p:cBhvr>
                                    </p:animEffect>
                                  </p:childTnLst>
                                </p:cTn>
                              </p:par>
                              <p:par>
                                <p:cTn id="26" presetID="10" presetClass="entr" presetSubtype="0" fill="hold" grpId="0" nodeType="withEffect">
                                  <p:stCondLst>
                                    <p:cond delay="12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50"/>
                                        <p:tgtEl>
                                          <p:spTgt spid="11"/>
                                        </p:tgtEl>
                                      </p:cBhvr>
                                    </p:animEffect>
                                  </p:childTnLst>
                                </p:cTn>
                              </p:par>
                              <p:par>
                                <p:cTn id="29" presetID="10" presetClass="entr" presetSubtype="0" fill="hold" grpId="0" nodeType="withEffect">
                                  <p:stCondLst>
                                    <p:cond delay="12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50"/>
                                        <p:tgtEl>
                                          <p:spTgt spid="12"/>
                                        </p:tgtEl>
                                      </p:cBhvr>
                                    </p:animEffect>
                                  </p:childTnLst>
                                </p:cTn>
                              </p:par>
                              <p:par>
                                <p:cTn id="32" presetID="10" presetClass="entr" presetSubtype="0" fill="hold" grpId="0" nodeType="withEffect">
                                  <p:stCondLst>
                                    <p:cond delay="12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50"/>
                                        <p:tgtEl>
                                          <p:spTgt spid="13"/>
                                        </p:tgtEl>
                                      </p:cBhvr>
                                    </p:animEffect>
                                  </p:childTnLst>
                                </p:cTn>
                              </p:par>
                              <p:par>
                                <p:cTn id="35" presetID="10" presetClass="entr" presetSubtype="0" fill="hold" grpId="0" nodeType="withEffect">
                                  <p:stCondLst>
                                    <p:cond delay="12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450"/>
                                        <p:tgtEl>
                                          <p:spTgt spid="14"/>
                                        </p:tgtEl>
                                      </p:cBhvr>
                                    </p:animEffect>
                                  </p:childTnLst>
                                </p:cTn>
                              </p:par>
                              <p:par>
                                <p:cTn id="38" presetID="10" presetClass="entr" presetSubtype="0" fill="hold" grpId="0" nodeType="withEffect">
                                  <p:stCondLst>
                                    <p:cond delay="12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p:bldP spid="11" grpId="0"/>
      <p:bldP spid="12" grpId="0"/>
      <p:bldP spid="13" grpId="0"/>
      <p:bldP spid="14" grpId="0"/>
      <p:bldP spid="15"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we measure it</dc:title>
  <dc:subject>PptxGenJS Presentation</dc:subject>
  <dc:creator>Nisha Mishra</dc:creator>
  <cp:lastModifiedBy>Nisha Mishra</cp:lastModifiedBy>
  <cp:revision>1</cp:revision>
  <dcterms:created xsi:type="dcterms:W3CDTF">2026-10-04T22:25:59Z</dcterms:created>
  <dcterms:modified xsi:type="dcterms:W3CDTF">2026-10-04T22:25:59Z</dcterms:modified>
</cp:coreProperties>
</file>