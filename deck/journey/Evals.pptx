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question I would get is: how do you know it works? So I tested it three ways, and I rerun all three every time I change anything.
One, does it read the packet right? I made nine packets with known answers: approve, pend, escalate, a conflicting value, a ruled-out condition, a recent heart attack, and a noisy scan. I ran them five times in a row. Every run found all fifty-three facts that were really there. It never claimed a fact that was missing or ruled out, thirteen checks per run. The right recommendation came back every time. A case takes about twenty seconds. I also asked a separate AI session, which never saw my code, to write forty harder packets from the policy text alone. That is the fairer test, and I will show you those results [fill in when the run finishes].
Two, does it find the right policy for a new service? I tested forty-four services, each described two ways. The old keyword search had the right policy in the top eight about eighty percent of the time. Embeddings from Unstructured Pipelines got it to about ninety-eight percent. I use that to decide how to build the policy library.
Three, can a person trust the citation? I judged twenty-four cited sentences myself, with the answer key hidden. Three out of four were a clear yes, and almost nine out of ten were yes or partly. I also planted five wrong pairs, a claim with a sentence about something else. The product's second check caught all five, and so did I. The weak spots were claims with several parts that cite only one sentence. The fix is to show the whole passage, and I would build that next.
Now the honest part. These packets are made up, and I wrote most of them. This proves the plumbing works. It does not prove accuracy on real faxes. A zero out of sixty-five is good, but it only tells me the true rate is probably under five percent. To claim under one percent I need about three hundred missing-fact checks. The real test is real, de-identified cases, labeled by senior nurses before the tool sees them. And the tool never denies. A missing fact goes to the nurse as not sure, never as a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3657600" cy="256032"/>
          </a:xfrm>
          <a:prstGeom prst="rect">
            <a:avLst/>
          </a:prstGeom>
          <a:noFill/>
          <a:ln/>
        </p:spPr>
        <p:txBody>
          <a:bodyPr wrap="square" lIns="0" tIns="0" rIns="0" bIns="0" rtlCol="0" anchor="t"/>
          <a:lstStyle/>
          <a:p>
            <a:pPr algn="l" indent="0" marL="0">
              <a:buNone/>
            </a:pPr>
            <a:r>
              <a:rPr lang="en-US" sz="1100" b="1" spc="300" kern="0" dirty="0">
                <a:solidFill>
                  <a:srgbClr val="1F6F5C"/>
                </a:solidFill>
                <a:latin typeface="Calibri" pitchFamily="34" charset="0"/>
                <a:ea typeface="Calibri" pitchFamily="34" charset="-122"/>
                <a:cs typeface="Calibri" pitchFamily="34" charset="-120"/>
              </a:rPr>
              <a:t>HOW WE KNOW IT WORKS</a:t>
            </a:r>
            <a:endParaRPr lang="en-US" sz="1100" dirty="0"/>
          </a:p>
        </p:txBody>
      </p:sp>
      <p:sp>
        <p:nvSpPr>
          <p:cNvPr id="3" name="title"/>
          <p:cNvSpPr txBox="1"/>
          <p:nvPr/>
        </p:nvSpPr>
        <p:spPr>
          <a:xfrm>
            <a:off x="457200" y="502920"/>
            <a:ext cx="7863840" cy="685800"/>
          </a:xfrm>
          <a:prstGeom prst="rect">
            <a:avLst/>
          </a:prstGeom>
          <a:noFill/>
          <a:ln/>
        </p:spPr>
        <p:txBody>
          <a:bodyPr wrap="square" lIns="0" tIns="0" rIns="0" bIns="0" rtlCol="0" anchor="ctr"/>
          <a:lstStyle/>
          <a:p>
            <a:pPr algn="l" indent="0" marL="0">
              <a:buNone/>
            </a:pPr>
            <a:r>
              <a:rPr lang="en-US" sz="2600" dirty="0">
                <a:solidFill>
                  <a:srgbClr val="16211E"/>
                </a:solidFill>
                <a:latin typeface="Cambria" pitchFamily="34" charset="0"/>
                <a:ea typeface="Cambria" pitchFamily="34" charset="-122"/>
                <a:cs typeface="Cambria" pitchFamily="34" charset="-120"/>
              </a:rPr>
              <a:t>Three checks. Rerun on every change.</a:t>
            </a:r>
            <a:endParaRPr lang="en-US" sz="2600" dirty="0"/>
          </a:p>
        </p:txBody>
      </p:sp>
      <p:sp>
        <p:nvSpPr>
          <p:cNvPr id="4" name="sub"/>
          <p:cNvSpPr txBox="1"/>
          <p:nvPr/>
        </p:nvSpPr>
        <p:spPr>
          <a:xfrm>
            <a:off x="7589520" y="502920"/>
            <a:ext cx="4142232" cy="685800"/>
          </a:xfrm>
          <a:prstGeom prst="rect">
            <a:avLst/>
          </a:prstGeom>
          <a:noFill/>
          <a:ln/>
        </p:spPr>
        <p:txBody>
          <a:bodyPr wrap="square" lIns="0" tIns="0" rIns="0" bIns="0" rtlCol="0" anchor="ctr"/>
          <a:lstStyle/>
          <a:p>
            <a:pPr algn="r" indent="0" marL="0">
              <a:buNone/>
            </a:pPr>
            <a:r>
              <a:rPr lang="en-US" sz="1300" dirty="0">
                <a:solidFill>
                  <a:srgbClr val="5C6B66"/>
                </a:solidFill>
                <a:latin typeface="Calibri" pitchFamily="34" charset="0"/>
                <a:ea typeface="Calibri" pitchFamily="34" charset="-122"/>
                <a:cs typeface="Calibri" pitchFamily="34" charset="-120"/>
              </a:rPr>
              <a:t>All packets are made up</a:t>
            </a:r>
            <a:endParaRPr lang="en-US" sz="1300" dirty="0"/>
          </a:p>
        </p:txBody>
      </p:sp>
      <p:sp>
        <p:nvSpPr>
          <p:cNvPr id="5" name="Card1"/>
          <p:cNvSpPr/>
          <p:nvPr/>
        </p:nvSpPr>
        <p:spPr>
          <a:xfrm>
            <a:off x="457200" y="1325880"/>
            <a:ext cx="3630168" cy="3520440"/>
          </a:xfrm>
          <a:prstGeom prst="roundRect">
            <a:avLst>
              <a:gd name="adj" fmla="val 2597"/>
            </a:avLst>
          </a:prstGeom>
          <a:solidFill>
            <a:srgbClr val="FFFFFF"/>
          </a:solidFill>
          <a:ln w="12700">
            <a:solidFill>
              <a:srgbClr val="CBD5D1"/>
            </a:solidFill>
          </a:ln>
        </p:spPr>
        <p:txBody>
          <a:bodyPr wrap="square" lIns="182880" tIns="137160" rIns="182880" bIns="91440" rtlCol="0" anchor="t"/>
          <a:lstStyle/>
          <a:p>
            <a:pPr algn="l" indent="0" marL="0">
              <a:spcAft>
                <a:spcPts val="800"/>
              </a:spcAft>
              <a:buNone/>
            </a:pPr>
            <a:r>
              <a:rPr lang="en-US" sz="1200" b="1" dirty="0">
                <a:solidFill>
                  <a:srgbClr val="1F6F5C"/>
                </a:solidFill>
                <a:latin typeface="Calibri" pitchFamily="34" charset="0"/>
                <a:ea typeface="Calibri" pitchFamily="34" charset="-122"/>
                <a:cs typeface="Calibri" pitchFamily="34" charset="-120"/>
              </a:rPr>
              <a:t>1  Does it read the packet right?</a:t>
            </a:r>
            <a:endParaRPr lang="en-US" sz="1200" dirty="0"/>
          </a:p>
          <a:p>
            <a:pPr algn="l" indent="0" marL="0">
              <a:buNone/>
            </a:pPr>
            <a:r>
              <a:rPr lang="en-US" sz="3400" dirty="0">
                <a:solidFill>
                  <a:srgbClr val="16211E"/>
                </a:solidFill>
                <a:latin typeface="Cambria" pitchFamily="34" charset="0"/>
                <a:ea typeface="Cambria" pitchFamily="34" charset="-122"/>
                <a:cs typeface="Cambria" pitchFamily="34" charset="-120"/>
              </a:rPr>
              <a:t>53 of 53</a:t>
            </a:r>
            <a:endParaRPr lang="en-US" sz="1200" dirty="0"/>
          </a:p>
          <a:p>
            <a:pPr algn="l" indent="0" marL="0">
              <a:spcAft>
                <a:spcPts val="600"/>
              </a:spcAft>
              <a:buNone/>
            </a:pPr>
            <a:r>
              <a:rPr lang="en-US" sz="1250" b="1" dirty="0">
                <a:solidFill>
                  <a:srgbClr val="16211E"/>
                </a:solidFill>
                <a:latin typeface="Calibri" pitchFamily="34" charset="0"/>
                <a:ea typeface="Calibri" pitchFamily="34" charset="-122"/>
                <a:cs typeface="Calibri" pitchFamily="34" charset="-120"/>
              </a:rPr>
              <a:t>facts found when they were there. Same result in 5 runs.</a:t>
            </a:r>
            <a:endParaRPr lang="en-US" sz="1200" dirty="0"/>
          </a:p>
          <a:p>
            <a:pPr algn="l" indent="0" marL="0">
              <a:spcAft>
                <a:spcPts val="300"/>
              </a:spcAft>
              <a:buNone/>
            </a:pPr>
            <a:r>
              <a:rPr lang="en-US" sz="1100" dirty="0">
                <a:solidFill>
                  <a:srgbClr val="5C6B66"/>
                </a:solidFill>
                <a:latin typeface="Calibri" pitchFamily="34" charset="0"/>
                <a:ea typeface="Calibri" pitchFamily="34" charset="-122"/>
                <a:cs typeface="Calibri" pitchFamily="34" charset="-120"/>
              </a:rPr>
              <a:t>0 of 13 absent or ruled-out facts claimed.</a:t>
            </a:r>
            <a:endParaRPr lang="en-US" sz="1200" dirty="0"/>
          </a:p>
          <a:p>
            <a:pPr algn="l" indent="0" marL="0">
              <a:spcAft>
                <a:spcPts val="300"/>
              </a:spcAft>
              <a:buNone/>
            </a:pPr>
            <a:r>
              <a:rPr lang="en-US" sz="1100" dirty="0">
                <a:solidFill>
                  <a:srgbClr val="5C6B66"/>
                </a:solidFill>
                <a:latin typeface="Calibri" pitchFamily="34" charset="0"/>
                <a:ea typeface="Calibri" pitchFamily="34" charset="-122"/>
                <a:cs typeface="Calibri" pitchFamily="34" charset="-120"/>
              </a:rPr>
              <a:t>Right recommendation in 9 of 9 packets, every run.</a:t>
            </a:r>
            <a:endParaRPr lang="en-US" sz="1200" dirty="0"/>
          </a:p>
          <a:p>
            <a:pPr algn="l" indent="0" marL="0">
              <a:spcAft>
                <a:spcPts val="300"/>
              </a:spcAft>
              <a:buNone/>
            </a:pPr>
            <a:r>
              <a:rPr lang="en-US" sz="1100" dirty="0">
                <a:solidFill>
                  <a:srgbClr val="5C6B66"/>
                </a:solidFill>
                <a:latin typeface="Calibri" pitchFamily="34" charset="0"/>
                <a:ea typeface="Calibri" pitchFamily="34" charset="-122"/>
                <a:cs typeface="Calibri" pitchFamily="34" charset="-120"/>
              </a:rPr>
              <a:t>About 20 seconds a case.</a:t>
            </a:r>
            <a:endParaRPr lang="en-US" sz="1200" dirty="0"/>
          </a:p>
        </p:txBody>
      </p:sp>
      <p:sp>
        <p:nvSpPr>
          <p:cNvPr id="6" name="Status1"/>
          <p:cNvSpPr/>
          <p:nvPr/>
        </p:nvSpPr>
        <p:spPr>
          <a:xfrm>
            <a:off x="640080" y="4315968"/>
            <a:ext cx="3264408" cy="411480"/>
          </a:xfrm>
          <a:prstGeom prst="roundRect">
            <a:avLst>
              <a:gd name="adj" fmla="val 13333"/>
            </a:avLst>
          </a:prstGeom>
          <a:solidFill>
            <a:srgbClr val="FCEFD0"/>
          </a:solidFill>
          <a:ln w="9525">
            <a:solidFill>
              <a:srgbClr val="8A5A00"/>
            </a:solidFill>
          </a:ln>
        </p:spPr>
        <p:txBody>
          <a:bodyPr wrap="square" lIns="109728" tIns="27432" rIns="109728" bIns="27432" rtlCol="0" anchor="ctr"/>
          <a:lstStyle/>
          <a:p>
            <a:pPr algn="l" indent="0" marL="0">
              <a:buNone/>
            </a:pPr>
            <a:r>
              <a:rPr lang="en-US" sz="1050" b="1" dirty="0">
                <a:solidFill>
                  <a:srgbClr val="8A5A00"/>
                </a:solidFill>
                <a:latin typeface="Calibri" pitchFamily="34" charset="0"/>
                <a:ea typeface="Calibri" pitchFamily="34" charset="-122"/>
                <a:cs typeface="Calibri" pitchFamily="34" charset="-120"/>
              </a:rPr>
              <a:t>Next: 40 harder packets from a separate AI session</a:t>
            </a:r>
            <a:endParaRPr lang="en-US" sz="1050" dirty="0"/>
          </a:p>
        </p:txBody>
      </p:sp>
      <p:sp>
        <p:nvSpPr>
          <p:cNvPr id="7" name="Card2"/>
          <p:cNvSpPr/>
          <p:nvPr/>
        </p:nvSpPr>
        <p:spPr>
          <a:xfrm>
            <a:off x="4279392" y="1325880"/>
            <a:ext cx="3630168" cy="3520440"/>
          </a:xfrm>
          <a:prstGeom prst="roundRect">
            <a:avLst>
              <a:gd name="adj" fmla="val 2597"/>
            </a:avLst>
          </a:prstGeom>
          <a:solidFill>
            <a:srgbClr val="FFFFFF"/>
          </a:solidFill>
          <a:ln w="12700">
            <a:solidFill>
              <a:srgbClr val="CBD5D1"/>
            </a:solidFill>
          </a:ln>
        </p:spPr>
        <p:txBody>
          <a:bodyPr wrap="square" lIns="182880" tIns="137160" rIns="182880" bIns="91440" rtlCol="0" anchor="t"/>
          <a:lstStyle/>
          <a:p>
            <a:pPr algn="l" indent="0" marL="0">
              <a:spcAft>
                <a:spcPts val="800"/>
              </a:spcAft>
              <a:buNone/>
            </a:pPr>
            <a:r>
              <a:rPr lang="en-US" sz="1200" b="1" dirty="0">
                <a:solidFill>
                  <a:srgbClr val="1F6F5C"/>
                </a:solidFill>
                <a:latin typeface="Calibri" pitchFamily="34" charset="0"/>
                <a:ea typeface="Calibri" pitchFamily="34" charset="-122"/>
                <a:cs typeface="Calibri" pitchFamily="34" charset="-120"/>
              </a:rPr>
              <a:t>2  Does it find the right policy?</a:t>
            </a:r>
            <a:endParaRPr lang="en-US" sz="1200" dirty="0"/>
          </a:p>
          <a:p>
            <a:pPr algn="l" indent="0" marL="0">
              <a:buNone/>
            </a:pPr>
            <a:r>
              <a:rPr lang="en-US" sz="3400" dirty="0">
                <a:solidFill>
                  <a:srgbClr val="16211E"/>
                </a:solidFill>
                <a:latin typeface="Cambria" pitchFamily="34" charset="0"/>
                <a:ea typeface="Cambria" pitchFamily="34" charset="-122"/>
                <a:cs typeface="Cambria" pitchFamily="34" charset="-120"/>
              </a:rPr>
              <a:t>97.7%</a:t>
            </a:r>
            <a:endParaRPr lang="en-US" sz="1200" dirty="0"/>
          </a:p>
          <a:p>
            <a:pPr algn="l" indent="0" marL="0">
              <a:spcAft>
                <a:spcPts val="600"/>
              </a:spcAft>
              <a:buNone/>
            </a:pPr>
            <a:r>
              <a:rPr lang="en-US" sz="1250" b="1" dirty="0">
                <a:solidFill>
                  <a:srgbClr val="16211E"/>
                </a:solidFill>
                <a:latin typeface="Calibri" pitchFamily="34" charset="0"/>
                <a:ea typeface="Calibri" pitchFamily="34" charset="-122"/>
                <a:cs typeface="Calibri" pitchFamily="34" charset="-120"/>
              </a:rPr>
              <a:t>right policy in the top 8 for a new service.</a:t>
            </a:r>
            <a:endParaRPr lang="en-US" sz="1200" dirty="0"/>
          </a:p>
          <a:p>
            <a:pPr algn="l" indent="0" marL="0">
              <a:spcAft>
                <a:spcPts val="300"/>
              </a:spcAft>
              <a:buNone/>
            </a:pPr>
            <a:r>
              <a:rPr lang="en-US" sz="1100" dirty="0">
                <a:solidFill>
                  <a:srgbClr val="5C6B66"/>
                </a:solidFill>
                <a:latin typeface="Calibri" pitchFamily="34" charset="0"/>
                <a:ea typeface="Calibri" pitchFamily="34" charset="-122"/>
                <a:cs typeface="Calibri" pitchFamily="34" charset="-120"/>
              </a:rPr>
              <a:t>44 services, each described 2 ways.</a:t>
            </a:r>
            <a:endParaRPr lang="en-US" sz="1200" dirty="0"/>
          </a:p>
          <a:p>
            <a:pPr algn="l" indent="0" marL="0">
              <a:spcAft>
                <a:spcPts val="300"/>
              </a:spcAft>
              <a:buNone/>
            </a:pPr>
            <a:r>
              <a:rPr lang="en-US" sz="1100" dirty="0">
                <a:solidFill>
                  <a:srgbClr val="5C6B66"/>
                </a:solidFill>
                <a:latin typeface="Calibri" pitchFamily="34" charset="0"/>
                <a:ea typeface="Calibri" pitchFamily="34" charset="-122"/>
                <a:cs typeface="Calibri" pitchFamily="34" charset="-120"/>
              </a:rPr>
              <a:t>Old keyword search: 79.5%.</a:t>
            </a:r>
            <a:endParaRPr lang="en-US" sz="1200" dirty="0"/>
          </a:p>
          <a:p>
            <a:pPr algn="l" indent="0" marL="0">
              <a:spcAft>
                <a:spcPts val="300"/>
              </a:spcAft>
              <a:buNone/>
            </a:pPr>
            <a:r>
              <a:rPr lang="en-US" sz="1100" dirty="0">
                <a:solidFill>
                  <a:srgbClr val="5C6B66"/>
                </a:solidFill>
                <a:latin typeface="Calibri" pitchFamily="34" charset="0"/>
                <a:ea typeface="Calibri" pitchFamily="34" charset="-122"/>
                <a:cs typeface="Calibri" pitchFamily="34" charset="-120"/>
              </a:rPr>
              <a:t>Embeddings from Unstructured Pipelines.</a:t>
            </a:r>
            <a:endParaRPr lang="en-US" sz="1200" dirty="0"/>
          </a:p>
        </p:txBody>
      </p:sp>
      <p:sp>
        <p:nvSpPr>
          <p:cNvPr id="8" name="Card3"/>
          <p:cNvSpPr/>
          <p:nvPr/>
        </p:nvSpPr>
        <p:spPr>
          <a:xfrm>
            <a:off x="8101584" y="1325880"/>
            <a:ext cx="3630168" cy="3520440"/>
          </a:xfrm>
          <a:prstGeom prst="roundRect">
            <a:avLst>
              <a:gd name="adj" fmla="val 2597"/>
            </a:avLst>
          </a:prstGeom>
          <a:solidFill>
            <a:srgbClr val="FFFFFF"/>
          </a:solidFill>
          <a:ln w="12700">
            <a:solidFill>
              <a:srgbClr val="CBD5D1"/>
            </a:solidFill>
          </a:ln>
        </p:spPr>
        <p:txBody>
          <a:bodyPr wrap="square" lIns="182880" tIns="137160" rIns="182880" bIns="91440" rtlCol="0" anchor="t"/>
          <a:lstStyle/>
          <a:p>
            <a:pPr algn="l" indent="0" marL="0">
              <a:spcAft>
                <a:spcPts val="800"/>
              </a:spcAft>
              <a:buNone/>
            </a:pPr>
            <a:r>
              <a:rPr lang="en-US" sz="1200" b="1" dirty="0">
                <a:solidFill>
                  <a:srgbClr val="1F6F5C"/>
                </a:solidFill>
                <a:latin typeface="Calibri" pitchFamily="34" charset="0"/>
                <a:ea typeface="Calibri" pitchFamily="34" charset="-122"/>
                <a:cs typeface="Calibri" pitchFamily="34" charset="-120"/>
              </a:rPr>
              <a:t>3  Can a person trust the citation?</a:t>
            </a:r>
            <a:endParaRPr lang="en-US" sz="1200" dirty="0"/>
          </a:p>
          <a:p>
            <a:pPr algn="l" indent="0" marL="0">
              <a:buNone/>
            </a:pPr>
            <a:r>
              <a:rPr lang="en-US" sz="3400" dirty="0">
                <a:solidFill>
                  <a:srgbClr val="16211E"/>
                </a:solidFill>
                <a:latin typeface="Cambria" pitchFamily="34" charset="0"/>
                <a:ea typeface="Cambria" pitchFamily="34" charset="-122"/>
                <a:cs typeface="Cambria" pitchFamily="34" charset="-120"/>
              </a:rPr>
              <a:t>75% yes</a:t>
            </a:r>
            <a:endParaRPr lang="en-US" sz="1200" dirty="0"/>
          </a:p>
          <a:p>
            <a:pPr algn="l" indent="0" marL="0">
              <a:spcAft>
                <a:spcPts val="600"/>
              </a:spcAft>
              <a:buNone/>
            </a:pPr>
            <a:r>
              <a:rPr lang="en-US" sz="1250" b="1" dirty="0">
                <a:solidFill>
                  <a:srgbClr val="16211E"/>
                </a:solidFill>
                <a:latin typeface="Calibri" pitchFamily="34" charset="0"/>
                <a:ea typeface="Calibri" pitchFamily="34" charset="-122"/>
                <a:cs typeface="Calibri" pitchFamily="34" charset="-120"/>
              </a:rPr>
              <a:t>of 24 cited sentences judged by a person. 88% yes or partly.</a:t>
            </a:r>
            <a:endParaRPr lang="en-US" sz="1200" dirty="0"/>
          </a:p>
          <a:p>
            <a:pPr algn="l" indent="0" marL="0">
              <a:spcAft>
                <a:spcPts val="300"/>
              </a:spcAft>
              <a:buNone/>
            </a:pPr>
            <a:r>
              <a:rPr lang="en-US" sz="1100" dirty="0">
                <a:solidFill>
                  <a:srgbClr val="5C6B66"/>
                </a:solidFill>
                <a:latin typeface="Calibri" pitchFamily="34" charset="0"/>
                <a:ea typeface="Calibri" pitchFamily="34" charset="-122"/>
                <a:cs typeface="Calibri" pitchFamily="34" charset="-120"/>
              </a:rPr>
              <a:t>5 of 5 planted wrong pairs caught.</a:t>
            </a:r>
            <a:endParaRPr lang="en-US" sz="1200" dirty="0"/>
          </a:p>
          <a:p>
            <a:pPr algn="l" indent="0" marL="0">
              <a:spcAft>
                <a:spcPts val="300"/>
              </a:spcAft>
              <a:buNone/>
            </a:pPr>
            <a:r>
              <a:rPr lang="en-US" sz="1100" dirty="0">
                <a:solidFill>
                  <a:srgbClr val="5C6B66"/>
                </a:solidFill>
                <a:latin typeface="Calibri" pitchFamily="34" charset="0"/>
                <a:ea typeface="Calibri" pitchFamily="34" charset="-122"/>
                <a:cs typeface="Calibri" pitchFamily="34" charset="-120"/>
              </a:rPr>
              <a:t>Weak spot: a claim with several parts cites one sentence.</a:t>
            </a:r>
            <a:endParaRPr lang="en-US" sz="1200" dirty="0"/>
          </a:p>
          <a:p>
            <a:pPr algn="l" indent="0" marL="0">
              <a:spcAft>
                <a:spcPts val="300"/>
              </a:spcAft>
              <a:buNone/>
            </a:pPr>
            <a:r>
              <a:rPr lang="en-US" sz="1100" dirty="0">
                <a:solidFill>
                  <a:srgbClr val="5C6B66"/>
                </a:solidFill>
                <a:latin typeface="Calibri" pitchFamily="34" charset="0"/>
                <a:ea typeface="Calibri" pitchFamily="34" charset="-122"/>
                <a:cs typeface="Calibri" pitchFamily="34" charset="-120"/>
              </a:rPr>
              <a:t>Fix: show the whole passage.</a:t>
            </a:r>
            <a:endParaRPr lang="en-US" sz="1200" dirty="0"/>
          </a:p>
        </p:txBody>
      </p:sp>
      <p:sp>
        <p:nvSpPr>
          <p:cNvPr id="9" name="Limits"/>
          <p:cNvSpPr/>
          <p:nvPr/>
        </p:nvSpPr>
        <p:spPr>
          <a:xfrm>
            <a:off x="457200" y="4956048"/>
            <a:ext cx="11274552" cy="804672"/>
          </a:xfrm>
          <a:prstGeom prst="roundRect">
            <a:avLst>
              <a:gd name="adj" fmla="val 9091"/>
            </a:avLst>
          </a:prstGeom>
          <a:solidFill>
            <a:srgbClr val="FCEFD0"/>
          </a:solidFill>
          <a:ln w="9525">
            <a:solidFill>
              <a:srgbClr val="8A5A00"/>
            </a:solidFill>
          </a:ln>
        </p:spPr>
        <p:txBody>
          <a:bodyPr wrap="square" lIns="182880" tIns="54864" rIns="182880" bIns="54864" rtlCol="0" anchor="ctr"/>
          <a:lstStyle/>
          <a:p>
            <a:pPr algn="l" indent="0" marL="0">
              <a:spcAft>
                <a:spcPts val="200"/>
              </a:spcAft>
              <a:buNone/>
            </a:pPr>
            <a:r>
              <a:rPr lang="en-US" sz="1200" b="1" dirty="0">
                <a:solidFill>
                  <a:srgbClr val="8A5A00"/>
                </a:solidFill>
                <a:latin typeface="Calibri" pitchFamily="34" charset="0"/>
                <a:ea typeface="Calibri" pitchFamily="34" charset="-122"/>
                <a:cs typeface="Calibri" pitchFamily="34" charset="-120"/>
              </a:rPr>
              <a:t>What this does not show yet</a:t>
            </a:r>
            <a:endParaRPr lang="en-US" sz="1200" dirty="0"/>
          </a:p>
          <a:p>
            <a:pPr algn="l" indent="0" marL="0">
              <a:buNone/>
            </a:pPr>
            <a:r>
              <a:rPr lang="en-US" sz="1150" dirty="0">
                <a:solidFill>
                  <a:srgbClr val="16211E"/>
                </a:solidFill>
                <a:latin typeface="Calibri" pitchFamily="34" charset="0"/>
                <a:ea typeface="Calibri" pitchFamily="34" charset="-122"/>
                <a:cs typeface="Calibri" pitchFamily="34" charset="-120"/>
              </a:rPr>
              <a:t>Real faxes. These packets are made up and mostly written by us. The real test is real, de-identified cases labeled by senior nurses before the tool sees them. 0 of 65 only says the true error rate is probably under 5%.</a:t>
            </a:r>
            <a:endParaRPr lang="en-US" sz="1200" dirty="0"/>
          </a:p>
        </p:txBody>
      </p:sp>
      <p:sp>
        <p:nvSpPr>
          <p:cNvPr id="10" name="Point"/>
          <p:cNvSpPr/>
          <p:nvPr/>
        </p:nvSpPr>
        <p:spPr>
          <a:xfrm>
            <a:off x="457200" y="5852160"/>
            <a:ext cx="11274552" cy="713232"/>
          </a:xfrm>
          <a:prstGeom prst="roundRect">
            <a:avLst>
              <a:gd name="adj" fmla="val 10256"/>
            </a:avLst>
          </a:prstGeom>
          <a:solidFill>
            <a:srgbClr val="1F6F5C"/>
          </a:solidFill>
          <a:ln w="12700">
            <a:solidFill>
              <a:srgbClr val="1F6F5C"/>
            </a:solidFill>
          </a:ln>
        </p:spPr>
        <p:txBody>
          <a:bodyPr wrap="square" lIns="228600" tIns="45720" rIns="228600" bIns="45720" rtlCol="0" anchor="ctr"/>
          <a:lstStyle/>
          <a:p>
            <a:pPr algn="ctr" indent="0" marL="0">
              <a:spcAft>
                <a:spcPts val="200"/>
              </a:spcAft>
              <a:buNone/>
            </a:pPr>
            <a:r>
              <a:rPr lang="en-US" sz="1600" b="1" dirty="0">
                <a:solidFill>
                  <a:srgbClr val="FFFFFF"/>
                </a:solidFill>
                <a:latin typeface="Calibri" pitchFamily="34" charset="0"/>
                <a:ea typeface="Calibri" pitchFamily="34" charset="-122"/>
                <a:cs typeface="Calibri" pitchFamily="34" charset="-120"/>
              </a:rPr>
              <a:t>Never a guess. Never a denial.</a:t>
            </a:r>
            <a:endParaRPr lang="en-US" sz="1600" dirty="0"/>
          </a:p>
          <a:p>
            <a:pPr algn="ctr" indent="0" marL="0">
              <a:buNone/>
            </a:pPr>
            <a:r>
              <a:rPr lang="en-US" sz="1150" dirty="0">
                <a:solidFill>
                  <a:srgbClr val="D5EBE3"/>
                </a:solidFill>
                <a:latin typeface="Calibri" pitchFamily="34" charset="0"/>
                <a:ea typeface="Calibri" pitchFamily="34" charset="-122"/>
                <a:cs typeface="Calibri" pitchFamily="34" charset="-120"/>
              </a:rPr>
              <a:t>A missing fact goes to the nurse as 'not sure'. Only a medical director can deny.</a:t>
            </a:r>
            <a:endParaRPr lang="en-US" sz="1600" dirty="0"/>
          </a:p>
        </p:txBody>
      </p:sp>
      <p:sp>
        <p:nvSpPr>
          <p:cNvPr id="11" name="footer"/>
          <p:cNvSpPr txBox="1"/>
          <p:nvPr/>
        </p:nvSpPr>
        <p:spPr>
          <a:xfrm>
            <a:off x="457200" y="6601968"/>
            <a:ext cx="11274552" cy="201168"/>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Source: PA Desk eval scorecard (5 stability runs, 44-service policy search, 24-item human citation audit). Synthetic data.</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we know it works</dc:title>
  <dc:subject>PptxGenJS Presentation</dc:subject>
  <dc:creator>Nisha Mishra</dc:creator>
  <cp:lastModifiedBy>Nisha Mishra</cp:lastModifiedBy>
  <cp:revision>1</cp:revision>
  <dcterms:created xsi:type="dcterms:W3CDTF">2026-10-04T07:50:51Z</dcterms:created>
  <dcterms:modified xsi:type="dcterms:W3CDTF">2026-10-04T07:50:51Z</dcterms:modified>
</cp:coreProperties>
</file>