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Click once per step. Finish your talking point, then click.
Click 1: Same case as before, so you can compare. Nothing changes at the start. A surgeon's office assembles the packet for John Doe, 71.
Click 2: They still fax it. Fourteen pages. I am not changing how providers send things.
Click 3: Intake checks the member, the form and the codes, same as today. Then they upload it to our system. That is where everything changes.
Click 4: The AI comes in here. During intake, it reads all fourteen pages and finds the facts this service needs, before a nurse touches the case.
Click 5: The nurse picks it up, same as today. But she is not hunting through fourteen pages.
Click 6: She sees four facts, each with its page and the exact words.
Click 7: The AI recommends one of three ways out. The nurse confirms. The decision is still hers.
Click 8: Path one. Everything is there. She confirms the approval. It is faster because she reviews instead of reads.
Click 9: Path two. A fact is missing. The system tells her exactly what to ask. The provider gets one precise question, not a vague pend.
Click 10: They send only that. It goes back to the same nurse. No fax loop. No starting from zero. This is where right-first-time moves.
Click 11: Path three. A borderline case. The AI escalates it. It never makes that call.
Click 12: The director gets the evidence and the nurse's note. Only they can deny.
Click 13: Same people. Same decisions. What changes is the hunt and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 ·  PHASE 1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moves with Phase 1.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elective inpatient lumbar spinal fusion request, with the AI in the flow. Purple is what changes. A person decides every case.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P1"/>
          <p:cNvSpPr/>
          <p:nvPr/>
        </p:nvSpPr>
        <p:spPr>
          <a:xfrm>
            <a:off x="32461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2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3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4" name="L3"/>
          <p:cNvSpPr/>
          <p:nvPr/>
        </p:nvSpPr>
        <p:spPr>
          <a:xfrm>
            <a:off x="777240" y="434340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F3AA8"/>
            </a:solidFill>
          </a:ln>
        </p:spPr>
        <p:txBody>
          <a:bodyPr wrap="square" lIns="777240" tIns="36576" rIns="109728" bIns="3657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gets one question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only what is missing.</a:t>
            </a:r>
            <a:endParaRPr lang="en-US" sz="1200" dirty="0"/>
          </a:p>
        </p:txBody>
      </p:sp>
      <p:pic>
        <p:nvPicPr>
          <p:cNvPr id="15" name="AvL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16552"/>
            <a:ext cx="493776" cy="493776"/>
          </a:xfrm>
          <a:prstGeom prst="rect">
            <a:avLst/>
          </a:prstGeom>
        </p:spPr>
      </p:pic>
      <p:sp>
        <p:nvSpPr>
          <p:cNvPr id="16" name="T3"/>
          <p:cNvSpPr/>
          <p:nvPr/>
        </p:nvSpPr>
        <p:spPr>
          <a:xfrm>
            <a:off x="777240" y="5193792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guessing. No full resend.</a:t>
            </a:r>
            <a:endParaRPr lang="en-US" sz="1100" dirty="0"/>
          </a:p>
        </p:txBody>
      </p:sp>
      <p:sp>
        <p:nvSpPr>
          <p:cNvPr id="17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 and codes. Uploads the packet.</a:t>
            </a:r>
            <a:endParaRPr lang="en-US" sz="1300" dirty="0"/>
          </a:p>
        </p:txBody>
      </p:sp>
      <p:pic>
        <p:nvPicPr>
          <p:cNvPr id="18" name="AvIntak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9" name="P2"/>
          <p:cNvSpPr/>
          <p:nvPr/>
        </p:nvSpPr>
        <p:spPr>
          <a:xfrm>
            <a:off x="75895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20" name="ArrAI"/>
          <p:cNvSpPr/>
          <p:nvPr/>
        </p:nvSpPr>
        <p:spPr>
          <a:xfrm>
            <a:off x="8503920" y="2446020"/>
            <a:ext cx="182880" cy="0"/>
          </a:xfrm>
          <a:prstGeom prst="line">
            <a:avLst/>
          </a:prstGeom>
          <a:noFill/>
          <a:ln w="25400">
            <a:solidFill>
              <a:srgbClr val="5F3AA8"/>
            </a:solidFill>
            <a:prstDash val="solid"/>
            <a:tailEnd type="triangle"/>
          </a:ln>
        </p:spPr>
      </p:sp>
      <p:sp>
        <p:nvSpPr>
          <p:cNvPr id="21" name="AIbox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at 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pages. Finds the facts.</a:t>
            </a:r>
            <a:endParaRPr lang="en-US" sz="1300" dirty="0"/>
          </a:p>
        </p:txBody>
      </p:sp>
      <p:pic>
        <p:nvPicPr>
          <p:cNvPr id="22" name="AvA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2121408"/>
            <a:ext cx="649224" cy="649224"/>
          </a:xfrm>
          <a:prstGeom prst="rect">
            <a:avLst/>
          </a:prstGeom>
        </p:spPr>
      </p:pic>
      <p:sp>
        <p:nvSpPr>
          <p:cNvPr id="23" name="T5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goes back to the same nurse. No fax loop.</a:t>
            </a:r>
            <a:endParaRPr lang="en-US" sz="1100" dirty="0"/>
          </a:p>
        </p:txBody>
      </p:sp>
      <p:sp>
        <p:nvSpPr>
          <p:cNvPr id="24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5F3AA8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evidence. No hunting.</a:t>
            </a:r>
            <a:endParaRPr lang="en-US" sz="1300" dirty="0"/>
          </a:p>
        </p:txBody>
      </p:sp>
      <p:pic>
        <p:nvPicPr>
          <p:cNvPr id="25" name="AvNurs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26" name="P3"/>
          <p:cNvSpPr/>
          <p:nvPr/>
        </p:nvSpPr>
        <p:spPr>
          <a:xfrm>
            <a:off x="7589520" y="29900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27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found, with page and quote</a:t>
            </a:r>
            <a:endParaRPr lang="en-US" sz="1100" dirty="0"/>
          </a:p>
        </p:txBody>
      </p:sp>
      <p:sp>
        <p:nvSpPr>
          <p:cNvPr id="28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F3AA8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 · p.8</a:t>
            </a:r>
            <a:endParaRPr lang="en-US" sz="950" dirty="0"/>
          </a:p>
        </p:txBody>
      </p:sp>
      <p:sp>
        <p:nvSpPr>
          <p:cNvPr id="29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F3AA8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· p.2</a:t>
            </a:r>
            <a:endParaRPr lang="en-US" sz="950" dirty="0"/>
          </a:p>
        </p:txBody>
      </p:sp>
      <p:sp>
        <p:nvSpPr>
          <p:cNvPr id="30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F3AA8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· p.5</a:t>
            </a:r>
            <a:endParaRPr lang="en-US" sz="950" dirty="0"/>
          </a:p>
        </p:txBody>
      </p:sp>
      <p:sp>
        <p:nvSpPr>
          <p:cNvPr id="31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5F3AA8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· p.9</a:t>
            </a:r>
            <a:endParaRPr lang="en-US" sz="950" dirty="0"/>
          </a:p>
        </p:txBody>
      </p:sp>
      <p:sp>
        <p:nvSpPr>
          <p:cNvPr id="32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precise question</a:t>
            </a:r>
            <a:endParaRPr lang="en-US" sz="1300" dirty="0"/>
          </a:p>
        </p:txBody>
      </p:sp>
      <p:sp>
        <p:nvSpPr>
          <p:cNvPr id="33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confirms</a:t>
            </a:r>
            <a:endParaRPr lang="en-US" sz="1300" dirty="0"/>
          </a:p>
        </p:txBody>
      </p:sp>
      <p:sp>
        <p:nvSpPr>
          <p:cNvPr id="34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attached</a:t>
            </a:r>
            <a:endParaRPr lang="en-US" sz="1300" dirty="0"/>
          </a:p>
        </p:txBody>
      </p:sp>
      <p:sp>
        <p:nvSpPr>
          <p:cNvPr id="35" name="RingPend"/>
          <p:cNvSpPr/>
          <p:nvPr/>
        </p:nvSpPr>
        <p:spPr>
          <a:xfrm>
            <a:off x="524865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8A5A00"/>
            </a:solidFill>
            <a:prstDash val="solid"/>
          </a:ln>
        </p:spPr>
      </p:sp>
      <p:sp>
        <p:nvSpPr>
          <p:cNvPr id="36" name="RingApprove"/>
          <p:cNvSpPr/>
          <p:nvPr/>
        </p:nvSpPr>
        <p:spPr>
          <a:xfrm>
            <a:off x="726033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18764A"/>
            </a:solidFill>
            <a:prstDash val="solid"/>
          </a:ln>
        </p:spPr>
      </p:sp>
      <p:sp>
        <p:nvSpPr>
          <p:cNvPr id="37" name="RingEsc"/>
          <p:cNvSpPr/>
          <p:nvPr/>
        </p:nvSpPr>
        <p:spPr>
          <a:xfrm>
            <a:off x="9317736" y="4288536"/>
            <a:ext cx="2212848" cy="749808"/>
          </a:xfrm>
          <a:prstGeom prst="roundRect">
            <a:avLst>
              <a:gd name="adj" fmla="val 12195"/>
            </a:avLst>
          </a:prstGeom>
          <a:ln w="38100">
            <a:solidFill>
              <a:srgbClr val="5F3AA8"/>
            </a:solidFill>
            <a:prstDash val="solid"/>
          </a:ln>
        </p:spPr>
      </p:sp>
      <p:sp>
        <p:nvSpPr>
          <p:cNvPr id="38" name="MD"/>
          <p:cNvSpPr/>
          <p:nvPr/>
        </p:nvSpPr>
        <p:spPr>
          <a:xfrm>
            <a:off x="8321040" y="513892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731520" tIns="27432" rIns="91440" bIns="27432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Decides, with the evidence.</a:t>
            </a:r>
            <a:endParaRPr lang="en-US" sz="1200" dirty="0"/>
          </a:p>
        </p:txBody>
      </p:sp>
      <p:pic>
        <p:nvPicPr>
          <p:cNvPr id="39" name="AvMD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5184648"/>
            <a:ext cx="475488" cy="475488"/>
          </a:xfrm>
          <a:prstGeom prst="rect">
            <a:avLst/>
          </a:prstGeom>
        </p:spPr>
      </p:pic>
      <p:sp>
        <p:nvSpPr>
          <p:cNvPr id="40" name="T4"/>
          <p:cNvSpPr/>
          <p:nvPr/>
        </p:nvSpPr>
        <p:spPr>
          <a:xfrm>
            <a:off x="5303520" y="513892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arrives with the evidence. Only they can deny.</a:t>
            </a:r>
            <a:endParaRPr lang="en-US" sz="1100" dirty="0"/>
          </a:p>
        </p:txBody>
      </p:sp>
      <p:sp>
        <p:nvSpPr>
          <p:cNvPr id="41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42" name="IcFax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43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44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5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46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47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8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9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50" name="ArrPend"/>
          <p:cNvSpPr/>
          <p:nvPr/>
        </p:nvSpPr>
        <p:spPr>
          <a:xfrm flipH="1">
            <a:off x="4297680" y="4617720"/>
            <a:ext cx="1005840" cy="0"/>
          </a:xfrm>
          <a:prstGeom prst="line">
            <a:avLst/>
          </a:prstGeom>
          <a:noFill/>
          <a:ln w="25400">
            <a:solidFill>
              <a:srgbClr val="8A5A00"/>
            </a:solidFill>
            <a:prstDash val="solid"/>
            <a:tailEnd type="triangle"/>
          </a:ln>
        </p:spPr>
      </p:sp>
      <p:sp>
        <p:nvSpPr>
          <p:cNvPr id="51" name="ArrReply"/>
          <p:cNvSpPr/>
          <p:nvPr/>
        </p:nvSpPr>
        <p:spPr>
          <a:xfrm>
            <a:off x="4297680" y="4892040"/>
            <a:ext cx="1005840" cy="0"/>
          </a:xfrm>
          <a:prstGeom prst="line">
            <a:avLst/>
          </a:prstGeom>
          <a:noFill/>
          <a:ln w="25400">
            <a:solidFill>
              <a:srgbClr val="5F3AA8"/>
            </a:solidFill>
            <a:prstDash val="solid"/>
            <a:tailEnd type="triangle"/>
          </a:ln>
        </p:spPr>
      </p:sp>
      <p:sp>
        <p:nvSpPr>
          <p:cNvPr id="52" name="LblReply"/>
          <p:cNvSpPr txBox="1"/>
          <p:nvPr/>
        </p:nvSpPr>
        <p:spPr>
          <a:xfrm>
            <a:off x="4315968" y="493776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000" dirty="0"/>
          </a:p>
        </p:txBody>
      </p:sp>
      <p:sp>
        <p:nvSpPr>
          <p:cNvPr id="53" name="ArrMD"/>
          <p:cNvSpPr/>
          <p:nvPr/>
        </p:nvSpPr>
        <p:spPr>
          <a:xfrm>
            <a:off x="10424160" y="4983480"/>
            <a:ext cx="0" cy="155448"/>
          </a:xfrm>
          <a:prstGeom prst="line">
            <a:avLst/>
          </a:prstGeom>
          <a:noFill/>
          <a:ln w="25400">
            <a:solidFill>
              <a:srgbClr val="5F3AA8"/>
            </a:solidFill>
            <a:prstDash val="solid"/>
            <a:tailEnd type="triangle"/>
          </a:ln>
        </p:spPr>
      </p:sp>
      <p:sp>
        <p:nvSpPr>
          <p:cNvPr id="54" name="LabelA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 ·  A COMPLETE PACKET</a:t>
            </a:r>
            <a:endParaRPr lang="en-US" sz="1400" dirty="0"/>
          </a:p>
        </p:txBody>
      </p:sp>
      <p:sp>
        <p:nvSpPr>
          <p:cNvPr id="55" name="LabelB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 ·  SOMETHING IS MISSING</a:t>
            </a:r>
            <a:endParaRPr lang="en-US" sz="1400" dirty="0"/>
          </a:p>
        </p:txBody>
      </p:sp>
      <p:sp>
        <p:nvSpPr>
          <p:cNvPr id="56" name="LabelC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 ·  NEEDS A PHYSICIAN</a:t>
            </a:r>
            <a:endParaRPr lang="en-US" sz="1400" dirty="0"/>
          </a:p>
        </p:txBody>
      </p:sp>
      <p:sp>
        <p:nvSpPr>
          <p:cNvPr id="57" name="c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at the start. A surgeon's office assembles the packet.</a:t>
            </a:r>
            <a:endParaRPr lang="en-US" sz="1600" dirty="0"/>
          </a:p>
        </p:txBody>
      </p:sp>
      <p:sp>
        <p:nvSpPr>
          <p:cNvPr id="58" name="c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still fax it to the plan. Fourteen pages.</a:t>
            </a:r>
            <a:endParaRPr lang="en-US" sz="1600" dirty="0"/>
          </a:p>
        </p:txBody>
      </p:sp>
      <p:sp>
        <p:nvSpPr>
          <p:cNvPr id="59" name="c3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checks the member, the form and the codes, and uploads the packet.</a:t>
            </a:r>
            <a:endParaRPr lang="en-US" sz="1600" dirty="0"/>
          </a:p>
        </p:txBody>
      </p:sp>
      <p:sp>
        <p:nvSpPr>
          <p:cNvPr id="60" name="c4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AI comes in. During intake, it reads all fourteen pages and finds the facts.</a:t>
            </a:r>
            <a:endParaRPr lang="en-US" sz="1600" dirty="0"/>
          </a:p>
        </p:txBody>
      </p:sp>
      <p:sp>
        <p:nvSpPr>
          <p:cNvPr id="61" name="c5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picks it up. She is not hunting through fourteen pages.</a:t>
            </a:r>
            <a:endParaRPr lang="en-US" sz="1600" dirty="0"/>
          </a:p>
        </p:txBody>
      </p:sp>
      <p:sp>
        <p:nvSpPr>
          <p:cNvPr id="62" name="c6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sees the four facts, each with its page and the exact words.</a:t>
            </a:r>
            <a:endParaRPr lang="en-US" sz="1600" dirty="0"/>
          </a:p>
        </p:txBody>
      </p:sp>
      <p:sp>
        <p:nvSpPr>
          <p:cNvPr id="63" name="c7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recommends one of three ways out. The nurse confirms.</a:t>
            </a:r>
            <a:endParaRPr lang="en-US" sz="1600" dirty="0"/>
          </a:p>
        </p:txBody>
      </p:sp>
      <p:sp>
        <p:nvSpPr>
          <p:cNvPr id="64" name="c8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1. Everything is there. She confirms the approval.</a:t>
            </a:r>
            <a:endParaRPr lang="en-US" sz="1600" dirty="0"/>
          </a:p>
        </p:txBody>
      </p:sp>
      <p:sp>
        <p:nvSpPr>
          <p:cNvPr id="65" name="c9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2. A fact is missing. The system tells her exactly what to ask, and the provider gets one precise question.</a:t>
            </a:r>
            <a:endParaRPr lang="en-US" sz="1600" dirty="0"/>
          </a:p>
        </p:txBody>
      </p:sp>
      <p:sp>
        <p:nvSpPr>
          <p:cNvPr id="66" name="c10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send only that. It goes back to the same nurse. No fax loop. No starting from zero.</a:t>
            </a:r>
            <a:endParaRPr lang="en-US" sz="1600" dirty="0"/>
          </a:p>
        </p:txBody>
      </p:sp>
      <p:sp>
        <p:nvSpPr>
          <p:cNvPr id="67" name="c1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3. The facts are there but the case is borderline. It goes to a medical director.</a:t>
            </a:r>
            <a:endParaRPr lang="en-US" sz="1600" dirty="0"/>
          </a:p>
        </p:txBody>
      </p:sp>
      <p:sp>
        <p:nvSpPr>
          <p:cNvPr id="68" name="c1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gets the evidence and the nurse's note. Only they can deny.</a:t>
            </a:r>
            <a:endParaRPr lang="en-US" sz="1600" dirty="0"/>
          </a:p>
        </p:txBody>
      </p:sp>
      <p:sp>
        <p:nvSpPr>
          <p:cNvPr id="69" name="c13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people. Same decisions. What changes is the hunt, and the loop.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1" grpId="0" animBg="1"/>
      <p:bldP spid="57" grpId="0"/>
      <p:bldP spid="43" grpId="0"/>
      <p:bldP spid="58" grpId="0"/>
      <p:bldP spid="17" grpId="0" animBg="1"/>
      <p:bldP spid="19" grpId="0" animBg="1"/>
      <p:bldP spid="59" grpId="0"/>
      <p:bldP spid="21" grpId="0" animBg="1"/>
      <p:bldP spid="60" grpId="0"/>
      <p:bldP spid="24" grpId="0" animBg="1"/>
      <p:bldP spid="26" grpId="0" animBg="1"/>
      <p:bldP spid="61" grpId="0"/>
      <p:bldP spid="27" grpId="0"/>
      <p:bldP spid="28" grpId="0" animBg="1"/>
      <p:bldP spid="29" grpId="0" animBg="1"/>
      <p:bldP spid="30" grpId="0" animBg="1"/>
      <p:bldP spid="31" grpId="0" animBg="1"/>
      <p:bldP spid="62" grpId="0"/>
      <p:bldP spid="32" grpId="0" animBg="1"/>
      <p:bldP spid="33" grpId="0" animBg="1"/>
      <p:bldP spid="34" grpId="0" animBg="1"/>
      <p:bldP spid="63" grpId="0"/>
      <p:bldP spid="54" grpId="0"/>
      <p:bldP spid="36" grpId="0" animBg="1"/>
      <p:bldP spid="64" grpId="0"/>
      <p:bldP spid="55" grpId="0"/>
      <p:bldP spid="35" grpId="0" animBg="1"/>
      <p:bldP spid="14" grpId="0" animBg="1"/>
      <p:bldP spid="16" grpId="0" animBg="1"/>
      <p:bldP spid="65" grpId="0"/>
      <p:bldP spid="52" grpId="0"/>
      <p:bldP spid="23" grpId="0" animBg="1"/>
      <p:bldP spid="66" grpId="0"/>
      <p:bldP spid="56" grpId="0"/>
      <p:bldP spid="37" grpId="0" animBg="1"/>
      <p:bldP spid="67" grpId="0"/>
      <p:bldP spid="38" grpId="0" animBg="1"/>
      <p:bldP spid="40" grpId="0" animBg="1"/>
      <p:bldP spid="68" grpId="0"/>
      <p:bldP spid="6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it moves with Phase 1</dc:title>
  <dc:subject>PptxGenJS Presentation</dc:subject>
  <dc:creator>Nisha Mishra</dc:creator>
  <cp:lastModifiedBy>Nisha Mishra</cp:lastModifiedBy>
  <cp:revision>1</cp:revision>
  <dcterms:created xsi:type="dcterms:W3CDTF">2026-10-06T03:40:07Z</dcterms:created>
  <dcterms:modified xsi:type="dcterms:W3CDTF">2026-10-06T03:40:07Z</dcterms:modified>
</cp:coreProperties>
</file>