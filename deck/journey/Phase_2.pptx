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Lst>
  <p:notesMasterIdLst>
    <p:notesMasterId r:id="rId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notesMaster" Target="notesMasters/notesMaster1.xml"/><Relationship Id="rId4" Type="http://schemas.openxmlformats.org/officeDocument/2006/relationships/presProps" Target="presProps.xml"/><Relationship Id="rId5" Type="http://schemas.openxmlformats.org/officeDocument/2006/relationships/viewProps" Target="viewProps.xml"/><Relationship Id="rId6" Type="http://schemas.openxmlformats.org/officeDocument/2006/relationships/theme" Target="theme/theme1.xml"/><Relationship Id="rId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slide. One click per step. Finish your talking point, then click.
Click 1: Phase one is what you have just seen. The AI recommends, with citations, and the nurse confirms. It removes the pend. A missing detail is found at the start, as one precise question, not after a loop. I add services one at a time, planned, then pilot, then live. And it builds something that matters for what comes next: a trusted record of every decision, with its evidence.
Click 2: Phase two has a gate. I do not build the next layer on a record I have not tested. First, evals on real, labeled cases, not made-up ones. Second, a compliance review for anything the member sees. Until the gate opens, nothing in phase two goes live.
Click 3: First, the member. In friction six, the member waits with no view. I did not build it first, because a status is only as good as the record behind it. The decision record that phase one creates is exactly what the member view reads. And from January 2027, plans must offer a Patient Access API with prior authorization information, so this is on the way regardless.
Click 4: Second, learn from outcomes. When a denial is appealed and overturned, I want to know whether the packet already had the answer. That result feeds back into the rules and the evals. That is the full version of right-first-time.
Click 5: Third, more services. I onboard them one at a time, ranked by Humana's own history of prior authorization requests: volume, pends and reversals by procedure code. The process is the one you saw: policy, codes, service, pilot, live.
Click 6: And in every phase a person decides. The AI never denies, and it never approves on its own. A nurse confirms every recommendation. Only a medical director denies, and writes the reason.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image" Target="../media/image-1-6.png"/><Relationship Id="rId7" Type="http://schemas.openxmlformats.org/officeDocument/2006/relationships/image" Target="../media/image-1-7.png"/><Relationship Id="rId8" Type="http://schemas.openxmlformats.org/officeDocument/2006/relationships/slideLayout" Target="../slideLayouts/slideLayout1.xml"/><Relationship Id="rId9" Type="http://schemas.openxmlformats.org/officeDocument/2006/relationships/notesSlide" Target="../notesSlides/notesSlide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eyebrow"/>
          <p:cNvSpPr txBox="1"/>
          <p:nvPr/>
        </p:nvSpPr>
        <p:spPr>
          <a:xfrm>
            <a:off x="457200" y="274320"/>
            <a:ext cx="4572000" cy="256032"/>
          </a:xfrm>
          <a:prstGeom prst="rect">
            <a:avLst/>
          </a:prstGeom>
          <a:noFill/>
          <a:ln/>
        </p:spPr>
        <p:txBody>
          <a:bodyPr wrap="square" lIns="0" tIns="0" rIns="0" bIns="0" rtlCol="0" anchor="t"/>
          <a:lstStyle/>
          <a:p>
            <a:pPr algn="l" indent="0" marL="0">
              <a:buNone/>
            </a:pPr>
            <a:r>
              <a:rPr lang="en-US" sz="1100" b="1" spc="300" kern="0" dirty="0">
                <a:solidFill>
                  <a:srgbClr val="1F6F5C"/>
                </a:solidFill>
                <a:latin typeface="Calibri" pitchFamily="34" charset="0"/>
                <a:ea typeface="Calibri" pitchFamily="34" charset="-122"/>
                <a:cs typeface="Calibri" pitchFamily="34" charset="-120"/>
              </a:rPr>
              <a:t>PHASE 2</a:t>
            </a:r>
            <a:endParaRPr lang="en-US" sz="1100" dirty="0"/>
          </a:p>
        </p:txBody>
      </p:sp>
      <p:sp>
        <p:nvSpPr>
          <p:cNvPr id="3" name="title"/>
          <p:cNvSpPr txBox="1"/>
          <p:nvPr/>
        </p:nvSpPr>
        <p:spPr>
          <a:xfrm>
            <a:off x="457200" y="502920"/>
            <a:ext cx="8778240" cy="685800"/>
          </a:xfrm>
          <a:prstGeom prst="rect">
            <a:avLst/>
          </a:prstGeom>
          <a:noFill/>
          <a:ln/>
        </p:spPr>
        <p:txBody>
          <a:bodyPr wrap="square" lIns="0" tIns="0" rIns="0" bIns="0" rtlCol="0" anchor="ctr"/>
          <a:lstStyle/>
          <a:p>
            <a:pPr algn="l" indent="0" marL="0">
              <a:buNone/>
            </a:pPr>
            <a:r>
              <a:rPr lang="en-US" sz="2600" dirty="0">
                <a:solidFill>
                  <a:srgbClr val="16211E"/>
                </a:solidFill>
                <a:latin typeface="Cambria" pitchFamily="34" charset="0"/>
                <a:ea typeface="Cambria" pitchFamily="34" charset="-122"/>
                <a:cs typeface="Cambria" pitchFamily="34" charset="-120"/>
              </a:rPr>
              <a:t>Phase 1 builds the record. Phase 2 puts it to work.</a:t>
            </a:r>
            <a:endParaRPr lang="en-US" sz="2600" dirty="0"/>
          </a:p>
        </p:txBody>
      </p:sp>
      <p:sp>
        <p:nvSpPr>
          <p:cNvPr id="4" name="sub"/>
          <p:cNvSpPr txBox="1"/>
          <p:nvPr/>
        </p:nvSpPr>
        <p:spPr>
          <a:xfrm>
            <a:off x="9144000" y="502920"/>
            <a:ext cx="2587752" cy="685800"/>
          </a:xfrm>
          <a:prstGeom prst="rect">
            <a:avLst/>
          </a:prstGeom>
          <a:noFill/>
          <a:ln/>
        </p:spPr>
        <p:txBody>
          <a:bodyPr wrap="square" lIns="0" tIns="0" rIns="0" bIns="0" rtlCol="0" anchor="ctr"/>
          <a:lstStyle/>
          <a:p>
            <a:pPr algn="r" indent="0" marL="0">
              <a:buNone/>
            </a:pPr>
            <a:r>
              <a:rPr lang="en-US" sz="1400" dirty="0">
                <a:solidFill>
                  <a:srgbClr val="5C6B66"/>
                </a:solidFill>
                <a:latin typeface="Calibri" pitchFamily="34" charset="0"/>
                <a:ea typeface="Calibri" pitchFamily="34" charset="-122"/>
                <a:cs typeface="Calibri" pitchFamily="34" charset="-120"/>
              </a:rPr>
              <a:t>Every phase has a reason</a:t>
            </a:r>
            <a:endParaRPr lang="en-US" sz="1400" dirty="0"/>
          </a:p>
        </p:txBody>
      </p:sp>
      <p:sp>
        <p:nvSpPr>
          <p:cNvPr id="5" name="panelP1"/>
          <p:cNvSpPr/>
          <p:nvPr/>
        </p:nvSpPr>
        <p:spPr>
          <a:xfrm>
            <a:off x="457200" y="1325880"/>
            <a:ext cx="3383280" cy="3931920"/>
          </a:xfrm>
          <a:prstGeom prst="roundRect">
            <a:avLst>
              <a:gd name="adj" fmla="val 2703"/>
            </a:avLst>
          </a:prstGeom>
          <a:solidFill>
            <a:srgbClr val="F5F3EE"/>
          </a:solidFill>
          <a:ln w="12700">
            <a:solidFill>
              <a:srgbClr val="CBD5D1"/>
            </a:solidFill>
          </a:ln>
        </p:spPr>
        <p:txBody>
          <a:bodyPr wrap="square" lIns="109728" tIns="54864" rIns="109728" bIns="54864" rtlCol="0" anchor="ctr"/>
          <a:lstStyle/>
          <a:p>
            <a:pPr algn="l" indent="0" marL="0">
              <a:buNone/>
            </a:pPr>
            <a:r>
              <a:rPr lang="en-US" sz="800" dirty="0">
                <a:solidFill>
                  <a:srgbClr val="000000"/>
                </a:solidFill>
              </a:rPr>
              <a:t> </a:t>
            </a:r>
            <a:endParaRPr lang="en-US" sz="800" dirty="0"/>
          </a:p>
        </p:txBody>
      </p:sp>
      <p:sp>
        <p:nvSpPr>
          <p:cNvPr id="6" name="panelP2"/>
          <p:cNvSpPr/>
          <p:nvPr/>
        </p:nvSpPr>
        <p:spPr>
          <a:xfrm>
            <a:off x="5989320" y="1325880"/>
            <a:ext cx="5742432" cy="3931920"/>
          </a:xfrm>
          <a:prstGeom prst="roundRect">
            <a:avLst>
              <a:gd name="adj" fmla="val 2326"/>
            </a:avLst>
          </a:prstGeom>
          <a:solidFill>
            <a:srgbClr val="EEF5F2"/>
          </a:solidFill>
          <a:ln w="12700">
            <a:solidFill>
              <a:srgbClr val="CBD5D1"/>
            </a:solidFill>
          </a:ln>
        </p:spPr>
        <p:txBody>
          <a:bodyPr wrap="square" lIns="109728" tIns="54864" rIns="109728" bIns="54864" rtlCol="0" anchor="ctr"/>
          <a:lstStyle/>
          <a:p>
            <a:pPr algn="l" indent="0" marL="0">
              <a:buNone/>
            </a:pPr>
            <a:r>
              <a:rPr lang="en-US" sz="800" dirty="0">
                <a:solidFill>
                  <a:srgbClr val="000000"/>
                </a:solidFill>
              </a:rPr>
              <a:t> </a:t>
            </a:r>
            <a:endParaRPr lang="en-US" sz="800" dirty="0"/>
          </a:p>
        </p:txBody>
      </p:sp>
      <p:sp>
        <p:nvSpPr>
          <p:cNvPr id="7" name="hdrP1"/>
          <p:cNvSpPr txBox="1"/>
          <p:nvPr/>
        </p:nvSpPr>
        <p:spPr>
          <a:xfrm>
            <a:off x="640080" y="1389888"/>
            <a:ext cx="3108960" cy="502920"/>
          </a:xfrm>
          <a:prstGeom prst="rect">
            <a:avLst/>
          </a:prstGeom>
          <a:noFill/>
          <a:ln/>
        </p:spPr>
        <p:txBody>
          <a:bodyPr wrap="square" lIns="0" tIns="0" rIns="0" bIns="0" rtlCol="0" anchor="t"/>
          <a:lstStyle/>
          <a:p>
            <a:pPr algn="l" indent="0" marL="0">
              <a:buNone/>
            </a:pPr>
            <a:r>
              <a:rPr lang="en-US" sz="1100" b="1" spc="200" kern="0" dirty="0">
                <a:solidFill>
                  <a:srgbClr val="16211E"/>
                </a:solidFill>
                <a:latin typeface="Calibri" pitchFamily="34" charset="0"/>
                <a:ea typeface="Calibri" pitchFamily="34" charset="-122"/>
                <a:cs typeface="Calibri" pitchFamily="34" charset="-120"/>
              </a:rPr>
              <a:t>PHASE 1  ·  THIS PROTOTYPE</a:t>
            </a:r>
            <a:endParaRPr lang="en-US" sz="1100" dirty="0"/>
          </a:p>
          <a:p>
            <a:pPr algn="l" indent="0" marL="0">
              <a:buNone/>
            </a:pPr>
            <a:r>
              <a:rPr lang="en-US" sz="1000" dirty="0">
                <a:solidFill>
                  <a:srgbClr val="5C6B66"/>
                </a:solidFill>
                <a:latin typeface="Calibri" pitchFamily="34" charset="0"/>
                <a:ea typeface="Calibri" pitchFamily="34" charset="-122"/>
                <a:cs typeface="Calibri" pitchFamily="34" charset="-120"/>
              </a:rPr>
              <a:t>Recommend only</a:t>
            </a:r>
            <a:endParaRPr lang="en-US" sz="1100" dirty="0"/>
          </a:p>
        </p:txBody>
      </p:sp>
      <p:sp>
        <p:nvSpPr>
          <p:cNvPr id="8" name="hdrP2"/>
          <p:cNvSpPr txBox="1"/>
          <p:nvPr/>
        </p:nvSpPr>
        <p:spPr>
          <a:xfrm>
            <a:off x="6172200" y="1389888"/>
            <a:ext cx="5394960" cy="502920"/>
          </a:xfrm>
          <a:prstGeom prst="rect">
            <a:avLst/>
          </a:prstGeom>
          <a:noFill/>
          <a:ln/>
        </p:spPr>
        <p:txBody>
          <a:bodyPr wrap="square" lIns="0" tIns="0" rIns="0" bIns="0" rtlCol="0" anchor="t"/>
          <a:lstStyle/>
          <a:p>
            <a:pPr algn="l" indent="0" marL="0">
              <a:buNone/>
            </a:pPr>
            <a:r>
              <a:rPr lang="en-US" sz="1100" b="1" spc="200" kern="0" dirty="0">
                <a:solidFill>
                  <a:srgbClr val="16211E"/>
                </a:solidFill>
                <a:latin typeface="Calibri" pitchFamily="34" charset="0"/>
                <a:ea typeface="Calibri" pitchFamily="34" charset="-122"/>
                <a:cs typeface="Calibri" pitchFamily="34" charset="-120"/>
              </a:rPr>
              <a:t>PHASE 2  ·  AFTER THE GATE</a:t>
            </a:r>
            <a:endParaRPr lang="en-US" sz="1100" dirty="0"/>
          </a:p>
          <a:p>
            <a:pPr algn="l" indent="0" marL="0">
              <a:buNone/>
            </a:pPr>
            <a:r>
              <a:rPr lang="en-US" sz="1000" dirty="0">
                <a:solidFill>
                  <a:srgbClr val="5C6B66"/>
                </a:solidFill>
                <a:latin typeface="Calibri" pitchFamily="34" charset="0"/>
                <a:ea typeface="Calibri" pitchFamily="34" charset="-122"/>
                <a:cs typeface="Calibri" pitchFamily="34" charset="-120"/>
              </a:rPr>
              <a:t>Earned, one step at a time</a:t>
            </a:r>
            <a:endParaRPr lang="en-US" sz="1100" dirty="0"/>
          </a:p>
        </p:txBody>
      </p:sp>
      <p:sp>
        <p:nvSpPr>
          <p:cNvPr id="9" name="footer"/>
          <p:cNvSpPr txBox="1"/>
          <p:nvPr/>
        </p:nvSpPr>
        <p:spPr>
          <a:xfrm>
            <a:off x="457200" y="6492240"/>
            <a:ext cx="11274552" cy="228600"/>
          </a:xfrm>
          <a:prstGeom prst="rect">
            <a:avLst/>
          </a:prstGeom>
          <a:noFill/>
          <a:ln/>
        </p:spPr>
        <p:txBody>
          <a:bodyPr wrap="square" lIns="0" tIns="0" rIns="0" bIns="0" rtlCol="0" anchor="t"/>
          <a:lstStyle/>
          <a:p>
            <a:pPr algn="l" indent="0" marL="0">
              <a:buNone/>
            </a:pPr>
            <a:r>
              <a:rPr lang="en-US" sz="900" dirty="0">
                <a:solidFill>
                  <a:srgbClr val="5C6B66"/>
                </a:solidFill>
                <a:latin typeface="Calibri" pitchFamily="34" charset="0"/>
                <a:ea typeface="Calibri" pitchFamily="34" charset="-122"/>
                <a:cs typeface="Calibri" pitchFamily="34" charset="-120"/>
              </a:rPr>
              <a:t>Phase 2 is a plan, not built. Each step waits for its gate.</a:t>
            </a:r>
            <a:endParaRPr lang="en-US" sz="900" dirty="0"/>
          </a:p>
        </p:txBody>
      </p:sp>
      <p:sp>
        <p:nvSpPr>
          <p:cNvPr id="10" name="A1"/>
          <p:cNvSpPr/>
          <p:nvPr/>
        </p:nvSpPr>
        <p:spPr>
          <a:xfrm>
            <a:off x="640080" y="1965960"/>
            <a:ext cx="3017520" cy="960120"/>
          </a:xfrm>
          <a:prstGeom prst="roundRect">
            <a:avLst>
              <a:gd name="adj" fmla="val 7619"/>
            </a:avLst>
          </a:prstGeom>
          <a:solidFill>
            <a:srgbClr val="FFFFFF"/>
          </a:solidFill>
          <a:ln w="15875">
            <a:solidFill>
              <a:srgbClr val="CBD5D1"/>
            </a:solidFill>
          </a:ln>
        </p:spPr>
        <p:txBody>
          <a:bodyPr wrap="square" lIns="777240" tIns="36576" rIns="91440" bIns="36576" rtlCol="0" anchor="ctr"/>
          <a:lstStyle/>
          <a:p>
            <a:pPr algn="l" indent="0" marL="0">
              <a:buNone/>
            </a:pPr>
            <a:r>
              <a:rPr lang="en-US" sz="1350" b="1" dirty="0">
                <a:solidFill>
                  <a:srgbClr val="16211E"/>
                </a:solidFill>
                <a:latin typeface="Calibri" pitchFamily="34" charset="0"/>
                <a:ea typeface="Calibri" pitchFamily="34" charset="-122"/>
                <a:cs typeface="Calibri" pitchFamily="34" charset="-120"/>
              </a:rPr>
              <a:t>Recommend only</a:t>
            </a:r>
            <a:endParaRPr lang="en-US" sz="1350" dirty="0"/>
          </a:p>
          <a:p>
            <a:pPr algn="l" indent="0" marL="0">
              <a:buNone/>
            </a:pPr>
            <a:r>
              <a:rPr lang="en-US" sz="1050" dirty="0">
                <a:solidFill>
                  <a:srgbClr val="5C6B66"/>
                </a:solidFill>
                <a:latin typeface="Calibri" pitchFamily="34" charset="0"/>
                <a:ea typeface="Calibri" pitchFamily="34" charset="-122"/>
                <a:cs typeface="Calibri" pitchFamily="34" charset="-120"/>
              </a:rPr>
              <a:t>The AI recommends with citations. The nurse confirms.</a:t>
            </a:r>
            <a:endParaRPr lang="en-US" sz="1350" dirty="0"/>
          </a:p>
        </p:txBody>
      </p:sp>
      <p:pic>
        <p:nvPicPr>
          <p:cNvPr id="11" name="IcA1" descr="preencoded.png">    </p:cNvPr>
          <p:cNvPicPr>
            <a:picLocks noChangeAspect="1"/>
          </p:cNvPicPr>
          <p:nvPr/>
        </p:nvPicPr>
        <p:blipFill>
          <a:blip r:embed="rId1"/>
          <a:stretch>
            <a:fillRect/>
          </a:stretch>
        </p:blipFill>
        <p:spPr>
          <a:xfrm>
            <a:off x="749808" y="2167128"/>
            <a:ext cx="548640" cy="548640"/>
          </a:xfrm>
          <a:prstGeom prst="rect">
            <a:avLst/>
          </a:prstGeom>
        </p:spPr>
      </p:pic>
      <p:sp>
        <p:nvSpPr>
          <p:cNvPr id="12" name="A2"/>
          <p:cNvSpPr/>
          <p:nvPr/>
        </p:nvSpPr>
        <p:spPr>
          <a:xfrm>
            <a:off x="640080" y="3063240"/>
            <a:ext cx="3017520" cy="960120"/>
          </a:xfrm>
          <a:prstGeom prst="roundRect">
            <a:avLst>
              <a:gd name="adj" fmla="val 7619"/>
            </a:avLst>
          </a:prstGeom>
          <a:solidFill>
            <a:srgbClr val="FFFFFF"/>
          </a:solidFill>
          <a:ln w="15875">
            <a:solidFill>
              <a:srgbClr val="CBD5D1"/>
            </a:solidFill>
          </a:ln>
        </p:spPr>
        <p:txBody>
          <a:bodyPr wrap="square" lIns="777240" tIns="36576" rIns="91440" bIns="36576" rtlCol="0" anchor="ctr"/>
          <a:lstStyle/>
          <a:p>
            <a:pPr algn="l" indent="0" marL="0">
              <a:buNone/>
            </a:pPr>
            <a:r>
              <a:rPr lang="en-US" sz="1350" b="1" dirty="0">
                <a:solidFill>
                  <a:srgbClr val="16211E"/>
                </a:solidFill>
                <a:latin typeface="Calibri" pitchFamily="34" charset="0"/>
                <a:ea typeface="Calibri" pitchFamily="34" charset="-122"/>
                <a:cs typeface="Calibri" pitchFamily="34" charset="-120"/>
              </a:rPr>
              <a:t>No more pend loops</a:t>
            </a:r>
            <a:endParaRPr lang="en-US" sz="1350" dirty="0"/>
          </a:p>
          <a:p>
            <a:pPr algn="l" indent="0" marL="0">
              <a:buNone/>
            </a:pPr>
            <a:r>
              <a:rPr lang="en-US" sz="1050" dirty="0">
                <a:solidFill>
                  <a:srgbClr val="5C6B66"/>
                </a:solidFill>
                <a:latin typeface="Calibri" pitchFamily="34" charset="0"/>
                <a:ea typeface="Calibri" pitchFamily="34" charset="-122"/>
                <a:cs typeface="Calibri" pitchFamily="34" charset="-120"/>
              </a:rPr>
              <a:t>A missing detail is found at once, as one question.</a:t>
            </a:r>
            <a:endParaRPr lang="en-US" sz="1350" dirty="0"/>
          </a:p>
        </p:txBody>
      </p:sp>
      <p:pic>
        <p:nvPicPr>
          <p:cNvPr id="13" name="IcA2" descr="preencoded.png">    </p:cNvPr>
          <p:cNvPicPr>
            <a:picLocks noChangeAspect="1"/>
          </p:cNvPicPr>
          <p:nvPr/>
        </p:nvPicPr>
        <p:blipFill>
          <a:blip r:embed="rId2"/>
          <a:stretch>
            <a:fillRect/>
          </a:stretch>
        </p:blipFill>
        <p:spPr>
          <a:xfrm>
            <a:off x="749808" y="3264408"/>
            <a:ext cx="548640" cy="548640"/>
          </a:xfrm>
          <a:prstGeom prst="rect">
            <a:avLst/>
          </a:prstGeom>
        </p:spPr>
      </p:pic>
      <p:sp>
        <p:nvSpPr>
          <p:cNvPr id="14" name="A3"/>
          <p:cNvSpPr/>
          <p:nvPr/>
        </p:nvSpPr>
        <p:spPr>
          <a:xfrm>
            <a:off x="640080" y="4160520"/>
            <a:ext cx="3017520" cy="960120"/>
          </a:xfrm>
          <a:prstGeom prst="roundRect">
            <a:avLst>
              <a:gd name="adj" fmla="val 7619"/>
            </a:avLst>
          </a:prstGeom>
          <a:solidFill>
            <a:srgbClr val="FFFFFF"/>
          </a:solidFill>
          <a:ln w="15875">
            <a:solidFill>
              <a:srgbClr val="CBD5D1"/>
            </a:solidFill>
          </a:ln>
        </p:spPr>
        <p:txBody>
          <a:bodyPr wrap="square" lIns="777240" tIns="36576" rIns="91440" bIns="36576" rtlCol="0" anchor="ctr"/>
          <a:lstStyle/>
          <a:p>
            <a:pPr algn="l" indent="0" marL="0">
              <a:buNone/>
            </a:pPr>
            <a:r>
              <a:rPr lang="en-US" sz="1350" b="1" dirty="0">
                <a:solidFill>
                  <a:srgbClr val="16211E"/>
                </a:solidFill>
                <a:latin typeface="Calibri" pitchFamily="34" charset="0"/>
                <a:ea typeface="Calibri" pitchFamily="34" charset="-122"/>
                <a:cs typeface="Calibri" pitchFamily="34" charset="-120"/>
              </a:rPr>
              <a:t>One service at a time</a:t>
            </a:r>
            <a:endParaRPr lang="en-US" sz="1350" dirty="0"/>
          </a:p>
          <a:p>
            <a:pPr algn="l" indent="0" marL="0">
              <a:buNone/>
            </a:pPr>
            <a:r>
              <a:rPr lang="en-US" sz="1050" dirty="0">
                <a:solidFill>
                  <a:srgbClr val="5C6B66"/>
                </a:solidFill>
                <a:latin typeface="Calibri" pitchFamily="34" charset="0"/>
                <a:ea typeface="Calibri" pitchFamily="34" charset="-122"/>
                <a:cs typeface="Calibri" pitchFamily="34" charset="-120"/>
              </a:rPr>
              <a:t>Planned, then pilot, then live.</a:t>
            </a:r>
            <a:endParaRPr lang="en-US" sz="1350" dirty="0"/>
          </a:p>
        </p:txBody>
      </p:sp>
      <p:pic>
        <p:nvPicPr>
          <p:cNvPr id="15" name="IcA3" descr="preencoded.png">    </p:cNvPr>
          <p:cNvPicPr>
            <a:picLocks noChangeAspect="1"/>
          </p:cNvPicPr>
          <p:nvPr/>
        </p:nvPicPr>
        <p:blipFill>
          <a:blip r:embed="rId3"/>
          <a:stretch>
            <a:fillRect/>
          </a:stretch>
        </p:blipFill>
        <p:spPr>
          <a:xfrm>
            <a:off x="749808" y="4361688"/>
            <a:ext cx="548640" cy="548640"/>
          </a:xfrm>
          <a:prstGeom prst="rect">
            <a:avLst/>
          </a:prstGeom>
        </p:spPr>
      </p:pic>
      <p:sp>
        <p:nvSpPr>
          <p:cNvPr id="16" name="Gate"/>
          <p:cNvSpPr/>
          <p:nvPr/>
        </p:nvSpPr>
        <p:spPr>
          <a:xfrm>
            <a:off x="4069080" y="1965960"/>
            <a:ext cx="1737360" cy="3154680"/>
          </a:xfrm>
          <a:prstGeom prst="roundRect">
            <a:avLst>
              <a:gd name="adj" fmla="val 5263"/>
            </a:avLst>
          </a:prstGeom>
          <a:solidFill>
            <a:srgbClr val="FBE9E4"/>
          </a:solidFill>
          <a:ln w="19050">
            <a:solidFill>
              <a:srgbClr val="B8452F"/>
            </a:solidFill>
          </a:ln>
        </p:spPr>
        <p:txBody>
          <a:bodyPr wrap="square" lIns="91440" tIns="914400" rIns="91440" bIns="45720" rtlCol="0" anchor="t"/>
          <a:lstStyle/>
          <a:p>
            <a:pPr algn="ctr" indent="0" marL="0">
              <a:buNone/>
            </a:pPr>
            <a:r>
              <a:rPr lang="en-US" sz="1100" b="1" spc="200" kern="0" dirty="0">
                <a:solidFill>
                  <a:srgbClr val="B8452F"/>
                </a:solidFill>
                <a:latin typeface="Calibri" pitchFamily="34" charset="0"/>
                <a:ea typeface="Calibri" pitchFamily="34" charset="-122"/>
                <a:cs typeface="Calibri" pitchFamily="34" charset="-120"/>
              </a:rPr>
              <a:t>THE GATE</a:t>
            </a:r>
            <a:endParaRPr lang="en-US" sz="1100" dirty="0"/>
          </a:p>
          <a:p>
            <a:pPr algn="ctr" indent="0" marL="0">
              <a:buNone/>
            </a:pPr>
            <a:r>
              <a:rPr lang="en-US" sz="600" dirty="0">
                <a:solidFill>
                  <a:srgbClr val="000000"/>
                </a:solidFill>
              </a:rPr>
              <a:t> </a:t>
            </a:r>
            <a:endParaRPr lang="en-US" sz="1100" dirty="0"/>
          </a:p>
          <a:p>
            <a:pPr algn="ctr" indent="0" marL="0">
              <a:buNone/>
            </a:pPr>
            <a:r>
              <a:rPr lang="en-US" sz="1050" dirty="0">
                <a:solidFill>
                  <a:srgbClr val="16211E"/>
                </a:solidFill>
                <a:latin typeface="Calibri" pitchFamily="34" charset="0"/>
                <a:ea typeface="Calibri" pitchFamily="34" charset="-122"/>
                <a:cs typeface="Calibri" pitchFamily="34" charset="-120"/>
              </a:rPr>
              <a:t>Evals on real, labeled cases</a:t>
            </a:r>
            <a:endParaRPr lang="en-US" sz="1100" dirty="0"/>
          </a:p>
          <a:p>
            <a:pPr algn="ctr" indent="0" marL="0">
              <a:buNone/>
            </a:pPr>
            <a:r>
              <a:rPr lang="en-US" sz="600" dirty="0">
                <a:solidFill>
                  <a:srgbClr val="000000"/>
                </a:solidFill>
              </a:rPr>
              <a:t> </a:t>
            </a:r>
            <a:endParaRPr lang="en-US" sz="1100" dirty="0"/>
          </a:p>
          <a:p>
            <a:pPr algn="ctr" indent="0" marL="0">
              <a:buNone/>
            </a:pPr>
            <a:r>
              <a:rPr lang="en-US" sz="1050" dirty="0">
                <a:solidFill>
                  <a:srgbClr val="16211E"/>
                </a:solidFill>
                <a:latin typeface="Calibri" pitchFamily="34" charset="0"/>
                <a:ea typeface="Calibri" pitchFamily="34" charset="-122"/>
                <a:cs typeface="Calibri" pitchFamily="34" charset="-120"/>
              </a:rPr>
              <a:t>A compliance review for anything the member sees</a:t>
            </a:r>
            <a:endParaRPr lang="en-US" sz="1100" dirty="0"/>
          </a:p>
        </p:txBody>
      </p:sp>
      <p:pic>
        <p:nvPicPr>
          <p:cNvPr id="17" name="IcGate" descr="preencoded.png">    </p:cNvPr>
          <p:cNvPicPr>
            <a:picLocks noChangeAspect="1"/>
          </p:cNvPicPr>
          <p:nvPr/>
        </p:nvPicPr>
        <p:blipFill>
          <a:blip r:embed="rId4"/>
          <a:stretch>
            <a:fillRect/>
          </a:stretch>
        </p:blipFill>
        <p:spPr>
          <a:xfrm>
            <a:off x="4663440" y="2103120"/>
            <a:ext cx="548640" cy="548640"/>
          </a:xfrm>
          <a:prstGeom prst="rect">
            <a:avLst/>
          </a:prstGeom>
        </p:spPr>
      </p:pic>
      <p:sp>
        <p:nvSpPr>
          <p:cNvPr id="18" name="ArrIn"/>
          <p:cNvSpPr/>
          <p:nvPr/>
        </p:nvSpPr>
        <p:spPr>
          <a:xfrm>
            <a:off x="3840480" y="3543300"/>
            <a:ext cx="228600" cy="0"/>
          </a:xfrm>
          <a:prstGeom prst="line">
            <a:avLst/>
          </a:prstGeom>
          <a:noFill/>
          <a:ln w="22225">
            <a:solidFill>
              <a:srgbClr val="5C6B66"/>
            </a:solidFill>
            <a:prstDash val="solid"/>
            <a:tailEnd type="triangle"/>
          </a:ln>
        </p:spPr>
      </p:sp>
      <p:sp>
        <p:nvSpPr>
          <p:cNvPr id="19" name="ArrOut"/>
          <p:cNvSpPr/>
          <p:nvPr/>
        </p:nvSpPr>
        <p:spPr>
          <a:xfrm>
            <a:off x="5806440" y="3543300"/>
            <a:ext cx="182880" cy="0"/>
          </a:xfrm>
          <a:prstGeom prst="line">
            <a:avLst/>
          </a:prstGeom>
          <a:noFill/>
          <a:ln w="22225">
            <a:solidFill>
              <a:srgbClr val="5C6B66"/>
            </a:solidFill>
            <a:prstDash val="solid"/>
            <a:tailEnd type="triangle"/>
          </a:ln>
        </p:spPr>
      </p:sp>
      <p:sp>
        <p:nvSpPr>
          <p:cNvPr id="20" name="B1"/>
          <p:cNvSpPr/>
          <p:nvPr/>
        </p:nvSpPr>
        <p:spPr>
          <a:xfrm>
            <a:off x="6172200" y="1965960"/>
            <a:ext cx="5394960" cy="960120"/>
          </a:xfrm>
          <a:prstGeom prst="roundRect">
            <a:avLst>
              <a:gd name="adj" fmla="val 7619"/>
            </a:avLst>
          </a:prstGeom>
          <a:solidFill>
            <a:srgbClr val="FFFFFF"/>
          </a:solidFill>
          <a:ln w="15875">
            <a:solidFill>
              <a:srgbClr val="CBD5D1"/>
            </a:solidFill>
          </a:ln>
        </p:spPr>
        <p:txBody>
          <a:bodyPr wrap="square" lIns="777240" tIns="36576" rIns="91440" bIns="36576" rtlCol="0" anchor="ctr"/>
          <a:lstStyle/>
          <a:p>
            <a:pPr algn="l" indent="0" marL="0">
              <a:buNone/>
            </a:pPr>
            <a:r>
              <a:rPr lang="en-US" sz="1400" b="1" dirty="0">
                <a:solidFill>
                  <a:srgbClr val="16211E"/>
                </a:solidFill>
                <a:latin typeface="Calibri" pitchFamily="34" charset="0"/>
                <a:ea typeface="Calibri" pitchFamily="34" charset="-122"/>
                <a:cs typeface="Calibri" pitchFamily="34" charset="-120"/>
              </a:rPr>
              <a:t>The member sees where the request stands</a:t>
            </a:r>
            <a:endParaRPr lang="en-US" sz="1400" dirty="0"/>
          </a:p>
          <a:p>
            <a:pPr algn="l" indent="0" marL="0">
              <a:buNone/>
            </a:pPr>
            <a:r>
              <a:rPr lang="en-US" sz="1100" dirty="0">
                <a:solidFill>
                  <a:srgbClr val="5C6B66"/>
                </a:solidFill>
                <a:latin typeface="Calibri" pitchFamily="34" charset="0"/>
                <a:ea typeface="Calibri" pitchFamily="34" charset="-122"/>
                <a:cs typeface="Calibri" pitchFamily="34" charset="-120"/>
              </a:rPr>
              <a:t>Fed by the decision record from phase 1. Patient Access API, January 2027.</a:t>
            </a:r>
            <a:endParaRPr lang="en-US" sz="1400" dirty="0"/>
          </a:p>
        </p:txBody>
      </p:sp>
      <p:pic>
        <p:nvPicPr>
          <p:cNvPr id="21" name="AvM" descr="preencoded.png">    </p:cNvPr>
          <p:cNvPicPr>
            <a:picLocks noChangeAspect="1"/>
          </p:cNvPicPr>
          <p:nvPr/>
        </p:nvPicPr>
        <p:blipFill>
          <a:blip r:embed="rId5"/>
          <a:stretch>
            <a:fillRect/>
          </a:stretch>
        </p:blipFill>
        <p:spPr>
          <a:xfrm>
            <a:off x="6281928" y="2167128"/>
            <a:ext cx="548640" cy="548640"/>
          </a:xfrm>
          <a:prstGeom prst="rect">
            <a:avLst/>
          </a:prstGeom>
        </p:spPr>
      </p:pic>
      <p:sp>
        <p:nvSpPr>
          <p:cNvPr id="22" name="B2"/>
          <p:cNvSpPr/>
          <p:nvPr/>
        </p:nvSpPr>
        <p:spPr>
          <a:xfrm>
            <a:off x="6172200" y="3063240"/>
            <a:ext cx="5394960" cy="960120"/>
          </a:xfrm>
          <a:prstGeom prst="roundRect">
            <a:avLst>
              <a:gd name="adj" fmla="val 7619"/>
            </a:avLst>
          </a:prstGeom>
          <a:solidFill>
            <a:srgbClr val="FFFFFF"/>
          </a:solidFill>
          <a:ln w="15875">
            <a:solidFill>
              <a:srgbClr val="CBD5D1"/>
            </a:solidFill>
          </a:ln>
        </p:spPr>
        <p:txBody>
          <a:bodyPr wrap="square" lIns="777240" tIns="36576" rIns="91440" bIns="36576" rtlCol="0" anchor="ctr"/>
          <a:lstStyle/>
          <a:p>
            <a:pPr algn="l" indent="0" marL="0">
              <a:buNone/>
            </a:pPr>
            <a:r>
              <a:rPr lang="en-US" sz="1400" b="1" dirty="0">
                <a:solidFill>
                  <a:srgbClr val="16211E"/>
                </a:solidFill>
                <a:latin typeface="Calibri" pitchFamily="34" charset="0"/>
                <a:ea typeface="Calibri" pitchFamily="34" charset="-122"/>
                <a:cs typeface="Calibri" pitchFamily="34" charset="-120"/>
              </a:rPr>
              <a:t>Learn from outcomes</a:t>
            </a:r>
            <a:endParaRPr lang="en-US" sz="1400" dirty="0"/>
          </a:p>
          <a:p>
            <a:pPr algn="l" indent="0" marL="0">
              <a:buNone/>
            </a:pPr>
            <a:r>
              <a:rPr lang="en-US" sz="1100" dirty="0">
                <a:solidFill>
                  <a:srgbClr val="5C6B66"/>
                </a:solidFill>
                <a:latin typeface="Calibri" pitchFamily="34" charset="0"/>
                <a:ea typeface="Calibri" pitchFamily="34" charset="-122"/>
                <a:cs typeface="Calibri" pitchFamily="34" charset="-120"/>
              </a:rPr>
              <a:t>Denial and appeal results feed back into the rules and the evals.</a:t>
            </a:r>
            <a:endParaRPr lang="en-US" sz="1400" dirty="0"/>
          </a:p>
        </p:txBody>
      </p:sp>
      <p:pic>
        <p:nvPicPr>
          <p:cNvPr id="23" name="IcB3" descr="preencoded.png">    </p:cNvPr>
          <p:cNvPicPr>
            <a:picLocks noChangeAspect="1"/>
          </p:cNvPicPr>
          <p:nvPr/>
        </p:nvPicPr>
        <p:blipFill>
          <a:blip r:embed="rId6"/>
          <a:stretch>
            <a:fillRect/>
          </a:stretch>
        </p:blipFill>
        <p:spPr>
          <a:xfrm>
            <a:off x="6281928" y="3264408"/>
            <a:ext cx="548640" cy="548640"/>
          </a:xfrm>
          <a:prstGeom prst="rect">
            <a:avLst/>
          </a:prstGeom>
        </p:spPr>
      </p:pic>
      <p:sp>
        <p:nvSpPr>
          <p:cNvPr id="24" name="B3"/>
          <p:cNvSpPr/>
          <p:nvPr/>
        </p:nvSpPr>
        <p:spPr>
          <a:xfrm>
            <a:off x="6172200" y="4160520"/>
            <a:ext cx="5394960" cy="960120"/>
          </a:xfrm>
          <a:prstGeom prst="roundRect">
            <a:avLst>
              <a:gd name="adj" fmla="val 7619"/>
            </a:avLst>
          </a:prstGeom>
          <a:solidFill>
            <a:srgbClr val="FFFFFF"/>
          </a:solidFill>
          <a:ln w="15875">
            <a:solidFill>
              <a:srgbClr val="CBD5D1"/>
            </a:solidFill>
          </a:ln>
        </p:spPr>
        <p:txBody>
          <a:bodyPr wrap="square" lIns="777240" tIns="36576" rIns="91440" bIns="36576" rtlCol="0" anchor="ctr"/>
          <a:lstStyle/>
          <a:p>
            <a:pPr algn="l" indent="0" marL="0">
              <a:buNone/>
            </a:pPr>
            <a:r>
              <a:rPr lang="en-US" sz="1400" b="1" dirty="0">
                <a:solidFill>
                  <a:srgbClr val="16211E"/>
                </a:solidFill>
                <a:latin typeface="Calibri" pitchFamily="34" charset="0"/>
                <a:ea typeface="Calibri" pitchFamily="34" charset="-122"/>
                <a:cs typeface="Calibri" pitchFamily="34" charset="-120"/>
              </a:rPr>
              <a:t>More services</a:t>
            </a:r>
            <a:endParaRPr lang="en-US" sz="1400" dirty="0"/>
          </a:p>
          <a:p>
            <a:pPr algn="l" indent="0" marL="0">
              <a:buNone/>
            </a:pPr>
            <a:r>
              <a:rPr lang="en-US" sz="1100" dirty="0">
                <a:solidFill>
                  <a:srgbClr val="5C6B66"/>
                </a:solidFill>
                <a:latin typeface="Calibri" pitchFamily="34" charset="0"/>
                <a:ea typeface="Calibri" pitchFamily="34" charset="-122"/>
                <a:cs typeface="Calibri" pitchFamily="34" charset="-120"/>
              </a:rPr>
              <a:t>Onboard the next ones, ranked by Humana's request history.</a:t>
            </a:r>
            <a:endParaRPr lang="en-US" sz="1400" dirty="0"/>
          </a:p>
        </p:txBody>
      </p:sp>
      <p:pic>
        <p:nvPicPr>
          <p:cNvPr id="25" name="IcB1" descr="preencoded.png">    </p:cNvPr>
          <p:cNvPicPr>
            <a:picLocks noChangeAspect="1"/>
          </p:cNvPicPr>
          <p:nvPr/>
        </p:nvPicPr>
        <p:blipFill>
          <a:blip r:embed="rId7"/>
          <a:stretch>
            <a:fillRect/>
          </a:stretch>
        </p:blipFill>
        <p:spPr>
          <a:xfrm>
            <a:off x="6281928" y="4361688"/>
            <a:ext cx="548640" cy="548640"/>
          </a:xfrm>
          <a:prstGeom prst="rect">
            <a:avLst/>
          </a:prstGeom>
        </p:spPr>
      </p:pic>
      <p:sp>
        <p:nvSpPr>
          <p:cNvPr id="26" name="Never"/>
          <p:cNvSpPr/>
          <p:nvPr/>
        </p:nvSpPr>
        <p:spPr>
          <a:xfrm>
            <a:off x="457200" y="5376672"/>
            <a:ext cx="11274552" cy="457200"/>
          </a:xfrm>
          <a:prstGeom prst="roundRect">
            <a:avLst>
              <a:gd name="adj" fmla="val 16000"/>
            </a:avLst>
          </a:prstGeom>
          <a:solidFill>
            <a:srgbClr val="1F6F5C"/>
          </a:solidFill>
          <a:ln w="12700">
            <a:solidFill>
              <a:srgbClr val="1F6F5C"/>
            </a:solidFill>
          </a:ln>
        </p:spPr>
        <p:txBody>
          <a:bodyPr wrap="square" lIns="182880" tIns="27432" rIns="182880" bIns="27432"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In every phase, a person decides.  </a:t>
            </a:r>
            <a:pPr algn="ctr" indent="0" marL="0">
              <a:buNone/>
            </a:pPr>
            <a:r>
              <a:rPr lang="en-US" sz="1200" dirty="0">
                <a:solidFill>
                  <a:srgbClr val="D5EBE3"/>
                </a:solidFill>
                <a:latin typeface="Calibri" pitchFamily="34" charset="0"/>
                <a:ea typeface="Calibri" pitchFamily="34" charset="-122"/>
                <a:cs typeface="Calibri" pitchFamily="34" charset="-120"/>
              </a:rPr>
              <a:t>The AI never denies and never approves on its own.</a:t>
            </a:r>
            <a:endParaRPr lang="en-US" sz="1400" dirty="0"/>
          </a:p>
        </p:txBody>
      </p:sp>
      <p:sp>
        <p:nvSpPr>
          <p:cNvPr id="27" name="c1"/>
          <p:cNvSpPr txBox="1"/>
          <p:nvPr/>
        </p:nvSpPr>
        <p:spPr>
          <a:xfrm>
            <a:off x="457200" y="5943600"/>
            <a:ext cx="11274552" cy="594360"/>
          </a:xfrm>
          <a:prstGeom prst="rect">
            <a:avLst/>
          </a:prstGeom>
          <a:noFill/>
          <a:ln/>
        </p:spPr>
        <p:txBody>
          <a:bodyPr wrap="square" lIns="0" tIns="0" rIns="0" bIns="0" rtlCol="0" anchor="ctr"/>
          <a:lstStyle/>
          <a:p>
            <a:pPr algn="l" indent="0" marL="0">
              <a:buNone/>
            </a:pPr>
            <a:r>
              <a:rPr lang="en-US" sz="1600" dirty="0">
                <a:solidFill>
                  <a:srgbClr val="16211E"/>
                </a:solidFill>
                <a:latin typeface="Calibri" pitchFamily="34" charset="0"/>
                <a:ea typeface="Calibri" pitchFamily="34" charset="-122"/>
                <a:cs typeface="Calibri" pitchFamily="34" charset="-120"/>
              </a:rPr>
              <a:t>Phase 1 is what you have seen. The AI recommends with citations and the nurse confirms. It removes the pend and builds the decision record.</a:t>
            </a:r>
            <a:endParaRPr lang="en-US" sz="1600" dirty="0"/>
          </a:p>
        </p:txBody>
      </p:sp>
      <p:sp>
        <p:nvSpPr>
          <p:cNvPr id="28" name="c2"/>
          <p:cNvSpPr txBox="1"/>
          <p:nvPr/>
        </p:nvSpPr>
        <p:spPr>
          <a:xfrm>
            <a:off x="457200" y="5943600"/>
            <a:ext cx="11274552" cy="594360"/>
          </a:xfrm>
          <a:prstGeom prst="rect">
            <a:avLst/>
          </a:prstGeom>
          <a:noFill/>
          <a:ln/>
        </p:spPr>
        <p:txBody>
          <a:bodyPr wrap="square" lIns="0" tIns="0" rIns="0" bIns="0" rtlCol="0" anchor="ctr"/>
          <a:lstStyle/>
          <a:p>
            <a:pPr algn="l" indent="0" marL="0">
              <a:buNone/>
            </a:pPr>
            <a:r>
              <a:rPr lang="en-US" sz="1600" dirty="0">
                <a:solidFill>
                  <a:srgbClr val="16211E"/>
                </a:solidFill>
                <a:latin typeface="Calibri" pitchFamily="34" charset="0"/>
                <a:ea typeface="Calibri" pitchFamily="34" charset="-122"/>
                <a:cs typeface="Calibri" pitchFamily="34" charset="-120"/>
              </a:rPr>
              <a:t>Phase 2 has a gate: evals on real labeled cases, and a compliance review for anything the member sees.</a:t>
            </a:r>
            <a:endParaRPr lang="en-US" sz="1600" dirty="0"/>
          </a:p>
        </p:txBody>
      </p:sp>
      <p:sp>
        <p:nvSpPr>
          <p:cNvPr id="29" name="c3"/>
          <p:cNvSpPr txBox="1"/>
          <p:nvPr/>
        </p:nvSpPr>
        <p:spPr>
          <a:xfrm>
            <a:off x="457200" y="5943600"/>
            <a:ext cx="11274552" cy="594360"/>
          </a:xfrm>
          <a:prstGeom prst="rect">
            <a:avLst/>
          </a:prstGeom>
          <a:noFill/>
          <a:ln/>
        </p:spPr>
        <p:txBody>
          <a:bodyPr wrap="square" lIns="0" tIns="0" rIns="0" bIns="0" rtlCol="0" anchor="ctr"/>
          <a:lstStyle/>
          <a:p>
            <a:pPr algn="l" indent="0" marL="0">
              <a:buNone/>
            </a:pPr>
            <a:r>
              <a:rPr lang="en-US" sz="1600" dirty="0">
                <a:solidFill>
                  <a:srgbClr val="16211E"/>
                </a:solidFill>
                <a:latin typeface="Calibri" pitchFamily="34" charset="0"/>
                <a:ea typeface="Calibri" pitchFamily="34" charset="-122"/>
                <a:cs typeface="Calibri" pitchFamily="34" charset="-120"/>
              </a:rPr>
              <a:t>First: the member sees where the request stands. The decision record from phase 1 feeds it.</a:t>
            </a:r>
            <a:endParaRPr lang="en-US" sz="1600" dirty="0"/>
          </a:p>
        </p:txBody>
      </p:sp>
      <p:sp>
        <p:nvSpPr>
          <p:cNvPr id="30" name="c4"/>
          <p:cNvSpPr txBox="1"/>
          <p:nvPr/>
        </p:nvSpPr>
        <p:spPr>
          <a:xfrm>
            <a:off x="457200" y="5943600"/>
            <a:ext cx="11274552" cy="594360"/>
          </a:xfrm>
          <a:prstGeom prst="rect">
            <a:avLst/>
          </a:prstGeom>
          <a:noFill/>
          <a:ln/>
        </p:spPr>
        <p:txBody>
          <a:bodyPr wrap="square" lIns="0" tIns="0" rIns="0" bIns="0" rtlCol="0" anchor="ctr"/>
          <a:lstStyle/>
          <a:p>
            <a:pPr algn="l" indent="0" marL="0">
              <a:buNone/>
            </a:pPr>
            <a:r>
              <a:rPr lang="en-US" sz="1600" dirty="0">
                <a:solidFill>
                  <a:srgbClr val="16211E"/>
                </a:solidFill>
                <a:latin typeface="Calibri" pitchFamily="34" charset="0"/>
                <a:ea typeface="Calibri" pitchFamily="34" charset="-122"/>
                <a:cs typeface="Calibri" pitchFamily="34" charset="-120"/>
              </a:rPr>
              <a:t>Second: learn from outcomes. Denial and appeal results feed back into the rules and the evals.</a:t>
            </a:r>
            <a:endParaRPr lang="en-US" sz="1600" dirty="0"/>
          </a:p>
        </p:txBody>
      </p:sp>
      <p:sp>
        <p:nvSpPr>
          <p:cNvPr id="31" name="c5"/>
          <p:cNvSpPr txBox="1"/>
          <p:nvPr/>
        </p:nvSpPr>
        <p:spPr>
          <a:xfrm>
            <a:off x="457200" y="5943600"/>
            <a:ext cx="11274552" cy="594360"/>
          </a:xfrm>
          <a:prstGeom prst="rect">
            <a:avLst/>
          </a:prstGeom>
          <a:noFill/>
          <a:ln/>
        </p:spPr>
        <p:txBody>
          <a:bodyPr wrap="square" lIns="0" tIns="0" rIns="0" bIns="0" rtlCol="0" anchor="ctr"/>
          <a:lstStyle/>
          <a:p>
            <a:pPr algn="l" indent="0" marL="0">
              <a:buNone/>
            </a:pPr>
            <a:r>
              <a:rPr lang="en-US" sz="1600" dirty="0">
                <a:solidFill>
                  <a:srgbClr val="16211E"/>
                </a:solidFill>
                <a:latin typeface="Calibri" pitchFamily="34" charset="0"/>
                <a:ea typeface="Calibri" pitchFamily="34" charset="-122"/>
                <a:cs typeface="Calibri" pitchFamily="34" charset="-120"/>
              </a:rPr>
              <a:t>Third: more services, ranked by Humana's own request history.</a:t>
            </a:r>
            <a:endParaRPr lang="en-US" sz="1600" dirty="0"/>
          </a:p>
        </p:txBody>
      </p:sp>
      <p:sp>
        <p:nvSpPr>
          <p:cNvPr id="32" name="c6"/>
          <p:cNvSpPr txBox="1"/>
          <p:nvPr/>
        </p:nvSpPr>
        <p:spPr>
          <a:xfrm>
            <a:off x="457200" y="5943600"/>
            <a:ext cx="11274552" cy="594360"/>
          </a:xfrm>
          <a:prstGeom prst="rect">
            <a:avLst/>
          </a:prstGeom>
          <a:noFill/>
          <a:ln/>
        </p:spPr>
        <p:txBody>
          <a:bodyPr wrap="square" lIns="0" tIns="0" rIns="0" bIns="0" rtlCol="0" anchor="ctr"/>
          <a:lstStyle/>
          <a:p>
            <a:pPr algn="l" indent="0" marL="0">
              <a:buNone/>
            </a:pPr>
            <a:r>
              <a:rPr lang="en-US" sz="1600" dirty="0">
                <a:solidFill>
                  <a:srgbClr val="16211E"/>
                </a:solidFill>
                <a:latin typeface="Calibri" pitchFamily="34" charset="0"/>
                <a:ea typeface="Calibri" pitchFamily="34" charset="-122"/>
                <a:cs typeface="Calibri" pitchFamily="34" charset="-120"/>
              </a:rPr>
              <a:t>In every phase, a person decides. The AI never denies and never approves on its own.</a:t>
            </a:r>
            <a:endParaRPr lang="en-US" sz="16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7" presetID="10" presetClass="entr" presetSubtype="0" fill="hold" grpId="0" nodeType="clickEffect">
                                  <p:stCondLst>
                                    <p:cond delay="0"/>
                                  </p:stCondLst>
                                  <p:childTnLst>
                                    <p:set>
                                      <p:cBhvr>
                                        <p:cTn id="5" dur="1" fill="hold">
                                          <p:stCondLst>
                                            <p:cond delay="0"/>
                                          </p:stCondLst>
                                        </p:cTn>
                                        <p:tgtEl>
                                          <p:spTgt spid="10"/>
                                        </p:tgtEl>
                                        <p:attrNameLst>
                                          <p:attrName>style.visibility</p:attrName>
                                        </p:attrNameLst>
                                      </p:cBhvr>
                                      <p:to>
                                        <p:strVal val="visible"/>
                                      </p:to>
                                    </p:set>
                                    <p:animEffect transition="in" filter="fade">
                                      <p:cBhvr>
                                        <p:cTn id="6" dur="500"/>
                                        <p:tgtEl>
                                          <p:spTgt spid="10"/>
                                        </p:tgtEl>
                                      </p:cBhvr>
                                    </p:animEffect>
                                  </p:childTnLst>
                                </p:cTn>
                              </p:par>
                              <p:par>
                                <p:cTn id="10" presetID="10" presetClass="entr" presetSubtype="0" fill="hold" nodeType="withEffect">
                                  <p:stCondLst>
                                    <p:cond delay="0"/>
                                  </p:stCondLst>
                                  <p:childTnLst>
                                    <p:set>
                                      <p:cBhvr>
                                        <p:cTn id="8" dur="1" fill="hold">
                                          <p:stCondLst>
                                            <p:cond delay="0"/>
                                          </p:stCondLst>
                                        </p:cTn>
                                        <p:tgtEl>
                                          <p:spTgt spid="11"/>
                                        </p:tgtEl>
                                        <p:attrNameLst>
                                          <p:attrName>style.visibility</p:attrName>
                                        </p:attrNameLst>
                                      </p:cBhvr>
                                      <p:to>
                                        <p:strVal val="visible"/>
                                      </p:to>
                                    </p:set>
                                    <p:animEffect transition="in" filter="fade">
                                      <p:cBhvr>
                                        <p:cTn id="9" dur="500"/>
                                        <p:tgtEl>
                                          <p:spTgt spid="11"/>
                                        </p:tgtEl>
                                      </p:cBhvr>
                                    </p:animEffect>
                                  </p:childTnLst>
                                </p:cTn>
                              </p:par>
                              <p:par>
                                <p:cTn id="13" presetID="10" presetClass="entr" presetSubtype="0" fill="hold" grpId="0" nodeType="withEffect">
                                  <p:stCondLst>
                                    <p:cond delay="200"/>
                                  </p:stCondLst>
                                  <p:childTnLst>
                                    <p:set>
                                      <p:cBhvr>
                                        <p:cTn id="11" dur="1" fill="hold">
                                          <p:stCondLst>
                                            <p:cond delay="0"/>
                                          </p:stCondLst>
                                        </p:cTn>
                                        <p:tgtEl>
                                          <p:spTgt spid="12"/>
                                        </p:tgtEl>
                                        <p:attrNameLst>
                                          <p:attrName>style.visibility</p:attrName>
                                        </p:attrNameLst>
                                      </p:cBhvr>
                                      <p:to>
                                        <p:strVal val="visible"/>
                                      </p:to>
                                    </p:set>
                                    <p:animEffect transition="in" filter="fade">
                                      <p:cBhvr>
                                        <p:cTn id="12" dur="500"/>
                                        <p:tgtEl>
                                          <p:spTgt spid="12"/>
                                        </p:tgtEl>
                                      </p:cBhvr>
                                    </p:animEffect>
                                  </p:childTnLst>
                                </p:cTn>
                              </p:par>
                              <p:par>
                                <p:cTn id="16" presetID="10" presetClass="entr" presetSubtype="0" fill="hold" nodeType="withEffect">
                                  <p:stCondLst>
                                    <p:cond delay="200"/>
                                  </p:stCondLst>
                                  <p:childTnLst>
                                    <p:set>
                                      <p:cBhvr>
                                        <p:cTn id="14" dur="1" fill="hold">
                                          <p:stCondLst>
                                            <p:cond delay="0"/>
                                          </p:stCondLst>
                                        </p:cTn>
                                        <p:tgtEl>
                                          <p:spTgt spid="13"/>
                                        </p:tgtEl>
                                        <p:attrNameLst>
                                          <p:attrName>style.visibility</p:attrName>
                                        </p:attrNameLst>
                                      </p:cBhvr>
                                      <p:to>
                                        <p:strVal val="visible"/>
                                      </p:to>
                                    </p:set>
                                    <p:animEffect transition="in" filter="fade">
                                      <p:cBhvr>
                                        <p:cTn id="15" dur="500"/>
                                        <p:tgtEl>
                                          <p:spTgt spid="13"/>
                                        </p:tgtEl>
                                      </p:cBhvr>
                                    </p:animEffect>
                                  </p:childTnLst>
                                </p:cTn>
                              </p:par>
                              <p:par>
                                <p:cTn id="19" presetID="10" presetClass="entr" presetSubtype="0" fill="hold" grpId="0" nodeType="withEffect">
                                  <p:stCondLst>
                                    <p:cond delay="400"/>
                                  </p:stCondLst>
                                  <p:childTnLst>
                                    <p:set>
                                      <p:cBhvr>
                                        <p:cTn id="17" dur="1" fill="hold">
                                          <p:stCondLst>
                                            <p:cond delay="0"/>
                                          </p:stCondLst>
                                        </p:cTn>
                                        <p:tgtEl>
                                          <p:spTgt spid="14"/>
                                        </p:tgtEl>
                                        <p:attrNameLst>
                                          <p:attrName>style.visibility</p:attrName>
                                        </p:attrNameLst>
                                      </p:cBhvr>
                                      <p:to>
                                        <p:strVal val="visible"/>
                                      </p:to>
                                    </p:set>
                                    <p:animEffect transition="in" filter="fade">
                                      <p:cBhvr>
                                        <p:cTn id="18" dur="500"/>
                                        <p:tgtEl>
                                          <p:spTgt spid="14"/>
                                        </p:tgtEl>
                                      </p:cBhvr>
                                    </p:animEffect>
                                  </p:childTnLst>
                                </p:cTn>
                              </p:par>
                              <p:par>
                                <p:cTn id="22" presetID="10" presetClass="entr" presetSubtype="0" fill="hold" nodeType="withEffect">
                                  <p:stCondLst>
                                    <p:cond delay="400"/>
                                  </p:stCondLst>
                                  <p:childTnLst>
                                    <p:set>
                                      <p:cBhvr>
                                        <p:cTn id="20" dur="1" fill="hold">
                                          <p:stCondLst>
                                            <p:cond delay="0"/>
                                          </p:stCondLst>
                                        </p:cTn>
                                        <p:tgtEl>
                                          <p:spTgt spid="15"/>
                                        </p:tgtEl>
                                        <p:attrNameLst>
                                          <p:attrName>style.visibility</p:attrName>
                                        </p:attrNameLst>
                                      </p:cBhvr>
                                      <p:to>
                                        <p:strVal val="visible"/>
                                      </p:to>
                                    </p:set>
                                    <p:animEffect transition="in" filter="fade">
                                      <p:cBhvr>
                                        <p:cTn id="21" dur="500"/>
                                        <p:tgtEl>
                                          <p:spTgt spid="15"/>
                                        </p:tgtEl>
                                      </p:cBhvr>
                                    </p:animEffect>
                                  </p:childTnLst>
                                </p:cTn>
                              </p:par>
                              <p:par>
                                <p:cTn id="25" presetID="10" presetClass="entr" presetSubtype="0" fill="hold" grpId="0" nodeType="withEffect">
                                  <p:stCondLst>
                                    <p:cond delay="100"/>
                                  </p:stCondLst>
                                  <p:childTnLst>
                                    <p:set>
                                      <p:cBhvr>
                                        <p:cTn id="23" dur="1" fill="hold">
                                          <p:stCondLst>
                                            <p:cond delay="0"/>
                                          </p:stCondLst>
                                        </p:cTn>
                                        <p:tgtEl>
                                          <p:spTgt spid="27"/>
                                        </p:tgtEl>
                                        <p:attrNameLst>
                                          <p:attrName>style.visibility</p:attrName>
                                        </p:attrNameLst>
                                      </p:cBhvr>
                                      <p:to>
                                        <p:strVal val="visible"/>
                                      </p:to>
                                    </p:set>
                                    <p:animEffect transition="in" filter="fade">
                                      <p:cBhvr>
                                        <p:cTn id="24" dur="500"/>
                                        <p:tgtEl>
                                          <p:spTgt spid="27"/>
                                        </p:tgtEl>
                                      </p:cBhvr>
                                    </p:animEffect>
                                  </p:childTnLst>
                                </p:cTn>
                              </p:par>
                            </p:childTnLst>
                          </p:cTn>
                        </p:par>
                      </p:childTnLst>
                    </p:cTn>
                  </p:par>
                  <p:par>
                    <p:cTn id="26" fill="hold">
                      <p:stCondLst>
                        <p:cond delay="indefinite"/>
                      </p:stCondLst>
                      <p:childTnLst>
                        <p:par>
                          <p:cTn id="27" fill="hold">
                            <p:stCondLst>
                              <p:cond delay="0"/>
                            </p:stCondLst>
                            <p:childTnLst>
                              <p:par>
                                <p:cTn id="30" presetID="10" presetClass="exit" presetSubtype="0" fill="hold" grpId="0" nodeType="clickEffect">
                                  <p:stCondLst>
                                    <p:cond delay="0"/>
                                  </p:stCondLst>
                                  <p:childTnLst>
                                    <p:animEffect transition="out" filter="fade">
                                      <p:cBhvr>
                                        <p:cTn id="28" dur="300"/>
                                        <p:tgtEl>
                                          <p:spTgt spid="27"/>
                                        </p:tgtEl>
                                      </p:cBhvr>
                                    </p:animEffect>
                                    <p:set>
                                      <p:cBhvr>
                                        <p:cTn id="29" dur="1" fill="hold">
                                          <p:stCondLst>
                                            <p:cond delay="299"/>
                                          </p:stCondLst>
                                        </p:cTn>
                                        <p:tgtEl>
                                          <p:spTgt spid="27"/>
                                        </p:tgtEl>
                                        <p:attrNameLst>
                                          <p:attrName>style.visibility</p:attrName>
                                        </p:attrNameLst>
                                      </p:cBhvr>
                                      <p:to>
                                        <p:strVal val="hidden"/>
                                      </p:to>
                                    </p:set>
                                  </p:childTnLst>
                                </p:cTn>
                              </p:par>
                              <p:par>
                                <p:cTn id="33" presetID="22" presetClass="entr" presetSubtype="8" fill="hold" nodeType="withEffect">
                                  <p:stCondLst>
                                    <p:cond delay="200"/>
                                  </p:stCondLst>
                                  <p:childTnLst>
                                    <p:set>
                                      <p:cBhvr>
                                        <p:cTn id="31" dur="1" fill="hold">
                                          <p:stCondLst>
                                            <p:cond delay="0"/>
                                          </p:stCondLst>
                                        </p:cTn>
                                        <p:tgtEl>
                                          <p:spTgt spid="18"/>
                                        </p:tgtEl>
                                        <p:attrNameLst>
                                          <p:attrName>style.visibility</p:attrName>
                                        </p:attrNameLst>
                                      </p:cBhvr>
                                      <p:to>
                                        <p:strVal val="visible"/>
                                      </p:to>
                                    </p:set>
                                    <p:animEffect transition="in" filter="wipe(left)">
                                      <p:cBhvr>
                                        <p:cTn id="32" dur="300"/>
                                        <p:tgtEl>
                                          <p:spTgt spid="18"/>
                                        </p:tgtEl>
                                      </p:cBhvr>
                                    </p:animEffect>
                                  </p:childTnLst>
                                </p:cTn>
                              </p:par>
                              <p:par>
                                <p:cTn id="36" presetID="10" presetClass="entr" presetSubtype="0" fill="hold" grpId="0" nodeType="withEffect">
                                  <p:stCondLst>
                                    <p:cond delay="500"/>
                                  </p:stCondLst>
                                  <p:childTnLst>
                                    <p:set>
                                      <p:cBhvr>
                                        <p:cTn id="34" dur="1" fill="hold">
                                          <p:stCondLst>
                                            <p:cond delay="0"/>
                                          </p:stCondLst>
                                        </p:cTn>
                                        <p:tgtEl>
                                          <p:spTgt spid="16"/>
                                        </p:tgtEl>
                                        <p:attrNameLst>
                                          <p:attrName>style.visibility</p:attrName>
                                        </p:attrNameLst>
                                      </p:cBhvr>
                                      <p:to>
                                        <p:strVal val="visible"/>
                                      </p:to>
                                    </p:set>
                                    <p:animEffect transition="in" filter="fade">
                                      <p:cBhvr>
                                        <p:cTn id="35" dur="500"/>
                                        <p:tgtEl>
                                          <p:spTgt spid="16"/>
                                        </p:tgtEl>
                                      </p:cBhvr>
                                    </p:animEffect>
                                  </p:childTnLst>
                                </p:cTn>
                              </p:par>
                              <p:par>
                                <p:cTn id="39" presetID="10" presetClass="entr" presetSubtype="0" fill="hold" nodeType="withEffect">
                                  <p:stCondLst>
                                    <p:cond delay="500"/>
                                  </p:stCondLst>
                                  <p:childTnLst>
                                    <p:set>
                                      <p:cBhvr>
                                        <p:cTn id="37" dur="1" fill="hold">
                                          <p:stCondLst>
                                            <p:cond delay="0"/>
                                          </p:stCondLst>
                                        </p:cTn>
                                        <p:tgtEl>
                                          <p:spTgt spid="17"/>
                                        </p:tgtEl>
                                        <p:attrNameLst>
                                          <p:attrName>style.visibility</p:attrName>
                                        </p:attrNameLst>
                                      </p:cBhvr>
                                      <p:to>
                                        <p:strVal val="visible"/>
                                      </p:to>
                                    </p:set>
                                    <p:animEffect transition="in" filter="fade">
                                      <p:cBhvr>
                                        <p:cTn id="38" dur="500"/>
                                        <p:tgtEl>
                                          <p:spTgt spid="17"/>
                                        </p:tgtEl>
                                      </p:cBhvr>
                                    </p:animEffect>
                                  </p:childTnLst>
                                </p:cTn>
                              </p:par>
                              <p:par>
                                <p:cTn id="42" presetID="22" presetClass="entr" presetSubtype="8" fill="hold" nodeType="withEffect">
                                  <p:stCondLst>
                                    <p:cond delay="1000"/>
                                  </p:stCondLst>
                                  <p:childTnLst>
                                    <p:set>
                                      <p:cBhvr>
                                        <p:cTn id="40" dur="1" fill="hold">
                                          <p:stCondLst>
                                            <p:cond delay="0"/>
                                          </p:stCondLst>
                                        </p:cTn>
                                        <p:tgtEl>
                                          <p:spTgt spid="19"/>
                                        </p:tgtEl>
                                        <p:attrNameLst>
                                          <p:attrName>style.visibility</p:attrName>
                                        </p:attrNameLst>
                                      </p:cBhvr>
                                      <p:to>
                                        <p:strVal val="visible"/>
                                      </p:to>
                                    </p:set>
                                    <p:animEffect transition="in" filter="wipe(left)">
                                      <p:cBhvr>
                                        <p:cTn id="41" dur="300"/>
                                        <p:tgtEl>
                                          <p:spTgt spid="19"/>
                                        </p:tgtEl>
                                      </p:cBhvr>
                                    </p:animEffect>
                                  </p:childTnLst>
                                </p:cTn>
                              </p:par>
                              <p:par>
                                <p:cTn id="45" presetID="10" presetClass="entr" presetSubtype="0" fill="hold" grpId="0" nodeType="withEffect">
                                  <p:stCondLst>
                                    <p:cond delay="300"/>
                                  </p:stCondLst>
                                  <p:childTnLst>
                                    <p:set>
                                      <p:cBhvr>
                                        <p:cTn id="43" dur="1" fill="hold">
                                          <p:stCondLst>
                                            <p:cond delay="0"/>
                                          </p:stCondLst>
                                        </p:cTn>
                                        <p:tgtEl>
                                          <p:spTgt spid="28"/>
                                        </p:tgtEl>
                                        <p:attrNameLst>
                                          <p:attrName>style.visibility</p:attrName>
                                        </p:attrNameLst>
                                      </p:cBhvr>
                                      <p:to>
                                        <p:strVal val="visible"/>
                                      </p:to>
                                    </p:set>
                                    <p:animEffect transition="in" filter="fade">
                                      <p:cBhvr>
                                        <p:cTn id="44" dur="500"/>
                                        <p:tgtEl>
                                          <p:spTgt spid="28"/>
                                        </p:tgtEl>
                                      </p:cBhvr>
                                    </p:animEffect>
                                  </p:childTnLst>
                                </p:cTn>
                              </p:par>
                            </p:childTnLst>
                          </p:cTn>
                        </p:par>
                      </p:childTnLst>
                    </p:cTn>
                  </p:par>
                  <p:par>
                    <p:cTn id="46" fill="hold">
                      <p:stCondLst>
                        <p:cond delay="indefinite"/>
                      </p:stCondLst>
                      <p:childTnLst>
                        <p:par>
                          <p:cTn id="47" fill="hold">
                            <p:stCondLst>
                              <p:cond delay="0"/>
                            </p:stCondLst>
                            <p:childTnLst>
                              <p:par>
                                <p:cTn id="50" presetID="10" presetClass="exit" presetSubtype="0" fill="hold" grpId="0" nodeType="clickEffect">
                                  <p:stCondLst>
                                    <p:cond delay="0"/>
                                  </p:stCondLst>
                                  <p:childTnLst>
                                    <p:animEffect transition="out" filter="fade">
                                      <p:cBhvr>
                                        <p:cTn id="48" dur="300"/>
                                        <p:tgtEl>
                                          <p:spTgt spid="28"/>
                                        </p:tgtEl>
                                      </p:cBhvr>
                                    </p:animEffect>
                                    <p:set>
                                      <p:cBhvr>
                                        <p:cTn id="49" dur="1" fill="hold">
                                          <p:stCondLst>
                                            <p:cond delay="299"/>
                                          </p:stCondLst>
                                        </p:cTn>
                                        <p:tgtEl>
                                          <p:spTgt spid="28"/>
                                        </p:tgtEl>
                                        <p:attrNameLst>
                                          <p:attrName>style.visibility</p:attrName>
                                        </p:attrNameLst>
                                      </p:cBhvr>
                                      <p:to>
                                        <p:strVal val="hidden"/>
                                      </p:to>
                                    </p:set>
                                  </p:childTnLst>
                                </p:cTn>
                              </p:par>
                              <p:par>
                                <p:cTn id="53" presetID="10" presetClass="entr" presetSubtype="0" fill="hold" grpId="0" nodeType="withEffect">
                                  <p:stCondLst>
                                    <p:cond delay="300"/>
                                  </p:stCondLst>
                                  <p:childTnLst>
                                    <p:set>
                                      <p:cBhvr>
                                        <p:cTn id="51" dur="1" fill="hold">
                                          <p:stCondLst>
                                            <p:cond delay="0"/>
                                          </p:stCondLst>
                                        </p:cTn>
                                        <p:tgtEl>
                                          <p:spTgt spid="20"/>
                                        </p:tgtEl>
                                        <p:attrNameLst>
                                          <p:attrName>style.visibility</p:attrName>
                                        </p:attrNameLst>
                                      </p:cBhvr>
                                      <p:to>
                                        <p:strVal val="visible"/>
                                      </p:to>
                                    </p:set>
                                    <p:animEffect transition="in" filter="fade">
                                      <p:cBhvr>
                                        <p:cTn id="52" dur="500"/>
                                        <p:tgtEl>
                                          <p:spTgt spid="20"/>
                                        </p:tgtEl>
                                      </p:cBhvr>
                                    </p:animEffect>
                                  </p:childTnLst>
                                </p:cTn>
                              </p:par>
                              <p:par>
                                <p:cTn id="56" presetID="10" presetClass="entr" presetSubtype="0" fill="hold" nodeType="withEffect">
                                  <p:stCondLst>
                                    <p:cond delay="300"/>
                                  </p:stCondLst>
                                  <p:childTnLst>
                                    <p:set>
                                      <p:cBhvr>
                                        <p:cTn id="54" dur="1" fill="hold">
                                          <p:stCondLst>
                                            <p:cond delay="0"/>
                                          </p:stCondLst>
                                        </p:cTn>
                                        <p:tgtEl>
                                          <p:spTgt spid="21"/>
                                        </p:tgtEl>
                                        <p:attrNameLst>
                                          <p:attrName>style.visibility</p:attrName>
                                        </p:attrNameLst>
                                      </p:cBhvr>
                                      <p:to>
                                        <p:strVal val="visible"/>
                                      </p:to>
                                    </p:set>
                                    <p:animEffect transition="in" filter="fade">
                                      <p:cBhvr>
                                        <p:cTn id="55" dur="500"/>
                                        <p:tgtEl>
                                          <p:spTgt spid="21"/>
                                        </p:tgtEl>
                                      </p:cBhvr>
                                    </p:animEffect>
                                  </p:childTnLst>
                                </p:cTn>
                              </p:par>
                              <p:par>
                                <p:cTn id="59" presetID="10" presetClass="entr" presetSubtype="0" fill="hold" grpId="0" nodeType="withEffect">
                                  <p:stCondLst>
                                    <p:cond delay="300"/>
                                  </p:stCondLst>
                                  <p:childTnLst>
                                    <p:set>
                                      <p:cBhvr>
                                        <p:cTn id="57" dur="1" fill="hold">
                                          <p:stCondLst>
                                            <p:cond delay="0"/>
                                          </p:stCondLst>
                                        </p:cTn>
                                        <p:tgtEl>
                                          <p:spTgt spid="29"/>
                                        </p:tgtEl>
                                        <p:attrNameLst>
                                          <p:attrName>style.visibility</p:attrName>
                                        </p:attrNameLst>
                                      </p:cBhvr>
                                      <p:to>
                                        <p:strVal val="visible"/>
                                      </p:to>
                                    </p:set>
                                    <p:animEffect transition="in" filter="fade">
                                      <p:cBhvr>
                                        <p:cTn id="58" dur="500"/>
                                        <p:tgtEl>
                                          <p:spTgt spid="29"/>
                                        </p:tgtEl>
                                      </p:cBhvr>
                                    </p:animEffect>
                                  </p:childTnLst>
                                </p:cTn>
                              </p:par>
                            </p:childTnLst>
                          </p:cTn>
                        </p:par>
                      </p:childTnLst>
                    </p:cTn>
                  </p:par>
                  <p:par>
                    <p:cTn id="60" fill="hold">
                      <p:stCondLst>
                        <p:cond delay="indefinite"/>
                      </p:stCondLst>
                      <p:childTnLst>
                        <p:par>
                          <p:cTn id="61" fill="hold">
                            <p:stCondLst>
                              <p:cond delay="0"/>
                            </p:stCondLst>
                            <p:childTnLst>
                              <p:par>
                                <p:cTn id="64" presetID="10" presetClass="exit" presetSubtype="0" fill="hold" grpId="0" nodeType="clickEffect">
                                  <p:stCondLst>
                                    <p:cond delay="0"/>
                                  </p:stCondLst>
                                  <p:childTnLst>
                                    <p:animEffect transition="out" filter="fade">
                                      <p:cBhvr>
                                        <p:cTn id="62" dur="300"/>
                                        <p:tgtEl>
                                          <p:spTgt spid="29"/>
                                        </p:tgtEl>
                                      </p:cBhvr>
                                    </p:animEffect>
                                    <p:set>
                                      <p:cBhvr>
                                        <p:cTn id="63" dur="1" fill="hold">
                                          <p:stCondLst>
                                            <p:cond delay="299"/>
                                          </p:stCondLst>
                                        </p:cTn>
                                        <p:tgtEl>
                                          <p:spTgt spid="29"/>
                                        </p:tgtEl>
                                        <p:attrNameLst>
                                          <p:attrName>style.visibility</p:attrName>
                                        </p:attrNameLst>
                                      </p:cBhvr>
                                      <p:to>
                                        <p:strVal val="hidden"/>
                                      </p:to>
                                    </p:set>
                                  </p:childTnLst>
                                </p:cTn>
                              </p:par>
                              <p:par>
                                <p:cTn id="67" presetID="10" presetClass="entr" presetSubtype="0" fill="hold" grpId="0" nodeType="withEffect">
                                  <p:stCondLst>
                                    <p:cond delay="300"/>
                                  </p:stCondLst>
                                  <p:childTnLst>
                                    <p:set>
                                      <p:cBhvr>
                                        <p:cTn id="65" dur="1" fill="hold">
                                          <p:stCondLst>
                                            <p:cond delay="0"/>
                                          </p:stCondLst>
                                        </p:cTn>
                                        <p:tgtEl>
                                          <p:spTgt spid="22"/>
                                        </p:tgtEl>
                                        <p:attrNameLst>
                                          <p:attrName>style.visibility</p:attrName>
                                        </p:attrNameLst>
                                      </p:cBhvr>
                                      <p:to>
                                        <p:strVal val="visible"/>
                                      </p:to>
                                    </p:set>
                                    <p:animEffect transition="in" filter="fade">
                                      <p:cBhvr>
                                        <p:cTn id="66" dur="500"/>
                                        <p:tgtEl>
                                          <p:spTgt spid="22"/>
                                        </p:tgtEl>
                                      </p:cBhvr>
                                    </p:animEffect>
                                  </p:childTnLst>
                                </p:cTn>
                              </p:par>
                              <p:par>
                                <p:cTn id="70" presetID="10" presetClass="entr" presetSubtype="0" fill="hold" nodeType="withEffect">
                                  <p:stCondLst>
                                    <p:cond delay="300"/>
                                  </p:stCondLst>
                                  <p:childTnLst>
                                    <p:set>
                                      <p:cBhvr>
                                        <p:cTn id="68" dur="1" fill="hold">
                                          <p:stCondLst>
                                            <p:cond delay="0"/>
                                          </p:stCondLst>
                                        </p:cTn>
                                        <p:tgtEl>
                                          <p:spTgt spid="23"/>
                                        </p:tgtEl>
                                        <p:attrNameLst>
                                          <p:attrName>style.visibility</p:attrName>
                                        </p:attrNameLst>
                                      </p:cBhvr>
                                      <p:to>
                                        <p:strVal val="visible"/>
                                      </p:to>
                                    </p:set>
                                    <p:animEffect transition="in" filter="fade">
                                      <p:cBhvr>
                                        <p:cTn id="69" dur="500"/>
                                        <p:tgtEl>
                                          <p:spTgt spid="23"/>
                                        </p:tgtEl>
                                      </p:cBhvr>
                                    </p:animEffect>
                                  </p:childTnLst>
                                </p:cTn>
                              </p:par>
                              <p:par>
                                <p:cTn id="73" presetID="10" presetClass="entr" presetSubtype="0" fill="hold" grpId="0" nodeType="withEffect">
                                  <p:stCondLst>
                                    <p:cond delay="300"/>
                                  </p:stCondLst>
                                  <p:childTnLst>
                                    <p:set>
                                      <p:cBhvr>
                                        <p:cTn id="71" dur="1" fill="hold">
                                          <p:stCondLst>
                                            <p:cond delay="0"/>
                                          </p:stCondLst>
                                        </p:cTn>
                                        <p:tgtEl>
                                          <p:spTgt spid="30"/>
                                        </p:tgtEl>
                                        <p:attrNameLst>
                                          <p:attrName>style.visibility</p:attrName>
                                        </p:attrNameLst>
                                      </p:cBhvr>
                                      <p:to>
                                        <p:strVal val="visible"/>
                                      </p:to>
                                    </p:set>
                                    <p:animEffect transition="in" filter="fade">
                                      <p:cBhvr>
                                        <p:cTn id="72" dur="500"/>
                                        <p:tgtEl>
                                          <p:spTgt spid="30"/>
                                        </p:tgtEl>
                                      </p:cBhvr>
                                    </p:animEffect>
                                  </p:childTnLst>
                                </p:cTn>
                              </p:par>
                            </p:childTnLst>
                          </p:cTn>
                        </p:par>
                      </p:childTnLst>
                    </p:cTn>
                  </p:par>
                  <p:par>
                    <p:cTn id="74" fill="hold">
                      <p:stCondLst>
                        <p:cond delay="indefinite"/>
                      </p:stCondLst>
                      <p:childTnLst>
                        <p:par>
                          <p:cTn id="75" fill="hold">
                            <p:stCondLst>
                              <p:cond delay="0"/>
                            </p:stCondLst>
                            <p:childTnLst>
                              <p:par>
                                <p:cTn id="78" presetID="10" presetClass="exit" presetSubtype="0" fill="hold" grpId="0" nodeType="clickEffect">
                                  <p:stCondLst>
                                    <p:cond delay="0"/>
                                  </p:stCondLst>
                                  <p:childTnLst>
                                    <p:animEffect transition="out" filter="fade">
                                      <p:cBhvr>
                                        <p:cTn id="76" dur="300"/>
                                        <p:tgtEl>
                                          <p:spTgt spid="30"/>
                                        </p:tgtEl>
                                      </p:cBhvr>
                                    </p:animEffect>
                                    <p:set>
                                      <p:cBhvr>
                                        <p:cTn id="77" dur="1" fill="hold">
                                          <p:stCondLst>
                                            <p:cond delay="299"/>
                                          </p:stCondLst>
                                        </p:cTn>
                                        <p:tgtEl>
                                          <p:spTgt spid="30"/>
                                        </p:tgtEl>
                                        <p:attrNameLst>
                                          <p:attrName>style.visibility</p:attrName>
                                        </p:attrNameLst>
                                      </p:cBhvr>
                                      <p:to>
                                        <p:strVal val="hidden"/>
                                      </p:to>
                                    </p:set>
                                  </p:childTnLst>
                                </p:cTn>
                              </p:par>
                              <p:par>
                                <p:cTn id="81" presetID="10" presetClass="entr" presetSubtype="0" fill="hold" grpId="0" nodeType="withEffect">
                                  <p:stCondLst>
                                    <p:cond delay="300"/>
                                  </p:stCondLst>
                                  <p:childTnLst>
                                    <p:set>
                                      <p:cBhvr>
                                        <p:cTn id="79" dur="1" fill="hold">
                                          <p:stCondLst>
                                            <p:cond delay="0"/>
                                          </p:stCondLst>
                                        </p:cTn>
                                        <p:tgtEl>
                                          <p:spTgt spid="24"/>
                                        </p:tgtEl>
                                        <p:attrNameLst>
                                          <p:attrName>style.visibility</p:attrName>
                                        </p:attrNameLst>
                                      </p:cBhvr>
                                      <p:to>
                                        <p:strVal val="visible"/>
                                      </p:to>
                                    </p:set>
                                    <p:animEffect transition="in" filter="fade">
                                      <p:cBhvr>
                                        <p:cTn id="80" dur="500"/>
                                        <p:tgtEl>
                                          <p:spTgt spid="24"/>
                                        </p:tgtEl>
                                      </p:cBhvr>
                                    </p:animEffect>
                                  </p:childTnLst>
                                </p:cTn>
                              </p:par>
                              <p:par>
                                <p:cTn id="84" presetID="10" presetClass="entr" presetSubtype="0" fill="hold" nodeType="withEffect">
                                  <p:stCondLst>
                                    <p:cond delay="300"/>
                                  </p:stCondLst>
                                  <p:childTnLst>
                                    <p:set>
                                      <p:cBhvr>
                                        <p:cTn id="82" dur="1" fill="hold">
                                          <p:stCondLst>
                                            <p:cond delay="0"/>
                                          </p:stCondLst>
                                        </p:cTn>
                                        <p:tgtEl>
                                          <p:spTgt spid="25"/>
                                        </p:tgtEl>
                                        <p:attrNameLst>
                                          <p:attrName>style.visibility</p:attrName>
                                        </p:attrNameLst>
                                      </p:cBhvr>
                                      <p:to>
                                        <p:strVal val="visible"/>
                                      </p:to>
                                    </p:set>
                                    <p:animEffect transition="in" filter="fade">
                                      <p:cBhvr>
                                        <p:cTn id="83" dur="500"/>
                                        <p:tgtEl>
                                          <p:spTgt spid="25"/>
                                        </p:tgtEl>
                                      </p:cBhvr>
                                    </p:animEffect>
                                  </p:childTnLst>
                                </p:cTn>
                              </p:par>
                              <p:par>
                                <p:cTn id="87" presetID="10" presetClass="entr" presetSubtype="0" fill="hold" grpId="0" nodeType="withEffect">
                                  <p:stCondLst>
                                    <p:cond delay="300"/>
                                  </p:stCondLst>
                                  <p:childTnLst>
                                    <p:set>
                                      <p:cBhvr>
                                        <p:cTn id="85" dur="1" fill="hold">
                                          <p:stCondLst>
                                            <p:cond delay="0"/>
                                          </p:stCondLst>
                                        </p:cTn>
                                        <p:tgtEl>
                                          <p:spTgt spid="31"/>
                                        </p:tgtEl>
                                        <p:attrNameLst>
                                          <p:attrName>style.visibility</p:attrName>
                                        </p:attrNameLst>
                                      </p:cBhvr>
                                      <p:to>
                                        <p:strVal val="visible"/>
                                      </p:to>
                                    </p:set>
                                    <p:animEffect transition="in" filter="fade">
                                      <p:cBhvr>
                                        <p:cTn id="86" dur="500"/>
                                        <p:tgtEl>
                                          <p:spTgt spid="31"/>
                                        </p:tgtEl>
                                      </p:cBhvr>
                                    </p:animEffect>
                                  </p:childTnLst>
                                </p:cTn>
                              </p:par>
                            </p:childTnLst>
                          </p:cTn>
                        </p:par>
                      </p:childTnLst>
                    </p:cTn>
                  </p:par>
                  <p:par>
                    <p:cTn id="88" fill="hold">
                      <p:stCondLst>
                        <p:cond delay="indefinite"/>
                      </p:stCondLst>
                      <p:childTnLst>
                        <p:par>
                          <p:cTn id="89" fill="hold">
                            <p:stCondLst>
                              <p:cond delay="0"/>
                            </p:stCondLst>
                            <p:childTnLst>
                              <p:par>
                                <p:cTn id="92" presetID="10" presetClass="exit" presetSubtype="0" fill="hold" grpId="0" nodeType="clickEffect">
                                  <p:stCondLst>
                                    <p:cond delay="0"/>
                                  </p:stCondLst>
                                  <p:childTnLst>
                                    <p:animEffect transition="out" filter="fade">
                                      <p:cBhvr>
                                        <p:cTn id="90" dur="300"/>
                                        <p:tgtEl>
                                          <p:spTgt spid="31"/>
                                        </p:tgtEl>
                                      </p:cBhvr>
                                    </p:animEffect>
                                    <p:set>
                                      <p:cBhvr>
                                        <p:cTn id="91" dur="1" fill="hold">
                                          <p:stCondLst>
                                            <p:cond delay="299"/>
                                          </p:stCondLst>
                                        </p:cTn>
                                        <p:tgtEl>
                                          <p:spTgt spid="31"/>
                                        </p:tgtEl>
                                        <p:attrNameLst>
                                          <p:attrName>style.visibility</p:attrName>
                                        </p:attrNameLst>
                                      </p:cBhvr>
                                      <p:to>
                                        <p:strVal val="hidden"/>
                                      </p:to>
                                    </p:set>
                                  </p:childTnLst>
                                </p:cTn>
                              </p:par>
                              <p:par>
                                <p:cTn id="95" presetID="10" presetClass="entr" presetSubtype="0" fill="hold" grpId="0" nodeType="withEffect">
                                  <p:stCondLst>
                                    <p:cond delay="300"/>
                                  </p:stCondLst>
                                  <p:childTnLst>
                                    <p:set>
                                      <p:cBhvr>
                                        <p:cTn id="93" dur="1" fill="hold">
                                          <p:stCondLst>
                                            <p:cond delay="0"/>
                                          </p:stCondLst>
                                        </p:cTn>
                                        <p:tgtEl>
                                          <p:spTgt spid="26"/>
                                        </p:tgtEl>
                                        <p:attrNameLst>
                                          <p:attrName>style.visibility</p:attrName>
                                        </p:attrNameLst>
                                      </p:cBhvr>
                                      <p:to>
                                        <p:strVal val="visible"/>
                                      </p:to>
                                    </p:set>
                                    <p:animEffect transition="in" filter="fade">
                                      <p:cBhvr>
                                        <p:cTn id="94" dur="500"/>
                                        <p:tgtEl>
                                          <p:spTgt spid="26"/>
                                        </p:tgtEl>
                                      </p:cBhvr>
                                    </p:animEffect>
                                  </p:childTnLst>
                                </p:cTn>
                              </p:par>
                              <p:par>
                                <p:cTn id="98" presetID="10" presetClass="entr" presetSubtype="0" fill="hold" grpId="0" nodeType="withEffect">
                                  <p:stCondLst>
                                    <p:cond delay="300"/>
                                  </p:stCondLst>
                                  <p:childTnLst>
                                    <p:set>
                                      <p:cBhvr>
                                        <p:cTn id="96" dur="1" fill="hold">
                                          <p:stCondLst>
                                            <p:cond delay="0"/>
                                          </p:stCondLst>
                                        </p:cTn>
                                        <p:tgtEl>
                                          <p:spTgt spid="32"/>
                                        </p:tgtEl>
                                        <p:attrNameLst>
                                          <p:attrName>style.visibility</p:attrName>
                                        </p:attrNameLst>
                                      </p:cBhvr>
                                      <p:to>
                                        <p:strVal val="visible"/>
                                      </p:to>
                                    </p:set>
                                    <p:animEffect transition="in" filter="fade">
                                      <p:cBhvr>
                                        <p:cTn id="97"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2" grpId="0" animBg="1"/>
      <p:bldP spid="14" grpId="0" animBg="1"/>
      <p:bldP spid="27" grpId="0"/>
      <p:bldP spid="16" grpId="0" animBg="1"/>
      <p:bldP spid="28" grpId="0"/>
      <p:bldP spid="20" grpId="0" animBg="1"/>
      <p:bldP spid="29" grpId="0"/>
      <p:bldP spid="22" grpId="0" animBg="1"/>
      <p:bldP spid="30" grpId="0"/>
      <p:bldP spid="24" grpId="0" animBg="1"/>
      <p:bldP spid="31" grpId="0"/>
      <p:bldP spid="26" grpId="0" animBg="1"/>
      <p:bldP spid="32" grpId="0"/>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Slides>
  <Notes>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vt:i4>
      </vt:variant>
    </vt:vector>
  </HeadingPairs>
  <TitlesOfParts>
    <vt:vector size="4" baseType="lpstr">
      <vt:lpstr>Arial</vt:lpstr>
      <vt:lpstr>Calibri</vt:lpstr>
      <vt:lpstr>Office Theme</vt:lpstr>
      <vt:lpstr>Slide 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Phase 2</dc:title>
  <dc:subject>PptxGenJS Presentation</dc:subject>
  <dc:creator>Nisha Mishra</dc:creator>
  <cp:lastModifiedBy>Nisha Mishra</cp:lastModifiedBy>
  <cp:revision>1</cp:revision>
  <dcterms:created xsi:type="dcterms:W3CDTF">2026-10-04T23:02:14Z</dcterms:created>
  <dcterms:modified xsi:type="dcterms:W3CDTF">2026-10-04T23:02:14Z</dcterms:modified>
</cp:coreProperties>
</file>