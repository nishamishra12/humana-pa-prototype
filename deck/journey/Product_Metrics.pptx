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One number to win: the right-first-time rate. Out of every hundred requests, how many get the right answer the first time, with no back and forth. That helps the member, who gets care sooner. It helps the provider, who does not send things twice. It helps the nurse, who does less rework. And it helps the plan, which pays for fewer appeals. A case has rework when the nurse asks for something the provider already sent, when a director sends it back to the nurse, or when a denial is overturned because the packet already had the answer.
Click 2: We cannot see the full north star live, because the appeals part arrives months later. So we watch leading indicators, which move in days. The first-review rate: cases decided with no pend. Avoidable pends: the provider replies that it was already sent. The nurse types that when the reply is added. Avoidable escalations: a director sends the case back to the nurse. And how often the nurse's first action matches the AI. These are on the operations dashboard, live.
Click 3: The lagging indicators take months and need Humana's own data. Overturned because the information was in the packet. Cost per decision. And the trend month over month. When that data arrives, the early read becomes the full north star. We would ask Humana for these.
Click 4: Guardrails, so we do not cheat. Humana already meets the CMS time limit, and we must not slow it down. If the share of approvals jumps, we may be approving too much just to look good. And the AI never denies. A medical director denies and writes the reason.
Click 5: And each number leads to a decision for an executive. Is there enough nurse capacity before a deadline passes. Which service to onboard next, from the requests that arrived with no policy. Whether the policy owner has time for the drafts waiting. And whether a pilot service goes live or pauses. The dashboard is built around those four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45720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HOW WE MEASURE IT</a:t>
            </a:r>
            <a:endParaRPr lang="en-US" sz="1100" dirty="0"/>
          </a:p>
        </p:txBody>
      </p:sp>
      <p:sp>
        <p:nvSpPr>
          <p:cNvPr id="3" name="title"/>
          <p:cNvSpPr txBox="1"/>
          <p:nvPr/>
        </p:nvSpPr>
        <p:spPr>
          <a:xfrm>
            <a:off x="457200" y="502920"/>
            <a:ext cx="85953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One number to win. Guardrails so we do not cheat.</a:t>
            </a:r>
            <a:endParaRPr lang="en-US" sz="2600" dirty="0"/>
          </a:p>
        </p:txBody>
      </p:sp>
      <p:sp>
        <p:nvSpPr>
          <p:cNvPr id="4" name="sub"/>
          <p:cNvSpPr txBox="1"/>
          <p:nvPr/>
        </p:nvSpPr>
        <p:spPr>
          <a:xfrm>
            <a:off x="8686800" y="502920"/>
            <a:ext cx="304495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Right first time</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Leading numbers are live on the operations dashboard. The lagging ones need Humana's own data. Humana's public figure for context: 64.7% of appealed Medicare Advantage denials were overturned in 2025.</a:t>
            </a:r>
            <a:endParaRPr lang="en-US" sz="900" dirty="0"/>
          </a:p>
        </p:txBody>
      </p:sp>
      <p:sp>
        <p:nvSpPr>
          <p:cNvPr id="6" name="K1"/>
          <p:cNvSpPr/>
          <p:nvPr/>
        </p:nvSpPr>
        <p:spPr>
          <a:xfrm>
            <a:off x="457200" y="1325880"/>
            <a:ext cx="3566160" cy="2743200"/>
          </a:xfrm>
          <a:prstGeom prst="roundRect">
            <a:avLst>
              <a:gd name="adj" fmla="val 3333"/>
            </a:avLst>
          </a:prstGeom>
          <a:solidFill>
            <a:srgbClr val="E3F0EB"/>
          </a:solidFill>
          <a:ln w="15875">
            <a:solidFill>
              <a:srgbClr val="1F6F5C"/>
            </a:solidFill>
          </a:ln>
        </p:spPr>
        <p:txBody>
          <a:bodyPr wrap="square" lIns="182880" tIns="146304" rIns="182880" bIns="73152" rtlCol="0" anchor="t"/>
          <a:lstStyle/>
          <a:p>
            <a:pPr algn="l" indent="0" marL="0">
              <a:spcAft>
                <a:spcPts val="500"/>
              </a:spcAft>
              <a:buNone/>
            </a:pPr>
            <a:r>
              <a:rPr lang="en-US" sz="900" b="1" spc="150" kern="0" dirty="0">
                <a:solidFill>
                  <a:srgbClr val="1F6F5C"/>
                </a:solidFill>
                <a:latin typeface="Calibri" pitchFamily="34" charset="0"/>
                <a:ea typeface="Calibri" pitchFamily="34" charset="-122"/>
                <a:cs typeface="Calibri" pitchFamily="34" charset="-120"/>
              </a:rPr>
              <a:t>NORTH STAR</a:t>
            </a:r>
            <a:endParaRPr lang="en-US" sz="900" dirty="0"/>
          </a:p>
          <a:p>
            <a:pPr algn="l" indent="0" marL="0">
              <a:spcAft>
                <a:spcPts val="1000"/>
              </a:spcAft>
              <a:buNone/>
            </a:pPr>
            <a:r>
              <a:rPr lang="en-US" sz="2600" dirty="0">
                <a:solidFill>
                  <a:srgbClr val="16211E"/>
                </a:solidFill>
                <a:latin typeface="Cambria" pitchFamily="34" charset="0"/>
                <a:ea typeface="Cambria" pitchFamily="34" charset="-122"/>
                <a:cs typeface="Cambria" pitchFamily="34" charset="-120"/>
              </a:rPr>
              <a:t>Right-first-time rate</a:t>
            </a:r>
            <a:endParaRPr lang="en-US" sz="900" dirty="0"/>
          </a:p>
          <a:p>
            <a:pPr algn="l" indent="0" marL="0">
              <a:spcAft>
                <a:spcPts val="1200"/>
              </a:spcAft>
              <a:buNone/>
            </a:pPr>
            <a:r>
              <a:rPr lang="en-US" sz="1500" b="1" dirty="0">
                <a:solidFill>
                  <a:srgbClr val="16211E"/>
                </a:solidFill>
                <a:latin typeface="Calibri" pitchFamily="34" charset="0"/>
                <a:ea typeface="Calibri" pitchFamily="34" charset="-122"/>
                <a:cs typeface="Calibri" pitchFamily="34" charset="-120"/>
              </a:rPr>
              <a:t>Of every 100 requests, how many get the right answer the first time, with no back and forth.</a:t>
            </a:r>
            <a:endParaRPr lang="en-US" sz="900" dirty="0"/>
          </a:p>
          <a:p>
            <a:pPr algn="l" indent="0" marL="0">
              <a:spcAft>
                <a:spcPts val="400"/>
              </a:spcAft>
              <a:buNone/>
            </a:pPr>
            <a:r>
              <a:rPr lang="en-US" sz="1200" dirty="0">
                <a:solidFill>
                  <a:srgbClr val="5C6B66"/>
                </a:solidFill>
                <a:latin typeface="Calibri" pitchFamily="34" charset="0"/>
                <a:ea typeface="Calibri" pitchFamily="34" charset="-122"/>
                <a:cs typeface="Calibri" pitchFamily="34" charset="-120"/>
              </a:rPr>
              <a:t>A case has rework when the nurse asks for something already sent, a director sends it back, or a denial is overturned because the packet already had the answer.</a:t>
            </a:r>
            <a:endParaRPr lang="en-US" sz="900" dirty="0"/>
          </a:p>
        </p:txBody>
      </p:sp>
      <p:sp>
        <p:nvSpPr>
          <p:cNvPr id="7" name="K2"/>
          <p:cNvSpPr/>
          <p:nvPr/>
        </p:nvSpPr>
        <p:spPr>
          <a:xfrm>
            <a:off x="4297680" y="1325880"/>
            <a:ext cx="3566160" cy="2743200"/>
          </a:xfrm>
          <a:prstGeom prst="roundRect">
            <a:avLst>
              <a:gd name="adj" fmla="val 3333"/>
            </a:avLst>
          </a:prstGeom>
          <a:solidFill>
            <a:srgbClr val="FFFFFF"/>
          </a:solidFill>
          <a:ln w="15875">
            <a:solidFill>
              <a:srgbClr val="CBD5D1"/>
            </a:solidFill>
          </a:ln>
        </p:spPr>
        <p:txBody>
          <a:bodyPr wrap="square" lIns="182880" tIns="146304" rIns="182880" bIns="73152" rtlCol="0" anchor="t"/>
          <a:lstStyle/>
          <a:p>
            <a:pPr algn="l" indent="0" marL="0">
              <a:spcAft>
                <a:spcPts val="500"/>
              </a:spcAft>
              <a:buNone/>
            </a:pPr>
            <a:r>
              <a:rPr lang="en-US" sz="900" b="1" spc="150" kern="0" dirty="0">
                <a:solidFill>
                  <a:srgbClr val="5C6B66"/>
                </a:solidFill>
                <a:latin typeface="Calibri" pitchFamily="34" charset="0"/>
                <a:ea typeface="Calibri" pitchFamily="34" charset="-122"/>
                <a:cs typeface="Calibri" pitchFamily="34" charset="-120"/>
              </a:rPr>
              <a:t>LEADING  ·  SEEN IN DAYS TO WEEKS</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First-review rate</a:t>
            </a:r>
            <a:endParaRPr lang="en-US" sz="900" dirty="0"/>
          </a:p>
          <a:p>
            <a:pPr algn="l" indent="0" marL="0">
              <a:spcAft>
                <a:spcPts val="1400"/>
              </a:spcAft>
              <a:buNone/>
            </a:pPr>
            <a:r>
              <a:rPr lang="en-US" sz="1200" dirty="0">
                <a:solidFill>
                  <a:srgbClr val="5C6B66"/>
                </a:solidFill>
                <a:latin typeface="Calibri" pitchFamily="34" charset="0"/>
                <a:ea typeface="Calibri" pitchFamily="34" charset="-122"/>
                <a:cs typeface="Calibri" pitchFamily="34" charset="-120"/>
              </a:rPr>
              <a:t>Decided with no pend. Higher is better.</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Avoidable pends</a:t>
            </a:r>
            <a:endParaRPr lang="en-US" sz="900" dirty="0"/>
          </a:p>
          <a:p>
            <a:pPr algn="l" indent="0" marL="0">
              <a:spcAft>
                <a:spcPts val="1400"/>
              </a:spcAft>
              <a:buNone/>
            </a:pPr>
            <a:r>
              <a:rPr lang="en-US" sz="1200" dirty="0">
                <a:solidFill>
                  <a:srgbClr val="5C6B66"/>
                </a:solidFill>
                <a:latin typeface="Calibri" pitchFamily="34" charset="0"/>
                <a:ea typeface="Calibri" pitchFamily="34" charset="-122"/>
                <a:cs typeface="Calibri" pitchFamily="34" charset="-120"/>
              </a:rPr>
              <a:t>The provider says it was already sent. Lower is better.</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Avoidable escalations</a:t>
            </a:r>
            <a:endParaRPr lang="en-US" sz="900" dirty="0"/>
          </a:p>
          <a:p>
            <a:pPr algn="l" indent="0" marL="0">
              <a:spcAft>
                <a:spcPts val="1400"/>
              </a:spcAft>
              <a:buNone/>
            </a:pPr>
            <a:r>
              <a:rPr lang="en-US" sz="1200" dirty="0">
                <a:solidFill>
                  <a:srgbClr val="5C6B66"/>
                </a:solidFill>
                <a:latin typeface="Calibri" pitchFamily="34" charset="0"/>
                <a:ea typeface="Calibri" pitchFamily="34" charset="-122"/>
                <a:cs typeface="Calibri" pitchFamily="34" charset="-120"/>
              </a:rPr>
              <a:t>A director sends it back to the nurse. Lower is better.</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Nurse agrees with the AI</a:t>
            </a:r>
            <a:endParaRPr lang="en-US" sz="900" dirty="0"/>
          </a:p>
          <a:p>
            <a:pPr algn="l" indent="0" marL="0">
              <a:buNone/>
            </a:pPr>
            <a:r>
              <a:rPr lang="en-US" sz="1200" dirty="0">
                <a:solidFill>
                  <a:srgbClr val="5C6B66"/>
                </a:solidFill>
                <a:latin typeface="Calibri" pitchFamily="34" charset="0"/>
                <a:ea typeface="Calibri" pitchFamily="34" charset="-122"/>
                <a:cs typeface="Calibri" pitchFamily="34" charset="-120"/>
              </a:rPr>
              <a:t>The nurse's first action matched. Higher is better.</a:t>
            </a:r>
            <a:endParaRPr lang="en-US" sz="900" dirty="0"/>
          </a:p>
        </p:txBody>
      </p:sp>
      <p:sp>
        <p:nvSpPr>
          <p:cNvPr id="8" name="K3"/>
          <p:cNvSpPr/>
          <p:nvPr/>
        </p:nvSpPr>
        <p:spPr>
          <a:xfrm>
            <a:off x="8165592" y="1325880"/>
            <a:ext cx="3566160" cy="2743200"/>
          </a:xfrm>
          <a:prstGeom prst="roundRect">
            <a:avLst>
              <a:gd name="adj" fmla="val 3333"/>
            </a:avLst>
          </a:prstGeom>
          <a:solidFill>
            <a:srgbClr val="F3F5F4"/>
          </a:solidFill>
          <a:ln w="15875">
            <a:solidFill>
              <a:srgbClr val="CBD5D1"/>
            </a:solidFill>
          </a:ln>
        </p:spPr>
        <p:txBody>
          <a:bodyPr wrap="square" lIns="182880" tIns="146304" rIns="182880" bIns="73152" rtlCol="0" anchor="t"/>
          <a:lstStyle/>
          <a:p>
            <a:pPr algn="l" indent="0" marL="0">
              <a:spcAft>
                <a:spcPts val="500"/>
              </a:spcAft>
              <a:buNone/>
            </a:pPr>
            <a:r>
              <a:rPr lang="en-US" sz="900" b="1" spc="150" kern="0" dirty="0">
                <a:solidFill>
                  <a:srgbClr val="5C6B66"/>
                </a:solidFill>
                <a:latin typeface="Calibri" pitchFamily="34" charset="0"/>
                <a:ea typeface="Calibri" pitchFamily="34" charset="-122"/>
                <a:cs typeface="Calibri" pitchFamily="34" charset="-120"/>
              </a:rPr>
              <a:t>LAGGING  ·  MONTHS, WITH HUMANA'S DATA</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Overturned because the info was in the packet</a:t>
            </a:r>
            <a:endParaRPr lang="en-US" sz="900" dirty="0"/>
          </a:p>
          <a:p>
            <a:pPr algn="l" indent="0" marL="0">
              <a:spcAft>
                <a:spcPts val="1400"/>
              </a:spcAft>
              <a:buNone/>
            </a:pPr>
            <a:r>
              <a:rPr lang="en-US" sz="1200" dirty="0">
                <a:solidFill>
                  <a:srgbClr val="5C6B66"/>
                </a:solidFill>
                <a:latin typeface="Calibri" pitchFamily="34" charset="0"/>
                <a:ea typeface="Calibri" pitchFamily="34" charset="-122"/>
                <a:cs typeface="Calibri" pitchFamily="34" charset="-120"/>
              </a:rPr>
              <a:t>An appeal wins and the packet already had the answer. Lower is better.</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Cost per decision</a:t>
            </a:r>
            <a:endParaRPr lang="en-US" sz="900" dirty="0"/>
          </a:p>
          <a:p>
            <a:pPr algn="l" indent="0" marL="0">
              <a:spcAft>
                <a:spcPts val="1400"/>
              </a:spcAft>
              <a:buNone/>
            </a:pPr>
            <a:r>
              <a:rPr lang="en-US" sz="1200" dirty="0">
                <a:solidFill>
                  <a:srgbClr val="5C6B66"/>
                </a:solidFill>
                <a:latin typeface="Calibri" pitchFamily="34" charset="0"/>
                <a:ea typeface="Calibri" pitchFamily="34" charset="-122"/>
                <a:cs typeface="Calibri" pitchFamily="34" charset="-120"/>
              </a:rPr>
              <a:t>Total spend on a case divided by decided cases. Lower is better.</a:t>
            </a:r>
            <a:endParaRPr lang="en-US" sz="900" dirty="0"/>
          </a:p>
          <a:p>
            <a:pPr algn="l" indent="0" marL="0">
              <a:spcAft>
                <a:spcPts val="100"/>
              </a:spcAft>
              <a:buNone/>
            </a:pPr>
            <a:r>
              <a:rPr lang="en-US" sz="1400" b="1" dirty="0">
                <a:solidFill>
                  <a:srgbClr val="16211E"/>
                </a:solidFill>
                <a:latin typeface="Calibri" pitchFamily="34" charset="0"/>
                <a:ea typeface="Calibri" pitchFamily="34" charset="-122"/>
                <a:cs typeface="Calibri" pitchFamily="34" charset="-120"/>
              </a:rPr>
              <a:t>Month over month</a:t>
            </a:r>
            <a:endParaRPr lang="en-US" sz="900" dirty="0"/>
          </a:p>
          <a:p>
            <a:pPr algn="l" indent="0" marL="0">
              <a:buNone/>
            </a:pPr>
            <a:r>
              <a:rPr lang="en-US" sz="1200" dirty="0">
                <a:solidFill>
                  <a:srgbClr val="5C6B66"/>
                </a:solidFill>
                <a:latin typeface="Calibri" pitchFamily="34" charset="0"/>
                <a:ea typeface="Calibri" pitchFamily="34" charset="-122"/>
                <a:cs typeface="Calibri" pitchFamily="34" charset="-120"/>
              </a:rPr>
              <a:t>The same numbers as a trend.</a:t>
            </a:r>
            <a:endParaRPr lang="en-US" sz="900" dirty="0"/>
          </a:p>
        </p:txBody>
      </p:sp>
      <p:sp>
        <p:nvSpPr>
          <p:cNvPr id="9" name="Becomes"/>
          <p:cNvSpPr/>
          <p:nvPr/>
        </p:nvSpPr>
        <p:spPr>
          <a:xfrm>
            <a:off x="7882128" y="2697480"/>
            <a:ext cx="265176" cy="0"/>
          </a:xfrm>
          <a:prstGeom prst="line">
            <a:avLst/>
          </a:prstGeom>
          <a:noFill/>
          <a:ln w="22225">
            <a:solidFill>
              <a:srgbClr val="5C6B66"/>
            </a:solidFill>
            <a:prstDash val="solid"/>
            <a:tailEnd type="triangle"/>
          </a:ln>
        </p:spPr>
      </p:sp>
      <p:sp>
        <p:nvSpPr>
          <p:cNvPr id="10" name="G"/>
          <p:cNvSpPr/>
          <p:nvPr/>
        </p:nvSpPr>
        <p:spPr>
          <a:xfrm>
            <a:off x="457200" y="4297680"/>
            <a:ext cx="6309360" cy="1371600"/>
          </a:xfrm>
          <a:prstGeom prst="roundRect">
            <a:avLst>
              <a:gd name="adj" fmla="val 6667"/>
            </a:avLst>
          </a:prstGeom>
          <a:solidFill>
            <a:srgbClr val="FBE9E4"/>
          </a:solidFill>
          <a:ln w="15875">
            <a:solidFill>
              <a:srgbClr val="B8452F"/>
            </a:solidFill>
          </a:ln>
        </p:spPr>
        <p:txBody>
          <a:bodyPr wrap="square" lIns="182880" tIns="146304" rIns="182880" bIns="73152" rtlCol="0" anchor="t"/>
          <a:lstStyle/>
          <a:p>
            <a:pPr algn="l" indent="0" marL="0">
              <a:spcAft>
                <a:spcPts val="500"/>
              </a:spcAft>
              <a:buNone/>
            </a:pPr>
            <a:r>
              <a:rPr lang="en-US" sz="900" b="1" spc="150" kern="0" dirty="0">
                <a:solidFill>
                  <a:srgbClr val="B8452F"/>
                </a:solidFill>
                <a:latin typeface="Calibri" pitchFamily="34" charset="0"/>
                <a:ea typeface="Calibri" pitchFamily="34" charset="-122"/>
                <a:cs typeface="Calibri" pitchFamily="34" charset="-120"/>
              </a:rPr>
              <a:t>GUARDRAILS</a:t>
            </a:r>
            <a:endParaRPr lang="en-US" sz="900" dirty="0"/>
          </a:p>
          <a:p>
            <a:pPr algn="l" indent="0" marL="0">
              <a:spcAft>
                <a:spcPts val="400"/>
              </a:spcAft>
              <a:buNone/>
            </a:pPr>
            <a:r>
              <a:rPr lang="en-US" sz="1350" dirty="0">
                <a:solidFill>
                  <a:srgbClr val="16211E"/>
                </a:solidFill>
                <a:latin typeface="Calibri" pitchFamily="34" charset="0"/>
                <a:ea typeface="Calibri" pitchFamily="34" charset="-122"/>
                <a:cs typeface="Calibri" pitchFamily="34" charset="-120"/>
              </a:rPr>
              <a:t>Time limit: never slower than the CMS clock.   Approvals: the share must not jump.   No AI denials: only a director denies.</a:t>
            </a:r>
            <a:endParaRPr lang="en-US" sz="900" dirty="0"/>
          </a:p>
        </p:txBody>
      </p:sp>
      <p:sp>
        <p:nvSpPr>
          <p:cNvPr id="11" name="D"/>
          <p:cNvSpPr/>
          <p:nvPr/>
        </p:nvSpPr>
        <p:spPr>
          <a:xfrm>
            <a:off x="6949440" y="4297680"/>
            <a:ext cx="4782312" cy="1371600"/>
          </a:xfrm>
          <a:prstGeom prst="roundRect">
            <a:avLst>
              <a:gd name="adj" fmla="val 6667"/>
            </a:avLst>
          </a:prstGeom>
          <a:solidFill>
            <a:srgbClr val="DDF3E7"/>
          </a:solidFill>
          <a:ln w="15875">
            <a:solidFill>
              <a:srgbClr val="18764A"/>
            </a:solidFill>
          </a:ln>
        </p:spPr>
        <p:txBody>
          <a:bodyPr wrap="square" lIns="182880" tIns="146304" rIns="182880" bIns="73152" rtlCol="0" anchor="t"/>
          <a:lstStyle/>
          <a:p>
            <a:pPr algn="l" indent="0" marL="0">
              <a:spcAft>
                <a:spcPts val="500"/>
              </a:spcAft>
              <a:buNone/>
            </a:pPr>
            <a:r>
              <a:rPr lang="en-US" sz="900" b="1" spc="150" kern="0" dirty="0">
                <a:solidFill>
                  <a:srgbClr val="18764A"/>
                </a:solidFill>
                <a:latin typeface="Calibri" pitchFamily="34" charset="0"/>
                <a:ea typeface="Calibri" pitchFamily="34" charset="-122"/>
                <a:cs typeface="Calibri" pitchFamily="34" charset="-120"/>
              </a:rPr>
              <a:t>WHAT AN EXECUTIVE DECIDES WITH IT</a:t>
            </a:r>
            <a:endParaRPr lang="en-US" sz="900" dirty="0"/>
          </a:p>
          <a:p>
            <a:pPr algn="l" indent="0" marL="0">
              <a:spcAft>
                <a:spcPts val="400"/>
              </a:spcAft>
              <a:buNone/>
            </a:pPr>
            <a:r>
              <a:rPr lang="en-US" sz="1350" dirty="0">
                <a:solidFill>
                  <a:srgbClr val="16211E"/>
                </a:solidFill>
                <a:latin typeface="Calibri" pitchFamily="34" charset="0"/>
                <a:ea typeface="Calibri" pitchFamily="34" charset="-122"/>
                <a:cs typeface="Calibri" pitchFamily="34" charset="-120"/>
              </a:rPr>
              <a:t>Add nurse capacity. Choose the next service to onboard. Review the owner's queue. Make a pilot live, or pause it.</a:t>
            </a:r>
            <a:endParaRPr lang="en-US" sz="900" dirty="0"/>
          </a:p>
        </p:txBody>
      </p:sp>
      <p:sp>
        <p:nvSpPr>
          <p:cNvPr id="12"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One number to win: the right-first-time rate. Of every hundred requests, how many get the right answer the first time, with no back and forth.</a:t>
            </a:r>
            <a:endParaRPr lang="en-US" sz="1600" dirty="0"/>
          </a:p>
        </p:txBody>
      </p:sp>
      <p:sp>
        <p:nvSpPr>
          <p:cNvPr id="13"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Leading indicators show it in days. First-review rate, avoidable pends, avoidable escalations, and how often the nurse agrees with the AI.</a:t>
            </a:r>
            <a:endParaRPr lang="en-US" sz="1600" dirty="0"/>
          </a:p>
        </p:txBody>
      </p:sp>
      <p:sp>
        <p:nvSpPr>
          <p:cNvPr id="14"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Lagging indicators take months and need Humana's data. They turn the early read into the full north star.</a:t>
            </a:r>
            <a:endParaRPr lang="en-US" sz="1600" dirty="0"/>
          </a:p>
        </p:txBody>
      </p:sp>
      <p:sp>
        <p:nvSpPr>
          <p:cNvPr id="15"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Guardrails so we do not cheat. Never slower than the CMS clock. Approvals must not jump. The AI never denies.</a:t>
            </a:r>
            <a:endParaRPr lang="en-US" sz="1600" dirty="0"/>
          </a:p>
        </p:txBody>
      </p:sp>
      <p:sp>
        <p:nvSpPr>
          <p:cNvPr id="16"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And each number leads to a decision: nurse capacity, which service to onboard, the owner's queue, and whether a pilot goes live.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xit" presetSubtype="0" fill="hold" grpId="0" nodeType="clickEffect">
                                  <p:stCondLst>
                                    <p:cond delay="0"/>
                                  </p:stCondLst>
                                  <p:childTnLst>
                                    <p:animEffect transition="out" filter="fade">
                                      <p:cBhvr>
                                        <p:cTn id="13" dur="300"/>
                                        <p:tgtEl>
                                          <p:spTgt spid="12"/>
                                        </p:tgtEl>
                                      </p:cBhvr>
                                    </p:animEffect>
                                    <p:set>
                                      <p:cBhvr>
                                        <p:cTn id="14" dur="1" fill="hold">
                                          <p:stCondLst>
                                            <p:cond delay="299"/>
                                          </p:stCondLst>
                                        </p:cTn>
                                        <p:tgtEl>
                                          <p:spTgt spid="12"/>
                                        </p:tgtEl>
                                        <p:attrNameLst>
                                          <p:attrName>style.visibility</p:attrName>
                                        </p:attrNameLst>
                                      </p:cBhvr>
                                      <p:to>
                                        <p:strVal val="hidden"/>
                                      </p:to>
                                    </p:set>
                                  </p:childTnLst>
                                </p:cTn>
                              </p:par>
                              <p:par>
                                <p:cTn id="18" presetID="10" presetClass="entr" presetSubtype="0" fill="hold" grpId="0" nodeType="withEffect">
                                  <p:stCondLst>
                                    <p:cond delay="3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21" presetID="10" presetClass="entr" presetSubtype="0" fill="hold" grpId="0" nodeType="withEffect">
                                  <p:stCondLst>
                                    <p:cond delay="30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6" presetID="10" presetClass="exit" presetSubtype="0" fill="hold" grpId="0" nodeType="clickEffect">
                                  <p:stCondLst>
                                    <p:cond delay="0"/>
                                  </p:stCondLst>
                                  <p:childTnLst>
                                    <p:animEffect transition="out" filter="fade">
                                      <p:cBhvr>
                                        <p:cTn id="24" dur="300"/>
                                        <p:tgtEl>
                                          <p:spTgt spid="13"/>
                                        </p:tgtEl>
                                      </p:cBhvr>
                                    </p:animEffect>
                                    <p:set>
                                      <p:cBhvr>
                                        <p:cTn id="25" dur="1" fill="hold">
                                          <p:stCondLst>
                                            <p:cond delay="299"/>
                                          </p:stCondLst>
                                        </p:cTn>
                                        <p:tgtEl>
                                          <p:spTgt spid="13"/>
                                        </p:tgtEl>
                                        <p:attrNameLst>
                                          <p:attrName>style.visibility</p:attrName>
                                        </p:attrNameLst>
                                      </p:cBhvr>
                                      <p:to>
                                        <p:strVal val="hidden"/>
                                      </p:to>
                                    </p:set>
                                  </p:childTnLst>
                                </p:cTn>
                              </p:par>
                              <p:par>
                                <p:cTn id="29" presetID="22" presetClass="entr" presetSubtype="8" fill="hold" nodeType="withEffect">
                                  <p:stCondLst>
                                    <p:cond delay="20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300"/>
                                        <p:tgtEl>
                                          <p:spTgt spid="9"/>
                                        </p:tgtEl>
                                      </p:cBhvr>
                                    </p:animEffect>
                                  </p:childTnLst>
                                </p:cTn>
                              </p:par>
                              <p:par>
                                <p:cTn id="32" presetID="10" presetClass="entr" presetSubtype="0" fill="hold" grpId="0" nodeType="withEffect">
                                  <p:stCondLst>
                                    <p:cond delay="5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5" presetID="10" presetClass="entr" presetSubtype="0" fill="hold" grpId="0" nodeType="withEffect">
                                  <p:stCondLst>
                                    <p:cond delay="3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40" presetID="10" presetClass="exit" presetSubtype="0" fill="hold" grpId="0" nodeType="clickEffect">
                                  <p:stCondLst>
                                    <p:cond delay="0"/>
                                  </p:stCondLst>
                                  <p:childTnLst>
                                    <p:animEffect transition="out" filter="fade">
                                      <p:cBhvr>
                                        <p:cTn id="38" dur="300"/>
                                        <p:tgtEl>
                                          <p:spTgt spid="14"/>
                                        </p:tgtEl>
                                      </p:cBhvr>
                                    </p:animEffect>
                                    <p:set>
                                      <p:cBhvr>
                                        <p:cTn id="39" dur="1" fill="hold">
                                          <p:stCondLst>
                                            <p:cond delay="299"/>
                                          </p:stCondLst>
                                        </p:cTn>
                                        <p:tgtEl>
                                          <p:spTgt spid="14"/>
                                        </p:tgtEl>
                                        <p:attrNameLst>
                                          <p:attrName>style.visibility</p:attrName>
                                        </p:attrNameLst>
                                      </p:cBhvr>
                                      <p:to>
                                        <p:strVal val="hidden"/>
                                      </p:to>
                                    </p:set>
                                  </p:childTnLst>
                                </p:cTn>
                              </p:par>
                              <p:par>
                                <p:cTn id="43" presetID="10" presetClass="entr" presetSubtype="0" fill="hold" grpId="0" nodeType="withEffect">
                                  <p:stCondLst>
                                    <p:cond delay="30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6" presetID="10" presetClass="entr" presetSubtype="0" fill="hold" grpId="0" nodeType="withEffect">
                                  <p:stCondLst>
                                    <p:cond delay="3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51" presetID="10" presetClass="exit" presetSubtype="0" fill="hold" grpId="0" nodeType="clickEffect">
                                  <p:stCondLst>
                                    <p:cond delay="0"/>
                                  </p:stCondLst>
                                  <p:childTnLst>
                                    <p:animEffect transition="out" filter="fade">
                                      <p:cBhvr>
                                        <p:cTn id="49" dur="300"/>
                                        <p:tgtEl>
                                          <p:spTgt spid="15"/>
                                        </p:tgtEl>
                                      </p:cBhvr>
                                    </p:animEffect>
                                    <p:set>
                                      <p:cBhvr>
                                        <p:cTn id="50" dur="1" fill="hold">
                                          <p:stCondLst>
                                            <p:cond delay="299"/>
                                          </p:stCondLst>
                                        </p:cTn>
                                        <p:tgtEl>
                                          <p:spTgt spid="15"/>
                                        </p:tgtEl>
                                        <p:attrNameLst>
                                          <p:attrName>style.visibility</p:attrName>
                                        </p:attrNameLst>
                                      </p:cBhvr>
                                      <p:to>
                                        <p:strVal val="hidden"/>
                                      </p:to>
                                    </p:set>
                                  </p:childTnLst>
                                </p:cTn>
                              </p:par>
                              <p:par>
                                <p:cTn id="54" presetID="10" presetClass="entr" presetSubtype="0" fill="hold" grpId="0" nodeType="withEffect">
                                  <p:stCondLst>
                                    <p:cond delay="30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par>
                                <p:cTn id="57" presetID="10" presetClass="entr" presetSubtype="0" fill="hold" grpId="0" nodeType="withEffect">
                                  <p:stCondLst>
                                    <p:cond delay="30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7" grpId="0" animBg="1"/>
      <p:bldP spid="13" grpId="0"/>
      <p:bldP spid="8" grpId="0" animBg="1"/>
      <p:bldP spid="14" grpId="0"/>
      <p:bldP spid="10" grpId="0" animBg="1"/>
      <p:bldP spid="15" grpId="0"/>
      <p:bldP spid="11" grpId="0" animBg="1"/>
      <p:bldP spid="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we measure it</dc:title>
  <dc:subject>PptxGenJS Presentation</dc:subject>
  <dc:creator>Nisha Mishra</dc:creator>
  <cp:lastModifiedBy>Nisha Mishra</cp:lastModifiedBy>
  <cp:revision>1</cp:revision>
  <dcterms:created xsi:type="dcterms:W3CDTF">2026-10-04T22:50:00Z</dcterms:created>
  <dcterms:modified xsi:type="dcterms:W3CDTF">2026-10-04T22:50:00Z</dcterms:modified>
</cp:coreProperties>
</file>