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biggest decisions I made.
The first is a business decision. I don't train the AI on Humana's past decisions. It's tempting, because there are years of history. But a model trained on past decisions learns what Humana usually did, not what the policy says. It copies old mistakes and old bias, and it can't show why. CMS said the same thing in 2024. A plan must decide on the patient's own record, not on a prediction from large data sets. So the AI reads this patient's packet against this policy, and quotes the evidence. History still helps. It becomes test data for the evals, and it tells us which services to onboard next.
The second is who approves what the AI writes. The AI drafts the key facts for every policy, and the policy owner approves each one. That is a lot of clicking. But if the AI drafts too many, the nurse gets flooded with pends. If it drafts too few, it misses a requirement. Only a person can tell. It's a one-time job for each policy, and the owner's decisions become a test set. When precision and recall stay high on new policies, the AI can approve on its own.
The third is recall over precision. A miss is a wrong approval, and that is the failure I can't afford. A false alarm costs a nurse a few minutes. I tune it from the nurses' decisions.
It's the same idea everywhere. Start cautious. Watch what people do. Relax the AI only as fast as the evidence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DECISIONS AND TRADE-OFFS</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Three decisions. A person at both ends.</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Trust before speed</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CMS, February 2024: a coverage decision must rest on the patient's own record, not on a prediction from large data sets.</a:t>
            </a:r>
            <a:endParaRPr lang="en-US" sz="900" dirty="0"/>
          </a:p>
        </p:txBody>
      </p:sp>
      <p:sp>
        <p:nvSpPr>
          <p:cNvPr id="6" name="Card0"/>
          <p:cNvSpPr/>
          <p:nvPr/>
        </p:nvSpPr>
        <p:spPr>
          <a:xfrm>
            <a:off x="457200" y="1325880"/>
            <a:ext cx="3648456" cy="4114800"/>
          </a:xfrm>
          <a:prstGeom prst="roundRect">
            <a:avLst>
              <a:gd name="adj" fmla="val 2506"/>
            </a:avLst>
          </a:prstGeom>
          <a:solidFill>
            <a:srgbClr val="E3F0EB"/>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7" name="Tg0"/>
          <p:cNvSpPr txBox="1"/>
          <p:nvPr/>
        </p:nvSpPr>
        <p:spPr>
          <a:xfrm>
            <a:off x="685800" y="1481328"/>
            <a:ext cx="3191256" cy="228600"/>
          </a:xfrm>
          <a:prstGeom prst="rect">
            <a:avLst/>
          </a:prstGeom>
          <a:noFill/>
          <a:ln/>
        </p:spPr>
        <p:txBody>
          <a:bodyPr wrap="square" lIns="0" tIns="0" rIns="0" bIns="0" rtlCol="0" anchor="t"/>
          <a:lstStyle/>
          <a:p>
            <a:pPr algn="l" indent="0" marL="0">
              <a:buNone/>
            </a:pPr>
            <a:r>
              <a:rPr lang="en-US" sz="1000" b="1" dirty="0">
                <a:solidFill>
                  <a:srgbClr val="1F6F5C"/>
                </a:solidFill>
                <a:latin typeface="Calibri" pitchFamily="34" charset="0"/>
                <a:ea typeface="Calibri" pitchFamily="34" charset="-122"/>
                <a:cs typeface="Calibri" pitchFamily="34" charset="-120"/>
              </a:rPr>
              <a:t>BUSINESS DECISION  ·  THE READER</a:t>
            </a:r>
            <a:endParaRPr lang="en-US" sz="1000" dirty="0"/>
          </a:p>
        </p:txBody>
      </p:sp>
      <p:sp>
        <p:nvSpPr>
          <p:cNvPr id="8" name="Ti0"/>
          <p:cNvSpPr txBox="1"/>
          <p:nvPr/>
        </p:nvSpPr>
        <p:spPr>
          <a:xfrm>
            <a:off x="685800" y="1737360"/>
            <a:ext cx="3191256" cy="566928"/>
          </a:xfrm>
          <a:prstGeom prst="rect">
            <a:avLst/>
          </a:prstGeom>
          <a:noFill/>
          <a:ln/>
        </p:spPr>
        <p:txBody>
          <a:bodyPr wrap="square" lIns="0" tIns="0" rIns="0" bIns="0" rtlCol="0" anchor="t"/>
          <a:lstStyle/>
          <a:p>
            <a:pPr algn="l" indent="0" marL="0">
              <a:buNone/>
            </a:pPr>
            <a:r>
              <a:rPr lang="en-US" sz="1700" dirty="0">
                <a:solidFill>
                  <a:srgbClr val="16211E"/>
                </a:solidFill>
                <a:latin typeface="Calibri" pitchFamily="34" charset="0"/>
                <a:ea typeface="Calibri" pitchFamily="34" charset="-122"/>
                <a:cs typeface="Calibri" pitchFamily="34" charset="-120"/>
              </a:rPr>
              <a:t>Learn from past decisions, or read the policy?</a:t>
            </a:r>
            <a:endParaRPr lang="en-US" sz="1700" dirty="0"/>
          </a:p>
        </p:txBody>
      </p:sp>
      <p:sp>
        <p:nvSpPr>
          <p:cNvPr id="9" name="L00"/>
          <p:cNvSpPr txBox="1"/>
          <p:nvPr/>
        </p:nvSpPr>
        <p:spPr>
          <a:xfrm>
            <a:off x="685800" y="2395728"/>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CHOICE</a:t>
            </a:r>
            <a:endParaRPr lang="en-US" sz="900" dirty="0"/>
          </a:p>
        </p:txBody>
      </p:sp>
      <p:sp>
        <p:nvSpPr>
          <p:cNvPr id="10" name="V00"/>
          <p:cNvSpPr txBox="1"/>
          <p:nvPr/>
        </p:nvSpPr>
        <p:spPr>
          <a:xfrm>
            <a:off x="685800" y="2596896"/>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Read this patient's packet against the policy. Do not train on Humana's past decisions.</a:t>
            </a:r>
            <a:endParaRPr lang="en-US" sz="1150" dirty="0"/>
          </a:p>
        </p:txBody>
      </p:sp>
      <p:sp>
        <p:nvSpPr>
          <p:cNvPr id="11" name="L01"/>
          <p:cNvSpPr txBox="1"/>
          <p:nvPr/>
        </p:nvSpPr>
        <p:spPr>
          <a:xfrm>
            <a:off x="685800" y="3145536"/>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WHY</a:t>
            </a:r>
            <a:endParaRPr lang="en-US" sz="900" dirty="0"/>
          </a:p>
        </p:txBody>
      </p:sp>
      <p:sp>
        <p:nvSpPr>
          <p:cNvPr id="12" name="V01"/>
          <p:cNvSpPr txBox="1"/>
          <p:nvPr/>
        </p:nvSpPr>
        <p:spPr>
          <a:xfrm>
            <a:off x="685800" y="3346704"/>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Past decisions carry old mistakes and old bias. CMS: decide on the patient's own record.</a:t>
            </a:r>
            <a:endParaRPr lang="en-US" sz="1150" dirty="0"/>
          </a:p>
        </p:txBody>
      </p:sp>
      <p:sp>
        <p:nvSpPr>
          <p:cNvPr id="13" name="L02"/>
          <p:cNvSpPr txBox="1"/>
          <p:nvPr/>
        </p:nvSpPr>
        <p:spPr>
          <a:xfrm>
            <a:off x="685800" y="3895344"/>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COST</a:t>
            </a:r>
            <a:endParaRPr lang="en-US" sz="900" dirty="0"/>
          </a:p>
        </p:txBody>
      </p:sp>
      <p:sp>
        <p:nvSpPr>
          <p:cNvPr id="14" name="V02"/>
          <p:cNvSpPr txBox="1"/>
          <p:nvPr/>
        </p:nvSpPr>
        <p:spPr>
          <a:xfrm>
            <a:off x="685800" y="4096512"/>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No shortcut from years of history. Every rule is built and approved.</a:t>
            </a:r>
            <a:endParaRPr lang="en-US" sz="1150" dirty="0"/>
          </a:p>
        </p:txBody>
      </p:sp>
      <p:sp>
        <p:nvSpPr>
          <p:cNvPr id="15" name="L03"/>
          <p:cNvSpPr txBox="1"/>
          <p:nvPr/>
        </p:nvSpPr>
        <p:spPr>
          <a:xfrm>
            <a:off x="685800" y="4645152"/>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HOW HISTORY HELPS</a:t>
            </a:r>
            <a:endParaRPr lang="en-US" sz="900" dirty="0"/>
          </a:p>
        </p:txBody>
      </p:sp>
      <p:sp>
        <p:nvSpPr>
          <p:cNvPr id="16" name="V03"/>
          <p:cNvSpPr txBox="1"/>
          <p:nvPr/>
        </p:nvSpPr>
        <p:spPr>
          <a:xfrm>
            <a:off x="685800" y="4846320"/>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Test data for the evals. A ranking of which services to onboard next.</a:t>
            </a:r>
            <a:endParaRPr lang="en-US" sz="1150" dirty="0"/>
          </a:p>
        </p:txBody>
      </p:sp>
      <p:sp>
        <p:nvSpPr>
          <p:cNvPr id="17" name="Card1"/>
          <p:cNvSpPr/>
          <p:nvPr/>
        </p:nvSpPr>
        <p:spPr>
          <a:xfrm>
            <a:off x="4270248" y="1325880"/>
            <a:ext cx="3648456" cy="4114800"/>
          </a:xfrm>
          <a:prstGeom prst="roundRect">
            <a:avLst>
              <a:gd name="adj" fmla="val 2506"/>
            </a:avLst>
          </a:prstGeom>
          <a:solidFill>
            <a:srgbClr val="F5F3EE"/>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18" name="Tg1"/>
          <p:cNvSpPr txBox="1"/>
          <p:nvPr/>
        </p:nvSpPr>
        <p:spPr>
          <a:xfrm>
            <a:off x="4498848" y="1481328"/>
            <a:ext cx="3191256" cy="228600"/>
          </a:xfrm>
          <a:prstGeom prst="rect">
            <a:avLst/>
          </a:prstGeom>
          <a:noFill/>
          <a:ln/>
        </p:spPr>
        <p:txBody>
          <a:bodyPr wrap="square" lIns="0" tIns="0" rIns="0" bIns="0" rtlCol="0" anchor="t"/>
          <a:lstStyle/>
          <a:p>
            <a:pPr algn="l" indent="0" marL="0">
              <a:buNone/>
            </a:pPr>
            <a:r>
              <a:rPr lang="en-US" sz="1000" b="1" dirty="0">
                <a:solidFill>
                  <a:srgbClr val="1F6F5C"/>
                </a:solidFill>
                <a:latin typeface="Calibri" pitchFamily="34" charset="0"/>
                <a:ea typeface="Calibri" pitchFamily="34" charset="-122"/>
                <a:cs typeface="Calibri" pitchFamily="34" charset="-120"/>
              </a:rPr>
              <a:t>TRADE-OFF  ·  THE RULEBOOK</a:t>
            </a:r>
            <a:endParaRPr lang="en-US" sz="1000" dirty="0"/>
          </a:p>
        </p:txBody>
      </p:sp>
      <p:sp>
        <p:nvSpPr>
          <p:cNvPr id="19" name="Ti1"/>
          <p:cNvSpPr txBox="1"/>
          <p:nvPr/>
        </p:nvSpPr>
        <p:spPr>
          <a:xfrm>
            <a:off x="4498848" y="1737360"/>
            <a:ext cx="3191256" cy="566928"/>
          </a:xfrm>
          <a:prstGeom prst="rect">
            <a:avLst/>
          </a:prstGeom>
          <a:noFill/>
          <a:ln/>
        </p:spPr>
        <p:txBody>
          <a:bodyPr wrap="square" lIns="0" tIns="0" rIns="0" bIns="0" rtlCol="0" anchor="t"/>
          <a:lstStyle/>
          <a:p>
            <a:pPr algn="l" indent="0" marL="0">
              <a:buNone/>
            </a:pPr>
            <a:r>
              <a:rPr lang="en-US" sz="1700" dirty="0">
                <a:solidFill>
                  <a:srgbClr val="16211E"/>
                </a:solidFill>
                <a:latin typeface="Calibri" pitchFamily="34" charset="0"/>
                <a:ea typeface="Calibri" pitchFamily="34" charset="-122"/>
                <a:cs typeface="Calibri" pitchFamily="34" charset="-120"/>
              </a:rPr>
              <a:t>Who approves the key facts?</a:t>
            </a:r>
            <a:endParaRPr lang="en-US" sz="1700" dirty="0"/>
          </a:p>
        </p:txBody>
      </p:sp>
      <p:sp>
        <p:nvSpPr>
          <p:cNvPr id="20" name="L10"/>
          <p:cNvSpPr txBox="1"/>
          <p:nvPr/>
        </p:nvSpPr>
        <p:spPr>
          <a:xfrm>
            <a:off x="4498848" y="2395728"/>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CHOICE</a:t>
            </a:r>
            <a:endParaRPr lang="en-US" sz="900" dirty="0"/>
          </a:p>
        </p:txBody>
      </p:sp>
      <p:sp>
        <p:nvSpPr>
          <p:cNvPr id="21" name="V10"/>
          <p:cNvSpPr txBox="1"/>
          <p:nvPr/>
        </p:nvSpPr>
        <p:spPr>
          <a:xfrm>
            <a:off x="4498848" y="2596896"/>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The owner approves every key fact the AI drafts. The AI does not approve its own.</a:t>
            </a:r>
            <a:endParaRPr lang="en-US" sz="1150" dirty="0"/>
          </a:p>
        </p:txBody>
      </p:sp>
      <p:sp>
        <p:nvSpPr>
          <p:cNvPr id="22" name="L11"/>
          <p:cNvSpPr txBox="1"/>
          <p:nvPr/>
        </p:nvSpPr>
        <p:spPr>
          <a:xfrm>
            <a:off x="4498848" y="3145536"/>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WHY NOT AUTO</a:t>
            </a:r>
            <a:endParaRPr lang="en-US" sz="900" dirty="0"/>
          </a:p>
        </p:txBody>
      </p:sp>
      <p:sp>
        <p:nvSpPr>
          <p:cNvPr id="23" name="V11"/>
          <p:cNvSpPr txBox="1"/>
          <p:nvPr/>
        </p:nvSpPr>
        <p:spPr>
          <a:xfrm>
            <a:off x="4498848" y="3346704"/>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Too many floods the nurse with pends. Too few lets a requirement through.</a:t>
            </a:r>
            <a:endParaRPr lang="en-US" sz="1150" dirty="0"/>
          </a:p>
        </p:txBody>
      </p:sp>
      <p:sp>
        <p:nvSpPr>
          <p:cNvPr id="24" name="L12"/>
          <p:cNvSpPr txBox="1"/>
          <p:nvPr/>
        </p:nvSpPr>
        <p:spPr>
          <a:xfrm>
            <a:off x="4498848" y="3895344"/>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COST</a:t>
            </a:r>
            <a:endParaRPr lang="en-US" sz="900" dirty="0"/>
          </a:p>
        </p:txBody>
      </p:sp>
      <p:sp>
        <p:nvSpPr>
          <p:cNvPr id="25" name="V12"/>
          <p:cNvSpPr txBox="1"/>
          <p:nvPr/>
        </p:nvSpPr>
        <p:spPr>
          <a:xfrm>
            <a:off x="4498848" y="4096512"/>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Owner time. But it is one time for each policy.</a:t>
            </a:r>
            <a:endParaRPr lang="en-US" sz="1150" dirty="0"/>
          </a:p>
        </p:txBody>
      </p:sp>
      <p:sp>
        <p:nvSpPr>
          <p:cNvPr id="26" name="L13"/>
          <p:cNvSpPr txBox="1"/>
          <p:nvPr/>
        </p:nvSpPr>
        <p:spPr>
          <a:xfrm>
            <a:off x="4498848" y="4645152"/>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HOW WE RELAX IT</a:t>
            </a:r>
            <a:endParaRPr lang="en-US" sz="900" dirty="0"/>
          </a:p>
        </p:txBody>
      </p:sp>
      <p:sp>
        <p:nvSpPr>
          <p:cNvPr id="27" name="V13"/>
          <p:cNvSpPr txBox="1"/>
          <p:nvPr/>
        </p:nvSpPr>
        <p:spPr>
          <a:xfrm>
            <a:off x="4498848" y="4846320"/>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Her decisions become a test set. High precision and recall on new policies: auto.</a:t>
            </a:r>
            <a:endParaRPr lang="en-US" sz="1150" dirty="0"/>
          </a:p>
        </p:txBody>
      </p:sp>
      <p:sp>
        <p:nvSpPr>
          <p:cNvPr id="28" name="Card2"/>
          <p:cNvSpPr/>
          <p:nvPr/>
        </p:nvSpPr>
        <p:spPr>
          <a:xfrm>
            <a:off x="8083296" y="1325880"/>
            <a:ext cx="3648456" cy="4114800"/>
          </a:xfrm>
          <a:prstGeom prst="roundRect">
            <a:avLst>
              <a:gd name="adj" fmla="val 2506"/>
            </a:avLst>
          </a:prstGeom>
          <a:solidFill>
            <a:srgbClr val="EEF5F2"/>
          </a:solidFill>
          <a:ln w="12700">
            <a:solidFill>
              <a:srgbClr val="CBD5D1"/>
            </a:solidFill>
          </a:ln>
        </p:spPr>
        <p:txBody>
          <a:bodyPr wrap="square" lIns="109728" tIns="54864" rIns="109728" bIns="54864" rtlCol="0" anchor="ctr"/>
          <a:lstStyle/>
          <a:p>
            <a:pPr algn="l" indent="0" marL="0">
              <a:buNone/>
            </a:pPr>
            <a:r>
              <a:rPr lang="en-US" sz="800" dirty="0">
                <a:solidFill>
                  <a:srgbClr val="000000"/>
                </a:solidFill>
              </a:rPr>
              <a:t> </a:t>
            </a:r>
            <a:endParaRPr lang="en-US" sz="800" dirty="0"/>
          </a:p>
        </p:txBody>
      </p:sp>
      <p:sp>
        <p:nvSpPr>
          <p:cNvPr id="29" name="Tg2"/>
          <p:cNvSpPr txBox="1"/>
          <p:nvPr/>
        </p:nvSpPr>
        <p:spPr>
          <a:xfrm>
            <a:off x="8311896" y="1481328"/>
            <a:ext cx="3191256" cy="228600"/>
          </a:xfrm>
          <a:prstGeom prst="rect">
            <a:avLst/>
          </a:prstGeom>
          <a:noFill/>
          <a:ln/>
        </p:spPr>
        <p:txBody>
          <a:bodyPr wrap="square" lIns="0" tIns="0" rIns="0" bIns="0" rtlCol="0" anchor="t"/>
          <a:lstStyle/>
          <a:p>
            <a:pPr algn="l" indent="0" marL="0">
              <a:buNone/>
            </a:pPr>
            <a:r>
              <a:rPr lang="en-US" sz="1000" b="1" dirty="0">
                <a:solidFill>
                  <a:srgbClr val="1F6F5C"/>
                </a:solidFill>
                <a:latin typeface="Calibri" pitchFamily="34" charset="0"/>
                <a:ea typeface="Calibri" pitchFamily="34" charset="-122"/>
                <a:cs typeface="Calibri" pitchFamily="34" charset="-120"/>
              </a:rPr>
              <a:t>TRADE-OFF  ·  THE PACKETS</a:t>
            </a:r>
            <a:endParaRPr lang="en-US" sz="1000" dirty="0"/>
          </a:p>
        </p:txBody>
      </p:sp>
      <p:sp>
        <p:nvSpPr>
          <p:cNvPr id="30" name="Ti2"/>
          <p:cNvSpPr txBox="1"/>
          <p:nvPr/>
        </p:nvSpPr>
        <p:spPr>
          <a:xfrm>
            <a:off x="8311896" y="1737360"/>
            <a:ext cx="3191256" cy="566928"/>
          </a:xfrm>
          <a:prstGeom prst="rect">
            <a:avLst/>
          </a:prstGeom>
          <a:noFill/>
          <a:ln/>
        </p:spPr>
        <p:txBody>
          <a:bodyPr wrap="square" lIns="0" tIns="0" rIns="0" bIns="0" rtlCol="0" anchor="t"/>
          <a:lstStyle/>
          <a:p>
            <a:pPr algn="l" indent="0" marL="0">
              <a:buNone/>
            </a:pPr>
            <a:r>
              <a:rPr lang="en-US" sz="1700" dirty="0">
                <a:solidFill>
                  <a:srgbClr val="16211E"/>
                </a:solidFill>
                <a:latin typeface="Calibri" pitchFamily="34" charset="0"/>
                <a:ea typeface="Calibri" pitchFamily="34" charset="-122"/>
                <a:cs typeface="Calibri" pitchFamily="34" charset="-120"/>
              </a:rPr>
              <a:t>How cautious is the AI?</a:t>
            </a:r>
            <a:endParaRPr lang="en-US" sz="1700" dirty="0"/>
          </a:p>
        </p:txBody>
      </p:sp>
      <p:sp>
        <p:nvSpPr>
          <p:cNvPr id="31" name="L20"/>
          <p:cNvSpPr txBox="1"/>
          <p:nvPr/>
        </p:nvSpPr>
        <p:spPr>
          <a:xfrm>
            <a:off x="8311896" y="2395728"/>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CHOICE</a:t>
            </a:r>
            <a:endParaRPr lang="en-US" sz="900" dirty="0"/>
          </a:p>
        </p:txBody>
      </p:sp>
      <p:sp>
        <p:nvSpPr>
          <p:cNvPr id="32" name="V20"/>
          <p:cNvSpPr txBox="1"/>
          <p:nvPr/>
        </p:nvSpPr>
        <p:spPr>
          <a:xfrm>
            <a:off x="8311896" y="2596896"/>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Recall over precision. When unsure, send it to a person.</a:t>
            </a:r>
            <a:endParaRPr lang="en-US" sz="1150" dirty="0"/>
          </a:p>
        </p:txBody>
      </p:sp>
      <p:sp>
        <p:nvSpPr>
          <p:cNvPr id="33" name="L21"/>
          <p:cNvSpPr txBox="1"/>
          <p:nvPr/>
        </p:nvSpPr>
        <p:spPr>
          <a:xfrm>
            <a:off x="8311896" y="3145536"/>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WHY</a:t>
            </a:r>
            <a:endParaRPr lang="en-US" sz="900" dirty="0"/>
          </a:p>
        </p:txBody>
      </p:sp>
      <p:sp>
        <p:nvSpPr>
          <p:cNvPr id="34" name="V21"/>
          <p:cNvSpPr txBox="1"/>
          <p:nvPr/>
        </p:nvSpPr>
        <p:spPr>
          <a:xfrm>
            <a:off x="8311896" y="3346704"/>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A miss is a wrong approval. A false alarm costs a few minutes.</a:t>
            </a:r>
            <a:endParaRPr lang="en-US" sz="1150" dirty="0"/>
          </a:p>
        </p:txBody>
      </p:sp>
      <p:sp>
        <p:nvSpPr>
          <p:cNvPr id="35" name="L22"/>
          <p:cNvSpPr txBox="1"/>
          <p:nvPr/>
        </p:nvSpPr>
        <p:spPr>
          <a:xfrm>
            <a:off x="8311896" y="3895344"/>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THE COST</a:t>
            </a:r>
            <a:endParaRPr lang="en-US" sz="900" dirty="0"/>
          </a:p>
        </p:txBody>
      </p:sp>
      <p:sp>
        <p:nvSpPr>
          <p:cNvPr id="36" name="V22"/>
          <p:cNvSpPr txBox="1"/>
          <p:nvPr/>
        </p:nvSpPr>
        <p:spPr>
          <a:xfrm>
            <a:off x="8311896" y="4096512"/>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Some false alarms, so nurses see more flagged cases.</a:t>
            </a:r>
            <a:endParaRPr lang="en-US" sz="1150" dirty="0"/>
          </a:p>
        </p:txBody>
      </p:sp>
      <p:sp>
        <p:nvSpPr>
          <p:cNvPr id="37" name="L23"/>
          <p:cNvSpPr txBox="1"/>
          <p:nvPr/>
        </p:nvSpPr>
        <p:spPr>
          <a:xfrm>
            <a:off x="8311896" y="4645152"/>
            <a:ext cx="3191256" cy="201168"/>
          </a:xfrm>
          <a:prstGeom prst="rect">
            <a:avLst/>
          </a:prstGeom>
          <a:noFill/>
          <a:ln/>
        </p:spPr>
        <p:txBody>
          <a:bodyPr wrap="square" lIns="0" tIns="0" rIns="0" bIns="0" rtlCol="0" anchor="t"/>
          <a:lstStyle/>
          <a:p>
            <a:pPr algn="l" indent="0" marL="0">
              <a:buNone/>
            </a:pPr>
            <a:r>
              <a:rPr lang="en-US" sz="900" b="1" dirty="0">
                <a:solidFill>
                  <a:srgbClr val="5C6B66"/>
                </a:solidFill>
                <a:latin typeface="Calibri" pitchFamily="34" charset="0"/>
                <a:ea typeface="Calibri" pitchFamily="34" charset="-122"/>
                <a:cs typeface="Calibri" pitchFamily="34" charset="-120"/>
              </a:rPr>
              <a:t>HOW WE RELAX IT</a:t>
            </a:r>
            <a:endParaRPr lang="en-US" sz="900" dirty="0"/>
          </a:p>
        </p:txBody>
      </p:sp>
      <p:sp>
        <p:nvSpPr>
          <p:cNvPr id="38" name="V23"/>
          <p:cNvSpPr txBox="1"/>
          <p:nvPr/>
        </p:nvSpPr>
        <p:spPr>
          <a:xfrm>
            <a:off x="8311896" y="4846320"/>
            <a:ext cx="3191256" cy="512064"/>
          </a:xfrm>
          <a:prstGeom prst="rect">
            <a:avLst/>
          </a:prstGeom>
          <a:noFill/>
          <a:ln/>
        </p:spPr>
        <p:txBody>
          <a:bodyPr wrap="square" lIns="0" tIns="0" rIns="0" bIns="0" rtlCol="0" anchor="t"/>
          <a:lstStyle/>
          <a:p>
            <a:pPr algn="l" indent="0" marL="0">
              <a:buNone/>
            </a:pPr>
            <a:r>
              <a:rPr lang="en-US" sz="1150" dirty="0">
                <a:solidFill>
                  <a:srgbClr val="16211E"/>
                </a:solidFill>
                <a:latin typeface="Calibri" pitchFamily="34" charset="0"/>
                <a:ea typeface="Calibri" pitchFamily="34" charset="-122"/>
                <a:cs typeface="Calibri" pitchFamily="34" charset="-120"/>
              </a:rPr>
              <a:t>Watch the nurses. Many approvals on flags: raise precision. A miss: fix it first.</a:t>
            </a:r>
            <a:endParaRPr lang="en-US" sz="1150" dirty="0"/>
          </a:p>
        </p:txBody>
      </p:sp>
      <p:sp>
        <p:nvSpPr>
          <p:cNvPr id="39" name="Band"/>
          <p:cNvSpPr/>
          <p:nvPr/>
        </p:nvSpPr>
        <p:spPr>
          <a:xfrm>
            <a:off x="457200" y="5596128"/>
            <a:ext cx="11274552" cy="502920"/>
          </a:xfrm>
          <a:prstGeom prst="roundRect">
            <a:avLst>
              <a:gd name="adj" fmla="val 14545"/>
            </a:avLst>
          </a:prstGeom>
          <a:solidFill>
            <a:srgbClr val="1F6F5C"/>
          </a:solidFill>
          <a:ln w="12700">
            <a:solidFill>
              <a:srgbClr val="1F6F5C"/>
            </a:solidFill>
          </a:ln>
        </p:spPr>
        <p:txBody>
          <a:bodyPr wrap="square" lIns="137160" tIns="18288" rIns="137160" bIns="18288"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Start cautious. Watch what people do. Relax the AI only as fast as the evidence allows.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Decisions and trade-offs</dc:title>
  <dc:subject>PptxGenJS Presentation</dc:subject>
  <dc:creator>Nisha Mishra</dc:creator>
  <cp:lastModifiedBy>Nisha Mishra</cp:lastModifiedBy>
  <cp:revision>1</cp:revision>
  <dcterms:created xsi:type="dcterms:W3CDTF">2026-10-07T17:00:08Z</dcterms:created>
  <dcterms:modified xsi:type="dcterms:W3CDTF">2026-10-07T17:00:08Z</dcterms:modified>
</cp:coreProperties>
</file>