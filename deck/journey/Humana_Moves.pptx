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Humana is already acting. Here is what they are doing, and what each move leaves untouched.
Volume. Humana is cutting about a third of its outpatient approval requirements: diagnostic colonoscopies, heart monitoring tests, some CT and MRI scans. Fewer requests. But complex and inpatient requests, like the surgeries I am using, still need a full review.
Exemption. A gold card for physicians with a proven record. They skip the review for certain services. Everyone else is still reviewed.
Speed target. One business day for 95 percent of complete electronic requests. Note the word complete. As I read it, incomplete requests, and faxed or scanned ones, sit outside it.
Transparency. Humana will publish approvals, denials, appeals, overturns and decision times. That makes a wrong decision visible. It does not prevent one.
Volume. Who is reviewed. How fast. How visible. None of them changes the review itself. That is where I fit. My lever is faster, right first time. Faster means care starts sooner. Right first time means fewer pend loops and fewer overturned denials.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56032"/>
          </a:xfrm>
          <a:prstGeom prst="rect">
            <a:avLst/>
          </a:prstGeom>
          <a:noFill/>
          <a:ln/>
        </p:spPr>
        <p:txBody>
          <a:bodyPr wrap="square" lIns="0" tIns="0" rIns="0" bIns="0" rtlCol="0" anchor="ctr"/>
          <a:lstStyle/>
          <a:p>
            <a:pPr indent="0" marL="0">
              <a:buNone/>
            </a:pPr>
            <a:r>
              <a:rPr lang="en-US" sz="1100" b="1" spc="300" kern="0" dirty="0">
                <a:solidFill>
                  <a:srgbClr val="1F6F5C"/>
                </a:solidFill>
                <a:latin typeface="Calibri" pitchFamily="34" charset="0"/>
                <a:ea typeface="Calibri" pitchFamily="34" charset="-122"/>
                <a:cs typeface="Calibri" pitchFamily="34" charset="-120"/>
              </a:rPr>
              <a:t>WHAT HUMANA IS ALREADY DOING</a:t>
            </a:r>
            <a:endParaRPr lang="en-US" sz="1100" dirty="0"/>
          </a:p>
        </p:txBody>
      </p:sp>
      <p:sp>
        <p:nvSpPr>
          <p:cNvPr id="3" name="Text 1"/>
          <p:cNvSpPr txBox="1"/>
          <p:nvPr/>
        </p:nvSpPr>
        <p:spPr>
          <a:xfrm>
            <a:off x="457200" y="502920"/>
            <a:ext cx="8412480" cy="685800"/>
          </a:xfrm>
          <a:prstGeom prst="rect">
            <a:avLst/>
          </a:prstGeom>
          <a:noFill/>
          <a:ln/>
        </p:spPr>
        <p:txBody>
          <a:bodyPr wrap="square" lIns="0" tIns="0" rIns="0" bIns="0" rtlCol="0" anchor="ctr"/>
          <a:lstStyle/>
          <a:p>
            <a:pPr indent="0" marL="0">
              <a:buNone/>
            </a:pPr>
            <a:r>
              <a:rPr lang="en-US" sz="2600" dirty="0">
                <a:solidFill>
                  <a:srgbClr val="16211E"/>
                </a:solidFill>
                <a:latin typeface="Cambria" pitchFamily="34" charset="0"/>
                <a:ea typeface="Cambria" pitchFamily="34" charset="-122"/>
                <a:cs typeface="Cambria" pitchFamily="34" charset="-120"/>
              </a:rPr>
              <a:t>Humana is already acting. Here is the gap.</a:t>
            </a:r>
            <a:endParaRPr lang="en-US" sz="2600" dirty="0"/>
          </a:p>
        </p:txBody>
      </p:sp>
      <p:sp>
        <p:nvSpPr>
          <p:cNvPr id="4" name="Text 2"/>
          <p:cNvSpPr txBox="1"/>
          <p:nvPr/>
        </p:nvSpPr>
        <p:spPr>
          <a:xfrm>
            <a:off x="8595360" y="502920"/>
            <a:ext cx="313639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And where my project fits</a:t>
            </a:r>
            <a:endParaRPr lang="en-US" sz="1400" dirty="0"/>
          </a:p>
        </p:txBody>
      </p:sp>
      <p:graphicFrame>
        <p:nvGraphicFramePr>
          <p:cNvPr id="2" name="HumanaTable"/>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480560"/>
                <a:gridCol w="2103120"/>
                <a:gridCol w="4690872"/>
              </a:tblGrid>
              <a:tr h="365760">
                <a:tc>
                  <a:txBody>
                    <a:bodyPr/>
                    <a:lstStyle/>
                    <a:p>
                      <a:pPr algn="l" indent="0" marL="0">
                        <a:buNone/>
                      </a:pPr>
                      <a:r>
                        <a:rPr lang="en-US" sz="1100" b="1" dirty="0">
                          <a:solidFill>
                            <a:srgbClr val="5C6B66"/>
                          </a:solidFill>
                          <a:latin typeface="Calibri" pitchFamily="34" charset="0"/>
                          <a:ea typeface="Calibri" pitchFamily="34" charset="-122"/>
                          <a:cs typeface="Calibri" pitchFamily="34" charset="-120"/>
                        </a:rPr>
                        <a:t>HUMANA'S MOVE</a:t>
                      </a:r>
                      <a:endParaRPr lang="en-US" sz="11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3F5F4"/>
                    </a:solidFill>
                  </a:tcPr>
                </a:tc>
                <a:tc>
                  <a:txBody>
                    <a:bodyPr/>
                    <a:lstStyle/>
                    <a:p>
                      <a:pPr algn="l" indent="0" marL="0">
                        <a:buNone/>
                      </a:pPr>
                      <a:r>
                        <a:rPr lang="en-US" sz="1100" b="1" dirty="0">
                          <a:solidFill>
                            <a:srgbClr val="5C6B66"/>
                          </a:solidFill>
                          <a:latin typeface="Calibri" pitchFamily="34" charset="0"/>
                          <a:ea typeface="Calibri" pitchFamily="34" charset="-122"/>
                          <a:cs typeface="Calibri" pitchFamily="34" charset="-120"/>
                        </a:rPr>
                        <a:t>LEVER</a:t>
                      </a:r>
                      <a:endParaRPr lang="en-US" sz="11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3F5F4"/>
                    </a:solidFill>
                  </a:tcPr>
                </a:tc>
                <a:tc>
                  <a:txBody>
                    <a:bodyPr/>
                    <a:lstStyle/>
                    <a:p>
                      <a:pPr algn="l" indent="0" marL="0">
                        <a:buNone/>
                      </a:pPr>
                      <a:r>
                        <a:rPr lang="en-US" sz="1100" b="1" dirty="0">
                          <a:solidFill>
                            <a:srgbClr val="5C6B66"/>
                          </a:solidFill>
                          <a:latin typeface="Calibri" pitchFamily="34" charset="0"/>
                          <a:ea typeface="Calibri" pitchFamily="34" charset="-122"/>
                          <a:cs typeface="Calibri" pitchFamily="34" charset="-120"/>
                        </a:rPr>
                        <a:t>WHAT IT LEAVES UNTOUCHED</a:t>
                      </a:r>
                      <a:endParaRPr lang="en-US" sz="11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3F5F4"/>
                    </a:solidFill>
                  </a:tcPr>
                </a:tc>
              </a:tr>
              <a:tr h="749808">
                <a:tc>
                  <a:txBody>
                    <a:bodyPr/>
                    <a:lstStyle/>
                    <a:p>
                      <a:pPr algn="l" indent="0" marL="0">
                        <a:buNone/>
                      </a:pPr>
                      <a:r>
                        <a:rPr lang="en-US" sz="1500" b="1" dirty="0">
                          <a:solidFill>
                            <a:srgbClr val="16211E"/>
                          </a:solidFill>
                          <a:latin typeface="Calibri" pitchFamily="34" charset="0"/>
                          <a:ea typeface="Calibri" pitchFamily="34" charset="-122"/>
                          <a:cs typeface="Calibri" pitchFamily="34" charset="-120"/>
                        </a:rPr>
                        <a:t>Cuts about a third of outpatient requirements</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6F5C"/>
                          </a:solidFill>
                          <a:latin typeface="Calibri" pitchFamily="34" charset="0"/>
                          <a:ea typeface="Calibri" pitchFamily="34" charset="-122"/>
                          <a:cs typeface="Calibri" pitchFamily="34" charset="-120"/>
                        </a:rPr>
                        <a:t>Volume</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5C6B66"/>
                          </a:solidFill>
                          <a:latin typeface="Calibri" pitchFamily="34" charset="0"/>
                          <a:ea typeface="Calibri" pitchFamily="34" charset="-122"/>
                          <a:cs typeface="Calibri" pitchFamily="34" charset="-120"/>
                        </a:rPr>
                        <a:t>Complex and inpatient requests still need a full review</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r>
              <a:tr h="749808">
                <a:tc>
                  <a:txBody>
                    <a:bodyPr/>
                    <a:lstStyle/>
                    <a:p>
                      <a:pPr algn="l" indent="0" marL="0">
                        <a:buNone/>
                      </a:pPr>
                      <a:r>
                        <a:rPr lang="en-US" sz="1500" b="1" dirty="0">
                          <a:solidFill>
                            <a:srgbClr val="16211E"/>
                          </a:solidFill>
                          <a:latin typeface="Calibri" pitchFamily="34" charset="0"/>
                          <a:ea typeface="Calibri" pitchFamily="34" charset="-122"/>
                          <a:cs typeface="Calibri" pitchFamily="34" charset="-120"/>
                        </a:rPr>
                        <a:t>Gold card for proven physicians</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6F5C"/>
                          </a:solidFill>
                          <a:latin typeface="Calibri" pitchFamily="34" charset="0"/>
                          <a:ea typeface="Calibri" pitchFamily="34" charset="-122"/>
                          <a:cs typeface="Calibri" pitchFamily="34" charset="-120"/>
                        </a:rPr>
                        <a:t>Exemption</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5C6B66"/>
                          </a:solidFill>
                          <a:latin typeface="Calibri" pitchFamily="34" charset="0"/>
                          <a:ea typeface="Calibri" pitchFamily="34" charset="-122"/>
                          <a:cs typeface="Calibri" pitchFamily="34" charset="-120"/>
                        </a:rPr>
                        <a:t>Everyone else is still reviewed</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r>
              <a:tr h="749808">
                <a:tc>
                  <a:txBody>
                    <a:bodyPr/>
                    <a:lstStyle/>
                    <a:p>
                      <a:pPr algn="l" indent="0" marL="0">
                        <a:buNone/>
                      </a:pPr>
                      <a:r>
                        <a:rPr lang="en-US" sz="1500" b="1" dirty="0">
                          <a:solidFill>
                            <a:srgbClr val="16211E"/>
                          </a:solidFill>
                          <a:latin typeface="Calibri" pitchFamily="34" charset="0"/>
                          <a:ea typeface="Calibri" pitchFamily="34" charset="-122"/>
                          <a:cs typeface="Calibri" pitchFamily="34" charset="-120"/>
                        </a:rPr>
                        <a:t>Decides 95% of complete electronic requests in one business day</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6F5C"/>
                          </a:solidFill>
                          <a:latin typeface="Calibri" pitchFamily="34" charset="0"/>
                          <a:ea typeface="Calibri" pitchFamily="34" charset="-122"/>
                          <a:cs typeface="Calibri" pitchFamily="34" charset="-120"/>
                        </a:rPr>
                        <a:t>Speed target</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5C6B66"/>
                          </a:solidFill>
                          <a:latin typeface="Calibri" pitchFamily="34" charset="0"/>
                          <a:ea typeface="Calibri" pitchFamily="34" charset="-122"/>
                          <a:cs typeface="Calibri" pitchFamily="34" charset="-120"/>
                        </a:rPr>
                        <a:t>Incomplete requests, and faxed or scanned ones</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r>
              <a:tr h="749808">
                <a:tc>
                  <a:txBody>
                    <a:bodyPr/>
                    <a:lstStyle/>
                    <a:p>
                      <a:pPr algn="l" indent="0" marL="0">
                        <a:buNone/>
                      </a:pPr>
                      <a:r>
                        <a:rPr lang="en-US" sz="1500" b="1" dirty="0">
                          <a:solidFill>
                            <a:srgbClr val="16211E"/>
                          </a:solidFill>
                          <a:latin typeface="Calibri" pitchFamily="34" charset="0"/>
                          <a:ea typeface="Calibri" pitchFamily="34" charset="-122"/>
                          <a:cs typeface="Calibri" pitchFamily="34" charset="-120"/>
                        </a:rPr>
                        <a:t>Publishes approvals, denials, appeals, overturns and times</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6F5C"/>
                          </a:solidFill>
                          <a:latin typeface="Calibri" pitchFamily="34" charset="0"/>
                          <a:ea typeface="Calibri" pitchFamily="34" charset="-122"/>
                          <a:cs typeface="Calibri" pitchFamily="34" charset="-120"/>
                        </a:rPr>
                        <a:t>Transparency</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c>
                  <a:txBody>
                    <a:bodyPr/>
                    <a:lstStyle/>
                    <a:p>
                      <a:pPr algn="l" indent="0" marL="0">
                        <a:buNone/>
                      </a:pPr>
                      <a:r>
                        <a:rPr lang="en-US" sz="1500" dirty="0">
                          <a:solidFill>
                            <a:srgbClr val="5C6B66"/>
                          </a:solidFill>
                          <a:latin typeface="Calibri" pitchFamily="34" charset="0"/>
                          <a:ea typeface="Calibri" pitchFamily="34" charset="-122"/>
                          <a:cs typeface="Calibri" pitchFamily="34" charset="-120"/>
                        </a:rPr>
                        <a:t>It reports a wrong decision. It does not prevent one.</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FFFFFF"/>
                    </a:solidFill>
                  </a:tcPr>
                </a:tc>
              </a:tr>
              <a:tr h="868680">
                <a:tc>
                  <a:txBody>
                    <a:bodyPr/>
                    <a:lstStyle/>
                    <a:p>
                      <a:pPr algn="l" indent="0" marL="0">
                        <a:buNone/>
                      </a:pPr>
                      <a:r>
                        <a:rPr lang="en-US" sz="1600" b="1" dirty="0">
                          <a:solidFill>
                            <a:srgbClr val="16211E"/>
                          </a:solidFill>
                          <a:latin typeface="Calibri" pitchFamily="34" charset="0"/>
                          <a:ea typeface="Calibri" pitchFamily="34" charset="-122"/>
                          <a:cs typeface="Calibri" pitchFamily="34" charset="-120"/>
                        </a:rPr>
                        <a:t>My prototype</a:t>
                      </a:r>
                      <a:endParaRPr lang="en-US" sz="16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DDF3E7"/>
                    </a:solidFill>
                  </a:tcPr>
                </a:tc>
                <a:tc>
                  <a:txBody>
                    <a:bodyPr/>
                    <a:lstStyle/>
                    <a:p>
                      <a:pPr algn="l" indent="0" marL="0">
                        <a:buNone/>
                      </a:pPr>
                      <a:r>
                        <a:rPr lang="en-US" sz="1500" b="1" dirty="0">
                          <a:solidFill>
                            <a:srgbClr val="1F6F5C"/>
                          </a:solidFill>
                          <a:latin typeface="Calibri" pitchFamily="34" charset="0"/>
                          <a:ea typeface="Calibri" pitchFamily="34" charset="-122"/>
                          <a:cs typeface="Calibri" pitchFamily="34" charset="-120"/>
                        </a:rPr>
                        <a:t>Faster, right first time</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DDF3E7"/>
                    </a:solidFill>
                  </a:tcPr>
                </a:tc>
                <a:tc>
                  <a:txBody>
                    <a:bodyPr/>
                    <a:lstStyle/>
                    <a:p>
                      <a:pPr algn="l" indent="0" marL="0">
                        <a:buNone/>
                      </a:pPr>
                      <a:r>
                        <a:rPr lang="en-US" sz="1500" b="1" dirty="0">
                          <a:solidFill>
                            <a:srgbClr val="16211E"/>
                          </a:solidFill>
                          <a:latin typeface="Calibri" pitchFamily="34" charset="0"/>
                          <a:ea typeface="Calibri" pitchFamily="34" charset="-122"/>
                          <a:cs typeface="Calibri" pitchFamily="34" charset="-120"/>
                        </a:rPr>
                        <a:t>Shortens the review itself, and gets each remaining request right the first time</a:t>
                      </a:r>
                      <a:endParaRPr lang="en-US" sz="1500" dirty="0">
                        <a:latin typeface="Calibri" charset="0"/>
                        <a:ea typeface="Calibri" charset="0"/>
                        <a:cs typeface="Calibri" charset="0"/>
                      </a:endParaRPr>
                    </a:p>
                  </a:txBody>
                  <a:tcPr marL="146304" marR="146304" marT="73152" marB="73152" anchor="ctr">
                    <a:lnL w="12700" cap="flat" cmpd="sng" algn="ctr">
                      <a:solidFill>
                        <a:srgbClr val="CBD5D1"/>
                      </a:solidFill>
                      <a:prstDash val="solid"/>
                      <a:round/>
                      <a:headEnd type="none" w="med" len="med"/>
                      <a:tailEnd type="none" w="med" len="med"/>
                    </a:lnL>
                    <a:lnR w="12700" cap="flat" cmpd="sng" algn="ctr">
                      <a:solidFill>
                        <a:srgbClr val="CBD5D1"/>
                      </a:solidFill>
                      <a:prstDash val="solid"/>
                      <a:round/>
                      <a:headEnd type="none" w="med" len="med"/>
                      <a:tailEnd type="none" w="med" len="med"/>
                    </a:lnR>
                    <a:lnT w="12700" cap="flat" cmpd="sng" algn="ctr">
                      <a:solidFill>
                        <a:srgbClr val="CBD5D1"/>
                      </a:solidFill>
                      <a:prstDash val="solid"/>
                      <a:round/>
                      <a:headEnd type="none" w="med" len="med"/>
                      <a:tailEnd type="none" w="med" len="med"/>
                    </a:lnT>
                    <a:lnB w="12700" cap="flat" cmpd="sng" algn="ctr">
                      <a:solidFill>
                        <a:srgbClr val="CBD5D1"/>
                      </a:solidFill>
                      <a:prstDash val="solid"/>
                      <a:round/>
                      <a:headEnd type="none" w="med" len="med"/>
                      <a:tailEnd type="none" w="med" len="med"/>
                    </a:lnB>
                    <a:solidFill>
                      <a:srgbClr val="DDF3E7"/>
                    </a:solidFill>
                  </a:tcPr>
                </a:tc>
              </a:tr>
            </a:tbl>
          </a:graphicData>
        </a:graphic>
      </p:graphicFrame>
      <p:sp>
        <p:nvSpPr>
          <p:cNvPr id="6" name="Text 3"/>
          <p:cNvSpPr txBox="1"/>
          <p:nvPr/>
        </p:nvSpPr>
        <p:spPr>
          <a:xfrm>
            <a:off x="457200" y="5897880"/>
            <a:ext cx="11274552" cy="457200"/>
          </a:xfrm>
          <a:prstGeom prst="rect">
            <a:avLst/>
          </a:prstGeom>
          <a:noFill/>
          <a:ln/>
        </p:spPr>
        <p:txBody>
          <a:bodyPr wrap="square" lIns="0" tIns="0" rIns="0" bIns="0" rtlCol="0" anchor="ctr"/>
          <a:lstStyle/>
          <a:p>
            <a:pPr indent="0" marL="0">
              <a:buNone/>
            </a:pPr>
            <a:r>
              <a:rPr lang="en-US" sz="1600" dirty="0">
                <a:solidFill>
                  <a:srgbClr val="16211E"/>
                </a:solidFill>
                <a:latin typeface="Calibri" pitchFamily="34" charset="0"/>
                <a:ea typeface="Calibri" pitchFamily="34" charset="-122"/>
                <a:cs typeface="Calibri" pitchFamily="34" charset="-120"/>
              </a:rPr>
              <a:t>Faster means care starts sooner. Right first time means fewer pend loops and fewer overturned denials.</a:t>
            </a:r>
            <a:endParaRPr lang="en-US" sz="1600" dirty="0"/>
          </a:p>
        </p:txBody>
      </p:sp>
      <p:sp>
        <p:nvSpPr>
          <p:cNvPr id="7" name="Text 4"/>
          <p:cNvSpPr txBox="1"/>
          <p:nvPr/>
        </p:nvSpPr>
        <p:spPr>
          <a:xfrm>
            <a:off x="457200" y="6492240"/>
            <a:ext cx="11274552" cy="228600"/>
          </a:xfrm>
          <a:prstGeom prst="rect">
            <a:avLst/>
          </a:prstGeom>
          <a:noFill/>
          <a:ln/>
        </p:spPr>
        <p:txBody>
          <a:bodyPr wrap="square" lIns="0" tIns="0" rIns="0" bIns="0" rtlCol="0" anchor="ctr"/>
          <a:lstStyle/>
          <a:p>
            <a:pPr indent="0" marL="0">
              <a:buNone/>
            </a:pPr>
            <a:r>
              <a:rPr lang="en-US" sz="900" dirty="0">
                <a:solidFill>
                  <a:srgbClr val="5C6B66"/>
                </a:solidFill>
                <a:latin typeface="Calibri" pitchFamily="34" charset="0"/>
                <a:ea typeface="Calibri" pitchFamily="34" charset="-122"/>
                <a:cs typeface="Calibri" pitchFamily="34" charset="-120"/>
              </a:rPr>
              <a:t>Source: Humana, 'Humana accelerates efforts to eliminate prior authorization requirements' (policy.humana.com, 2025). 'Complete electronic requests' is Humana's wording. Reading the gap as incomplete and faxed requests is mine.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Humana is already doing</dc:title>
  <dc:subject>PptxGenJS Presentation</dc:subject>
  <dc:creator>Nisha Mishra</dc:creator>
  <cp:lastModifiedBy>Nisha Mishra</cp:lastModifiedBy>
  <cp:revision>1</cp:revision>
  <dcterms:created xsi:type="dcterms:W3CDTF">2026-10-05T16:38:52Z</dcterms:created>
  <dcterms:modified xsi:type="dcterms:W3CDTF">2026-10-05T16:38:52Z</dcterms:modified>
</cp:coreProperties>
</file>