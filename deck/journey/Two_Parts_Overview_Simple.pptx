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has two parts.
Part 1 builds the library. Think of it as onboarding a new service. It happens once for each service, before go-live, and it is the biggest piece of work. The policy owner puts in a service, its billing codes and its policies. What comes out is a list of key facts, each with a rule.
Let me explain a key fact in simple words. A key fact is something the policy says must be in the packet for the request to be covered. Say the policy needs a hospital stay of at least two midnights. The key fact is length of stay. The rule is at least two midnights. I'll go deeper on this in the next slide.
Part 2 is the daily work. A packet comes in from a provider. The AI checks it against those key facts and gives the nurse a recommendation, with the evidence for each one. The nurse confirms. The medical director decides the hard cases, and only they can deny.
A person is in the loop in both parts. And Part 2 only uses what Part 1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SOLUTION</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The solution has two parts.</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A person is in the loop in both</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The AI drafts, reads and cites. A person approves, confirms and decides. The AI never denies.</a:t>
            </a:r>
            <a:endParaRPr lang="en-US" sz="900" dirty="0"/>
          </a:p>
        </p:txBody>
      </p:sp>
      <p:sp>
        <p:nvSpPr>
          <p:cNvPr id="6" name="Card1"/>
          <p:cNvSpPr/>
          <p:nvPr/>
        </p:nvSpPr>
        <p:spPr>
          <a:xfrm>
            <a:off x="457200" y="1325880"/>
            <a:ext cx="5532120" cy="3931920"/>
          </a:xfrm>
          <a:prstGeom prst="roundRect">
            <a:avLst>
              <a:gd name="adj" fmla="val 2326"/>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Eb1"/>
          <p:cNvSpPr txBox="1"/>
          <p:nvPr/>
        </p:nvSpPr>
        <p:spPr>
          <a:xfrm>
            <a:off x="731520" y="1508760"/>
            <a:ext cx="2743200" cy="228600"/>
          </a:xfrm>
          <a:prstGeom prst="rect">
            <a:avLst/>
          </a:prstGeom>
          <a:noFill/>
          <a:ln/>
        </p:spPr>
        <p:txBody>
          <a:bodyPr wrap="square" lIns="0" tIns="0" rIns="0" bIns="0" rtlCol="0" anchor="t"/>
          <a:lstStyle/>
          <a:p>
            <a:pPr algn="l" indent="0" marL="0">
              <a:buNone/>
            </a:pPr>
            <a:r>
              <a:rPr lang="en-US" sz="1050" b="1" dirty="0">
                <a:solidFill>
                  <a:srgbClr val="1F6F5C"/>
                </a:solidFill>
                <a:latin typeface="Calibri" pitchFamily="34" charset="0"/>
                <a:ea typeface="Calibri" pitchFamily="34" charset="-122"/>
                <a:cs typeface="Calibri" pitchFamily="34" charset="-120"/>
              </a:rPr>
              <a:t>PART 1</a:t>
            </a:r>
            <a:endParaRPr lang="en-US" sz="1050" dirty="0"/>
          </a:p>
        </p:txBody>
      </p:sp>
      <p:sp>
        <p:nvSpPr>
          <p:cNvPr id="8" name="Ti1"/>
          <p:cNvSpPr txBox="1"/>
          <p:nvPr/>
        </p:nvSpPr>
        <p:spPr>
          <a:xfrm>
            <a:off x="731520" y="1783080"/>
            <a:ext cx="3840480" cy="457200"/>
          </a:xfrm>
          <a:prstGeom prst="rect">
            <a:avLst/>
          </a:prstGeom>
          <a:noFill/>
          <a:ln/>
        </p:spPr>
        <p:txBody>
          <a:bodyPr wrap="square" lIns="0" tIns="0" rIns="0" bIns="0" rtlCol="0" anchor="t"/>
          <a:lstStyle/>
          <a:p>
            <a:pPr algn="l" indent="0" marL="0">
              <a:buNone/>
            </a:pPr>
            <a:r>
              <a:rPr lang="en-US" sz="2200" dirty="0">
                <a:solidFill>
                  <a:srgbClr val="16211E"/>
                </a:solidFill>
                <a:latin typeface="Calibri" pitchFamily="34" charset="0"/>
                <a:ea typeface="Calibri" pitchFamily="34" charset="-122"/>
                <a:cs typeface="Calibri" pitchFamily="34" charset="-120"/>
              </a:rPr>
              <a:t>Build the library</a:t>
            </a:r>
            <a:endParaRPr lang="en-US" sz="2200" dirty="0"/>
          </a:p>
        </p:txBody>
      </p:sp>
      <p:sp>
        <p:nvSpPr>
          <p:cNvPr id="9" name="Su1"/>
          <p:cNvSpPr txBox="1"/>
          <p:nvPr/>
        </p:nvSpPr>
        <p:spPr>
          <a:xfrm>
            <a:off x="731520" y="2286000"/>
            <a:ext cx="4023360" cy="274320"/>
          </a:xfrm>
          <a:prstGeom prst="rect">
            <a:avLst/>
          </a:prstGeom>
          <a:noFill/>
          <a:ln/>
        </p:spPr>
        <p:txBody>
          <a:bodyPr wrap="square" lIns="0" tIns="0" rIns="0" bIns="0" rtlCol="0" anchor="t"/>
          <a:lstStyle/>
          <a:p>
            <a:pPr algn="l" indent="0" marL="0">
              <a:buNone/>
            </a:pPr>
            <a:r>
              <a:rPr lang="en-US" sz="1200" dirty="0">
                <a:solidFill>
                  <a:srgbClr val="5C6B66"/>
                </a:solidFill>
                <a:latin typeface="Calibri" pitchFamily="34" charset="0"/>
                <a:ea typeface="Calibri" pitchFamily="34" charset="-122"/>
                <a:cs typeface="Calibri" pitchFamily="34" charset="-120"/>
              </a:rPr>
              <a:t>Onboard a service. Before go-live. The biggest piece of work.</a:t>
            </a:r>
            <a:endParaRPr lang="en-US" sz="1200" dirty="0"/>
          </a:p>
        </p:txBody>
      </p:sp>
      <p:pic>
        <p:nvPicPr>
          <p:cNvPr id="10" name="Av10" descr="preencoded.png">    </p:cNvPr>
          <p:cNvPicPr>
            <a:picLocks noChangeAspect="1"/>
          </p:cNvPicPr>
          <p:nvPr/>
        </p:nvPicPr>
        <p:blipFill>
          <a:blip r:embed="rId1"/>
          <a:stretch>
            <a:fillRect/>
          </a:stretch>
        </p:blipFill>
        <p:spPr>
          <a:xfrm>
            <a:off x="4928616" y="1618488"/>
            <a:ext cx="512064" cy="512064"/>
          </a:xfrm>
          <a:prstGeom prst="rect">
            <a:avLst/>
          </a:prstGeom>
        </p:spPr>
      </p:pic>
      <p:sp>
        <p:nvSpPr>
          <p:cNvPr id="11" name="L10"/>
          <p:cNvSpPr txBox="1"/>
          <p:nvPr/>
        </p:nvSpPr>
        <p:spPr>
          <a:xfrm>
            <a:off x="731520" y="2752344"/>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WHEN</a:t>
            </a:r>
            <a:endParaRPr lang="en-US" sz="950" dirty="0"/>
          </a:p>
        </p:txBody>
      </p:sp>
      <p:sp>
        <p:nvSpPr>
          <p:cNvPr id="12" name="V10"/>
          <p:cNvSpPr txBox="1"/>
          <p:nvPr/>
        </p:nvSpPr>
        <p:spPr>
          <a:xfrm>
            <a:off x="2331720" y="2743200"/>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Once for each service</a:t>
            </a:r>
            <a:endParaRPr lang="en-US" sz="1300" dirty="0"/>
          </a:p>
        </p:txBody>
      </p:sp>
      <p:sp>
        <p:nvSpPr>
          <p:cNvPr id="13" name="L11"/>
          <p:cNvSpPr txBox="1"/>
          <p:nvPr/>
        </p:nvSpPr>
        <p:spPr>
          <a:xfrm>
            <a:off x="731520" y="3264408"/>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WHO</a:t>
            </a:r>
            <a:endParaRPr lang="en-US" sz="950" dirty="0"/>
          </a:p>
        </p:txBody>
      </p:sp>
      <p:sp>
        <p:nvSpPr>
          <p:cNvPr id="14" name="V11"/>
          <p:cNvSpPr txBox="1"/>
          <p:nvPr/>
        </p:nvSpPr>
        <p:spPr>
          <a:xfrm>
            <a:off x="2331720" y="3255264"/>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Policy owner</a:t>
            </a:r>
            <a:endParaRPr lang="en-US" sz="1300" dirty="0"/>
          </a:p>
        </p:txBody>
      </p:sp>
      <p:sp>
        <p:nvSpPr>
          <p:cNvPr id="15" name="L12"/>
          <p:cNvSpPr txBox="1"/>
          <p:nvPr/>
        </p:nvSpPr>
        <p:spPr>
          <a:xfrm>
            <a:off x="731520" y="3776472"/>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GOES IN</a:t>
            </a:r>
            <a:endParaRPr lang="en-US" sz="950" dirty="0"/>
          </a:p>
        </p:txBody>
      </p:sp>
      <p:sp>
        <p:nvSpPr>
          <p:cNvPr id="16" name="V12"/>
          <p:cNvSpPr txBox="1"/>
          <p:nvPr/>
        </p:nvSpPr>
        <p:spPr>
          <a:xfrm>
            <a:off x="2331720" y="3767328"/>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A service, its billing codes and its policies</a:t>
            </a:r>
            <a:endParaRPr lang="en-US" sz="1300" dirty="0"/>
          </a:p>
        </p:txBody>
      </p:sp>
      <p:sp>
        <p:nvSpPr>
          <p:cNvPr id="17" name="L13"/>
          <p:cNvSpPr txBox="1"/>
          <p:nvPr/>
        </p:nvSpPr>
        <p:spPr>
          <a:xfrm>
            <a:off x="731520" y="4288536"/>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COMES OUT</a:t>
            </a:r>
            <a:endParaRPr lang="en-US" sz="950" dirty="0"/>
          </a:p>
        </p:txBody>
      </p:sp>
      <p:sp>
        <p:nvSpPr>
          <p:cNvPr id="18" name="V13"/>
          <p:cNvSpPr txBox="1"/>
          <p:nvPr/>
        </p:nvSpPr>
        <p:spPr>
          <a:xfrm>
            <a:off x="2331720" y="4279392"/>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A list of key facts, each with its rule</a:t>
            </a:r>
            <a:endParaRPr lang="en-US" sz="1300" dirty="0"/>
          </a:p>
        </p:txBody>
      </p:sp>
      <p:sp>
        <p:nvSpPr>
          <p:cNvPr id="19" name="L14"/>
          <p:cNvSpPr txBox="1"/>
          <p:nvPr/>
        </p:nvSpPr>
        <p:spPr>
          <a:xfrm>
            <a:off x="731520" y="4800600"/>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A PERSON IN THE LOOP</a:t>
            </a:r>
            <a:endParaRPr lang="en-US" sz="950" dirty="0"/>
          </a:p>
        </p:txBody>
      </p:sp>
      <p:sp>
        <p:nvSpPr>
          <p:cNvPr id="20" name="V14"/>
          <p:cNvSpPr txBox="1"/>
          <p:nvPr/>
        </p:nvSpPr>
        <p:spPr>
          <a:xfrm>
            <a:off x="2331720" y="4791456"/>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The owner approves every rule</a:t>
            </a:r>
            <a:endParaRPr lang="en-US" sz="1300" dirty="0"/>
          </a:p>
        </p:txBody>
      </p:sp>
      <p:sp>
        <p:nvSpPr>
          <p:cNvPr id="21" name="Card2"/>
          <p:cNvSpPr/>
          <p:nvPr/>
        </p:nvSpPr>
        <p:spPr>
          <a:xfrm>
            <a:off x="6199632" y="1325880"/>
            <a:ext cx="5532120" cy="3931920"/>
          </a:xfrm>
          <a:prstGeom prst="roundRect">
            <a:avLst>
              <a:gd name="adj" fmla="val 2326"/>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22" name="Eb2"/>
          <p:cNvSpPr txBox="1"/>
          <p:nvPr/>
        </p:nvSpPr>
        <p:spPr>
          <a:xfrm>
            <a:off x="6473952" y="1508760"/>
            <a:ext cx="2743200" cy="228600"/>
          </a:xfrm>
          <a:prstGeom prst="rect">
            <a:avLst/>
          </a:prstGeom>
          <a:noFill/>
          <a:ln/>
        </p:spPr>
        <p:txBody>
          <a:bodyPr wrap="square" lIns="0" tIns="0" rIns="0" bIns="0" rtlCol="0" anchor="t"/>
          <a:lstStyle/>
          <a:p>
            <a:pPr algn="l" indent="0" marL="0">
              <a:buNone/>
            </a:pPr>
            <a:r>
              <a:rPr lang="en-US" sz="1050" b="1" dirty="0">
                <a:solidFill>
                  <a:srgbClr val="1F6F5C"/>
                </a:solidFill>
                <a:latin typeface="Calibri" pitchFamily="34" charset="0"/>
                <a:ea typeface="Calibri" pitchFamily="34" charset="-122"/>
                <a:cs typeface="Calibri" pitchFamily="34" charset="-120"/>
              </a:rPr>
              <a:t>PART 2</a:t>
            </a:r>
            <a:endParaRPr lang="en-US" sz="1050" dirty="0"/>
          </a:p>
        </p:txBody>
      </p:sp>
      <p:sp>
        <p:nvSpPr>
          <p:cNvPr id="23" name="Ti2"/>
          <p:cNvSpPr txBox="1"/>
          <p:nvPr/>
        </p:nvSpPr>
        <p:spPr>
          <a:xfrm>
            <a:off x="6473952" y="1783080"/>
            <a:ext cx="3840480" cy="457200"/>
          </a:xfrm>
          <a:prstGeom prst="rect">
            <a:avLst/>
          </a:prstGeom>
          <a:noFill/>
          <a:ln/>
        </p:spPr>
        <p:txBody>
          <a:bodyPr wrap="square" lIns="0" tIns="0" rIns="0" bIns="0" rtlCol="0" anchor="t"/>
          <a:lstStyle/>
          <a:p>
            <a:pPr algn="l" indent="0" marL="0">
              <a:buNone/>
            </a:pPr>
            <a:r>
              <a:rPr lang="en-US" sz="2200" dirty="0">
                <a:solidFill>
                  <a:srgbClr val="16211E"/>
                </a:solidFill>
                <a:latin typeface="Calibri" pitchFamily="34" charset="0"/>
                <a:ea typeface="Calibri" pitchFamily="34" charset="-122"/>
                <a:cs typeface="Calibri" pitchFamily="34" charset="-120"/>
              </a:rPr>
              <a:t>Decide every packet</a:t>
            </a:r>
            <a:endParaRPr lang="en-US" sz="2200" dirty="0"/>
          </a:p>
        </p:txBody>
      </p:sp>
      <p:sp>
        <p:nvSpPr>
          <p:cNvPr id="24" name="Su2"/>
          <p:cNvSpPr txBox="1"/>
          <p:nvPr/>
        </p:nvSpPr>
        <p:spPr>
          <a:xfrm>
            <a:off x="6473952" y="2286000"/>
            <a:ext cx="4023360" cy="274320"/>
          </a:xfrm>
          <a:prstGeom prst="rect">
            <a:avLst/>
          </a:prstGeom>
          <a:noFill/>
          <a:ln/>
        </p:spPr>
        <p:txBody>
          <a:bodyPr wrap="square" lIns="0" tIns="0" rIns="0" bIns="0" rtlCol="0" anchor="t"/>
          <a:lstStyle/>
          <a:p>
            <a:pPr algn="l" indent="0" marL="0">
              <a:buNone/>
            </a:pPr>
            <a:r>
              <a:rPr lang="en-US" sz="1200" dirty="0">
                <a:solidFill>
                  <a:srgbClr val="5C6B66"/>
                </a:solidFill>
                <a:latin typeface="Calibri" pitchFamily="34" charset="0"/>
                <a:ea typeface="Calibri" pitchFamily="34" charset="-122"/>
                <a:cs typeface="Calibri" pitchFamily="34" charset="-120"/>
              </a:rPr>
              <a:t>The daily work. Every request.</a:t>
            </a:r>
            <a:endParaRPr lang="en-US" sz="1200" dirty="0"/>
          </a:p>
        </p:txBody>
      </p:sp>
      <p:pic>
        <p:nvPicPr>
          <p:cNvPr id="25" name="Av20" descr="preencoded.png">    </p:cNvPr>
          <p:cNvPicPr>
            <a:picLocks noChangeAspect="1"/>
          </p:cNvPicPr>
          <p:nvPr/>
        </p:nvPicPr>
        <p:blipFill>
          <a:blip r:embed="rId2"/>
          <a:stretch>
            <a:fillRect/>
          </a:stretch>
        </p:blipFill>
        <p:spPr>
          <a:xfrm>
            <a:off x="9537192" y="1618488"/>
            <a:ext cx="512064" cy="512064"/>
          </a:xfrm>
          <a:prstGeom prst="rect">
            <a:avLst/>
          </a:prstGeom>
        </p:spPr>
      </p:pic>
      <p:pic>
        <p:nvPicPr>
          <p:cNvPr id="26" name="Av21" descr="preencoded.png">    </p:cNvPr>
          <p:cNvPicPr>
            <a:picLocks noChangeAspect="1"/>
          </p:cNvPicPr>
          <p:nvPr/>
        </p:nvPicPr>
        <p:blipFill>
          <a:blip r:embed="rId3"/>
          <a:stretch>
            <a:fillRect/>
          </a:stretch>
        </p:blipFill>
        <p:spPr>
          <a:xfrm>
            <a:off x="10104120" y="1618488"/>
            <a:ext cx="512064" cy="512064"/>
          </a:xfrm>
          <a:prstGeom prst="rect">
            <a:avLst/>
          </a:prstGeom>
        </p:spPr>
      </p:pic>
      <p:pic>
        <p:nvPicPr>
          <p:cNvPr id="27" name="Av22" descr="preencoded.png">    </p:cNvPr>
          <p:cNvPicPr>
            <a:picLocks noChangeAspect="1"/>
          </p:cNvPicPr>
          <p:nvPr/>
        </p:nvPicPr>
        <p:blipFill>
          <a:blip r:embed="rId4"/>
          <a:stretch>
            <a:fillRect/>
          </a:stretch>
        </p:blipFill>
        <p:spPr>
          <a:xfrm>
            <a:off x="10671048" y="1618488"/>
            <a:ext cx="512064" cy="512064"/>
          </a:xfrm>
          <a:prstGeom prst="rect">
            <a:avLst/>
          </a:prstGeom>
        </p:spPr>
      </p:pic>
      <p:sp>
        <p:nvSpPr>
          <p:cNvPr id="28" name="L20"/>
          <p:cNvSpPr txBox="1"/>
          <p:nvPr/>
        </p:nvSpPr>
        <p:spPr>
          <a:xfrm>
            <a:off x="6473952" y="2752344"/>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WHEN</a:t>
            </a:r>
            <a:endParaRPr lang="en-US" sz="950" dirty="0"/>
          </a:p>
        </p:txBody>
      </p:sp>
      <p:sp>
        <p:nvSpPr>
          <p:cNvPr id="29" name="V20"/>
          <p:cNvSpPr txBox="1"/>
          <p:nvPr/>
        </p:nvSpPr>
        <p:spPr>
          <a:xfrm>
            <a:off x="8074152" y="2743200"/>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Every time a request comes in</a:t>
            </a:r>
            <a:endParaRPr lang="en-US" sz="1300" dirty="0"/>
          </a:p>
        </p:txBody>
      </p:sp>
      <p:sp>
        <p:nvSpPr>
          <p:cNvPr id="30" name="L21"/>
          <p:cNvSpPr txBox="1"/>
          <p:nvPr/>
        </p:nvSpPr>
        <p:spPr>
          <a:xfrm>
            <a:off x="6473952" y="3264408"/>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WHO</a:t>
            </a:r>
            <a:endParaRPr lang="en-US" sz="950" dirty="0"/>
          </a:p>
        </p:txBody>
      </p:sp>
      <p:sp>
        <p:nvSpPr>
          <p:cNvPr id="31" name="V21"/>
          <p:cNvSpPr txBox="1"/>
          <p:nvPr/>
        </p:nvSpPr>
        <p:spPr>
          <a:xfrm>
            <a:off x="8074152" y="3255264"/>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Intake coordinator, UM nurse, medical director</a:t>
            </a:r>
            <a:endParaRPr lang="en-US" sz="1300" dirty="0"/>
          </a:p>
        </p:txBody>
      </p:sp>
      <p:sp>
        <p:nvSpPr>
          <p:cNvPr id="32" name="L22"/>
          <p:cNvSpPr txBox="1"/>
          <p:nvPr/>
        </p:nvSpPr>
        <p:spPr>
          <a:xfrm>
            <a:off x="6473952" y="3776472"/>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GOES IN</a:t>
            </a:r>
            <a:endParaRPr lang="en-US" sz="950" dirty="0"/>
          </a:p>
        </p:txBody>
      </p:sp>
      <p:sp>
        <p:nvSpPr>
          <p:cNvPr id="33" name="V22"/>
          <p:cNvSpPr txBox="1"/>
          <p:nvPr/>
        </p:nvSpPr>
        <p:spPr>
          <a:xfrm>
            <a:off x="8074152" y="3767328"/>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A packet from a provider</a:t>
            </a:r>
            <a:endParaRPr lang="en-US" sz="1300" dirty="0"/>
          </a:p>
        </p:txBody>
      </p:sp>
      <p:sp>
        <p:nvSpPr>
          <p:cNvPr id="34" name="L23"/>
          <p:cNvSpPr txBox="1"/>
          <p:nvPr/>
        </p:nvSpPr>
        <p:spPr>
          <a:xfrm>
            <a:off x="6473952" y="4288536"/>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COMES OUT</a:t>
            </a:r>
            <a:endParaRPr lang="en-US" sz="950" dirty="0"/>
          </a:p>
        </p:txBody>
      </p:sp>
      <p:sp>
        <p:nvSpPr>
          <p:cNvPr id="35" name="V23"/>
          <p:cNvSpPr txBox="1"/>
          <p:nvPr/>
        </p:nvSpPr>
        <p:spPr>
          <a:xfrm>
            <a:off x="8074152" y="4279392"/>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A recommendation, with the evidence for every key fact</a:t>
            </a:r>
            <a:endParaRPr lang="en-US" sz="1300" dirty="0"/>
          </a:p>
        </p:txBody>
      </p:sp>
      <p:sp>
        <p:nvSpPr>
          <p:cNvPr id="36" name="L24"/>
          <p:cNvSpPr txBox="1"/>
          <p:nvPr/>
        </p:nvSpPr>
        <p:spPr>
          <a:xfrm>
            <a:off x="6473952" y="4800600"/>
            <a:ext cx="1554480" cy="365760"/>
          </a:xfrm>
          <a:prstGeom prst="rect">
            <a:avLst/>
          </a:prstGeom>
          <a:noFill/>
          <a:ln/>
        </p:spPr>
        <p:txBody>
          <a:bodyPr wrap="square" lIns="0" tIns="0" rIns="0" bIns="0" rtlCol="0" anchor="t"/>
          <a:lstStyle/>
          <a:p>
            <a:pPr algn="l" indent="0" marL="0">
              <a:buNone/>
            </a:pPr>
            <a:r>
              <a:rPr lang="en-US" sz="950" b="1" dirty="0">
                <a:solidFill>
                  <a:srgbClr val="5C6B66"/>
                </a:solidFill>
                <a:latin typeface="Calibri" pitchFamily="34" charset="0"/>
                <a:ea typeface="Calibri" pitchFamily="34" charset="-122"/>
                <a:cs typeface="Calibri" pitchFamily="34" charset="-120"/>
              </a:rPr>
              <a:t>A PERSON IN THE LOOP</a:t>
            </a:r>
            <a:endParaRPr lang="en-US" sz="950" dirty="0"/>
          </a:p>
        </p:txBody>
      </p:sp>
      <p:sp>
        <p:nvSpPr>
          <p:cNvPr id="37" name="V24"/>
          <p:cNvSpPr txBox="1"/>
          <p:nvPr/>
        </p:nvSpPr>
        <p:spPr>
          <a:xfrm>
            <a:off x="8074152" y="4791456"/>
            <a:ext cx="3474720" cy="457200"/>
          </a:xfrm>
          <a:prstGeom prst="rect">
            <a:avLst/>
          </a:prstGeom>
          <a:noFill/>
          <a:ln/>
        </p:spPr>
        <p:txBody>
          <a:bodyPr wrap="square" lIns="0" tIns="0" rIns="0" bIns="0" rtlCol="0" anchor="t"/>
          <a:lstStyle/>
          <a:p>
            <a:pPr algn="l" indent="0" marL="0">
              <a:buNone/>
            </a:pPr>
            <a:r>
              <a:rPr lang="en-US" sz="1300" dirty="0">
                <a:solidFill>
                  <a:srgbClr val="16211E"/>
                </a:solidFill>
                <a:latin typeface="Calibri" pitchFamily="34" charset="0"/>
                <a:ea typeface="Calibri" pitchFamily="34" charset="-122"/>
                <a:cs typeface="Calibri" pitchFamily="34" charset="-120"/>
              </a:rPr>
              <a:t>The nurse confirms. Only the director can deny.</a:t>
            </a:r>
            <a:endParaRPr lang="en-US" sz="1300" dirty="0"/>
          </a:p>
        </p:txBody>
      </p:sp>
      <p:sp>
        <p:nvSpPr>
          <p:cNvPr id="38" name="Link"/>
          <p:cNvSpPr/>
          <p:nvPr/>
        </p:nvSpPr>
        <p:spPr>
          <a:xfrm>
            <a:off x="457200" y="5376672"/>
            <a:ext cx="11274552" cy="411480"/>
          </a:xfrm>
          <a:prstGeom prst="roundRect">
            <a:avLst>
              <a:gd name="adj" fmla="val 17778"/>
            </a:avLst>
          </a:prstGeom>
          <a:solidFill>
            <a:srgbClr val="1F6F5C"/>
          </a:solidFill>
          <a:ln w="12700">
            <a:solidFill>
              <a:srgbClr val="1F6F5C"/>
            </a:solidFill>
          </a:ln>
        </p:spPr>
        <p:txBody>
          <a:bodyPr wrap="square" lIns="137160" tIns="18288" rIns="137160" bIns="1828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Part 2 only uses what Part 1 approved.</a:t>
            </a:r>
            <a:endParaRPr lang="en-US" sz="1400" dirty="0"/>
          </a:p>
        </p:txBody>
      </p:sp>
      <p:sp>
        <p:nvSpPr>
          <p:cNvPr id="39" name="KF"/>
          <p:cNvSpPr/>
          <p:nvPr/>
        </p:nvSpPr>
        <p:spPr>
          <a:xfrm>
            <a:off x="457200" y="5897880"/>
            <a:ext cx="11274552" cy="502920"/>
          </a:xfrm>
          <a:prstGeom prst="roundRect">
            <a:avLst>
              <a:gd name="adj" fmla="val 14545"/>
            </a:avLst>
          </a:prstGeom>
          <a:solidFill>
            <a:srgbClr val="E3F0EB"/>
          </a:solidFill>
          <a:ln w="15875">
            <a:solidFill>
              <a:srgbClr val="1F6F5C"/>
            </a:solidFill>
          </a:ln>
        </p:spPr>
        <p:txBody>
          <a:bodyPr wrap="square" lIns="164592" tIns="36576" rIns="164592" bIns="36576" rtlCol="0" anchor="ctr"/>
          <a:lstStyle/>
          <a:p>
            <a:pPr algn="l" indent="0" marL="0">
              <a:buNone/>
            </a:pPr>
            <a:r>
              <a:rPr lang="en-US" sz="1100" b="1" spc="200" kern="0" dirty="0">
                <a:solidFill>
                  <a:srgbClr val="1F6F5C"/>
                </a:solidFill>
                <a:latin typeface="Calibri" pitchFamily="34" charset="0"/>
                <a:ea typeface="Calibri" pitchFamily="34" charset="-122"/>
                <a:cs typeface="Calibri" pitchFamily="34" charset="-120"/>
              </a:rPr>
              <a:t>KEY FACT   </a:t>
            </a:r>
            <a:pPr algn="l" indent="0" marL="0">
              <a:buNone/>
            </a:pPr>
            <a:r>
              <a:rPr lang="en-US" sz="1300" dirty="0">
                <a:solidFill>
                  <a:srgbClr val="16211E"/>
                </a:solidFill>
                <a:latin typeface="Calibri" pitchFamily="34" charset="0"/>
                <a:ea typeface="Calibri" pitchFamily="34" charset="-122"/>
                <a:cs typeface="Calibri" pitchFamily="34" charset="-120"/>
              </a:rPr>
              <a:t>Something the policy says must be in the packet, like length of stay, and the rule it has to pass.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solution has two parts</dc:title>
  <dc:subject>PptxGenJS Presentation</dc:subject>
  <dc:creator>Nisha Mishra</dc:creator>
  <cp:lastModifiedBy>Nisha Mishra</cp:lastModifiedBy>
  <cp:revision>1</cp:revision>
  <dcterms:created xsi:type="dcterms:W3CDTF">2026-10-06T03:08:37Z</dcterms:created>
  <dcterms:modified xsi:type="dcterms:W3CDTF">2026-10-06T03:08:37Z</dcterms:modified>
</cp:coreProperties>
</file>