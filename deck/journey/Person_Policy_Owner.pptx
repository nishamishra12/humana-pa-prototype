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slide. One click per step. Finish your talking point, then click.
Click 1: The policy owner starts by choosing a policy for a procedure we want to cover. It can be a CMS national or local policy, picked from a list, or the plan's own PDF.
Click 2: Along with the policy, the owner adds the billing codes that identify the procedure. A code is the short code on every request that names the procedure. Each code is stored with its source, a CMS billing article. This is how a packet will find this policy later.
Click 3: The ETL step with AI inside reads the policy. It keeps the structure: titles, paragraphs, tables and the page each came from. Flat text would lose the sections the rules hang on.
Click 4: The AI turns each requirement into a rule. For each rule it names the key fact a nurse must check, for example the ejection fraction, and copies the exact sentence the rule came from. That list of key facts is what we later look for in every packet for this procedure.
Click 5: Plain code checks the draft. Is the quote really in the policy? Is every number in the quote? Does the fact exist? Anything that fails is shown to the owner, never dropped. No AI in this step.
Click 6: The owner reads each rule with the official text beside it. They approve, edit or reject every one. The AI drafts. It never publishes. A person signs.
Click 7: Then the owner links the codes and the policy to a service, which is any name the business uses for a kind of request, like ICD for heart failure. They publish a version. Every version is kept, so it can be rolled back, and every action is in an audit trail.
Click 8: The result of part one: for every procedure we cover, a library of key facts to check when a packet arrives. This is the biggest piece of real work, and it happens before go-live. It is what the AI uses in part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eyebrow"/>
          <p:cNvSpPr txBox="1"/>
          <p:nvPr/>
        </p:nvSpPr>
        <p:spPr>
          <a:xfrm>
            <a:off x="457200" y="274320"/>
            <a:ext cx="6400800" cy="256032"/>
          </a:xfrm>
          <a:prstGeom prst="rect">
            <a:avLst/>
          </a:prstGeom>
          <a:noFill/>
          <a:ln/>
        </p:spPr>
        <p:txBody>
          <a:bodyPr wrap="square" lIns="0" tIns="0" rIns="0" bIns="0" rtlCol="0" anchor="t"/>
          <a:lstStyle/>
          <a:p>
            <a:pPr algn="l" indent="0" marL="0">
              <a:buNone/>
            </a:pPr>
            <a:r>
              <a:rPr lang="en-US" sz="1100" b="1" spc="300" kern="0" dirty="0">
                <a:solidFill>
                  <a:srgbClr val="1F6F5C"/>
                </a:solidFill>
                <a:latin typeface="Calibri" pitchFamily="34" charset="0"/>
                <a:ea typeface="Calibri" pitchFamily="34" charset="-122"/>
                <a:cs typeface="Calibri" pitchFamily="34" charset="-120"/>
              </a:rPr>
              <a:t>THE POLICY OWNER  ·  PART 1</a:t>
            </a:r>
            <a:endParaRPr lang="en-US" sz="1100" dirty="0"/>
          </a:p>
        </p:txBody>
      </p:sp>
      <p:sp>
        <p:nvSpPr>
          <p:cNvPr id="3" name="title"/>
          <p:cNvSpPr txBox="1"/>
          <p:nvPr/>
        </p:nvSpPr>
        <p:spPr>
          <a:xfrm>
            <a:off x="457200" y="502920"/>
            <a:ext cx="8046720" cy="685800"/>
          </a:xfrm>
          <a:prstGeom prst="rect">
            <a:avLst/>
          </a:prstGeom>
          <a:noFill/>
          <a:ln/>
        </p:spPr>
        <p:txBody>
          <a:bodyPr wrap="square" lIns="0" tIns="0" rIns="0" bIns="0" rtlCol="0" anchor="ctr"/>
          <a:lstStyle/>
          <a:p>
            <a:pPr algn="l" indent="0" marL="0">
              <a:buNone/>
            </a:pPr>
            <a:r>
              <a:rPr lang="en-US" sz="2600" dirty="0">
                <a:solidFill>
                  <a:srgbClr val="16211E"/>
                </a:solidFill>
                <a:latin typeface="Cambria" pitchFamily="34" charset="0"/>
                <a:ea typeface="Cambria" pitchFamily="34" charset="-122"/>
                <a:cs typeface="Cambria" pitchFamily="34" charset="-120"/>
              </a:rPr>
              <a:t>The policy owner builds the library.</a:t>
            </a:r>
            <a:endParaRPr lang="en-US" sz="2600" dirty="0"/>
          </a:p>
        </p:txBody>
      </p:sp>
      <p:sp>
        <p:nvSpPr>
          <p:cNvPr id="4" name="sub"/>
          <p:cNvSpPr txBox="1"/>
          <p:nvPr/>
        </p:nvSpPr>
        <p:spPr>
          <a:xfrm>
            <a:off x="8412480" y="502920"/>
            <a:ext cx="3319272" cy="685800"/>
          </a:xfrm>
          <a:prstGeom prst="rect">
            <a:avLst/>
          </a:prstGeom>
          <a:noFill/>
          <a:ln/>
        </p:spPr>
        <p:txBody>
          <a:bodyPr wrap="square" lIns="0" tIns="0" rIns="0" bIns="0" rtlCol="0" anchor="ctr"/>
          <a:lstStyle/>
          <a:p>
            <a:pPr algn="r" indent="0" marL="0">
              <a:buNone/>
            </a:pPr>
            <a:r>
              <a:rPr lang="en-US" sz="1400" dirty="0">
                <a:solidFill>
                  <a:srgbClr val="5C6B66"/>
                </a:solidFill>
                <a:latin typeface="Calibri" pitchFamily="34" charset="0"/>
                <a:ea typeface="Calibri" pitchFamily="34" charset="-122"/>
                <a:cs typeface="Calibri" pitchFamily="34" charset="-120"/>
              </a:rPr>
              <a:t>Before go-live. The biggest piece of work.</a:t>
            </a:r>
            <a:endParaRPr lang="en-US" sz="1400" dirty="0"/>
          </a:p>
        </p:txBody>
      </p:sp>
      <p:sp>
        <p:nvSpPr>
          <p:cNvPr id="5" name="footer"/>
          <p:cNvSpPr txBox="1"/>
          <p:nvPr/>
        </p:nvSpPr>
        <p:spPr>
          <a:xfrm>
            <a:off x="457200" y="6492240"/>
            <a:ext cx="11274552" cy="228600"/>
          </a:xfrm>
          <a:prstGeom prst="rect">
            <a:avLst/>
          </a:prstGeom>
          <a:noFill/>
          <a:ln/>
        </p:spPr>
        <p:txBody>
          <a:bodyPr wrap="square" lIns="0" tIns="0" rIns="0" bIns="0" rtlCol="0" anchor="t"/>
          <a:lstStyle/>
          <a:p>
            <a:pPr algn="l" indent="0" marL="0">
              <a:buNone/>
            </a:pPr>
            <a:r>
              <a:rPr lang="en-US" sz="900" dirty="0">
                <a:solidFill>
                  <a:srgbClr val="5C6B66"/>
                </a:solidFill>
                <a:latin typeface="Calibri" pitchFamily="34" charset="0"/>
                <a:ea typeface="Calibri" pitchFamily="34" charset="-122"/>
                <a:cs typeface="Calibri" pitchFamily="34" charset="-120"/>
              </a:rPr>
              <a:t>Policies shown are public Medicare policies. The AI drafts. It never publishes. Every code is stored with its source.</a:t>
            </a:r>
            <a:endParaRPr lang="en-US" sz="900" dirty="0"/>
          </a:p>
        </p:txBody>
      </p:sp>
      <p:sp>
        <p:nvSpPr>
          <p:cNvPr id="6" name="Lane0"/>
          <p:cNvSpPr/>
          <p:nvPr/>
        </p:nvSpPr>
        <p:spPr>
          <a:xfrm>
            <a:off x="457200" y="1371600"/>
            <a:ext cx="11274552" cy="1965960"/>
          </a:xfrm>
          <a:prstGeom prst="roundRect">
            <a:avLst>
              <a:gd name="adj" fmla="val 4651"/>
            </a:avLst>
          </a:prstGeom>
          <a:solidFill>
            <a:srgbClr val="F5F3EE"/>
          </a:solidFill>
          <a:ln w="12700">
            <a:solidFill>
              <a:srgbClr val="CBD5D1"/>
            </a:solidFill>
          </a:ln>
        </p:spPr>
        <p:txBody>
          <a:bodyPr wrap="square" lIns="109728" tIns="54864" rIns="109728" bIns="54864" rtlCol="0" anchor="ctr"/>
          <a:lstStyle/>
          <a:p>
            <a:pPr algn="l" indent="0" marL="0">
              <a:buNone/>
            </a:pPr>
            <a:r>
              <a:rPr lang="en-US" sz="800" dirty="0">
                <a:solidFill>
                  <a:srgbClr val="000000"/>
                </a:solidFill>
              </a:rPr>
              <a:t> </a:t>
            </a:r>
            <a:endParaRPr lang="en-US" sz="800" dirty="0"/>
          </a:p>
        </p:txBody>
      </p:sp>
      <p:pic>
        <p:nvPicPr>
          <p:cNvPr id="7" name="Av_owner" descr="preencoded.png">    </p:cNvPr>
          <p:cNvPicPr>
            <a:picLocks noChangeAspect="1"/>
          </p:cNvPicPr>
          <p:nvPr/>
        </p:nvPicPr>
        <p:blipFill>
          <a:blip r:embed="rId1"/>
          <a:stretch>
            <a:fillRect/>
          </a:stretch>
        </p:blipFill>
        <p:spPr>
          <a:xfrm>
            <a:off x="566928" y="1463040"/>
            <a:ext cx="411480" cy="411480"/>
          </a:xfrm>
          <a:prstGeom prst="rect">
            <a:avLst/>
          </a:prstGeom>
        </p:spPr>
      </p:pic>
      <p:sp>
        <p:nvSpPr>
          <p:cNvPr id="8" name="LaneLb0"/>
          <p:cNvSpPr txBox="1"/>
          <p:nvPr/>
        </p:nvSpPr>
        <p:spPr>
          <a:xfrm>
            <a:off x="1069848" y="1481328"/>
            <a:ext cx="4572000" cy="457200"/>
          </a:xfrm>
          <a:prstGeom prst="rect">
            <a:avLst/>
          </a:prstGeom>
          <a:noFill/>
          <a:ln/>
        </p:spPr>
        <p:txBody>
          <a:bodyPr wrap="square" lIns="0" tIns="0" rIns="0" bIns="0" rtlCol="0" anchor="t"/>
          <a:lstStyle/>
          <a:p>
            <a:pPr algn="l" indent="0" marL="0">
              <a:buNone/>
            </a:pPr>
            <a:r>
              <a:rPr lang="en-US" sz="1100" b="1" spc="200" kern="0" dirty="0">
                <a:solidFill>
                  <a:srgbClr val="16211E"/>
                </a:solidFill>
                <a:latin typeface="Calibri" pitchFamily="34" charset="0"/>
                <a:ea typeface="Calibri" pitchFamily="34" charset="-122"/>
                <a:cs typeface="Calibri" pitchFamily="34" charset="-120"/>
              </a:rPr>
              <a:t>POLICY OWNER</a:t>
            </a:r>
            <a:endParaRPr lang="en-US" sz="1100" dirty="0"/>
          </a:p>
          <a:p>
            <a:pPr algn="l" indent="0" marL="0">
              <a:buNone/>
            </a:pPr>
            <a:r>
              <a:rPr lang="en-US" sz="1000" dirty="0">
                <a:solidFill>
                  <a:srgbClr val="5C6B66"/>
                </a:solidFill>
                <a:latin typeface="Calibri" pitchFamily="34" charset="0"/>
                <a:ea typeface="Calibri" pitchFamily="34" charset="-122"/>
                <a:cs typeface="Calibri" pitchFamily="34" charset="-120"/>
              </a:rPr>
              <a:t>A person</a:t>
            </a:r>
            <a:endParaRPr lang="en-US" sz="1100" dirty="0"/>
          </a:p>
        </p:txBody>
      </p:sp>
      <p:sp>
        <p:nvSpPr>
          <p:cNvPr id="9" name="Lane1"/>
          <p:cNvSpPr/>
          <p:nvPr/>
        </p:nvSpPr>
        <p:spPr>
          <a:xfrm>
            <a:off x="457200" y="3429000"/>
            <a:ext cx="11274552" cy="1965960"/>
          </a:xfrm>
          <a:prstGeom prst="roundRect">
            <a:avLst>
              <a:gd name="adj" fmla="val 4651"/>
            </a:avLst>
          </a:prstGeom>
          <a:solidFill>
            <a:srgbClr val="EEF5F2"/>
          </a:solidFill>
          <a:ln w="12700">
            <a:solidFill>
              <a:srgbClr val="CBD5D1"/>
            </a:solidFill>
          </a:ln>
        </p:spPr>
        <p:txBody>
          <a:bodyPr wrap="square" lIns="109728" tIns="54864" rIns="109728" bIns="54864" rtlCol="0" anchor="ctr"/>
          <a:lstStyle/>
          <a:p>
            <a:pPr algn="l" indent="0" marL="0">
              <a:buNone/>
            </a:pPr>
            <a:r>
              <a:rPr lang="en-US" sz="800" dirty="0">
                <a:solidFill>
                  <a:srgbClr val="000000"/>
                </a:solidFill>
              </a:rPr>
              <a:t> </a:t>
            </a:r>
            <a:endParaRPr lang="en-US" sz="800" dirty="0"/>
          </a:p>
        </p:txBody>
      </p:sp>
      <p:pic>
        <p:nvPicPr>
          <p:cNvPr id="10" name="Av_ai" descr="preencoded.png">    </p:cNvPr>
          <p:cNvPicPr>
            <a:picLocks noChangeAspect="1"/>
          </p:cNvPicPr>
          <p:nvPr/>
        </p:nvPicPr>
        <p:blipFill>
          <a:blip r:embed="rId2"/>
          <a:stretch>
            <a:fillRect/>
          </a:stretch>
        </p:blipFill>
        <p:spPr>
          <a:xfrm>
            <a:off x="566928" y="3520440"/>
            <a:ext cx="411480" cy="411480"/>
          </a:xfrm>
          <a:prstGeom prst="rect">
            <a:avLst/>
          </a:prstGeom>
        </p:spPr>
      </p:pic>
      <p:sp>
        <p:nvSpPr>
          <p:cNvPr id="11" name="LaneLb1"/>
          <p:cNvSpPr txBox="1"/>
          <p:nvPr/>
        </p:nvSpPr>
        <p:spPr>
          <a:xfrm>
            <a:off x="1069848" y="3538728"/>
            <a:ext cx="4572000" cy="457200"/>
          </a:xfrm>
          <a:prstGeom prst="rect">
            <a:avLst/>
          </a:prstGeom>
          <a:noFill/>
          <a:ln/>
        </p:spPr>
        <p:txBody>
          <a:bodyPr wrap="square" lIns="0" tIns="0" rIns="0" bIns="0" rtlCol="0" anchor="t"/>
          <a:lstStyle/>
          <a:p>
            <a:pPr algn="l" indent="0" marL="0">
              <a:buNone/>
            </a:pPr>
            <a:r>
              <a:rPr lang="en-US" sz="1100" b="1" spc="200" kern="0" dirty="0">
                <a:solidFill>
                  <a:srgbClr val="16211E"/>
                </a:solidFill>
                <a:latin typeface="Calibri" pitchFamily="34" charset="0"/>
                <a:ea typeface="Calibri" pitchFamily="34" charset="-122"/>
                <a:cs typeface="Calibri" pitchFamily="34" charset="-120"/>
              </a:rPr>
              <a:t>PA DESK</a:t>
            </a:r>
            <a:endParaRPr lang="en-US" sz="1100" dirty="0"/>
          </a:p>
          <a:p>
            <a:pPr algn="l" indent="0" marL="0">
              <a:buNone/>
            </a:pPr>
            <a:r>
              <a:rPr lang="en-US" sz="1000" dirty="0">
                <a:solidFill>
                  <a:srgbClr val="5C6B66"/>
                </a:solidFill>
                <a:latin typeface="Calibri" pitchFamily="34" charset="0"/>
                <a:ea typeface="Calibri" pitchFamily="34" charset="-122"/>
                <a:cs typeface="Calibri" pitchFamily="34" charset="-120"/>
              </a:rPr>
              <a:t>ETL + AI, and plain code</a:t>
            </a:r>
            <a:endParaRPr lang="en-US" sz="1100" dirty="0"/>
          </a:p>
        </p:txBody>
      </p:sp>
      <p:sp>
        <p:nvSpPr>
          <p:cNvPr id="12" name="S0"/>
          <p:cNvSpPr/>
          <p:nvPr/>
        </p:nvSpPr>
        <p:spPr>
          <a:xfrm>
            <a:off x="603504" y="2011680"/>
            <a:ext cx="1356055" cy="1234440"/>
          </a:xfrm>
          <a:prstGeom prst="roundRect">
            <a:avLst>
              <a:gd name="adj" fmla="val 7407"/>
            </a:avLst>
          </a:prstGeom>
          <a:solidFill>
            <a:srgbClr val="FCEFD0"/>
          </a:solidFill>
          <a:ln w="15875">
            <a:solidFill>
              <a:srgbClr val="8A5A00"/>
            </a:solidFill>
          </a:ln>
        </p:spPr>
        <p:txBody>
          <a:bodyPr wrap="square" lIns="91440" tIns="201168" rIns="91440" bIns="45720" rtlCol="0" anchor="t"/>
          <a:lstStyle/>
          <a:p>
            <a:pPr algn="l" indent="0" marL="0">
              <a:buNone/>
            </a:pPr>
            <a:r>
              <a:rPr lang="en-US" sz="850" b="1" spc="150" kern="0" dirty="0">
                <a:solidFill>
                  <a:srgbClr val="8A5A00"/>
                </a:solidFill>
                <a:latin typeface="Calibri" pitchFamily="34" charset="0"/>
                <a:ea typeface="Calibri" pitchFamily="34" charset="-122"/>
                <a:cs typeface="Calibri" pitchFamily="34" charset="-120"/>
              </a:rPr>
              <a:t>PERSON</a:t>
            </a:r>
            <a:endParaRPr lang="en-US" sz="850" dirty="0"/>
          </a:p>
          <a:p>
            <a:pPr algn="l" indent="0" marL="0">
              <a:buNone/>
            </a:pPr>
            <a:r>
              <a:rPr lang="en-US" sz="1250" b="1" dirty="0">
                <a:solidFill>
                  <a:srgbClr val="16211E"/>
                </a:solidFill>
                <a:latin typeface="Calibri" pitchFamily="34" charset="0"/>
                <a:ea typeface="Calibri" pitchFamily="34" charset="-122"/>
                <a:cs typeface="Calibri" pitchFamily="34" charset="-120"/>
              </a:rPr>
              <a:t>Picks the policy</a:t>
            </a:r>
            <a:endParaRPr lang="en-US" sz="850" dirty="0"/>
          </a:p>
          <a:p>
            <a:pPr algn="l" indent="0" marL="0">
              <a:buNone/>
            </a:pPr>
            <a:r>
              <a:rPr lang="en-US" sz="1000" dirty="0">
                <a:solidFill>
                  <a:srgbClr val="5C6B66"/>
                </a:solidFill>
                <a:latin typeface="Calibri" pitchFamily="34" charset="0"/>
                <a:ea typeface="Calibri" pitchFamily="34" charset="-122"/>
                <a:cs typeface="Calibri" pitchFamily="34" charset="-120"/>
              </a:rPr>
              <a:t>A CMS policy, or the plan's own PDF</a:t>
            </a:r>
            <a:endParaRPr lang="en-US" sz="850" dirty="0"/>
          </a:p>
        </p:txBody>
      </p:sp>
      <p:sp>
        <p:nvSpPr>
          <p:cNvPr id="13" name="B0"/>
          <p:cNvSpPr/>
          <p:nvPr/>
        </p:nvSpPr>
        <p:spPr>
          <a:xfrm>
            <a:off x="612648" y="1865376"/>
            <a:ext cx="292608" cy="292608"/>
          </a:xfrm>
          <a:prstGeom prst="roundRect">
            <a:avLst>
              <a:gd name="adj" fmla="val 50000"/>
            </a:avLst>
          </a:prstGeom>
          <a:solidFill>
            <a:srgbClr val="1F6F5C"/>
          </a:solidFill>
          <a:ln w="12700">
            <a:solidFill>
              <a:srgbClr val="1F6F5C"/>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4" name="c1"/>
          <p:cNvSpPr txBox="1"/>
          <p:nvPr/>
        </p:nvSpPr>
        <p:spPr>
          <a:xfrm>
            <a:off x="457200" y="5943600"/>
            <a:ext cx="11274552" cy="594360"/>
          </a:xfrm>
          <a:prstGeom prst="rect">
            <a:avLst/>
          </a:prstGeom>
          <a:noFill/>
          <a:ln/>
        </p:spPr>
        <p:txBody>
          <a:bodyPr wrap="square" lIns="0" tIns="0" rIns="0" bIns="0" rtlCol="0" anchor="ctr"/>
          <a:lstStyle/>
          <a:p>
            <a:pPr algn="l" indent="0" marL="0">
              <a:buNone/>
            </a:pPr>
            <a:r>
              <a:rPr lang="en-US" sz="1600" dirty="0">
                <a:solidFill>
                  <a:srgbClr val="16211E"/>
                </a:solidFill>
                <a:latin typeface="Calibri" pitchFamily="34" charset="0"/>
                <a:ea typeface="Calibri" pitchFamily="34" charset="-122"/>
                <a:cs typeface="Calibri" pitchFamily="34" charset="-120"/>
              </a:rPr>
              <a:t>The owner starts by choosing a policy for a procedure we want to cover.</a:t>
            </a:r>
            <a:endParaRPr lang="en-US" sz="1600" dirty="0"/>
          </a:p>
        </p:txBody>
      </p:sp>
      <p:sp>
        <p:nvSpPr>
          <p:cNvPr id="15" name="S1"/>
          <p:cNvSpPr/>
          <p:nvPr/>
        </p:nvSpPr>
        <p:spPr>
          <a:xfrm>
            <a:off x="2206447" y="2011680"/>
            <a:ext cx="1356055" cy="1234440"/>
          </a:xfrm>
          <a:prstGeom prst="roundRect">
            <a:avLst>
              <a:gd name="adj" fmla="val 7407"/>
            </a:avLst>
          </a:prstGeom>
          <a:solidFill>
            <a:srgbClr val="FCEFD0"/>
          </a:solidFill>
          <a:ln w="15875">
            <a:solidFill>
              <a:srgbClr val="8A5A00"/>
            </a:solidFill>
          </a:ln>
        </p:spPr>
        <p:txBody>
          <a:bodyPr wrap="square" lIns="91440" tIns="201168" rIns="91440" bIns="45720" rtlCol="0" anchor="t"/>
          <a:lstStyle/>
          <a:p>
            <a:pPr algn="l" indent="0" marL="0">
              <a:buNone/>
            </a:pPr>
            <a:r>
              <a:rPr lang="en-US" sz="850" b="1" spc="150" kern="0" dirty="0">
                <a:solidFill>
                  <a:srgbClr val="8A5A00"/>
                </a:solidFill>
                <a:latin typeface="Calibri" pitchFamily="34" charset="0"/>
                <a:ea typeface="Calibri" pitchFamily="34" charset="-122"/>
                <a:cs typeface="Calibri" pitchFamily="34" charset="-120"/>
              </a:rPr>
              <a:t>PERSON</a:t>
            </a:r>
            <a:endParaRPr lang="en-US" sz="850" dirty="0"/>
          </a:p>
          <a:p>
            <a:pPr algn="l" indent="0" marL="0">
              <a:buNone/>
            </a:pPr>
            <a:r>
              <a:rPr lang="en-US" sz="1250" b="1" dirty="0">
                <a:solidFill>
                  <a:srgbClr val="16211E"/>
                </a:solidFill>
                <a:latin typeface="Calibri" pitchFamily="34" charset="0"/>
                <a:ea typeface="Calibri" pitchFamily="34" charset="-122"/>
                <a:cs typeface="Calibri" pitchFamily="34" charset="-120"/>
              </a:rPr>
              <a:t>Adds the billing codes</a:t>
            </a:r>
            <a:endParaRPr lang="en-US" sz="850" dirty="0"/>
          </a:p>
          <a:p>
            <a:pPr algn="l" indent="0" marL="0">
              <a:buNone/>
            </a:pPr>
            <a:r>
              <a:rPr lang="en-US" sz="1000" dirty="0">
                <a:solidFill>
                  <a:srgbClr val="5C6B66"/>
                </a:solidFill>
                <a:latin typeface="Calibri" pitchFamily="34" charset="0"/>
                <a:ea typeface="Calibri" pitchFamily="34" charset="-122"/>
                <a:cs typeface="Calibri" pitchFamily="34" charset="-120"/>
              </a:rPr>
              <a:t>Each code, with its source</a:t>
            </a:r>
            <a:endParaRPr lang="en-US" sz="850" dirty="0"/>
          </a:p>
        </p:txBody>
      </p:sp>
      <p:sp>
        <p:nvSpPr>
          <p:cNvPr id="16" name="B1"/>
          <p:cNvSpPr/>
          <p:nvPr/>
        </p:nvSpPr>
        <p:spPr>
          <a:xfrm>
            <a:off x="2215591" y="1865376"/>
            <a:ext cx="292608" cy="292608"/>
          </a:xfrm>
          <a:prstGeom prst="roundRect">
            <a:avLst>
              <a:gd name="adj" fmla="val 50000"/>
            </a:avLst>
          </a:prstGeom>
          <a:solidFill>
            <a:srgbClr val="1F6F5C"/>
          </a:solidFill>
          <a:ln w="12700">
            <a:solidFill>
              <a:srgbClr val="1F6F5C"/>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7" name="A1a"/>
          <p:cNvSpPr/>
          <p:nvPr/>
        </p:nvSpPr>
        <p:spPr>
          <a:xfrm>
            <a:off x="1977847" y="2628900"/>
            <a:ext cx="210312" cy="0"/>
          </a:xfrm>
          <a:prstGeom prst="line">
            <a:avLst/>
          </a:prstGeom>
          <a:noFill/>
          <a:ln w="22225">
            <a:solidFill>
              <a:srgbClr val="5C6B66"/>
            </a:solidFill>
            <a:prstDash val="solid"/>
            <a:tailEnd type="triangle"/>
          </a:ln>
        </p:spPr>
      </p:sp>
      <p:sp>
        <p:nvSpPr>
          <p:cNvPr id="18" name="c2"/>
          <p:cNvSpPr txBox="1"/>
          <p:nvPr/>
        </p:nvSpPr>
        <p:spPr>
          <a:xfrm>
            <a:off x="457200" y="5943600"/>
            <a:ext cx="11274552" cy="594360"/>
          </a:xfrm>
          <a:prstGeom prst="rect">
            <a:avLst/>
          </a:prstGeom>
          <a:noFill/>
          <a:ln/>
        </p:spPr>
        <p:txBody>
          <a:bodyPr wrap="square" lIns="0" tIns="0" rIns="0" bIns="0" rtlCol="0" anchor="ctr"/>
          <a:lstStyle/>
          <a:p>
            <a:pPr algn="l" indent="0" marL="0">
              <a:buNone/>
            </a:pPr>
            <a:r>
              <a:rPr lang="en-US" sz="1600" dirty="0">
                <a:solidFill>
                  <a:srgbClr val="16211E"/>
                </a:solidFill>
                <a:latin typeface="Calibri" pitchFamily="34" charset="0"/>
                <a:ea typeface="Calibri" pitchFamily="34" charset="-122"/>
                <a:cs typeface="Calibri" pitchFamily="34" charset="-120"/>
              </a:rPr>
              <a:t>Along with the billing codes that tell us when this policy applies. Each code keeps its source.</a:t>
            </a:r>
            <a:endParaRPr lang="en-US" sz="1600" dirty="0"/>
          </a:p>
        </p:txBody>
      </p:sp>
      <p:sp>
        <p:nvSpPr>
          <p:cNvPr id="19" name="S2"/>
          <p:cNvSpPr/>
          <p:nvPr/>
        </p:nvSpPr>
        <p:spPr>
          <a:xfrm>
            <a:off x="3809390" y="4069080"/>
            <a:ext cx="1356055" cy="1234440"/>
          </a:xfrm>
          <a:prstGeom prst="roundRect">
            <a:avLst>
              <a:gd name="adj" fmla="val 7407"/>
            </a:avLst>
          </a:prstGeom>
          <a:solidFill>
            <a:srgbClr val="FBE9E4"/>
          </a:solidFill>
          <a:ln w="15875">
            <a:solidFill>
              <a:srgbClr val="B8452F"/>
            </a:solidFill>
          </a:ln>
        </p:spPr>
        <p:txBody>
          <a:bodyPr wrap="square" lIns="91440" tIns="201168" rIns="91440" bIns="45720" rtlCol="0" anchor="t"/>
          <a:lstStyle/>
          <a:p>
            <a:pPr algn="l" indent="0" marL="0">
              <a:buNone/>
            </a:pPr>
            <a:r>
              <a:rPr lang="en-US" sz="850" b="1" spc="150" kern="0" dirty="0">
                <a:solidFill>
                  <a:srgbClr val="B8452F"/>
                </a:solidFill>
                <a:latin typeface="Calibri" pitchFamily="34" charset="0"/>
                <a:ea typeface="Calibri" pitchFamily="34" charset="-122"/>
                <a:cs typeface="Calibri" pitchFamily="34" charset="-120"/>
              </a:rPr>
              <a:t>ETL + AI</a:t>
            </a:r>
            <a:endParaRPr lang="en-US" sz="850" dirty="0"/>
          </a:p>
          <a:p>
            <a:pPr algn="l" indent="0" marL="0">
              <a:buNone/>
            </a:pPr>
            <a:r>
              <a:rPr lang="en-US" sz="1250" b="1" dirty="0">
                <a:solidFill>
                  <a:srgbClr val="16211E"/>
                </a:solidFill>
                <a:latin typeface="Calibri" pitchFamily="34" charset="0"/>
                <a:ea typeface="Calibri" pitchFamily="34" charset="-122"/>
                <a:cs typeface="Calibri" pitchFamily="34" charset="-120"/>
              </a:rPr>
              <a:t>Reads the policy</a:t>
            </a:r>
            <a:endParaRPr lang="en-US" sz="850" dirty="0"/>
          </a:p>
          <a:p>
            <a:pPr algn="l" indent="0" marL="0">
              <a:buNone/>
            </a:pPr>
            <a:r>
              <a:rPr lang="en-US" sz="1000" dirty="0">
                <a:solidFill>
                  <a:srgbClr val="5C6B66"/>
                </a:solidFill>
                <a:latin typeface="Calibri" pitchFamily="34" charset="0"/>
                <a:ea typeface="Calibri" pitchFamily="34" charset="-122"/>
                <a:cs typeface="Calibri" pitchFamily="34" charset="-120"/>
              </a:rPr>
              <a:t>Titles, paragraphs, tables and pages</a:t>
            </a:r>
            <a:endParaRPr lang="en-US" sz="850" dirty="0"/>
          </a:p>
        </p:txBody>
      </p:sp>
      <p:sp>
        <p:nvSpPr>
          <p:cNvPr id="20" name="B2"/>
          <p:cNvSpPr/>
          <p:nvPr/>
        </p:nvSpPr>
        <p:spPr>
          <a:xfrm>
            <a:off x="3818534" y="3922776"/>
            <a:ext cx="292608" cy="292608"/>
          </a:xfrm>
          <a:prstGeom prst="roundRect">
            <a:avLst>
              <a:gd name="adj" fmla="val 50000"/>
            </a:avLst>
          </a:prstGeom>
          <a:solidFill>
            <a:srgbClr val="1F6F5C"/>
          </a:solidFill>
          <a:ln w="12700">
            <a:solidFill>
              <a:srgbClr val="1F6F5C"/>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1" name="A2a"/>
          <p:cNvSpPr/>
          <p:nvPr/>
        </p:nvSpPr>
        <p:spPr>
          <a:xfrm>
            <a:off x="3580790" y="2628900"/>
            <a:ext cx="105156" cy="0"/>
          </a:xfrm>
          <a:prstGeom prst="line">
            <a:avLst/>
          </a:prstGeom>
          <a:noFill/>
          <a:ln w="22225">
            <a:solidFill>
              <a:srgbClr val="5C6B66"/>
            </a:solidFill>
            <a:prstDash val="solid"/>
          </a:ln>
        </p:spPr>
      </p:sp>
      <p:sp>
        <p:nvSpPr>
          <p:cNvPr id="22" name="A2b"/>
          <p:cNvSpPr/>
          <p:nvPr/>
        </p:nvSpPr>
        <p:spPr>
          <a:xfrm>
            <a:off x="3685946" y="2628900"/>
            <a:ext cx="0" cy="2057400"/>
          </a:xfrm>
          <a:prstGeom prst="line">
            <a:avLst/>
          </a:prstGeom>
          <a:noFill/>
          <a:ln w="22225">
            <a:solidFill>
              <a:srgbClr val="5C6B66"/>
            </a:solidFill>
            <a:prstDash val="solid"/>
          </a:ln>
        </p:spPr>
      </p:sp>
      <p:sp>
        <p:nvSpPr>
          <p:cNvPr id="23" name="A2c"/>
          <p:cNvSpPr/>
          <p:nvPr/>
        </p:nvSpPr>
        <p:spPr>
          <a:xfrm>
            <a:off x="3685946" y="4686300"/>
            <a:ext cx="105156" cy="0"/>
          </a:xfrm>
          <a:prstGeom prst="line">
            <a:avLst/>
          </a:prstGeom>
          <a:noFill/>
          <a:ln w="22225">
            <a:solidFill>
              <a:srgbClr val="5C6B66"/>
            </a:solidFill>
            <a:prstDash val="solid"/>
            <a:tailEnd type="triangle"/>
          </a:ln>
        </p:spPr>
      </p:sp>
      <p:sp>
        <p:nvSpPr>
          <p:cNvPr id="24" name="c3"/>
          <p:cNvSpPr txBox="1"/>
          <p:nvPr/>
        </p:nvSpPr>
        <p:spPr>
          <a:xfrm>
            <a:off x="457200" y="5943600"/>
            <a:ext cx="11274552" cy="594360"/>
          </a:xfrm>
          <a:prstGeom prst="rect">
            <a:avLst/>
          </a:prstGeom>
          <a:noFill/>
          <a:ln/>
        </p:spPr>
        <p:txBody>
          <a:bodyPr wrap="square" lIns="0" tIns="0" rIns="0" bIns="0" rtlCol="0" anchor="ctr"/>
          <a:lstStyle/>
          <a:p>
            <a:pPr algn="l" indent="0" marL="0">
              <a:buNone/>
            </a:pPr>
            <a:r>
              <a:rPr lang="en-US" sz="1600" dirty="0">
                <a:solidFill>
                  <a:srgbClr val="16211E"/>
                </a:solidFill>
                <a:latin typeface="Calibri" pitchFamily="34" charset="0"/>
                <a:ea typeface="Calibri" pitchFamily="34" charset="-122"/>
                <a:cs typeface="Calibri" pitchFamily="34" charset="-120"/>
              </a:rPr>
              <a:t>The ETL step with AI inside reads the policy and keeps its structure.</a:t>
            </a:r>
            <a:endParaRPr lang="en-US" sz="1600" dirty="0"/>
          </a:p>
        </p:txBody>
      </p:sp>
      <p:sp>
        <p:nvSpPr>
          <p:cNvPr id="25" name="S3"/>
          <p:cNvSpPr/>
          <p:nvPr/>
        </p:nvSpPr>
        <p:spPr>
          <a:xfrm>
            <a:off x="5412334" y="4069080"/>
            <a:ext cx="1356055" cy="1234440"/>
          </a:xfrm>
          <a:prstGeom prst="roundRect">
            <a:avLst>
              <a:gd name="adj" fmla="val 7407"/>
            </a:avLst>
          </a:prstGeom>
          <a:solidFill>
            <a:srgbClr val="EBE2F8"/>
          </a:solidFill>
          <a:ln w="15875">
            <a:solidFill>
              <a:srgbClr val="5F3AA8"/>
            </a:solidFill>
          </a:ln>
        </p:spPr>
        <p:txBody>
          <a:bodyPr wrap="square" lIns="91440" tIns="201168" rIns="91440" bIns="45720" rtlCol="0" anchor="t"/>
          <a:lstStyle/>
          <a:p>
            <a:pPr algn="l" indent="0" marL="0">
              <a:buNone/>
            </a:pPr>
            <a:r>
              <a:rPr lang="en-US" sz="850" b="1" spc="150" kern="0" dirty="0">
                <a:solidFill>
                  <a:srgbClr val="5F3AA8"/>
                </a:solidFill>
                <a:latin typeface="Calibri" pitchFamily="34" charset="0"/>
                <a:ea typeface="Calibri" pitchFamily="34" charset="-122"/>
                <a:cs typeface="Calibri" pitchFamily="34" charset="-120"/>
              </a:rPr>
              <a:t>AI</a:t>
            </a:r>
            <a:endParaRPr lang="en-US" sz="850" dirty="0"/>
          </a:p>
          <a:p>
            <a:pPr algn="l" indent="0" marL="0">
              <a:buNone/>
            </a:pPr>
            <a:r>
              <a:rPr lang="en-US" sz="1250" b="1" dirty="0">
                <a:solidFill>
                  <a:srgbClr val="16211E"/>
                </a:solidFill>
                <a:latin typeface="Calibri" pitchFamily="34" charset="0"/>
                <a:ea typeface="Calibri" pitchFamily="34" charset="-122"/>
                <a:cs typeface="Calibri" pitchFamily="34" charset="-120"/>
              </a:rPr>
              <a:t>Drafts the key facts</a:t>
            </a:r>
            <a:endParaRPr lang="en-US" sz="850" dirty="0"/>
          </a:p>
          <a:p>
            <a:pPr algn="l" indent="0" marL="0">
              <a:buNone/>
            </a:pPr>
            <a:r>
              <a:rPr lang="en-US" sz="1000" dirty="0">
                <a:solidFill>
                  <a:srgbClr val="5C6B66"/>
                </a:solidFill>
                <a:latin typeface="Calibri" pitchFamily="34" charset="0"/>
                <a:ea typeface="Calibri" pitchFamily="34" charset="-122"/>
                <a:cs typeface="Calibri" pitchFamily="34" charset="-120"/>
              </a:rPr>
              <a:t>A rule for each, with its source sentence</a:t>
            </a:r>
            <a:endParaRPr lang="en-US" sz="850" dirty="0"/>
          </a:p>
        </p:txBody>
      </p:sp>
      <p:sp>
        <p:nvSpPr>
          <p:cNvPr id="26" name="B3"/>
          <p:cNvSpPr/>
          <p:nvPr/>
        </p:nvSpPr>
        <p:spPr>
          <a:xfrm>
            <a:off x="5421478" y="3922776"/>
            <a:ext cx="292608" cy="292608"/>
          </a:xfrm>
          <a:prstGeom prst="roundRect">
            <a:avLst>
              <a:gd name="adj" fmla="val 50000"/>
            </a:avLst>
          </a:prstGeom>
          <a:solidFill>
            <a:srgbClr val="1F6F5C"/>
          </a:solidFill>
          <a:ln w="12700">
            <a:solidFill>
              <a:srgbClr val="1F6F5C"/>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7" name="A3a"/>
          <p:cNvSpPr/>
          <p:nvPr/>
        </p:nvSpPr>
        <p:spPr>
          <a:xfrm>
            <a:off x="5183734" y="4686300"/>
            <a:ext cx="210312" cy="0"/>
          </a:xfrm>
          <a:prstGeom prst="line">
            <a:avLst/>
          </a:prstGeom>
          <a:noFill/>
          <a:ln w="22225">
            <a:solidFill>
              <a:srgbClr val="5C6B66"/>
            </a:solidFill>
            <a:prstDash val="solid"/>
            <a:tailEnd type="triangle"/>
          </a:ln>
        </p:spPr>
      </p:sp>
      <p:sp>
        <p:nvSpPr>
          <p:cNvPr id="28" name="c4"/>
          <p:cNvSpPr txBox="1"/>
          <p:nvPr/>
        </p:nvSpPr>
        <p:spPr>
          <a:xfrm>
            <a:off x="457200" y="5943600"/>
            <a:ext cx="11274552" cy="594360"/>
          </a:xfrm>
          <a:prstGeom prst="rect">
            <a:avLst/>
          </a:prstGeom>
          <a:noFill/>
          <a:ln/>
        </p:spPr>
        <p:txBody>
          <a:bodyPr wrap="square" lIns="0" tIns="0" rIns="0" bIns="0" rtlCol="0" anchor="ctr"/>
          <a:lstStyle/>
          <a:p>
            <a:pPr algn="l" indent="0" marL="0">
              <a:buNone/>
            </a:pPr>
            <a:r>
              <a:rPr lang="en-US" sz="1600" dirty="0">
                <a:solidFill>
                  <a:srgbClr val="16211E"/>
                </a:solidFill>
                <a:latin typeface="Calibri" pitchFamily="34" charset="0"/>
                <a:ea typeface="Calibri" pitchFamily="34" charset="-122"/>
                <a:cs typeface="Calibri" pitchFamily="34" charset="-120"/>
              </a:rPr>
              <a:t>The AI turns each requirement into a rule, and names the fact a nurse must check.</a:t>
            </a:r>
            <a:endParaRPr lang="en-US" sz="1600" dirty="0"/>
          </a:p>
        </p:txBody>
      </p:sp>
      <p:sp>
        <p:nvSpPr>
          <p:cNvPr id="29" name="S4"/>
          <p:cNvSpPr/>
          <p:nvPr/>
        </p:nvSpPr>
        <p:spPr>
          <a:xfrm>
            <a:off x="7014362" y="4069080"/>
            <a:ext cx="1356055" cy="1234440"/>
          </a:xfrm>
          <a:prstGeom prst="roundRect">
            <a:avLst>
              <a:gd name="adj" fmla="val 7407"/>
            </a:avLst>
          </a:prstGeom>
          <a:solidFill>
            <a:srgbClr val="E3F0EB"/>
          </a:solidFill>
          <a:ln w="15875">
            <a:solidFill>
              <a:srgbClr val="1F6F5C"/>
            </a:solidFill>
          </a:ln>
        </p:spPr>
        <p:txBody>
          <a:bodyPr wrap="square" lIns="91440" tIns="201168" rIns="91440" bIns="45720" rtlCol="0" anchor="t"/>
          <a:lstStyle/>
          <a:p>
            <a:pPr algn="l" indent="0" marL="0">
              <a:buNone/>
            </a:pPr>
            <a:r>
              <a:rPr lang="en-US" sz="850" b="1" spc="150" kern="0" dirty="0">
                <a:solidFill>
                  <a:srgbClr val="1F6F5C"/>
                </a:solidFill>
                <a:latin typeface="Calibri" pitchFamily="34" charset="0"/>
                <a:ea typeface="Calibri" pitchFamily="34" charset="-122"/>
                <a:cs typeface="Calibri" pitchFamily="34" charset="-120"/>
              </a:rPr>
              <a:t>CODE</a:t>
            </a:r>
            <a:endParaRPr lang="en-US" sz="850" dirty="0"/>
          </a:p>
          <a:p>
            <a:pPr algn="l" indent="0" marL="0">
              <a:buNone/>
            </a:pPr>
            <a:r>
              <a:rPr lang="en-US" sz="1250" b="1" dirty="0">
                <a:solidFill>
                  <a:srgbClr val="16211E"/>
                </a:solidFill>
                <a:latin typeface="Calibri" pitchFamily="34" charset="0"/>
                <a:ea typeface="Calibri" pitchFamily="34" charset="-122"/>
                <a:cs typeface="Calibri" pitchFamily="34" charset="-120"/>
              </a:rPr>
              <a:t>Checks the draft</a:t>
            </a:r>
            <a:endParaRPr lang="en-US" sz="850" dirty="0"/>
          </a:p>
          <a:p>
            <a:pPr algn="l" indent="0" marL="0">
              <a:buNone/>
            </a:pPr>
            <a:r>
              <a:rPr lang="en-US" sz="1000" dirty="0">
                <a:solidFill>
                  <a:srgbClr val="5C6B66"/>
                </a:solidFill>
                <a:latin typeface="Calibri" pitchFamily="34" charset="0"/>
                <a:ea typeface="Calibri" pitchFamily="34" charset="-122"/>
                <a:cs typeface="Calibri" pitchFamily="34" charset="-120"/>
              </a:rPr>
              <a:t>Every quote, number and fact</a:t>
            </a:r>
            <a:endParaRPr lang="en-US" sz="850" dirty="0"/>
          </a:p>
        </p:txBody>
      </p:sp>
      <p:sp>
        <p:nvSpPr>
          <p:cNvPr id="30" name="B4"/>
          <p:cNvSpPr/>
          <p:nvPr/>
        </p:nvSpPr>
        <p:spPr>
          <a:xfrm>
            <a:off x="7023506" y="3922776"/>
            <a:ext cx="292608" cy="292608"/>
          </a:xfrm>
          <a:prstGeom prst="roundRect">
            <a:avLst>
              <a:gd name="adj" fmla="val 50000"/>
            </a:avLst>
          </a:prstGeom>
          <a:solidFill>
            <a:srgbClr val="1F6F5C"/>
          </a:solidFill>
          <a:ln w="12700">
            <a:solidFill>
              <a:srgbClr val="1F6F5C"/>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1" name="A4a"/>
          <p:cNvSpPr/>
          <p:nvPr/>
        </p:nvSpPr>
        <p:spPr>
          <a:xfrm>
            <a:off x="6785762" y="4686300"/>
            <a:ext cx="210312" cy="0"/>
          </a:xfrm>
          <a:prstGeom prst="line">
            <a:avLst/>
          </a:prstGeom>
          <a:noFill/>
          <a:ln w="22225">
            <a:solidFill>
              <a:srgbClr val="5C6B66"/>
            </a:solidFill>
            <a:prstDash val="solid"/>
            <a:tailEnd type="triangle"/>
          </a:ln>
        </p:spPr>
      </p:sp>
      <p:sp>
        <p:nvSpPr>
          <p:cNvPr id="32" name="c5"/>
          <p:cNvSpPr txBox="1"/>
          <p:nvPr/>
        </p:nvSpPr>
        <p:spPr>
          <a:xfrm>
            <a:off x="457200" y="5943600"/>
            <a:ext cx="11274552" cy="594360"/>
          </a:xfrm>
          <a:prstGeom prst="rect">
            <a:avLst/>
          </a:prstGeom>
          <a:noFill/>
          <a:ln/>
        </p:spPr>
        <p:txBody>
          <a:bodyPr wrap="square" lIns="0" tIns="0" rIns="0" bIns="0" rtlCol="0" anchor="ctr"/>
          <a:lstStyle/>
          <a:p>
            <a:pPr algn="l" indent="0" marL="0">
              <a:buNone/>
            </a:pPr>
            <a:r>
              <a:rPr lang="en-US" sz="1600" dirty="0">
                <a:solidFill>
                  <a:srgbClr val="16211E"/>
                </a:solidFill>
                <a:latin typeface="Calibri" pitchFamily="34" charset="0"/>
                <a:ea typeface="Calibri" pitchFamily="34" charset="-122"/>
                <a:cs typeface="Calibri" pitchFamily="34" charset="-120"/>
              </a:rPr>
              <a:t>Plain code checks the draft. Anything that fails goes to the owner. It is never dropped.</a:t>
            </a:r>
            <a:endParaRPr lang="en-US" sz="1600" dirty="0"/>
          </a:p>
        </p:txBody>
      </p:sp>
      <p:sp>
        <p:nvSpPr>
          <p:cNvPr id="33" name="S5"/>
          <p:cNvSpPr/>
          <p:nvPr/>
        </p:nvSpPr>
        <p:spPr>
          <a:xfrm>
            <a:off x="8617306" y="2011680"/>
            <a:ext cx="1356055" cy="1234440"/>
          </a:xfrm>
          <a:prstGeom prst="roundRect">
            <a:avLst>
              <a:gd name="adj" fmla="val 7407"/>
            </a:avLst>
          </a:prstGeom>
          <a:solidFill>
            <a:srgbClr val="FCEFD0"/>
          </a:solidFill>
          <a:ln w="15875">
            <a:solidFill>
              <a:srgbClr val="8A5A00"/>
            </a:solidFill>
          </a:ln>
        </p:spPr>
        <p:txBody>
          <a:bodyPr wrap="square" lIns="91440" tIns="201168" rIns="91440" bIns="45720" rtlCol="0" anchor="t"/>
          <a:lstStyle/>
          <a:p>
            <a:pPr algn="l" indent="0" marL="0">
              <a:buNone/>
            </a:pPr>
            <a:r>
              <a:rPr lang="en-US" sz="850" b="1" spc="150" kern="0" dirty="0">
                <a:solidFill>
                  <a:srgbClr val="8A5A00"/>
                </a:solidFill>
                <a:latin typeface="Calibri" pitchFamily="34" charset="0"/>
                <a:ea typeface="Calibri" pitchFamily="34" charset="-122"/>
                <a:cs typeface="Calibri" pitchFamily="34" charset="-120"/>
              </a:rPr>
              <a:t>PERSON</a:t>
            </a:r>
            <a:endParaRPr lang="en-US" sz="850" dirty="0"/>
          </a:p>
          <a:p>
            <a:pPr algn="l" indent="0" marL="0">
              <a:buNone/>
            </a:pPr>
            <a:r>
              <a:rPr lang="en-US" sz="1250" b="1" dirty="0">
                <a:solidFill>
                  <a:srgbClr val="16211E"/>
                </a:solidFill>
                <a:latin typeface="Calibri" pitchFamily="34" charset="0"/>
                <a:ea typeface="Calibri" pitchFamily="34" charset="-122"/>
                <a:cs typeface="Calibri" pitchFamily="34" charset="-120"/>
              </a:rPr>
              <a:t>Reviews every rule</a:t>
            </a:r>
            <a:endParaRPr lang="en-US" sz="850" dirty="0"/>
          </a:p>
          <a:p>
            <a:pPr algn="l" indent="0" marL="0">
              <a:buNone/>
            </a:pPr>
            <a:r>
              <a:rPr lang="en-US" sz="1000" dirty="0">
                <a:solidFill>
                  <a:srgbClr val="5C6B66"/>
                </a:solidFill>
                <a:latin typeface="Calibri" pitchFamily="34" charset="0"/>
                <a:ea typeface="Calibri" pitchFamily="34" charset="-122"/>
                <a:cs typeface="Calibri" pitchFamily="34" charset="-120"/>
              </a:rPr>
              <a:t>Approve, edit or reject</a:t>
            </a:r>
            <a:endParaRPr lang="en-US" sz="850" dirty="0"/>
          </a:p>
        </p:txBody>
      </p:sp>
      <p:sp>
        <p:nvSpPr>
          <p:cNvPr id="34" name="B5"/>
          <p:cNvSpPr/>
          <p:nvPr/>
        </p:nvSpPr>
        <p:spPr>
          <a:xfrm>
            <a:off x="8626450" y="1865376"/>
            <a:ext cx="292608" cy="292608"/>
          </a:xfrm>
          <a:prstGeom prst="roundRect">
            <a:avLst>
              <a:gd name="adj" fmla="val 50000"/>
            </a:avLst>
          </a:prstGeom>
          <a:solidFill>
            <a:srgbClr val="1F6F5C"/>
          </a:solidFill>
          <a:ln w="12700">
            <a:solidFill>
              <a:srgbClr val="1F6F5C"/>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5" name="A5a"/>
          <p:cNvSpPr/>
          <p:nvPr/>
        </p:nvSpPr>
        <p:spPr>
          <a:xfrm>
            <a:off x="8388706" y="4686300"/>
            <a:ext cx="105156" cy="0"/>
          </a:xfrm>
          <a:prstGeom prst="line">
            <a:avLst/>
          </a:prstGeom>
          <a:noFill/>
          <a:ln w="22225">
            <a:solidFill>
              <a:srgbClr val="5C6B66"/>
            </a:solidFill>
            <a:prstDash val="solid"/>
          </a:ln>
        </p:spPr>
      </p:sp>
      <p:sp>
        <p:nvSpPr>
          <p:cNvPr id="36" name="A5b"/>
          <p:cNvSpPr/>
          <p:nvPr/>
        </p:nvSpPr>
        <p:spPr>
          <a:xfrm>
            <a:off x="8493862" y="2628900"/>
            <a:ext cx="0" cy="2057400"/>
          </a:xfrm>
          <a:prstGeom prst="line">
            <a:avLst/>
          </a:prstGeom>
          <a:noFill/>
          <a:ln w="22225">
            <a:solidFill>
              <a:srgbClr val="5C6B66"/>
            </a:solidFill>
            <a:prstDash val="solid"/>
          </a:ln>
        </p:spPr>
      </p:sp>
      <p:sp>
        <p:nvSpPr>
          <p:cNvPr id="37" name="A5c"/>
          <p:cNvSpPr/>
          <p:nvPr/>
        </p:nvSpPr>
        <p:spPr>
          <a:xfrm>
            <a:off x="8493862" y="2628900"/>
            <a:ext cx="105156" cy="0"/>
          </a:xfrm>
          <a:prstGeom prst="line">
            <a:avLst/>
          </a:prstGeom>
          <a:noFill/>
          <a:ln w="22225">
            <a:solidFill>
              <a:srgbClr val="5C6B66"/>
            </a:solidFill>
            <a:prstDash val="solid"/>
            <a:tailEnd type="triangle"/>
          </a:ln>
        </p:spPr>
      </p:sp>
      <p:sp>
        <p:nvSpPr>
          <p:cNvPr id="38" name="c6"/>
          <p:cNvSpPr txBox="1"/>
          <p:nvPr/>
        </p:nvSpPr>
        <p:spPr>
          <a:xfrm>
            <a:off x="457200" y="5943600"/>
            <a:ext cx="11274552" cy="594360"/>
          </a:xfrm>
          <a:prstGeom prst="rect">
            <a:avLst/>
          </a:prstGeom>
          <a:noFill/>
          <a:ln/>
        </p:spPr>
        <p:txBody>
          <a:bodyPr wrap="square" lIns="0" tIns="0" rIns="0" bIns="0" rtlCol="0" anchor="ctr"/>
          <a:lstStyle/>
          <a:p>
            <a:pPr algn="l" indent="0" marL="0">
              <a:buNone/>
            </a:pPr>
            <a:r>
              <a:rPr lang="en-US" sz="1600" dirty="0">
                <a:solidFill>
                  <a:srgbClr val="16211E"/>
                </a:solidFill>
                <a:latin typeface="Calibri" pitchFamily="34" charset="0"/>
                <a:ea typeface="Calibri" pitchFamily="34" charset="-122"/>
                <a:cs typeface="Calibri" pitchFamily="34" charset="-120"/>
              </a:rPr>
              <a:t>The owner reads each rule beside the official text. The AI drafts. A person signs.</a:t>
            </a:r>
            <a:endParaRPr lang="en-US" sz="1600" dirty="0"/>
          </a:p>
        </p:txBody>
      </p:sp>
      <p:sp>
        <p:nvSpPr>
          <p:cNvPr id="39" name="S6"/>
          <p:cNvSpPr/>
          <p:nvPr/>
        </p:nvSpPr>
        <p:spPr>
          <a:xfrm>
            <a:off x="10220249" y="2011680"/>
            <a:ext cx="1356055" cy="1234440"/>
          </a:xfrm>
          <a:prstGeom prst="roundRect">
            <a:avLst>
              <a:gd name="adj" fmla="val 7407"/>
            </a:avLst>
          </a:prstGeom>
          <a:solidFill>
            <a:srgbClr val="FCEFD0"/>
          </a:solidFill>
          <a:ln w="15875">
            <a:solidFill>
              <a:srgbClr val="8A5A00"/>
            </a:solidFill>
          </a:ln>
        </p:spPr>
        <p:txBody>
          <a:bodyPr wrap="square" lIns="91440" tIns="201168" rIns="91440" bIns="45720" rtlCol="0" anchor="t"/>
          <a:lstStyle/>
          <a:p>
            <a:pPr algn="l" indent="0" marL="0">
              <a:buNone/>
            </a:pPr>
            <a:r>
              <a:rPr lang="en-US" sz="850" b="1" spc="150" kern="0" dirty="0">
                <a:solidFill>
                  <a:srgbClr val="8A5A00"/>
                </a:solidFill>
                <a:latin typeface="Calibri" pitchFamily="34" charset="0"/>
                <a:ea typeface="Calibri" pitchFamily="34" charset="-122"/>
                <a:cs typeface="Calibri" pitchFamily="34" charset="-120"/>
              </a:rPr>
              <a:t>PERSON</a:t>
            </a:r>
            <a:endParaRPr lang="en-US" sz="850" dirty="0"/>
          </a:p>
          <a:p>
            <a:pPr algn="l" indent="0" marL="0">
              <a:buNone/>
            </a:pPr>
            <a:r>
              <a:rPr lang="en-US" sz="1250" b="1" dirty="0">
                <a:solidFill>
                  <a:srgbClr val="16211E"/>
                </a:solidFill>
                <a:latin typeface="Calibri" pitchFamily="34" charset="0"/>
                <a:ea typeface="Calibri" pitchFamily="34" charset="-122"/>
                <a:cs typeface="Calibri" pitchFamily="34" charset="-120"/>
              </a:rPr>
              <a:t>Links and publishes</a:t>
            </a:r>
            <a:endParaRPr lang="en-US" sz="850" dirty="0"/>
          </a:p>
          <a:p>
            <a:pPr algn="l" indent="0" marL="0">
              <a:buNone/>
            </a:pPr>
            <a:r>
              <a:rPr lang="en-US" sz="1000" dirty="0">
                <a:solidFill>
                  <a:srgbClr val="5C6B66"/>
                </a:solidFill>
                <a:latin typeface="Calibri" pitchFamily="34" charset="0"/>
                <a:ea typeface="Calibri" pitchFamily="34" charset="-122"/>
                <a:cs typeface="Calibri" pitchFamily="34" charset="-120"/>
              </a:rPr>
              <a:t>Codes to a service. A versioned library</a:t>
            </a:r>
            <a:endParaRPr lang="en-US" sz="850" dirty="0"/>
          </a:p>
        </p:txBody>
      </p:sp>
      <p:sp>
        <p:nvSpPr>
          <p:cNvPr id="40" name="B6"/>
          <p:cNvSpPr/>
          <p:nvPr/>
        </p:nvSpPr>
        <p:spPr>
          <a:xfrm>
            <a:off x="10229393" y="1865376"/>
            <a:ext cx="292608" cy="292608"/>
          </a:xfrm>
          <a:prstGeom prst="roundRect">
            <a:avLst>
              <a:gd name="adj" fmla="val 50000"/>
            </a:avLst>
          </a:prstGeom>
          <a:solidFill>
            <a:srgbClr val="1F6F5C"/>
          </a:solidFill>
          <a:ln w="12700">
            <a:solidFill>
              <a:srgbClr val="1F6F5C"/>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41" name="A6a"/>
          <p:cNvSpPr/>
          <p:nvPr/>
        </p:nvSpPr>
        <p:spPr>
          <a:xfrm>
            <a:off x="9991649" y="2628900"/>
            <a:ext cx="210312" cy="0"/>
          </a:xfrm>
          <a:prstGeom prst="line">
            <a:avLst/>
          </a:prstGeom>
          <a:noFill/>
          <a:ln w="22225">
            <a:solidFill>
              <a:srgbClr val="5C6B66"/>
            </a:solidFill>
            <a:prstDash val="solid"/>
            <a:tailEnd type="triangle"/>
          </a:ln>
        </p:spPr>
      </p:sp>
      <p:sp>
        <p:nvSpPr>
          <p:cNvPr id="42" name="c7"/>
          <p:cNvSpPr txBox="1"/>
          <p:nvPr/>
        </p:nvSpPr>
        <p:spPr>
          <a:xfrm>
            <a:off x="457200" y="5943600"/>
            <a:ext cx="11274552" cy="594360"/>
          </a:xfrm>
          <a:prstGeom prst="rect">
            <a:avLst/>
          </a:prstGeom>
          <a:noFill/>
          <a:ln/>
        </p:spPr>
        <p:txBody>
          <a:bodyPr wrap="square" lIns="0" tIns="0" rIns="0" bIns="0" rtlCol="0" anchor="ctr"/>
          <a:lstStyle/>
          <a:p>
            <a:pPr algn="l" indent="0" marL="0">
              <a:buNone/>
            </a:pPr>
            <a:r>
              <a:rPr lang="en-US" sz="1600" dirty="0">
                <a:solidFill>
                  <a:srgbClr val="16211E"/>
                </a:solidFill>
                <a:latin typeface="Calibri" pitchFamily="34" charset="0"/>
                <a:ea typeface="Calibri" pitchFamily="34" charset="-122"/>
                <a:cs typeface="Calibri" pitchFamily="34" charset="-120"/>
              </a:rPr>
              <a:t>They link the codes to a service and publish. Every version is kept and can be rolled back.</a:t>
            </a:r>
            <a:endParaRPr lang="en-US" sz="1600" dirty="0"/>
          </a:p>
        </p:txBody>
      </p:sp>
      <p:sp>
        <p:nvSpPr>
          <p:cNvPr id="43" name="c8"/>
          <p:cNvSpPr txBox="1"/>
          <p:nvPr/>
        </p:nvSpPr>
        <p:spPr>
          <a:xfrm>
            <a:off x="457200" y="5943600"/>
            <a:ext cx="11274552" cy="594360"/>
          </a:xfrm>
          <a:prstGeom prst="rect">
            <a:avLst/>
          </a:prstGeom>
          <a:noFill/>
          <a:ln/>
        </p:spPr>
        <p:txBody>
          <a:bodyPr wrap="square" lIns="0" tIns="0" rIns="0" bIns="0" rtlCol="0" anchor="ctr"/>
          <a:lstStyle/>
          <a:p>
            <a:pPr algn="l" indent="0" marL="0">
              <a:buNone/>
            </a:pPr>
            <a:r>
              <a:rPr lang="en-US" sz="1600" dirty="0">
                <a:solidFill>
                  <a:srgbClr val="16211E"/>
                </a:solidFill>
                <a:latin typeface="Calibri" pitchFamily="34" charset="0"/>
                <a:ea typeface="Calibri" pitchFamily="34" charset="-122"/>
                <a:cs typeface="Calibri" pitchFamily="34" charset="-120"/>
              </a:rPr>
              <a:t>The result: for every procedure we cover, the key facts to check when a packet arrives.</a:t>
            </a:r>
            <a:endParaRPr 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grpId="0" nodeType="clickEffect">
                                  <p:stCondLst>
                                    <p:cond delay="600"/>
                                  </p:stCondLst>
                                  <p:childTnLst>
                                    <p:set>
                                      <p:cBhvr>
                                        <p:cTn id="5" dur="1" fill="hold">
                                          <p:stCondLst>
                                            <p:cond delay="0"/>
                                          </p:stCondLst>
                                        </p:cTn>
                                        <p:tgtEl>
                                          <p:spTgt spid="12"/>
                                        </p:tgtEl>
                                        <p:attrNameLst>
                                          <p:attrName>style.visibility</p:attrName>
                                        </p:attrNameLst>
                                      </p:cBhvr>
                                      <p:to>
                                        <p:strVal val="visible"/>
                                      </p:to>
                                    </p:set>
                                    <p:animEffect transition="in" filter="fade">
                                      <p:cBhvr>
                                        <p:cTn id="6" dur="500"/>
                                        <p:tgtEl>
                                          <p:spTgt spid="12"/>
                                        </p:tgtEl>
                                      </p:cBhvr>
                                    </p:animEffect>
                                  </p:childTnLst>
                                </p:cTn>
                              </p:par>
                              <p:par>
                                <p:cTn id="10" presetID="10" presetClass="entr" presetSubtype="0" fill="hold" grpId="0" nodeType="withEffect">
                                  <p:stCondLst>
                                    <p:cond delay="600"/>
                                  </p:stCondLst>
                                  <p:childTnLst>
                                    <p:set>
                                      <p:cBhvr>
                                        <p:cTn id="8" dur="1" fill="hold">
                                          <p:stCondLst>
                                            <p:cond delay="0"/>
                                          </p:stCondLst>
                                        </p:cTn>
                                        <p:tgtEl>
                                          <p:spTgt spid="13"/>
                                        </p:tgtEl>
                                        <p:attrNameLst>
                                          <p:attrName>style.visibility</p:attrName>
                                        </p:attrNameLst>
                                      </p:cBhvr>
                                      <p:to>
                                        <p:strVal val="visible"/>
                                      </p:to>
                                    </p:set>
                                    <p:animEffect transition="in" filter="fade">
                                      <p:cBhvr>
                                        <p:cTn id="9" dur="500"/>
                                        <p:tgtEl>
                                          <p:spTgt spid="13"/>
                                        </p:tgtEl>
                                      </p:cBhvr>
                                    </p:animEffect>
                                  </p:childTnLst>
                                </p:cTn>
                              </p:par>
                              <p:par>
                                <p:cTn id="13" presetID="10" presetClass="entr" presetSubtype="0" fill="hold" grpId="0" nodeType="withEffect">
                                  <p:stCondLst>
                                    <p:cond delay="30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par>
                    <p:cTn id="14" fill="hold">
                      <p:stCondLst>
                        <p:cond delay="indefinite"/>
                      </p:stCondLst>
                      <p:childTnLst>
                        <p:par>
                          <p:cTn id="15" fill="hold">
                            <p:stCondLst>
                              <p:cond delay="0"/>
                            </p:stCondLst>
                            <p:childTnLst>
                              <p:par>
                                <p:cTn id="18" presetID="10" presetClass="exit" presetSubtype="0" fill="hold" grpId="0" nodeType="clickEffect">
                                  <p:stCondLst>
                                    <p:cond delay="0"/>
                                  </p:stCondLst>
                                  <p:childTnLst>
                                    <p:animEffect transition="out" filter="fade">
                                      <p:cBhvr>
                                        <p:cTn id="16" dur="300"/>
                                        <p:tgtEl>
                                          <p:spTgt spid="14"/>
                                        </p:tgtEl>
                                      </p:cBhvr>
                                    </p:animEffect>
                                    <p:set>
                                      <p:cBhvr>
                                        <p:cTn id="17" dur="1" fill="hold">
                                          <p:stCondLst>
                                            <p:cond delay="299"/>
                                          </p:stCondLst>
                                        </p:cTn>
                                        <p:tgtEl>
                                          <p:spTgt spid="14"/>
                                        </p:tgtEl>
                                        <p:attrNameLst>
                                          <p:attrName>style.visibility</p:attrName>
                                        </p:attrNameLst>
                                      </p:cBhvr>
                                      <p:to>
                                        <p:strVal val="hidden"/>
                                      </p:to>
                                    </p:set>
                                  </p:childTnLst>
                                </p:cTn>
                              </p:par>
                              <p:par>
                                <p:cTn id="21" presetID="22" presetClass="entr" presetSubtype="8" fill="hold" nodeType="withEffect">
                                  <p:stCondLst>
                                    <p:cond delay="200"/>
                                  </p:stCondLst>
                                  <p:childTnLst>
                                    <p:set>
                                      <p:cBhvr>
                                        <p:cTn id="19" dur="1" fill="hold">
                                          <p:stCondLst>
                                            <p:cond delay="0"/>
                                          </p:stCondLst>
                                        </p:cTn>
                                        <p:tgtEl>
                                          <p:spTgt spid="17"/>
                                        </p:tgtEl>
                                        <p:attrNameLst>
                                          <p:attrName>style.visibility</p:attrName>
                                        </p:attrNameLst>
                                      </p:cBhvr>
                                      <p:to>
                                        <p:strVal val="visible"/>
                                      </p:to>
                                    </p:set>
                                    <p:animEffect transition="in" filter="wipe(left)">
                                      <p:cBhvr>
                                        <p:cTn id="20" dur="300"/>
                                        <p:tgtEl>
                                          <p:spTgt spid="17"/>
                                        </p:tgtEl>
                                      </p:cBhvr>
                                    </p:animEffect>
                                  </p:childTnLst>
                                </p:cTn>
                              </p:par>
                              <p:par>
                                <p:cTn id="24" presetID="10" presetClass="entr" presetSubtype="0" fill="hold" grpId="0" nodeType="withEffect">
                                  <p:stCondLst>
                                    <p:cond delay="6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par>
                                <p:cTn id="27" presetID="10" presetClass="entr" presetSubtype="0" fill="hold" grpId="0" nodeType="withEffect">
                                  <p:stCondLst>
                                    <p:cond delay="60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500"/>
                                        <p:tgtEl>
                                          <p:spTgt spid="16"/>
                                        </p:tgtEl>
                                      </p:cBhvr>
                                    </p:animEffect>
                                  </p:childTnLst>
                                </p:cTn>
                              </p:par>
                              <p:par>
                                <p:cTn id="30" presetID="10" presetClass="entr" presetSubtype="0" fill="hold" grpId="0" nodeType="withEffect">
                                  <p:stCondLst>
                                    <p:cond delay="300"/>
                                  </p:stCondLst>
                                  <p:childTnLst>
                                    <p:set>
                                      <p:cBhvr>
                                        <p:cTn id="28" dur="1" fill="hold">
                                          <p:stCondLst>
                                            <p:cond delay="0"/>
                                          </p:stCondLst>
                                        </p:cTn>
                                        <p:tgtEl>
                                          <p:spTgt spid="18"/>
                                        </p:tgtEl>
                                        <p:attrNameLst>
                                          <p:attrName>style.visibility</p:attrName>
                                        </p:attrNameLst>
                                      </p:cBhvr>
                                      <p:to>
                                        <p:strVal val="visible"/>
                                      </p:to>
                                    </p:set>
                                    <p:animEffect transition="in" filter="fade">
                                      <p:cBhvr>
                                        <p:cTn id="29" dur="500"/>
                                        <p:tgtEl>
                                          <p:spTgt spid="18"/>
                                        </p:tgtEl>
                                      </p:cBhvr>
                                    </p:animEffect>
                                  </p:childTnLst>
                                </p:cTn>
                              </p:par>
                            </p:childTnLst>
                          </p:cTn>
                        </p:par>
                      </p:childTnLst>
                    </p:cTn>
                  </p:par>
                  <p:par>
                    <p:cTn id="31" fill="hold">
                      <p:stCondLst>
                        <p:cond delay="indefinite"/>
                      </p:stCondLst>
                      <p:childTnLst>
                        <p:par>
                          <p:cTn id="32" fill="hold">
                            <p:stCondLst>
                              <p:cond delay="0"/>
                            </p:stCondLst>
                            <p:childTnLst>
                              <p:par>
                                <p:cTn id="35" presetID="10" presetClass="exit" presetSubtype="0" fill="hold" grpId="0" nodeType="clickEffect">
                                  <p:stCondLst>
                                    <p:cond delay="0"/>
                                  </p:stCondLst>
                                  <p:childTnLst>
                                    <p:animEffect transition="out" filter="fade">
                                      <p:cBhvr>
                                        <p:cTn id="33" dur="300"/>
                                        <p:tgtEl>
                                          <p:spTgt spid="18"/>
                                        </p:tgtEl>
                                      </p:cBhvr>
                                    </p:animEffect>
                                    <p:set>
                                      <p:cBhvr>
                                        <p:cTn id="34" dur="1" fill="hold">
                                          <p:stCondLst>
                                            <p:cond delay="299"/>
                                          </p:stCondLst>
                                        </p:cTn>
                                        <p:tgtEl>
                                          <p:spTgt spid="18"/>
                                        </p:tgtEl>
                                        <p:attrNameLst>
                                          <p:attrName>style.visibility</p:attrName>
                                        </p:attrNameLst>
                                      </p:cBhvr>
                                      <p:to>
                                        <p:strVal val="hidden"/>
                                      </p:to>
                                    </p:set>
                                  </p:childTnLst>
                                </p:cTn>
                              </p:par>
                              <p:par>
                                <p:cTn id="38" presetID="22" presetClass="entr" presetSubtype="8" fill="hold" nodeType="withEffect">
                                  <p:stCondLst>
                                    <p:cond delay="150"/>
                                  </p:stCondLst>
                                  <p:childTnLst>
                                    <p:set>
                                      <p:cBhvr>
                                        <p:cTn id="36" dur="1" fill="hold">
                                          <p:stCondLst>
                                            <p:cond delay="0"/>
                                          </p:stCondLst>
                                        </p:cTn>
                                        <p:tgtEl>
                                          <p:spTgt spid="21"/>
                                        </p:tgtEl>
                                        <p:attrNameLst>
                                          <p:attrName>style.visibility</p:attrName>
                                        </p:attrNameLst>
                                      </p:cBhvr>
                                      <p:to>
                                        <p:strVal val="visible"/>
                                      </p:to>
                                    </p:set>
                                    <p:animEffect transition="in" filter="wipe(left)">
                                      <p:cBhvr>
                                        <p:cTn id="37" dur="200"/>
                                        <p:tgtEl>
                                          <p:spTgt spid="21"/>
                                        </p:tgtEl>
                                      </p:cBhvr>
                                    </p:animEffect>
                                  </p:childTnLst>
                                </p:cTn>
                              </p:par>
                              <p:par>
                                <p:cTn id="41" presetID="22" presetClass="entr" presetSubtype="1" fill="hold" nodeType="withEffect">
                                  <p:stCondLst>
                                    <p:cond delay="350"/>
                                  </p:stCondLst>
                                  <p:childTnLst>
                                    <p:set>
                                      <p:cBhvr>
                                        <p:cTn id="39" dur="1" fill="hold">
                                          <p:stCondLst>
                                            <p:cond delay="0"/>
                                          </p:stCondLst>
                                        </p:cTn>
                                        <p:tgtEl>
                                          <p:spTgt spid="22"/>
                                        </p:tgtEl>
                                        <p:attrNameLst>
                                          <p:attrName>style.visibility</p:attrName>
                                        </p:attrNameLst>
                                      </p:cBhvr>
                                      <p:to>
                                        <p:strVal val="visible"/>
                                      </p:to>
                                    </p:set>
                                    <p:animEffect transition="in" filter="wipe(up)">
                                      <p:cBhvr>
                                        <p:cTn id="40" dur="450"/>
                                        <p:tgtEl>
                                          <p:spTgt spid="22"/>
                                        </p:tgtEl>
                                      </p:cBhvr>
                                    </p:animEffect>
                                  </p:childTnLst>
                                </p:cTn>
                              </p:par>
                              <p:par>
                                <p:cTn id="44" presetID="22" presetClass="entr" presetSubtype="8" fill="hold" nodeType="withEffect">
                                  <p:stCondLst>
                                    <p:cond delay="800"/>
                                  </p:stCondLst>
                                  <p:childTnLst>
                                    <p:set>
                                      <p:cBhvr>
                                        <p:cTn id="42" dur="1" fill="hold">
                                          <p:stCondLst>
                                            <p:cond delay="0"/>
                                          </p:stCondLst>
                                        </p:cTn>
                                        <p:tgtEl>
                                          <p:spTgt spid="23"/>
                                        </p:tgtEl>
                                        <p:attrNameLst>
                                          <p:attrName>style.visibility</p:attrName>
                                        </p:attrNameLst>
                                      </p:cBhvr>
                                      <p:to>
                                        <p:strVal val="visible"/>
                                      </p:to>
                                    </p:set>
                                    <p:animEffect transition="in" filter="wipe(left)">
                                      <p:cBhvr>
                                        <p:cTn id="43" dur="200"/>
                                        <p:tgtEl>
                                          <p:spTgt spid="23"/>
                                        </p:tgtEl>
                                      </p:cBhvr>
                                    </p:animEffect>
                                  </p:childTnLst>
                                </p:cTn>
                              </p:par>
                              <p:par>
                                <p:cTn id="47" presetID="10" presetClass="entr" presetSubtype="0" fill="hold" grpId="0" nodeType="withEffect">
                                  <p:stCondLst>
                                    <p:cond delay="60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500"/>
                                        <p:tgtEl>
                                          <p:spTgt spid="19"/>
                                        </p:tgtEl>
                                      </p:cBhvr>
                                    </p:animEffect>
                                  </p:childTnLst>
                                </p:cTn>
                              </p:par>
                              <p:par>
                                <p:cTn id="50" presetID="10" presetClass="entr" presetSubtype="0" fill="hold" grpId="0" nodeType="withEffect">
                                  <p:stCondLst>
                                    <p:cond delay="60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500"/>
                                        <p:tgtEl>
                                          <p:spTgt spid="20"/>
                                        </p:tgtEl>
                                      </p:cBhvr>
                                    </p:animEffect>
                                  </p:childTnLst>
                                </p:cTn>
                              </p:par>
                              <p:par>
                                <p:cTn id="53" presetID="10" presetClass="entr" presetSubtype="0" fill="hold" grpId="0" nodeType="withEffect">
                                  <p:stCondLst>
                                    <p:cond delay="300"/>
                                  </p:stCondLst>
                                  <p:childTnLst>
                                    <p:set>
                                      <p:cBhvr>
                                        <p:cTn id="51" dur="1" fill="hold">
                                          <p:stCondLst>
                                            <p:cond delay="0"/>
                                          </p:stCondLst>
                                        </p:cTn>
                                        <p:tgtEl>
                                          <p:spTgt spid="24"/>
                                        </p:tgtEl>
                                        <p:attrNameLst>
                                          <p:attrName>style.visibility</p:attrName>
                                        </p:attrNameLst>
                                      </p:cBhvr>
                                      <p:to>
                                        <p:strVal val="visible"/>
                                      </p:to>
                                    </p:set>
                                    <p:animEffect transition="in" filter="fade">
                                      <p:cBhvr>
                                        <p:cTn id="52" dur="500"/>
                                        <p:tgtEl>
                                          <p:spTgt spid="24"/>
                                        </p:tgtEl>
                                      </p:cBhvr>
                                    </p:animEffect>
                                  </p:childTnLst>
                                </p:cTn>
                              </p:par>
                            </p:childTnLst>
                          </p:cTn>
                        </p:par>
                      </p:childTnLst>
                    </p:cTn>
                  </p:par>
                  <p:par>
                    <p:cTn id="54" fill="hold">
                      <p:stCondLst>
                        <p:cond delay="indefinite"/>
                      </p:stCondLst>
                      <p:childTnLst>
                        <p:par>
                          <p:cTn id="55" fill="hold">
                            <p:stCondLst>
                              <p:cond delay="0"/>
                            </p:stCondLst>
                            <p:childTnLst>
                              <p:par>
                                <p:cTn id="58" presetID="10" presetClass="exit" presetSubtype="0" fill="hold" grpId="0" nodeType="clickEffect">
                                  <p:stCondLst>
                                    <p:cond delay="0"/>
                                  </p:stCondLst>
                                  <p:childTnLst>
                                    <p:animEffect transition="out" filter="fade">
                                      <p:cBhvr>
                                        <p:cTn id="56" dur="300"/>
                                        <p:tgtEl>
                                          <p:spTgt spid="24"/>
                                        </p:tgtEl>
                                      </p:cBhvr>
                                    </p:animEffect>
                                    <p:set>
                                      <p:cBhvr>
                                        <p:cTn id="57" dur="1" fill="hold">
                                          <p:stCondLst>
                                            <p:cond delay="299"/>
                                          </p:stCondLst>
                                        </p:cTn>
                                        <p:tgtEl>
                                          <p:spTgt spid="24"/>
                                        </p:tgtEl>
                                        <p:attrNameLst>
                                          <p:attrName>style.visibility</p:attrName>
                                        </p:attrNameLst>
                                      </p:cBhvr>
                                      <p:to>
                                        <p:strVal val="hidden"/>
                                      </p:to>
                                    </p:set>
                                  </p:childTnLst>
                                </p:cTn>
                              </p:par>
                              <p:par>
                                <p:cTn id="61" presetID="22" presetClass="entr" presetSubtype="8" fill="hold" nodeType="withEffect">
                                  <p:stCondLst>
                                    <p:cond delay="200"/>
                                  </p:stCondLst>
                                  <p:childTnLst>
                                    <p:set>
                                      <p:cBhvr>
                                        <p:cTn id="59" dur="1" fill="hold">
                                          <p:stCondLst>
                                            <p:cond delay="0"/>
                                          </p:stCondLst>
                                        </p:cTn>
                                        <p:tgtEl>
                                          <p:spTgt spid="27"/>
                                        </p:tgtEl>
                                        <p:attrNameLst>
                                          <p:attrName>style.visibility</p:attrName>
                                        </p:attrNameLst>
                                      </p:cBhvr>
                                      <p:to>
                                        <p:strVal val="visible"/>
                                      </p:to>
                                    </p:set>
                                    <p:animEffect transition="in" filter="wipe(left)">
                                      <p:cBhvr>
                                        <p:cTn id="60" dur="300"/>
                                        <p:tgtEl>
                                          <p:spTgt spid="27"/>
                                        </p:tgtEl>
                                      </p:cBhvr>
                                    </p:animEffect>
                                  </p:childTnLst>
                                </p:cTn>
                              </p:par>
                              <p:par>
                                <p:cTn id="64" presetID="10" presetClass="entr" presetSubtype="0" fill="hold" grpId="0" nodeType="withEffect">
                                  <p:stCondLst>
                                    <p:cond delay="600"/>
                                  </p:stCondLst>
                                  <p:childTnLst>
                                    <p:set>
                                      <p:cBhvr>
                                        <p:cTn id="62" dur="1" fill="hold">
                                          <p:stCondLst>
                                            <p:cond delay="0"/>
                                          </p:stCondLst>
                                        </p:cTn>
                                        <p:tgtEl>
                                          <p:spTgt spid="25"/>
                                        </p:tgtEl>
                                        <p:attrNameLst>
                                          <p:attrName>style.visibility</p:attrName>
                                        </p:attrNameLst>
                                      </p:cBhvr>
                                      <p:to>
                                        <p:strVal val="visible"/>
                                      </p:to>
                                    </p:set>
                                    <p:animEffect transition="in" filter="fade">
                                      <p:cBhvr>
                                        <p:cTn id="63" dur="500"/>
                                        <p:tgtEl>
                                          <p:spTgt spid="25"/>
                                        </p:tgtEl>
                                      </p:cBhvr>
                                    </p:animEffect>
                                  </p:childTnLst>
                                </p:cTn>
                              </p:par>
                              <p:par>
                                <p:cTn id="67" presetID="10" presetClass="entr" presetSubtype="0" fill="hold" grpId="0" nodeType="withEffect">
                                  <p:stCondLst>
                                    <p:cond delay="600"/>
                                  </p:stCondLst>
                                  <p:childTnLst>
                                    <p:set>
                                      <p:cBhvr>
                                        <p:cTn id="65" dur="1" fill="hold">
                                          <p:stCondLst>
                                            <p:cond delay="0"/>
                                          </p:stCondLst>
                                        </p:cTn>
                                        <p:tgtEl>
                                          <p:spTgt spid="26"/>
                                        </p:tgtEl>
                                        <p:attrNameLst>
                                          <p:attrName>style.visibility</p:attrName>
                                        </p:attrNameLst>
                                      </p:cBhvr>
                                      <p:to>
                                        <p:strVal val="visible"/>
                                      </p:to>
                                    </p:set>
                                    <p:animEffect transition="in" filter="fade">
                                      <p:cBhvr>
                                        <p:cTn id="66" dur="500"/>
                                        <p:tgtEl>
                                          <p:spTgt spid="26"/>
                                        </p:tgtEl>
                                      </p:cBhvr>
                                    </p:animEffect>
                                  </p:childTnLst>
                                </p:cTn>
                              </p:par>
                              <p:par>
                                <p:cTn id="70" presetID="10" presetClass="entr" presetSubtype="0" fill="hold" grpId="0" nodeType="withEffect">
                                  <p:stCondLst>
                                    <p:cond delay="300"/>
                                  </p:stCondLst>
                                  <p:childTnLst>
                                    <p:set>
                                      <p:cBhvr>
                                        <p:cTn id="68" dur="1" fill="hold">
                                          <p:stCondLst>
                                            <p:cond delay="0"/>
                                          </p:stCondLst>
                                        </p:cTn>
                                        <p:tgtEl>
                                          <p:spTgt spid="28"/>
                                        </p:tgtEl>
                                        <p:attrNameLst>
                                          <p:attrName>style.visibility</p:attrName>
                                        </p:attrNameLst>
                                      </p:cBhvr>
                                      <p:to>
                                        <p:strVal val="visible"/>
                                      </p:to>
                                    </p:set>
                                    <p:animEffect transition="in" filter="fade">
                                      <p:cBhvr>
                                        <p:cTn id="69" dur="500"/>
                                        <p:tgtEl>
                                          <p:spTgt spid="28"/>
                                        </p:tgtEl>
                                      </p:cBhvr>
                                    </p:animEffect>
                                  </p:childTnLst>
                                </p:cTn>
                              </p:par>
                            </p:childTnLst>
                          </p:cTn>
                        </p:par>
                      </p:childTnLst>
                    </p:cTn>
                  </p:par>
                  <p:par>
                    <p:cTn id="71" fill="hold">
                      <p:stCondLst>
                        <p:cond delay="indefinite"/>
                      </p:stCondLst>
                      <p:childTnLst>
                        <p:par>
                          <p:cTn id="72" fill="hold">
                            <p:stCondLst>
                              <p:cond delay="0"/>
                            </p:stCondLst>
                            <p:childTnLst>
                              <p:par>
                                <p:cTn id="75" presetID="10" presetClass="exit" presetSubtype="0" fill="hold" grpId="0" nodeType="clickEffect">
                                  <p:stCondLst>
                                    <p:cond delay="0"/>
                                  </p:stCondLst>
                                  <p:childTnLst>
                                    <p:animEffect transition="out" filter="fade">
                                      <p:cBhvr>
                                        <p:cTn id="73" dur="300"/>
                                        <p:tgtEl>
                                          <p:spTgt spid="28"/>
                                        </p:tgtEl>
                                      </p:cBhvr>
                                    </p:animEffect>
                                    <p:set>
                                      <p:cBhvr>
                                        <p:cTn id="74" dur="1" fill="hold">
                                          <p:stCondLst>
                                            <p:cond delay="299"/>
                                          </p:stCondLst>
                                        </p:cTn>
                                        <p:tgtEl>
                                          <p:spTgt spid="28"/>
                                        </p:tgtEl>
                                        <p:attrNameLst>
                                          <p:attrName>style.visibility</p:attrName>
                                        </p:attrNameLst>
                                      </p:cBhvr>
                                      <p:to>
                                        <p:strVal val="hidden"/>
                                      </p:to>
                                    </p:set>
                                  </p:childTnLst>
                                </p:cTn>
                              </p:par>
                              <p:par>
                                <p:cTn id="78" presetID="22" presetClass="entr" presetSubtype="8" fill="hold" nodeType="withEffect">
                                  <p:stCondLst>
                                    <p:cond delay="200"/>
                                  </p:stCondLst>
                                  <p:childTnLst>
                                    <p:set>
                                      <p:cBhvr>
                                        <p:cTn id="76" dur="1" fill="hold">
                                          <p:stCondLst>
                                            <p:cond delay="0"/>
                                          </p:stCondLst>
                                        </p:cTn>
                                        <p:tgtEl>
                                          <p:spTgt spid="31"/>
                                        </p:tgtEl>
                                        <p:attrNameLst>
                                          <p:attrName>style.visibility</p:attrName>
                                        </p:attrNameLst>
                                      </p:cBhvr>
                                      <p:to>
                                        <p:strVal val="visible"/>
                                      </p:to>
                                    </p:set>
                                    <p:animEffect transition="in" filter="wipe(left)">
                                      <p:cBhvr>
                                        <p:cTn id="77" dur="300"/>
                                        <p:tgtEl>
                                          <p:spTgt spid="31"/>
                                        </p:tgtEl>
                                      </p:cBhvr>
                                    </p:animEffect>
                                  </p:childTnLst>
                                </p:cTn>
                              </p:par>
                              <p:par>
                                <p:cTn id="81" presetID="10" presetClass="entr" presetSubtype="0" fill="hold" grpId="0" nodeType="withEffect">
                                  <p:stCondLst>
                                    <p:cond delay="600"/>
                                  </p:stCondLst>
                                  <p:childTnLst>
                                    <p:set>
                                      <p:cBhvr>
                                        <p:cTn id="79" dur="1" fill="hold">
                                          <p:stCondLst>
                                            <p:cond delay="0"/>
                                          </p:stCondLst>
                                        </p:cTn>
                                        <p:tgtEl>
                                          <p:spTgt spid="29"/>
                                        </p:tgtEl>
                                        <p:attrNameLst>
                                          <p:attrName>style.visibility</p:attrName>
                                        </p:attrNameLst>
                                      </p:cBhvr>
                                      <p:to>
                                        <p:strVal val="visible"/>
                                      </p:to>
                                    </p:set>
                                    <p:animEffect transition="in" filter="fade">
                                      <p:cBhvr>
                                        <p:cTn id="80" dur="500"/>
                                        <p:tgtEl>
                                          <p:spTgt spid="29"/>
                                        </p:tgtEl>
                                      </p:cBhvr>
                                    </p:animEffect>
                                  </p:childTnLst>
                                </p:cTn>
                              </p:par>
                              <p:par>
                                <p:cTn id="84" presetID="10" presetClass="entr" presetSubtype="0" fill="hold" grpId="0" nodeType="withEffect">
                                  <p:stCondLst>
                                    <p:cond delay="600"/>
                                  </p:stCondLst>
                                  <p:childTnLst>
                                    <p:set>
                                      <p:cBhvr>
                                        <p:cTn id="82" dur="1" fill="hold">
                                          <p:stCondLst>
                                            <p:cond delay="0"/>
                                          </p:stCondLst>
                                        </p:cTn>
                                        <p:tgtEl>
                                          <p:spTgt spid="30"/>
                                        </p:tgtEl>
                                        <p:attrNameLst>
                                          <p:attrName>style.visibility</p:attrName>
                                        </p:attrNameLst>
                                      </p:cBhvr>
                                      <p:to>
                                        <p:strVal val="visible"/>
                                      </p:to>
                                    </p:set>
                                    <p:animEffect transition="in" filter="fade">
                                      <p:cBhvr>
                                        <p:cTn id="83" dur="500"/>
                                        <p:tgtEl>
                                          <p:spTgt spid="30"/>
                                        </p:tgtEl>
                                      </p:cBhvr>
                                    </p:animEffect>
                                  </p:childTnLst>
                                </p:cTn>
                              </p:par>
                              <p:par>
                                <p:cTn id="87" presetID="10" presetClass="entr" presetSubtype="0" fill="hold" grpId="0" nodeType="withEffect">
                                  <p:stCondLst>
                                    <p:cond delay="300"/>
                                  </p:stCondLst>
                                  <p:childTnLst>
                                    <p:set>
                                      <p:cBhvr>
                                        <p:cTn id="85" dur="1" fill="hold">
                                          <p:stCondLst>
                                            <p:cond delay="0"/>
                                          </p:stCondLst>
                                        </p:cTn>
                                        <p:tgtEl>
                                          <p:spTgt spid="32"/>
                                        </p:tgtEl>
                                        <p:attrNameLst>
                                          <p:attrName>style.visibility</p:attrName>
                                        </p:attrNameLst>
                                      </p:cBhvr>
                                      <p:to>
                                        <p:strVal val="visible"/>
                                      </p:to>
                                    </p:set>
                                    <p:animEffect transition="in" filter="fade">
                                      <p:cBhvr>
                                        <p:cTn id="86" dur="500"/>
                                        <p:tgtEl>
                                          <p:spTgt spid="32"/>
                                        </p:tgtEl>
                                      </p:cBhvr>
                                    </p:animEffect>
                                  </p:childTnLst>
                                </p:cTn>
                              </p:par>
                            </p:childTnLst>
                          </p:cTn>
                        </p:par>
                      </p:childTnLst>
                    </p:cTn>
                  </p:par>
                  <p:par>
                    <p:cTn id="88" fill="hold">
                      <p:stCondLst>
                        <p:cond delay="indefinite"/>
                      </p:stCondLst>
                      <p:childTnLst>
                        <p:par>
                          <p:cTn id="89" fill="hold">
                            <p:stCondLst>
                              <p:cond delay="0"/>
                            </p:stCondLst>
                            <p:childTnLst>
                              <p:par>
                                <p:cTn id="92" presetID="10" presetClass="exit" presetSubtype="0" fill="hold" grpId="0" nodeType="clickEffect">
                                  <p:stCondLst>
                                    <p:cond delay="0"/>
                                  </p:stCondLst>
                                  <p:childTnLst>
                                    <p:animEffect transition="out" filter="fade">
                                      <p:cBhvr>
                                        <p:cTn id="90" dur="300"/>
                                        <p:tgtEl>
                                          <p:spTgt spid="32"/>
                                        </p:tgtEl>
                                      </p:cBhvr>
                                    </p:animEffect>
                                    <p:set>
                                      <p:cBhvr>
                                        <p:cTn id="91" dur="1" fill="hold">
                                          <p:stCondLst>
                                            <p:cond delay="299"/>
                                          </p:stCondLst>
                                        </p:cTn>
                                        <p:tgtEl>
                                          <p:spTgt spid="32"/>
                                        </p:tgtEl>
                                        <p:attrNameLst>
                                          <p:attrName>style.visibility</p:attrName>
                                        </p:attrNameLst>
                                      </p:cBhvr>
                                      <p:to>
                                        <p:strVal val="hidden"/>
                                      </p:to>
                                    </p:set>
                                  </p:childTnLst>
                                </p:cTn>
                              </p:par>
                              <p:par>
                                <p:cTn id="95" presetID="22" presetClass="entr" presetSubtype="8" fill="hold" nodeType="withEffect">
                                  <p:stCondLst>
                                    <p:cond delay="150"/>
                                  </p:stCondLst>
                                  <p:childTnLst>
                                    <p:set>
                                      <p:cBhvr>
                                        <p:cTn id="93" dur="1" fill="hold">
                                          <p:stCondLst>
                                            <p:cond delay="0"/>
                                          </p:stCondLst>
                                        </p:cTn>
                                        <p:tgtEl>
                                          <p:spTgt spid="35"/>
                                        </p:tgtEl>
                                        <p:attrNameLst>
                                          <p:attrName>style.visibility</p:attrName>
                                        </p:attrNameLst>
                                      </p:cBhvr>
                                      <p:to>
                                        <p:strVal val="visible"/>
                                      </p:to>
                                    </p:set>
                                    <p:animEffect transition="in" filter="wipe(left)">
                                      <p:cBhvr>
                                        <p:cTn id="94" dur="200"/>
                                        <p:tgtEl>
                                          <p:spTgt spid="35"/>
                                        </p:tgtEl>
                                      </p:cBhvr>
                                    </p:animEffect>
                                  </p:childTnLst>
                                </p:cTn>
                              </p:par>
                              <p:par>
                                <p:cTn id="98" presetID="22" presetClass="entr" presetSubtype="4" fill="hold" nodeType="withEffect">
                                  <p:stCondLst>
                                    <p:cond delay="350"/>
                                  </p:stCondLst>
                                  <p:childTnLst>
                                    <p:set>
                                      <p:cBhvr>
                                        <p:cTn id="96" dur="1" fill="hold">
                                          <p:stCondLst>
                                            <p:cond delay="0"/>
                                          </p:stCondLst>
                                        </p:cTn>
                                        <p:tgtEl>
                                          <p:spTgt spid="36"/>
                                        </p:tgtEl>
                                        <p:attrNameLst>
                                          <p:attrName>style.visibility</p:attrName>
                                        </p:attrNameLst>
                                      </p:cBhvr>
                                      <p:to>
                                        <p:strVal val="visible"/>
                                      </p:to>
                                    </p:set>
                                    <p:animEffect transition="in" filter="wipe(down)">
                                      <p:cBhvr>
                                        <p:cTn id="97" dur="450"/>
                                        <p:tgtEl>
                                          <p:spTgt spid="36"/>
                                        </p:tgtEl>
                                      </p:cBhvr>
                                    </p:animEffect>
                                  </p:childTnLst>
                                </p:cTn>
                              </p:par>
                              <p:par>
                                <p:cTn id="101" presetID="22" presetClass="entr" presetSubtype="8" fill="hold" nodeType="withEffect">
                                  <p:stCondLst>
                                    <p:cond delay="800"/>
                                  </p:stCondLst>
                                  <p:childTnLst>
                                    <p:set>
                                      <p:cBhvr>
                                        <p:cTn id="99" dur="1" fill="hold">
                                          <p:stCondLst>
                                            <p:cond delay="0"/>
                                          </p:stCondLst>
                                        </p:cTn>
                                        <p:tgtEl>
                                          <p:spTgt spid="37"/>
                                        </p:tgtEl>
                                        <p:attrNameLst>
                                          <p:attrName>style.visibility</p:attrName>
                                        </p:attrNameLst>
                                      </p:cBhvr>
                                      <p:to>
                                        <p:strVal val="visible"/>
                                      </p:to>
                                    </p:set>
                                    <p:animEffect transition="in" filter="wipe(left)">
                                      <p:cBhvr>
                                        <p:cTn id="100" dur="200"/>
                                        <p:tgtEl>
                                          <p:spTgt spid="37"/>
                                        </p:tgtEl>
                                      </p:cBhvr>
                                    </p:animEffect>
                                  </p:childTnLst>
                                </p:cTn>
                              </p:par>
                              <p:par>
                                <p:cTn id="104" presetID="10" presetClass="entr" presetSubtype="0" fill="hold" grpId="0" nodeType="withEffect">
                                  <p:stCondLst>
                                    <p:cond delay="600"/>
                                  </p:stCondLst>
                                  <p:childTnLst>
                                    <p:set>
                                      <p:cBhvr>
                                        <p:cTn id="102" dur="1" fill="hold">
                                          <p:stCondLst>
                                            <p:cond delay="0"/>
                                          </p:stCondLst>
                                        </p:cTn>
                                        <p:tgtEl>
                                          <p:spTgt spid="33"/>
                                        </p:tgtEl>
                                        <p:attrNameLst>
                                          <p:attrName>style.visibility</p:attrName>
                                        </p:attrNameLst>
                                      </p:cBhvr>
                                      <p:to>
                                        <p:strVal val="visible"/>
                                      </p:to>
                                    </p:set>
                                    <p:animEffect transition="in" filter="fade">
                                      <p:cBhvr>
                                        <p:cTn id="103" dur="500"/>
                                        <p:tgtEl>
                                          <p:spTgt spid="33"/>
                                        </p:tgtEl>
                                      </p:cBhvr>
                                    </p:animEffect>
                                  </p:childTnLst>
                                </p:cTn>
                              </p:par>
                              <p:par>
                                <p:cTn id="107" presetID="10" presetClass="entr" presetSubtype="0" fill="hold" grpId="0" nodeType="withEffect">
                                  <p:stCondLst>
                                    <p:cond delay="600"/>
                                  </p:stCondLst>
                                  <p:childTnLst>
                                    <p:set>
                                      <p:cBhvr>
                                        <p:cTn id="105" dur="1" fill="hold">
                                          <p:stCondLst>
                                            <p:cond delay="0"/>
                                          </p:stCondLst>
                                        </p:cTn>
                                        <p:tgtEl>
                                          <p:spTgt spid="34"/>
                                        </p:tgtEl>
                                        <p:attrNameLst>
                                          <p:attrName>style.visibility</p:attrName>
                                        </p:attrNameLst>
                                      </p:cBhvr>
                                      <p:to>
                                        <p:strVal val="visible"/>
                                      </p:to>
                                    </p:set>
                                    <p:animEffect transition="in" filter="fade">
                                      <p:cBhvr>
                                        <p:cTn id="106" dur="500"/>
                                        <p:tgtEl>
                                          <p:spTgt spid="34"/>
                                        </p:tgtEl>
                                      </p:cBhvr>
                                    </p:animEffect>
                                  </p:childTnLst>
                                </p:cTn>
                              </p:par>
                              <p:par>
                                <p:cTn id="110" presetID="10" presetClass="entr" presetSubtype="0" fill="hold" grpId="0" nodeType="withEffect">
                                  <p:stCondLst>
                                    <p:cond delay="300"/>
                                  </p:stCondLst>
                                  <p:childTnLst>
                                    <p:set>
                                      <p:cBhvr>
                                        <p:cTn id="108" dur="1" fill="hold">
                                          <p:stCondLst>
                                            <p:cond delay="0"/>
                                          </p:stCondLst>
                                        </p:cTn>
                                        <p:tgtEl>
                                          <p:spTgt spid="38"/>
                                        </p:tgtEl>
                                        <p:attrNameLst>
                                          <p:attrName>style.visibility</p:attrName>
                                        </p:attrNameLst>
                                      </p:cBhvr>
                                      <p:to>
                                        <p:strVal val="visible"/>
                                      </p:to>
                                    </p:set>
                                    <p:animEffect transition="in" filter="fade">
                                      <p:cBhvr>
                                        <p:cTn id="109" dur="500"/>
                                        <p:tgtEl>
                                          <p:spTgt spid="38"/>
                                        </p:tgtEl>
                                      </p:cBhvr>
                                    </p:animEffect>
                                  </p:childTnLst>
                                </p:cTn>
                              </p:par>
                            </p:childTnLst>
                          </p:cTn>
                        </p:par>
                      </p:childTnLst>
                    </p:cTn>
                  </p:par>
                  <p:par>
                    <p:cTn id="111" fill="hold">
                      <p:stCondLst>
                        <p:cond delay="indefinite"/>
                      </p:stCondLst>
                      <p:childTnLst>
                        <p:par>
                          <p:cTn id="112" fill="hold">
                            <p:stCondLst>
                              <p:cond delay="0"/>
                            </p:stCondLst>
                            <p:childTnLst>
                              <p:par>
                                <p:cTn id="115" presetID="10" presetClass="exit" presetSubtype="0" fill="hold" grpId="0" nodeType="clickEffect">
                                  <p:stCondLst>
                                    <p:cond delay="0"/>
                                  </p:stCondLst>
                                  <p:childTnLst>
                                    <p:animEffect transition="out" filter="fade">
                                      <p:cBhvr>
                                        <p:cTn id="113" dur="300"/>
                                        <p:tgtEl>
                                          <p:spTgt spid="38"/>
                                        </p:tgtEl>
                                      </p:cBhvr>
                                    </p:animEffect>
                                    <p:set>
                                      <p:cBhvr>
                                        <p:cTn id="114" dur="1" fill="hold">
                                          <p:stCondLst>
                                            <p:cond delay="299"/>
                                          </p:stCondLst>
                                        </p:cTn>
                                        <p:tgtEl>
                                          <p:spTgt spid="38"/>
                                        </p:tgtEl>
                                        <p:attrNameLst>
                                          <p:attrName>style.visibility</p:attrName>
                                        </p:attrNameLst>
                                      </p:cBhvr>
                                      <p:to>
                                        <p:strVal val="hidden"/>
                                      </p:to>
                                    </p:set>
                                  </p:childTnLst>
                                </p:cTn>
                              </p:par>
                              <p:par>
                                <p:cTn id="118" presetID="22" presetClass="entr" presetSubtype="8" fill="hold" nodeType="withEffect">
                                  <p:stCondLst>
                                    <p:cond delay="200"/>
                                  </p:stCondLst>
                                  <p:childTnLst>
                                    <p:set>
                                      <p:cBhvr>
                                        <p:cTn id="116" dur="1" fill="hold">
                                          <p:stCondLst>
                                            <p:cond delay="0"/>
                                          </p:stCondLst>
                                        </p:cTn>
                                        <p:tgtEl>
                                          <p:spTgt spid="41"/>
                                        </p:tgtEl>
                                        <p:attrNameLst>
                                          <p:attrName>style.visibility</p:attrName>
                                        </p:attrNameLst>
                                      </p:cBhvr>
                                      <p:to>
                                        <p:strVal val="visible"/>
                                      </p:to>
                                    </p:set>
                                    <p:animEffect transition="in" filter="wipe(left)">
                                      <p:cBhvr>
                                        <p:cTn id="117" dur="300"/>
                                        <p:tgtEl>
                                          <p:spTgt spid="41"/>
                                        </p:tgtEl>
                                      </p:cBhvr>
                                    </p:animEffect>
                                  </p:childTnLst>
                                </p:cTn>
                              </p:par>
                              <p:par>
                                <p:cTn id="121" presetID="10" presetClass="entr" presetSubtype="0" fill="hold" grpId="0" nodeType="withEffect">
                                  <p:stCondLst>
                                    <p:cond delay="600"/>
                                  </p:stCondLst>
                                  <p:childTnLst>
                                    <p:set>
                                      <p:cBhvr>
                                        <p:cTn id="119" dur="1" fill="hold">
                                          <p:stCondLst>
                                            <p:cond delay="0"/>
                                          </p:stCondLst>
                                        </p:cTn>
                                        <p:tgtEl>
                                          <p:spTgt spid="39"/>
                                        </p:tgtEl>
                                        <p:attrNameLst>
                                          <p:attrName>style.visibility</p:attrName>
                                        </p:attrNameLst>
                                      </p:cBhvr>
                                      <p:to>
                                        <p:strVal val="visible"/>
                                      </p:to>
                                    </p:set>
                                    <p:animEffect transition="in" filter="fade">
                                      <p:cBhvr>
                                        <p:cTn id="120" dur="500"/>
                                        <p:tgtEl>
                                          <p:spTgt spid="39"/>
                                        </p:tgtEl>
                                      </p:cBhvr>
                                    </p:animEffect>
                                  </p:childTnLst>
                                </p:cTn>
                              </p:par>
                              <p:par>
                                <p:cTn id="124" presetID="10" presetClass="entr" presetSubtype="0" fill="hold" grpId="0" nodeType="withEffect">
                                  <p:stCondLst>
                                    <p:cond delay="600"/>
                                  </p:stCondLst>
                                  <p:childTnLst>
                                    <p:set>
                                      <p:cBhvr>
                                        <p:cTn id="122" dur="1" fill="hold">
                                          <p:stCondLst>
                                            <p:cond delay="0"/>
                                          </p:stCondLst>
                                        </p:cTn>
                                        <p:tgtEl>
                                          <p:spTgt spid="40"/>
                                        </p:tgtEl>
                                        <p:attrNameLst>
                                          <p:attrName>style.visibility</p:attrName>
                                        </p:attrNameLst>
                                      </p:cBhvr>
                                      <p:to>
                                        <p:strVal val="visible"/>
                                      </p:to>
                                    </p:set>
                                    <p:animEffect transition="in" filter="fade">
                                      <p:cBhvr>
                                        <p:cTn id="123" dur="500"/>
                                        <p:tgtEl>
                                          <p:spTgt spid="40"/>
                                        </p:tgtEl>
                                      </p:cBhvr>
                                    </p:animEffect>
                                  </p:childTnLst>
                                </p:cTn>
                              </p:par>
                              <p:par>
                                <p:cTn id="127" presetID="10" presetClass="entr" presetSubtype="0" fill="hold" grpId="0" nodeType="withEffect">
                                  <p:stCondLst>
                                    <p:cond delay="300"/>
                                  </p:stCondLst>
                                  <p:childTnLst>
                                    <p:set>
                                      <p:cBhvr>
                                        <p:cTn id="125" dur="1" fill="hold">
                                          <p:stCondLst>
                                            <p:cond delay="0"/>
                                          </p:stCondLst>
                                        </p:cTn>
                                        <p:tgtEl>
                                          <p:spTgt spid="42"/>
                                        </p:tgtEl>
                                        <p:attrNameLst>
                                          <p:attrName>style.visibility</p:attrName>
                                        </p:attrNameLst>
                                      </p:cBhvr>
                                      <p:to>
                                        <p:strVal val="visible"/>
                                      </p:to>
                                    </p:set>
                                    <p:animEffect transition="in" filter="fade">
                                      <p:cBhvr>
                                        <p:cTn id="126" dur="500"/>
                                        <p:tgtEl>
                                          <p:spTgt spid="42"/>
                                        </p:tgtEl>
                                      </p:cBhvr>
                                    </p:animEffect>
                                  </p:childTnLst>
                                </p:cTn>
                              </p:par>
                            </p:childTnLst>
                          </p:cTn>
                        </p:par>
                      </p:childTnLst>
                    </p:cTn>
                  </p:par>
                  <p:par>
                    <p:cTn id="128" fill="hold">
                      <p:stCondLst>
                        <p:cond delay="indefinite"/>
                      </p:stCondLst>
                      <p:childTnLst>
                        <p:par>
                          <p:cTn id="129" fill="hold">
                            <p:stCondLst>
                              <p:cond delay="0"/>
                            </p:stCondLst>
                            <p:childTnLst>
                              <p:par>
                                <p:cTn id="132" presetID="10" presetClass="exit" presetSubtype="0" fill="hold" grpId="0" nodeType="clickEffect">
                                  <p:stCondLst>
                                    <p:cond delay="0"/>
                                  </p:stCondLst>
                                  <p:childTnLst>
                                    <p:animEffect transition="out" filter="fade">
                                      <p:cBhvr>
                                        <p:cTn id="130" dur="300"/>
                                        <p:tgtEl>
                                          <p:spTgt spid="42"/>
                                        </p:tgtEl>
                                      </p:cBhvr>
                                    </p:animEffect>
                                    <p:set>
                                      <p:cBhvr>
                                        <p:cTn id="131" dur="1" fill="hold">
                                          <p:stCondLst>
                                            <p:cond delay="299"/>
                                          </p:stCondLst>
                                        </p:cTn>
                                        <p:tgtEl>
                                          <p:spTgt spid="42"/>
                                        </p:tgtEl>
                                        <p:attrNameLst>
                                          <p:attrName>style.visibility</p:attrName>
                                        </p:attrNameLst>
                                      </p:cBhvr>
                                      <p:to>
                                        <p:strVal val="hidden"/>
                                      </p:to>
                                    </p:set>
                                  </p:childTnLst>
                                </p:cTn>
                              </p:par>
                              <p:par>
                                <p:cTn id="135" presetID="10" presetClass="entr" presetSubtype="0" fill="hold" grpId="0" nodeType="withEffect">
                                  <p:stCondLst>
                                    <p:cond delay="300"/>
                                  </p:stCondLst>
                                  <p:childTnLst>
                                    <p:set>
                                      <p:cBhvr>
                                        <p:cTn id="133" dur="1" fill="hold">
                                          <p:stCondLst>
                                            <p:cond delay="0"/>
                                          </p:stCondLst>
                                        </p:cTn>
                                        <p:tgtEl>
                                          <p:spTgt spid="43"/>
                                        </p:tgtEl>
                                        <p:attrNameLst>
                                          <p:attrName>style.visibility</p:attrName>
                                        </p:attrNameLst>
                                      </p:cBhvr>
                                      <p:to>
                                        <p:strVal val="visible"/>
                                      </p:to>
                                    </p:set>
                                    <p:animEffect transition="in" filter="fade">
                                      <p:cBhvr>
                                        <p:cTn id="134"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p:bldP spid="15" grpId="0" animBg="1"/>
      <p:bldP spid="16" grpId="0" animBg="1"/>
      <p:bldP spid="18" grpId="0"/>
      <p:bldP spid="19" grpId="0" animBg="1"/>
      <p:bldP spid="20" grpId="0" animBg="1"/>
      <p:bldP spid="24" grpId="0"/>
      <p:bldP spid="25" grpId="0" animBg="1"/>
      <p:bldP spid="26" grpId="0" animBg="1"/>
      <p:bldP spid="28" grpId="0"/>
      <p:bldP spid="29" grpId="0" animBg="1"/>
      <p:bldP spid="30" grpId="0" animBg="1"/>
      <p:bldP spid="32" grpId="0"/>
      <p:bldP spid="33" grpId="0" animBg="1"/>
      <p:bldP spid="34" grpId="0" animBg="1"/>
      <p:bldP spid="38" grpId="0"/>
      <p:bldP spid="39" grpId="0" animBg="1"/>
      <p:bldP spid="40" grpId="0" animBg="1"/>
      <p:bldP spid="42" grpId="0"/>
      <p:bldP spid="43"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policy owner</dc:title>
  <dc:subject>PptxGenJS Presentation</dc:subject>
  <dc:creator>Nisha Mishra</dc:creator>
  <cp:lastModifiedBy>Nisha Mishra</cp:lastModifiedBy>
  <cp:revision>1</cp:revision>
  <dcterms:created xsi:type="dcterms:W3CDTF">2026-10-05T19:03:44Z</dcterms:created>
  <dcterms:modified xsi:type="dcterms:W3CDTF">2026-10-05T19:03:44Z</dcterms:modified>
</cp:coreProperties>
</file>