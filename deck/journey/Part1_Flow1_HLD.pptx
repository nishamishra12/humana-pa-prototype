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One click per step. Finish your talking point, then click.
Click 1: It starts with CMS. A weekly job calls the CMS Coverage API for three things: the billing articles, the billing codes listed on each article, and the national and local coverage policies. These are the calls it makes. The API is public. The job gets a short-lived token first.
Click 2: The job compares version numbers with what we already stored, and fetches only what is new or changed. The first run takes a few minutes. After that, a weekly run is small. If a call fails, that item is tried again next run.
Click 3: It saves everything in our database: one table for articles, one for the billing codes on each article, one for the policies with their coverage text. This is why the owner never waits on the CMS website, and why it still works if CMS is down. It also lets us ask which articles list a given code.
Click 4: Now the owner creates a service, for example allergen immunotherapy. They give it a name and one sentence on what it covers. The app server reads the database. It never calls CMS while the owner waits. These are the endpoints the screens call.
Click 5: The app matches the service name to article titles and reads the codes from the database. We rank each code by how many articles it is found in. A code found in nine of nine articles is more likely to be right than one found in one. The app also suggests policies, from our library first and then from CMS. If a policy is already approved, the owner adds it in one click and nothing is read or reviewed again.
Click 6: The owner ticks the billing codes to use. Each code keeps the CMS article it came from as its source. They pick a policy. The service is saved as a new version of the library. If the policy is new, it goes to the build flow, which is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eyebrow"/>
          <p:cNvSpPr txBox="1"/>
          <p:nvPr/>
        </p:nvSpPr>
        <p:spPr>
          <a:xfrm>
            <a:off x="457200" y="274320"/>
            <a:ext cx="6400800" cy="256032"/>
          </a:xfrm>
          <a:prstGeom prst="rect">
            <a:avLst/>
          </a:prstGeom>
          <a:noFill/>
          <a:ln/>
        </p:spPr>
        <p:txBody>
          <a:bodyPr wrap="square" lIns="0" tIns="0" rIns="0" bIns="0" rtlCol="0" anchor="t"/>
          <a:lstStyle/>
          <a:p>
            <a:pPr algn="l" indent="0" marL="0">
              <a:buNone/>
            </a:pPr>
            <a:r>
              <a:rPr lang="en-US" sz="1100" b="1" spc="300" kern="0" dirty="0">
                <a:solidFill>
                  <a:srgbClr val="1F6F5C"/>
                </a:solidFill>
                <a:latin typeface="Calibri" pitchFamily="34" charset="0"/>
                <a:ea typeface="Calibri" pitchFamily="34" charset="-122"/>
                <a:cs typeface="Calibri" pitchFamily="34" charset="-120"/>
              </a:rPr>
              <a:t>PART 1  ·  FLOW 1</a:t>
            </a:r>
            <a:endParaRPr lang="en-US" sz="1100" dirty="0"/>
          </a:p>
        </p:txBody>
      </p:sp>
      <p:sp>
        <p:nvSpPr>
          <p:cNvPr id="3" name="title"/>
          <p:cNvSpPr txBox="1"/>
          <p:nvPr/>
        </p:nvSpPr>
        <p:spPr>
          <a:xfrm>
            <a:off x="457200" y="502920"/>
            <a:ext cx="8046720" cy="685800"/>
          </a:xfrm>
          <a:prstGeom prst="rect">
            <a:avLst/>
          </a:prstGeom>
          <a:noFill/>
          <a:ln/>
        </p:spPr>
        <p:txBody>
          <a:bodyPr wrap="square" lIns="0" tIns="0" rIns="0" bIns="0" rtlCol="0" anchor="ctr"/>
          <a:lstStyle/>
          <a:p>
            <a:pPr algn="l" indent="0" marL="0">
              <a:buNone/>
            </a:pPr>
            <a:r>
              <a:rPr lang="en-US" sz="2600" dirty="0">
                <a:solidFill>
                  <a:srgbClr val="16211E"/>
                </a:solidFill>
                <a:latin typeface="Cambria" pitchFamily="34" charset="0"/>
                <a:ea typeface="Cambria" pitchFamily="34" charset="-122"/>
                <a:cs typeface="Cambria" pitchFamily="34" charset="-120"/>
              </a:rPr>
              <a:t>From CMS data to a service.</a:t>
            </a:r>
            <a:endParaRPr lang="en-US" sz="2600" dirty="0"/>
          </a:p>
        </p:txBody>
      </p:sp>
      <p:sp>
        <p:nvSpPr>
          <p:cNvPr id="4" name="sub"/>
          <p:cNvSpPr txBox="1"/>
          <p:nvPr/>
        </p:nvSpPr>
        <p:spPr>
          <a:xfrm>
            <a:off x="8412480" y="502920"/>
            <a:ext cx="3319272" cy="685800"/>
          </a:xfrm>
          <a:prstGeom prst="rect">
            <a:avLst/>
          </a:prstGeom>
          <a:noFill/>
          <a:ln/>
        </p:spPr>
        <p:txBody>
          <a:bodyPr wrap="square" lIns="0" tIns="0" rIns="0" bIns="0" rtlCol="0" anchor="ctr"/>
          <a:lstStyle/>
          <a:p>
            <a:pPr algn="r" indent="0" marL="0">
              <a:buNone/>
            </a:pPr>
            <a:r>
              <a:rPr lang="en-US" sz="1400" dirty="0">
                <a:solidFill>
                  <a:srgbClr val="5C6B66"/>
                </a:solidFill>
                <a:latin typeface="Calibri" pitchFamily="34" charset="0"/>
                <a:ea typeface="Calibri" pitchFamily="34" charset="-122"/>
                <a:cs typeface="Calibri" pitchFamily="34" charset="-120"/>
              </a:rPr>
              <a:t>How the owner finds codes and policies</a:t>
            </a:r>
            <a:endParaRPr lang="en-US" sz="1400" dirty="0"/>
          </a:p>
        </p:txBody>
      </p:sp>
      <p:sp>
        <p:nvSpPr>
          <p:cNvPr id="5" name="footer"/>
          <p:cNvSpPr txBox="1"/>
          <p:nvPr/>
        </p:nvSpPr>
        <p:spPr>
          <a:xfrm>
            <a:off x="457200" y="6492240"/>
            <a:ext cx="11274552" cy="228600"/>
          </a:xfrm>
          <a:prstGeom prst="rect">
            <a:avLst/>
          </a:prstGeom>
          <a:noFill/>
          <a:ln/>
        </p:spPr>
        <p:txBody>
          <a:bodyPr wrap="square" lIns="0" tIns="0" rIns="0" bIns="0" rtlCol="0" anchor="t"/>
          <a:lstStyle/>
          <a:p>
            <a:pPr algn="l" indent="0" marL="0">
              <a:buNone/>
            </a:pPr>
            <a:r>
              <a:rPr lang="en-US" sz="900" dirty="0">
                <a:solidFill>
                  <a:srgbClr val="5C6B66"/>
                </a:solidFill>
                <a:latin typeface="Calibri" pitchFamily="34" charset="0"/>
                <a:ea typeface="Calibri" pitchFamily="34" charset="-122"/>
                <a:cs typeface="Calibri" pitchFamily="34" charset="-120"/>
              </a:rPr>
              <a:t>All data shown is public CMS data. Every billing code keeps the CMS article it came from as its source.</a:t>
            </a:r>
            <a:endParaRPr lang="en-US" sz="900" dirty="0"/>
          </a:p>
        </p:txBody>
      </p:sp>
      <p:sp>
        <p:nvSpPr>
          <p:cNvPr id="6" name="P1"/>
          <p:cNvSpPr/>
          <p:nvPr/>
        </p:nvSpPr>
        <p:spPr>
          <a:xfrm>
            <a:off x="457200" y="1325880"/>
            <a:ext cx="11274552" cy="1280160"/>
          </a:xfrm>
          <a:prstGeom prst="roundRect">
            <a:avLst>
              <a:gd name="adj" fmla="val 7143"/>
            </a:avLst>
          </a:prstGeom>
          <a:solidFill>
            <a:srgbClr val="F5F3EE"/>
          </a:solidFill>
          <a:ln w="12700">
            <a:solidFill>
              <a:srgbClr val="CBD5D1"/>
            </a:solidFill>
          </a:ln>
        </p:spPr>
        <p:txBody>
          <a:bodyPr wrap="square" lIns="109728" tIns="54864" rIns="109728" bIns="54864" rtlCol="0" anchor="ctr"/>
          <a:lstStyle/>
          <a:p>
            <a:pPr algn="l" indent="0" marL="0">
              <a:buNone/>
            </a:pPr>
            <a:r>
              <a:rPr lang="en-US" sz="800" dirty="0">
                <a:solidFill>
                  <a:srgbClr val="000000"/>
                </a:solidFill>
              </a:rPr>
              <a:t> </a:t>
            </a:r>
            <a:endParaRPr lang="en-US" sz="800" dirty="0"/>
          </a:p>
        </p:txBody>
      </p:sp>
      <p:sp>
        <p:nvSpPr>
          <p:cNvPr id="7" name="P1L"/>
          <p:cNvSpPr txBox="1"/>
          <p:nvPr/>
        </p:nvSpPr>
        <p:spPr>
          <a:xfrm>
            <a:off x="640080" y="1353312"/>
            <a:ext cx="5486400" cy="457200"/>
          </a:xfrm>
          <a:prstGeom prst="rect">
            <a:avLst/>
          </a:prstGeom>
          <a:noFill/>
          <a:ln/>
        </p:spPr>
        <p:txBody>
          <a:bodyPr wrap="square" lIns="0" tIns="0" rIns="0" bIns="0" rtlCol="0" anchor="t"/>
          <a:lstStyle/>
          <a:p>
            <a:pPr algn="l" indent="0" marL="0">
              <a:buNone/>
            </a:pPr>
            <a:r>
              <a:rPr lang="en-US" sz="1100" b="1" spc="200" kern="0" dirty="0">
                <a:solidFill>
                  <a:srgbClr val="16211E"/>
                </a:solidFill>
                <a:latin typeface="Calibri" pitchFamily="34" charset="0"/>
                <a:ea typeface="Calibri" pitchFamily="34" charset="-122"/>
                <a:cs typeface="Calibri" pitchFamily="34" charset="-120"/>
              </a:rPr>
              <a:t>WEEKLY REFRESH</a:t>
            </a:r>
            <a:endParaRPr lang="en-US" sz="1100" dirty="0"/>
          </a:p>
        </p:txBody>
      </p:sp>
      <p:sp>
        <p:nvSpPr>
          <p:cNvPr id="8" name="P2"/>
          <p:cNvSpPr/>
          <p:nvPr/>
        </p:nvSpPr>
        <p:spPr>
          <a:xfrm>
            <a:off x="457200" y="2697480"/>
            <a:ext cx="11274552" cy="1234440"/>
          </a:xfrm>
          <a:prstGeom prst="roundRect">
            <a:avLst>
              <a:gd name="adj" fmla="val 7407"/>
            </a:avLst>
          </a:prstGeom>
          <a:solidFill>
            <a:srgbClr val="EEF5F2"/>
          </a:solidFill>
          <a:ln w="12700">
            <a:solidFill>
              <a:srgbClr val="CBD5D1"/>
            </a:solidFill>
          </a:ln>
        </p:spPr>
        <p:txBody>
          <a:bodyPr wrap="square" lIns="109728" tIns="54864" rIns="109728" bIns="54864" rtlCol="0" anchor="ctr"/>
          <a:lstStyle/>
          <a:p>
            <a:pPr algn="l" indent="0" marL="0">
              <a:buNone/>
            </a:pPr>
            <a:r>
              <a:rPr lang="en-US" sz="800" dirty="0">
                <a:solidFill>
                  <a:srgbClr val="000000"/>
                </a:solidFill>
              </a:rPr>
              <a:t> </a:t>
            </a:r>
            <a:endParaRPr lang="en-US" sz="800" dirty="0"/>
          </a:p>
        </p:txBody>
      </p:sp>
      <p:sp>
        <p:nvSpPr>
          <p:cNvPr id="9" name="P2L"/>
          <p:cNvSpPr txBox="1"/>
          <p:nvPr/>
        </p:nvSpPr>
        <p:spPr>
          <a:xfrm>
            <a:off x="640080" y="2724912"/>
            <a:ext cx="5486400" cy="457200"/>
          </a:xfrm>
          <a:prstGeom prst="rect">
            <a:avLst/>
          </a:prstGeom>
          <a:noFill/>
          <a:ln/>
        </p:spPr>
        <p:txBody>
          <a:bodyPr wrap="square" lIns="0" tIns="0" rIns="0" bIns="0" rtlCol="0" anchor="t"/>
          <a:lstStyle/>
          <a:p>
            <a:pPr algn="l" indent="0" marL="0">
              <a:buNone/>
            </a:pPr>
            <a:r>
              <a:rPr lang="en-US" sz="1100" b="1" spc="200" kern="0" dirty="0">
                <a:solidFill>
                  <a:srgbClr val="16211E"/>
                </a:solidFill>
                <a:latin typeface="Calibri" pitchFamily="34" charset="0"/>
                <a:ea typeface="Calibri" pitchFamily="34" charset="-122"/>
                <a:cs typeface="Calibri" pitchFamily="34" charset="-120"/>
              </a:rPr>
              <a:t>THE OWNER CREATES A SERVICE</a:t>
            </a:r>
            <a:endParaRPr lang="en-US" sz="1100" dirty="0"/>
          </a:p>
        </p:txBody>
      </p:sp>
      <p:sp>
        <p:nvSpPr>
          <p:cNvPr id="10" name="P3"/>
          <p:cNvSpPr/>
          <p:nvPr/>
        </p:nvSpPr>
        <p:spPr>
          <a:xfrm>
            <a:off x="457200" y="4023360"/>
            <a:ext cx="11274552" cy="1645920"/>
          </a:xfrm>
          <a:prstGeom prst="roundRect">
            <a:avLst>
              <a:gd name="adj" fmla="val 5556"/>
            </a:avLst>
          </a:prstGeom>
          <a:solidFill>
            <a:srgbClr val="F5F3EE"/>
          </a:solidFill>
          <a:ln w="12700">
            <a:solidFill>
              <a:srgbClr val="CBD5D1"/>
            </a:solidFill>
          </a:ln>
        </p:spPr>
        <p:txBody>
          <a:bodyPr wrap="square" lIns="109728" tIns="54864" rIns="109728" bIns="54864" rtlCol="0" anchor="ctr"/>
          <a:lstStyle/>
          <a:p>
            <a:pPr algn="l" indent="0" marL="0">
              <a:buNone/>
            </a:pPr>
            <a:r>
              <a:rPr lang="en-US" sz="800" dirty="0">
                <a:solidFill>
                  <a:srgbClr val="000000"/>
                </a:solidFill>
              </a:rPr>
              <a:t> </a:t>
            </a:r>
            <a:endParaRPr lang="en-US" sz="800" dirty="0"/>
          </a:p>
        </p:txBody>
      </p:sp>
      <p:sp>
        <p:nvSpPr>
          <p:cNvPr id="11" name="P3L"/>
          <p:cNvSpPr txBox="1"/>
          <p:nvPr/>
        </p:nvSpPr>
        <p:spPr>
          <a:xfrm>
            <a:off x="640080" y="4050792"/>
            <a:ext cx="5486400" cy="457200"/>
          </a:xfrm>
          <a:prstGeom prst="rect">
            <a:avLst/>
          </a:prstGeom>
          <a:noFill/>
          <a:ln/>
        </p:spPr>
        <p:txBody>
          <a:bodyPr wrap="square" lIns="0" tIns="0" rIns="0" bIns="0" rtlCol="0" anchor="t"/>
          <a:lstStyle/>
          <a:p>
            <a:pPr algn="l" indent="0" marL="0">
              <a:buNone/>
            </a:pPr>
            <a:r>
              <a:rPr lang="en-US" sz="1100" b="1" spc="200" kern="0" dirty="0">
                <a:solidFill>
                  <a:srgbClr val="16211E"/>
                </a:solidFill>
                <a:latin typeface="Calibri" pitchFamily="34" charset="0"/>
                <a:ea typeface="Calibri" pitchFamily="34" charset="-122"/>
                <a:cs typeface="Calibri" pitchFamily="34" charset="-120"/>
              </a:rPr>
              <a:t>THE OWNER PICKS</a:t>
            </a:r>
            <a:endParaRPr lang="en-US" sz="1100" dirty="0"/>
          </a:p>
        </p:txBody>
      </p:sp>
      <p:sp>
        <p:nvSpPr>
          <p:cNvPr id="12" name="S_cms"/>
          <p:cNvSpPr/>
          <p:nvPr/>
        </p:nvSpPr>
        <p:spPr>
          <a:xfrm>
            <a:off x="731520" y="1664208"/>
            <a:ext cx="2377440" cy="804672"/>
          </a:xfrm>
          <a:prstGeom prst="roundRect">
            <a:avLst>
              <a:gd name="adj" fmla="val 11364"/>
            </a:avLst>
          </a:prstGeom>
          <a:solidFill>
            <a:srgbClr val="FFFFFF"/>
          </a:solidFill>
          <a:ln w="15875">
            <a:solidFill>
              <a:srgbClr val="CBD5D1"/>
            </a:solidFill>
          </a:ln>
        </p:spPr>
        <p:txBody>
          <a:bodyPr wrap="square" lIns="91440" tIns="201168" rIns="91440" bIns="45720" rtlCol="0" anchor="t"/>
          <a:lstStyle/>
          <a:p>
            <a:pPr algn="l" indent="0" marL="0">
              <a:buNone/>
            </a:pPr>
            <a:r>
              <a:rPr lang="en-US" sz="850" b="1" spc="150" kern="0" dirty="0">
                <a:solidFill>
                  <a:srgbClr val="5C6B66"/>
                </a:solidFill>
                <a:latin typeface="Calibri" pitchFamily="34" charset="0"/>
                <a:ea typeface="Calibri" pitchFamily="34" charset="-122"/>
                <a:cs typeface="Calibri" pitchFamily="34" charset="-120"/>
              </a:rPr>
              <a:t>INPUT</a:t>
            </a:r>
            <a:endParaRPr lang="en-US" sz="850" dirty="0"/>
          </a:p>
          <a:p>
            <a:pPr algn="l" indent="0" marL="0">
              <a:buNone/>
            </a:pPr>
            <a:r>
              <a:rPr lang="en-US" sz="1250" b="1" dirty="0">
                <a:solidFill>
                  <a:srgbClr val="16211E"/>
                </a:solidFill>
                <a:latin typeface="Calibri" pitchFamily="34" charset="0"/>
                <a:ea typeface="Calibri" pitchFamily="34" charset="-122"/>
                <a:cs typeface="Calibri" pitchFamily="34" charset="-120"/>
              </a:rPr>
              <a:t>CMS Coverage API</a:t>
            </a:r>
            <a:endParaRPr lang="en-US" sz="850" dirty="0"/>
          </a:p>
          <a:p>
            <a:pPr algn="l" indent="0" marL="0">
              <a:buNone/>
            </a:pPr>
            <a:r>
              <a:rPr lang="en-US" sz="1000" dirty="0">
                <a:solidFill>
                  <a:srgbClr val="5C6B66"/>
                </a:solidFill>
                <a:latin typeface="Calibri" pitchFamily="34" charset="0"/>
                <a:ea typeface="Calibri" pitchFamily="34" charset="-122"/>
                <a:cs typeface="Calibri" pitchFamily="34" charset="-120"/>
              </a:rPr>
              <a:t>Public CMS data</a:t>
            </a:r>
            <a:endParaRPr lang="en-US" sz="850" dirty="0"/>
          </a:p>
        </p:txBody>
      </p:sp>
      <p:sp>
        <p:nvSpPr>
          <p:cNvPr id="13" name="A1"/>
          <p:cNvSpPr/>
          <p:nvPr/>
        </p:nvSpPr>
        <p:spPr>
          <a:xfrm>
            <a:off x="3108960" y="2066544"/>
            <a:ext cx="731520" cy="0"/>
          </a:xfrm>
          <a:prstGeom prst="line">
            <a:avLst/>
          </a:prstGeom>
          <a:noFill/>
          <a:ln w="22225">
            <a:solidFill>
              <a:srgbClr val="5C6B66"/>
            </a:solidFill>
            <a:prstDash val="solid"/>
            <a:tailEnd type="triangle"/>
          </a:ln>
        </p:spPr>
      </p:sp>
      <p:sp>
        <p:nvSpPr>
          <p:cNvPr id="14" name="S_job"/>
          <p:cNvSpPr/>
          <p:nvPr/>
        </p:nvSpPr>
        <p:spPr>
          <a:xfrm>
            <a:off x="3840480" y="1664208"/>
            <a:ext cx="2194560" cy="804672"/>
          </a:xfrm>
          <a:prstGeom prst="roundRect">
            <a:avLst>
              <a:gd name="adj" fmla="val 11364"/>
            </a:avLst>
          </a:prstGeom>
          <a:solidFill>
            <a:srgbClr val="E3F0EB"/>
          </a:solidFill>
          <a:ln w="15875">
            <a:solidFill>
              <a:srgbClr val="1F6F5C"/>
            </a:solidFill>
          </a:ln>
        </p:spPr>
        <p:txBody>
          <a:bodyPr wrap="square" lIns="91440" tIns="201168" rIns="91440" bIns="45720" rtlCol="0" anchor="t"/>
          <a:lstStyle/>
          <a:p>
            <a:pPr algn="l" indent="0" marL="0">
              <a:buNone/>
            </a:pPr>
            <a:r>
              <a:rPr lang="en-US" sz="850" b="1" spc="150" kern="0" dirty="0">
                <a:solidFill>
                  <a:srgbClr val="1F6F5C"/>
                </a:solidFill>
                <a:latin typeface="Calibri" pitchFamily="34" charset="0"/>
                <a:ea typeface="Calibri" pitchFamily="34" charset="-122"/>
                <a:cs typeface="Calibri" pitchFamily="34" charset="-120"/>
              </a:rPr>
              <a:t>CODE</a:t>
            </a:r>
            <a:endParaRPr lang="en-US" sz="850" dirty="0"/>
          </a:p>
          <a:p>
            <a:pPr algn="l" indent="0" marL="0">
              <a:buNone/>
            </a:pPr>
            <a:r>
              <a:rPr lang="en-US" sz="1250" b="1" dirty="0">
                <a:solidFill>
                  <a:srgbClr val="16211E"/>
                </a:solidFill>
                <a:latin typeface="Calibri" pitchFamily="34" charset="0"/>
                <a:ea typeface="Calibri" pitchFamily="34" charset="-122"/>
                <a:cs typeface="Calibri" pitchFamily="34" charset="-120"/>
              </a:rPr>
              <a:t>Refresh job</a:t>
            </a:r>
            <a:endParaRPr lang="en-US" sz="850" dirty="0"/>
          </a:p>
          <a:p>
            <a:pPr algn="l" indent="0" marL="0">
              <a:buNone/>
            </a:pPr>
            <a:r>
              <a:rPr lang="en-US" sz="1000" dirty="0">
                <a:solidFill>
                  <a:srgbClr val="5C6B66"/>
                </a:solidFill>
                <a:latin typeface="Calibri" pitchFamily="34" charset="0"/>
                <a:ea typeface="Calibri" pitchFamily="34" charset="-122"/>
                <a:cs typeface="Calibri" pitchFamily="34" charset="-120"/>
              </a:rPr>
              <a:t>Weekly. Changes only.</a:t>
            </a:r>
            <a:endParaRPr lang="en-US" sz="850" dirty="0"/>
          </a:p>
        </p:txBody>
      </p:sp>
      <p:sp>
        <p:nvSpPr>
          <p:cNvPr id="15" name="A2"/>
          <p:cNvSpPr/>
          <p:nvPr/>
        </p:nvSpPr>
        <p:spPr>
          <a:xfrm>
            <a:off x="6035040" y="2066544"/>
            <a:ext cx="731520" cy="0"/>
          </a:xfrm>
          <a:prstGeom prst="line">
            <a:avLst/>
          </a:prstGeom>
          <a:noFill/>
          <a:ln w="22225">
            <a:solidFill>
              <a:srgbClr val="5C6B66"/>
            </a:solidFill>
            <a:prstDash val="solid"/>
            <a:tailEnd type="triangle"/>
          </a:ln>
        </p:spPr>
      </p:sp>
      <p:pic>
        <p:nvPicPr>
          <p:cNvPr id="16" name="Db" descr="preencoded.png">    </p:cNvPr>
          <p:cNvPicPr>
            <a:picLocks noChangeAspect="1"/>
          </p:cNvPicPr>
          <p:nvPr/>
        </p:nvPicPr>
        <p:blipFill>
          <a:blip r:embed="rId1"/>
          <a:stretch>
            <a:fillRect/>
          </a:stretch>
        </p:blipFill>
        <p:spPr>
          <a:xfrm>
            <a:off x="6766560" y="1417320"/>
            <a:ext cx="2011680" cy="1188720"/>
          </a:xfrm>
          <a:prstGeom prst="rect">
            <a:avLst/>
          </a:prstGeom>
        </p:spPr>
      </p:pic>
      <p:sp>
        <p:nvSpPr>
          <p:cNvPr id="17" name="DbT"/>
          <p:cNvSpPr txBox="1"/>
          <p:nvPr/>
        </p:nvSpPr>
        <p:spPr>
          <a:xfrm>
            <a:off x="6766560" y="1691640"/>
            <a:ext cx="2011680" cy="868680"/>
          </a:xfrm>
          <a:prstGeom prst="rect">
            <a:avLst/>
          </a:prstGeom>
          <a:noFill/>
          <a:ln/>
        </p:spPr>
        <p:txBody>
          <a:bodyPr wrap="square" lIns="0" tIns="0" rIns="0" bIns="0" rtlCol="0" anchor="ctr"/>
          <a:lstStyle/>
          <a:p>
            <a:pPr algn="ctr" indent="0" marL="0">
              <a:buNone/>
            </a:pPr>
            <a:r>
              <a:rPr lang="en-US" sz="1000" b="1" dirty="0">
                <a:solidFill>
                  <a:srgbClr val="16211E"/>
                </a:solidFill>
                <a:latin typeface="Calibri" pitchFamily="34" charset="0"/>
                <a:ea typeface="Calibri" pitchFamily="34" charset="-122"/>
                <a:cs typeface="Calibri" pitchFamily="34" charset="-120"/>
              </a:rPr>
              <a:t>Database</a:t>
            </a:r>
            <a:endParaRPr lang="en-US" sz="1000" dirty="0"/>
          </a:p>
          <a:p>
            <a:pPr algn="ctr" indent="0" marL="0">
              <a:buNone/>
            </a:pPr>
            <a:r>
              <a:rPr lang="en-US" sz="1000" dirty="0">
                <a:solidFill>
                  <a:srgbClr val="16211E"/>
                </a:solidFill>
                <a:latin typeface="Calibri" pitchFamily="34" charset="0"/>
                <a:ea typeface="Calibri" pitchFamily="34" charset="-122"/>
                <a:cs typeface="Calibri" pitchFamily="34" charset="-120"/>
              </a:rPr>
              <a:t>cms_articles</a:t>
            </a:r>
            <a:endParaRPr lang="en-US" sz="1000" dirty="0"/>
          </a:p>
          <a:p>
            <a:pPr algn="ctr" indent="0" marL="0">
              <a:buNone/>
            </a:pPr>
            <a:r>
              <a:rPr lang="en-US" sz="1000" dirty="0">
                <a:solidFill>
                  <a:srgbClr val="16211E"/>
                </a:solidFill>
                <a:latin typeface="Calibri" pitchFamily="34" charset="0"/>
                <a:ea typeface="Calibri" pitchFamily="34" charset="-122"/>
                <a:cs typeface="Calibri" pitchFamily="34" charset="-120"/>
              </a:rPr>
              <a:t>cms_article_codes</a:t>
            </a:r>
            <a:endParaRPr lang="en-US" sz="1000" dirty="0"/>
          </a:p>
          <a:p>
            <a:pPr algn="ctr" indent="0" marL="0">
              <a:buNone/>
            </a:pPr>
            <a:r>
              <a:rPr lang="en-US" sz="1000" dirty="0">
                <a:solidFill>
                  <a:srgbClr val="16211E"/>
                </a:solidFill>
                <a:latin typeface="Calibri" pitchFamily="34" charset="0"/>
                <a:ea typeface="Calibri" pitchFamily="34" charset="-122"/>
                <a:cs typeface="Calibri" pitchFamily="34" charset="-120"/>
              </a:rPr>
              <a:t>cms_policies</a:t>
            </a:r>
            <a:endParaRPr lang="en-US" sz="1000" dirty="0"/>
          </a:p>
        </p:txBody>
      </p:sp>
      <p:sp>
        <p:nvSpPr>
          <p:cNvPr id="18" name="E1"/>
          <p:cNvSpPr txBox="1"/>
          <p:nvPr/>
        </p:nvSpPr>
        <p:spPr>
          <a:xfrm>
            <a:off x="9052560" y="1417320"/>
            <a:ext cx="2560320" cy="1143000"/>
          </a:xfrm>
          <a:prstGeom prst="rect">
            <a:avLst/>
          </a:prstGeom>
          <a:noFill/>
          <a:ln/>
        </p:spPr>
        <p:txBody>
          <a:bodyPr wrap="square" lIns="0" tIns="0" rIns="0" bIns="0" rtlCol="0" anchor="t"/>
          <a:lstStyle/>
          <a:p>
            <a:pPr algn="l" indent="0" marL="0">
              <a:buNone/>
            </a:pPr>
            <a:r>
              <a:rPr lang="en-US" sz="900" b="1" dirty="0">
                <a:solidFill>
                  <a:srgbClr val="5C6B66"/>
                </a:solidFill>
                <a:latin typeface="Calibri" pitchFamily="34" charset="0"/>
                <a:ea typeface="Calibri" pitchFamily="34" charset="-122"/>
                <a:cs typeface="Calibri" pitchFamily="34" charset="-120"/>
              </a:rPr>
              <a:t>CMS API CALLS</a:t>
            </a:r>
            <a:endParaRPr lang="en-US" sz="900" dirty="0"/>
          </a:p>
          <a:p>
            <a:pPr algn="l" indent="0" marL="0">
              <a:buNone/>
            </a:pPr>
            <a:r>
              <a:rPr lang="en-US" sz="900" dirty="0">
                <a:solidFill>
                  <a:srgbClr val="5C6B66"/>
                </a:solidFill>
                <a:latin typeface="Calibri" pitchFamily="34" charset="0"/>
                <a:ea typeface="Calibri" pitchFamily="34" charset="-122"/>
                <a:cs typeface="Calibri" pitchFamily="34" charset="-120"/>
              </a:rPr>
              <a:t>/reports/local-coverage-articles/</a:t>
            </a:r>
            <a:endParaRPr lang="en-US" sz="900" dirty="0"/>
          </a:p>
          <a:p>
            <a:pPr algn="l" indent="0" marL="0">
              <a:buNone/>
            </a:pPr>
            <a:r>
              <a:rPr lang="en-US" sz="900" dirty="0">
                <a:solidFill>
                  <a:srgbClr val="5C6B66"/>
                </a:solidFill>
                <a:latin typeface="Calibri" pitchFamily="34" charset="0"/>
                <a:ea typeface="Calibri" pitchFamily="34" charset="-122"/>
                <a:cs typeface="Calibri" pitchFamily="34" charset="-120"/>
              </a:rPr>
              <a:t>/data/article/hcpc-code/</a:t>
            </a:r>
            <a:endParaRPr lang="en-US" sz="900" dirty="0"/>
          </a:p>
          <a:p>
            <a:pPr algn="l" indent="0" marL="0">
              <a:buNone/>
            </a:pPr>
            <a:r>
              <a:rPr lang="en-US" sz="900" dirty="0">
                <a:solidFill>
                  <a:srgbClr val="5C6B66"/>
                </a:solidFill>
                <a:latin typeface="Calibri" pitchFamily="34" charset="0"/>
                <a:ea typeface="Calibri" pitchFamily="34" charset="-122"/>
                <a:cs typeface="Calibri" pitchFamily="34" charset="-120"/>
              </a:rPr>
              <a:t>/reports/national-coverage-ncd/</a:t>
            </a:r>
            <a:endParaRPr lang="en-US" sz="900" dirty="0"/>
          </a:p>
          <a:p>
            <a:pPr algn="l" indent="0" marL="0">
              <a:buNone/>
            </a:pPr>
            <a:r>
              <a:rPr lang="en-US" sz="900" dirty="0">
                <a:solidFill>
                  <a:srgbClr val="5C6B66"/>
                </a:solidFill>
                <a:latin typeface="Calibri" pitchFamily="34" charset="0"/>
                <a:ea typeface="Calibri" pitchFamily="34" charset="-122"/>
                <a:cs typeface="Calibri" pitchFamily="34" charset="-120"/>
              </a:rPr>
              <a:t>/reports/local-coverage-final-lcds/</a:t>
            </a:r>
            <a:endParaRPr lang="en-US" sz="900" dirty="0"/>
          </a:p>
          <a:p>
            <a:pPr algn="l" indent="0" marL="0">
              <a:buNone/>
            </a:pPr>
            <a:r>
              <a:rPr lang="en-US" sz="900" dirty="0">
                <a:solidFill>
                  <a:srgbClr val="5C6B66"/>
                </a:solidFill>
                <a:latin typeface="Calibri" pitchFamily="34" charset="0"/>
                <a:ea typeface="Calibri" pitchFamily="34" charset="-122"/>
                <a:cs typeface="Calibri" pitchFamily="34" charset="-120"/>
              </a:rPr>
              <a:t>/data/ncd/   /data/lcd/</a:t>
            </a:r>
            <a:endParaRPr lang="en-US" sz="900" dirty="0"/>
          </a:p>
        </p:txBody>
      </p:sp>
      <p:sp>
        <p:nvSpPr>
          <p:cNvPr id="19" name="S_owner"/>
          <p:cNvSpPr/>
          <p:nvPr/>
        </p:nvSpPr>
        <p:spPr>
          <a:xfrm>
            <a:off x="731520" y="3035808"/>
            <a:ext cx="2194560" cy="804672"/>
          </a:xfrm>
          <a:prstGeom prst="roundRect">
            <a:avLst>
              <a:gd name="adj" fmla="val 11364"/>
            </a:avLst>
          </a:prstGeom>
          <a:solidFill>
            <a:srgbClr val="FCEFD0"/>
          </a:solidFill>
          <a:ln w="15875">
            <a:solidFill>
              <a:srgbClr val="8A5A00"/>
            </a:solidFill>
          </a:ln>
        </p:spPr>
        <p:txBody>
          <a:bodyPr wrap="square" lIns="91440" tIns="201168" rIns="91440" bIns="45720" rtlCol="0" anchor="t"/>
          <a:lstStyle/>
          <a:p>
            <a:pPr algn="l" indent="0" marL="0">
              <a:buNone/>
            </a:pPr>
            <a:r>
              <a:rPr lang="en-US" sz="850" b="1" spc="150" kern="0" dirty="0">
                <a:solidFill>
                  <a:srgbClr val="8A5A00"/>
                </a:solidFill>
                <a:latin typeface="Calibri" pitchFamily="34" charset="0"/>
                <a:ea typeface="Calibri" pitchFamily="34" charset="-122"/>
                <a:cs typeface="Calibri" pitchFamily="34" charset="-120"/>
              </a:rPr>
              <a:t>PERSON</a:t>
            </a:r>
            <a:endParaRPr lang="en-US" sz="850" dirty="0"/>
          </a:p>
          <a:p>
            <a:pPr algn="l" indent="0" marL="0">
              <a:buNone/>
            </a:pPr>
            <a:r>
              <a:rPr lang="en-US" sz="1250" b="1" dirty="0">
                <a:solidFill>
                  <a:srgbClr val="16211E"/>
                </a:solidFill>
                <a:latin typeface="Calibri" pitchFamily="34" charset="0"/>
                <a:ea typeface="Calibri" pitchFamily="34" charset="-122"/>
                <a:cs typeface="Calibri" pitchFamily="34" charset="-120"/>
              </a:rPr>
              <a:t>Policy owner</a:t>
            </a:r>
            <a:endParaRPr lang="en-US" sz="850" dirty="0"/>
          </a:p>
          <a:p>
            <a:pPr algn="l" indent="0" marL="0">
              <a:buNone/>
            </a:pPr>
            <a:r>
              <a:rPr lang="en-US" sz="1000" dirty="0">
                <a:solidFill>
                  <a:srgbClr val="5C6B66"/>
                </a:solidFill>
                <a:latin typeface="Calibri" pitchFamily="34" charset="0"/>
                <a:ea typeface="Calibri" pitchFamily="34" charset="-122"/>
                <a:cs typeface="Calibri" pitchFamily="34" charset="-120"/>
              </a:rPr>
              <a:t>Creates a service</a:t>
            </a:r>
            <a:endParaRPr lang="en-US" sz="850" dirty="0"/>
          </a:p>
        </p:txBody>
      </p:sp>
      <p:sp>
        <p:nvSpPr>
          <p:cNvPr id="20" name="A3"/>
          <p:cNvSpPr/>
          <p:nvPr/>
        </p:nvSpPr>
        <p:spPr>
          <a:xfrm>
            <a:off x="2926080" y="3438144"/>
            <a:ext cx="914400" cy="0"/>
          </a:xfrm>
          <a:prstGeom prst="line">
            <a:avLst/>
          </a:prstGeom>
          <a:noFill/>
          <a:ln w="22225">
            <a:solidFill>
              <a:srgbClr val="5C6B66"/>
            </a:solidFill>
            <a:prstDash val="solid"/>
            <a:tailEnd type="triangle"/>
          </a:ln>
        </p:spPr>
      </p:sp>
      <p:sp>
        <p:nvSpPr>
          <p:cNvPr id="21" name="S_app"/>
          <p:cNvSpPr/>
          <p:nvPr/>
        </p:nvSpPr>
        <p:spPr>
          <a:xfrm>
            <a:off x="3840480" y="3035808"/>
            <a:ext cx="2194560" cy="804672"/>
          </a:xfrm>
          <a:prstGeom prst="roundRect">
            <a:avLst>
              <a:gd name="adj" fmla="val 11364"/>
            </a:avLst>
          </a:prstGeom>
          <a:solidFill>
            <a:srgbClr val="E3F0EB"/>
          </a:solidFill>
          <a:ln w="15875">
            <a:solidFill>
              <a:srgbClr val="1F6F5C"/>
            </a:solidFill>
          </a:ln>
        </p:spPr>
        <p:txBody>
          <a:bodyPr wrap="square" lIns="91440" tIns="201168" rIns="91440" bIns="45720" rtlCol="0" anchor="t"/>
          <a:lstStyle/>
          <a:p>
            <a:pPr algn="l" indent="0" marL="0">
              <a:buNone/>
            </a:pPr>
            <a:r>
              <a:rPr lang="en-US" sz="850" b="1" spc="150" kern="0" dirty="0">
                <a:solidFill>
                  <a:srgbClr val="1F6F5C"/>
                </a:solidFill>
                <a:latin typeface="Calibri" pitchFamily="34" charset="0"/>
                <a:ea typeface="Calibri" pitchFamily="34" charset="-122"/>
                <a:cs typeface="Calibri" pitchFamily="34" charset="-120"/>
              </a:rPr>
              <a:t>CODE</a:t>
            </a:r>
            <a:endParaRPr lang="en-US" sz="850" dirty="0"/>
          </a:p>
          <a:p>
            <a:pPr algn="l" indent="0" marL="0">
              <a:buNone/>
            </a:pPr>
            <a:r>
              <a:rPr lang="en-US" sz="1250" b="1" dirty="0">
                <a:solidFill>
                  <a:srgbClr val="16211E"/>
                </a:solidFill>
                <a:latin typeface="Calibri" pitchFamily="34" charset="0"/>
                <a:ea typeface="Calibri" pitchFamily="34" charset="-122"/>
                <a:cs typeface="Calibri" pitchFamily="34" charset="-120"/>
              </a:rPr>
              <a:t>App server</a:t>
            </a:r>
            <a:endParaRPr lang="en-US" sz="850" dirty="0"/>
          </a:p>
          <a:p>
            <a:pPr algn="l" indent="0" marL="0">
              <a:buNone/>
            </a:pPr>
            <a:r>
              <a:rPr lang="en-US" sz="1000" dirty="0">
                <a:solidFill>
                  <a:srgbClr val="5C6B66"/>
                </a:solidFill>
                <a:latin typeface="Calibri" pitchFamily="34" charset="0"/>
                <a:ea typeface="Calibri" pitchFamily="34" charset="-122"/>
                <a:cs typeface="Calibri" pitchFamily="34" charset="-120"/>
              </a:rPr>
              <a:t>Reads the database</a:t>
            </a:r>
            <a:endParaRPr lang="en-US" sz="850" dirty="0"/>
          </a:p>
        </p:txBody>
      </p:sp>
      <p:sp>
        <p:nvSpPr>
          <p:cNvPr id="22" name="A4h"/>
          <p:cNvSpPr/>
          <p:nvPr/>
        </p:nvSpPr>
        <p:spPr>
          <a:xfrm>
            <a:off x="6035040" y="3438144"/>
            <a:ext cx="1737360" cy="0"/>
          </a:xfrm>
          <a:prstGeom prst="line">
            <a:avLst/>
          </a:prstGeom>
          <a:noFill/>
          <a:ln w="22225">
            <a:solidFill>
              <a:srgbClr val="5C6B66"/>
            </a:solidFill>
            <a:prstDash val="solid"/>
          </a:ln>
        </p:spPr>
      </p:sp>
      <p:sp>
        <p:nvSpPr>
          <p:cNvPr id="23" name="A4v"/>
          <p:cNvSpPr/>
          <p:nvPr/>
        </p:nvSpPr>
        <p:spPr>
          <a:xfrm flipV="1">
            <a:off x="7772400" y="2615184"/>
            <a:ext cx="0" cy="822960"/>
          </a:xfrm>
          <a:prstGeom prst="line">
            <a:avLst/>
          </a:prstGeom>
          <a:noFill/>
          <a:ln w="22225">
            <a:solidFill>
              <a:srgbClr val="5C6B66"/>
            </a:solidFill>
            <a:prstDash val="solid"/>
            <a:tailEnd type="triangle"/>
          </a:ln>
        </p:spPr>
      </p:sp>
      <p:sp>
        <p:nvSpPr>
          <p:cNvPr id="24" name="E2"/>
          <p:cNvSpPr txBox="1"/>
          <p:nvPr/>
        </p:nvSpPr>
        <p:spPr>
          <a:xfrm>
            <a:off x="8503920" y="2999232"/>
            <a:ext cx="3108960" cy="914400"/>
          </a:xfrm>
          <a:prstGeom prst="rect">
            <a:avLst/>
          </a:prstGeom>
          <a:noFill/>
          <a:ln/>
        </p:spPr>
        <p:txBody>
          <a:bodyPr wrap="square" lIns="0" tIns="0" rIns="0" bIns="0" rtlCol="0" anchor="t"/>
          <a:lstStyle/>
          <a:p>
            <a:pPr algn="l" indent="0" marL="0">
              <a:buNone/>
            </a:pPr>
            <a:r>
              <a:rPr lang="en-US" sz="900" b="1" dirty="0">
                <a:solidFill>
                  <a:srgbClr val="5C6B66"/>
                </a:solidFill>
                <a:latin typeface="Calibri" pitchFamily="34" charset="0"/>
                <a:ea typeface="Calibri" pitchFamily="34" charset="-122"/>
                <a:cs typeface="Calibri" pitchFamily="34" charset="-120"/>
              </a:rPr>
              <a:t>APP ENDPOINTS</a:t>
            </a:r>
            <a:endParaRPr lang="en-US" sz="900" dirty="0"/>
          </a:p>
          <a:p>
            <a:pPr algn="l" indent="0" marL="0">
              <a:buNone/>
            </a:pPr>
            <a:r>
              <a:rPr lang="en-US" sz="900" dirty="0">
                <a:solidFill>
                  <a:srgbClr val="5C6B66"/>
                </a:solidFill>
                <a:latin typeface="Calibri" pitchFamily="34" charset="0"/>
                <a:ea typeface="Calibri" pitchFamily="34" charset="-122"/>
                <a:cs typeface="Calibri" pitchFamily="34" charset="-120"/>
              </a:rPr>
              <a:t>POST /api/policies/services</a:t>
            </a:r>
            <a:endParaRPr lang="en-US" sz="900" dirty="0"/>
          </a:p>
          <a:p>
            <a:pPr algn="l" indent="0" marL="0">
              <a:buNone/>
            </a:pPr>
            <a:r>
              <a:rPr lang="en-US" sz="900" dirty="0">
                <a:solidFill>
                  <a:srgbClr val="5C6B66"/>
                </a:solidFill>
                <a:latin typeface="Calibri" pitchFamily="34" charset="0"/>
                <a:ea typeface="Calibri" pitchFamily="34" charset="-122"/>
                <a:cs typeface="Calibri" pitchFamily="34" charset="-120"/>
              </a:rPr>
              <a:t>GET .../code-suggestions   .../code-consensus</a:t>
            </a:r>
            <a:endParaRPr lang="en-US" sz="900" dirty="0"/>
          </a:p>
          <a:p>
            <a:pPr algn="l" indent="0" marL="0">
              <a:buNone/>
            </a:pPr>
            <a:r>
              <a:rPr lang="en-US" sz="900" dirty="0">
                <a:solidFill>
                  <a:srgbClr val="5C6B66"/>
                </a:solidFill>
                <a:latin typeface="Calibri" pitchFamily="34" charset="0"/>
                <a:ea typeface="Calibri" pitchFamily="34" charset="-122"/>
                <a:cs typeface="Calibri" pitchFamily="34" charset="-120"/>
              </a:rPr>
              <a:t>GET .../suggestions   (policies)</a:t>
            </a:r>
            <a:endParaRPr lang="en-US" sz="900" dirty="0"/>
          </a:p>
          <a:p>
            <a:pPr algn="l" indent="0" marL="0">
              <a:buNone/>
            </a:pPr>
            <a:r>
              <a:rPr lang="en-US" sz="900" dirty="0">
                <a:solidFill>
                  <a:srgbClr val="5C6B66"/>
                </a:solidFill>
                <a:latin typeface="Calibri" pitchFamily="34" charset="0"/>
                <a:ea typeface="Calibri" pitchFamily="34" charset="-122"/>
                <a:cs typeface="Calibri" pitchFamily="34" charset="-120"/>
              </a:rPr>
              <a:t>POST .../codes/from-cms   .../policies</a:t>
            </a:r>
            <a:endParaRPr lang="en-US" sz="900" dirty="0"/>
          </a:p>
        </p:txBody>
      </p:sp>
      <p:sp>
        <p:nvSpPr>
          <p:cNvPr id="25" name="F1"/>
          <p:cNvSpPr/>
          <p:nvPr/>
        </p:nvSpPr>
        <p:spPr>
          <a:xfrm>
            <a:off x="4937760" y="3840480"/>
            <a:ext cx="0" cy="475488"/>
          </a:xfrm>
          <a:prstGeom prst="line">
            <a:avLst/>
          </a:prstGeom>
          <a:noFill/>
          <a:ln w="22225">
            <a:solidFill>
              <a:srgbClr val="5C6B66"/>
            </a:solidFill>
            <a:prstDash val="solid"/>
          </a:ln>
        </p:spPr>
      </p:sp>
      <p:sp>
        <p:nvSpPr>
          <p:cNvPr id="26" name="F2"/>
          <p:cNvSpPr/>
          <p:nvPr/>
        </p:nvSpPr>
        <p:spPr>
          <a:xfrm>
            <a:off x="2103120" y="4315968"/>
            <a:ext cx="3108960" cy="0"/>
          </a:xfrm>
          <a:prstGeom prst="line">
            <a:avLst/>
          </a:prstGeom>
          <a:noFill/>
          <a:ln w="22225">
            <a:solidFill>
              <a:srgbClr val="5C6B66"/>
            </a:solidFill>
            <a:prstDash val="solid"/>
          </a:ln>
        </p:spPr>
      </p:sp>
      <p:sp>
        <p:nvSpPr>
          <p:cNvPr id="27" name="F3"/>
          <p:cNvSpPr/>
          <p:nvPr/>
        </p:nvSpPr>
        <p:spPr>
          <a:xfrm>
            <a:off x="2103120" y="4315968"/>
            <a:ext cx="0" cy="210312"/>
          </a:xfrm>
          <a:prstGeom prst="line">
            <a:avLst/>
          </a:prstGeom>
          <a:noFill/>
          <a:ln w="22225">
            <a:solidFill>
              <a:srgbClr val="5C6B66"/>
            </a:solidFill>
            <a:prstDash val="solid"/>
            <a:tailEnd type="triangle"/>
          </a:ln>
        </p:spPr>
      </p:sp>
      <p:sp>
        <p:nvSpPr>
          <p:cNvPr id="28" name="F4"/>
          <p:cNvSpPr/>
          <p:nvPr/>
        </p:nvSpPr>
        <p:spPr>
          <a:xfrm>
            <a:off x="5212080" y="4315968"/>
            <a:ext cx="0" cy="210312"/>
          </a:xfrm>
          <a:prstGeom prst="line">
            <a:avLst/>
          </a:prstGeom>
          <a:noFill/>
          <a:ln w="22225">
            <a:solidFill>
              <a:srgbClr val="5C6B66"/>
            </a:solidFill>
            <a:prstDash val="solid"/>
            <a:tailEnd type="triangle"/>
          </a:ln>
        </p:spPr>
      </p:sp>
      <p:sp>
        <p:nvSpPr>
          <p:cNvPr id="29" name="S_codes"/>
          <p:cNvSpPr/>
          <p:nvPr/>
        </p:nvSpPr>
        <p:spPr>
          <a:xfrm>
            <a:off x="731520" y="4526280"/>
            <a:ext cx="2743200" cy="777240"/>
          </a:xfrm>
          <a:prstGeom prst="roundRect">
            <a:avLst>
              <a:gd name="adj" fmla="val 11765"/>
            </a:avLst>
          </a:prstGeom>
          <a:solidFill>
            <a:srgbClr val="E3F0EB"/>
          </a:solidFill>
          <a:ln w="15875">
            <a:solidFill>
              <a:srgbClr val="1F6F5C"/>
            </a:solidFill>
          </a:ln>
        </p:spPr>
        <p:txBody>
          <a:bodyPr wrap="square" lIns="91440" tIns="201168" rIns="91440" bIns="45720" rtlCol="0" anchor="t"/>
          <a:lstStyle/>
          <a:p>
            <a:pPr algn="l" indent="0" marL="0">
              <a:buNone/>
            </a:pPr>
            <a:r>
              <a:rPr lang="en-US" sz="850" b="1" spc="150" kern="0" dirty="0">
                <a:solidFill>
                  <a:srgbClr val="1F6F5C"/>
                </a:solidFill>
                <a:latin typeface="Calibri" pitchFamily="34" charset="0"/>
                <a:ea typeface="Calibri" pitchFamily="34" charset="-122"/>
                <a:cs typeface="Calibri" pitchFamily="34" charset="-120"/>
              </a:rPr>
              <a:t>CODE</a:t>
            </a:r>
            <a:endParaRPr lang="en-US" sz="850" dirty="0"/>
          </a:p>
          <a:p>
            <a:pPr algn="l" indent="0" marL="0">
              <a:buNone/>
            </a:pPr>
            <a:r>
              <a:rPr lang="en-US" sz="1250" b="1" dirty="0">
                <a:solidFill>
                  <a:srgbClr val="16211E"/>
                </a:solidFill>
                <a:latin typeface="Calibri" pitchFamily="34" charset="0"/>
                <a:ea typeface="Calibri" pitchFamily="34" charset="-122"/>
                <a:cs typeface="Calibri" pitchFamily="34" charset="-120"/>
              </a:rPr>
              <a:t>Billing codes</a:t>
            </a:r>
            <a:endParaRPr lang="en-US" sz="850" dirty="0"/>
          </a:p>
          <a:p>
            <a:pPr algn="l" indent="0" marL="0">
              <a:buNone/>
            </a:pPr>
            <a:r>
              <a:rPr lang="en-US" sz="1000" dirty="0">
                <a:solidFill>
                  <a:srgbClr val="5C6B66"/>
                </a:solidFill>
                <a:latin typeface="Calibri" pitchFamily="34" charset="0"/>
                <a:ea typeface="Calibri" pitchFamily="34" charset="-122"/>
                <a:cs typeface="Calibri" pitchFamily="34" charset="-120"/>
              </a:rPr>
              <a:t>Most articles it is found in</a:t>
            </a:r>
            <a:endParaRPr lang="en-US" sz="850" dirty="0"/>
          </a:p>
        </p:txBody>
      </p:sp>
      <p:sp>
        <p:nvSpPr>
          <p:cNvPr id="30" name="S_pol"/>
          <p:cNvSpPr/>
          <p:nvPr/>
        </p:nvSpPr>
        <p:spPr>
          <a:xfrm>
            <a:off x="3840480" y="4526280"/>
            <a:ext cx="2743200" cy="777240"/>
          </a:xfrm>
          <a:prstGeom prst="roundRect">
            <a:avLst>
              <a:gd name="adj" fmla="val 11765"/>
            </a:avLst>
          </a:prstGeom>
          <a:solidFill>
            <a:srgbClr val="E3F0EB"/>
          </a:solidFill>
          <a:ln w="15875">
            <a:solidFill>
              <a:srgbClr val="1F6F5C"/>
            </a:solidFill>
          </a:ln>
        </p:spPr>
        <p:txBody>
          <a:bodyPr wrap="square" lIns="91440" tIns="201168" rIns="91440" bIns="45720" rtlCol="0" anchor="t"/>
          <a:lstStyle/>
          <a:p>
            <a:pPr algn="l" indent="0" marL="0">
              <a:buNone/>
            </a:pPr>
            <a:r>
              <a:rPr lang="en-US" sz="850" b="1" spc="150" kern="0" dirty="0">
                <a:solidFill>
                  <a:srgbClr val="1F6F5C"/>
                </a:solidFill>
                <a:latin typeface="Calibri" pitchFamily="34" charset="0"/>
                <a:ea typeface="Calibri" pitchFamily="34" charset="-122"/>
                <a:cs typeface="Calibri" pitchFamily="34" charset="-120"/>
              </a:rPr>
              <a:t>CODE</a:t>
            </a:r>
            <a:endParaRPr lang="en-US" sz="850" dirty="0"/>
          </a:p>
          <a:p>
            <a:pPr algn="l" indent="0" marL="0">
              <a:buNone/>
            </a:pPr>
            <a:r>
              <a:rPr lang="en-US" sz="1250" b="1" dirty="0">
                <a:solidFill>
                  <a:srgbClr val="16211E"/>
                </a:solidFill>
                <a:latin typeface="Calibri" pitchFamily="34" charset="0"/>
                <a:ea typeface="Calibri" pitchFamily="34" charset="-122"/>
                <a:cs typeface="Calibri" pitchFamily="34" charset="-120"/>
              </a:rPr>
              <a:t>Policies</a:t>
            </a:r>
            <a:endParaRPr lang="en-US" sz="850" dirty="0"/>
          </a:p>
          <a:p>
            <a:pPr algn="l" indent="0" marL="0">
              <a:buNone/>
            </a:pPr>
            <a:r>
              <a:rPr lang="en-US" sz="1000" dirty="0">
                <a:solidFill>
                  <a:srgbClr val="5C6B66"/>
                </a:solidFill>
                <a:latin typeface="Calibri" pitchFamily="34" charset="0"/>
                <a:ea typeface="Calibri" pitchFamily="34" charset="-122"/>
                <a:cs typeface="Calibri" pitchFamily="34" charset="-120"/>
              </a:rPr>
              <a:t>Library first, then CMS</a:t>
            </a:r>
            <a:endParaRPr lang="en-US" sz="850" dirty="0"/>
          </a:p>
        </p:txBody>
      </p:sp>
      <p:sp>
        <p:nvSpPr>
          <p:cNvPr id="31" name="M1"/>
          <p:cNvSpPr/>
          <p:nvPr/>
        </p:nvSpPr>
        <p:spPr>
          <a:xfrm>
            <a:off x="2103120" y="5303520"/>
            <a:ext cx="0" cy="164592"/>
          </a:xfrm>
          <a:prstGeom prst="line">
            <a:avLst/>
          </a:prstGeom>
          <a:noFill/>
          <a:ln w="22225">
            <a:solidFill>
              <a:srgbClr val="5C6B66"/>
            </a:solidFill>
            <a:prstDash val="solid"/>
          </a:ln>
        </p:spPr>
      </p:sp>
      <p:sp>
        <p:nvSpPr>
          <p:cNvPr id="32" name="M2"/>
          <p:cNvSpPr/>
          <p:nvPr/>
        </p:nvSpPr>
        <p:spPr>
          <a:xfrm>
            <a:off x="2103120" y="5468112"/>
            <a:ext cx="5852160" cy="0"/>
          </a:xfrm>
          <a:prstGeom prst="line">
            <a:avLst/>
          </a:prstGeom>
          <a:noFill/>
          <a:ln w="22225">
            <a:solidFill>
              <a:srgbClr val="5C6B66"/>
            </a:solidFill>
            <a:prstDash val="solid"/>
          </a:ln>
        </p:spPr>
      </p:sp>
      <p:sp>
        <p:nvSpPr>
          <p:cNvPr id="33" name="M3"/>
          <p:cNvSpPr/>
          <p:nvPr/>
        </p:nvSpPr>
        <p:spPr>
          <a:xfrm>
            <a:off x="5212080" y="5303520"/>
            <a:ext cx="0" cy="164592"/>
          </a:xfrm>
          <a:prstGeom prst="line">
            <a:avLst/>
          </a:prstGeom>
          <a:noFill/>
          <a:ln w="22225">
            <a:solidFill>
              <a:srgbClr val="5C6B66"/>
            </a:solidFill>
            <a:prstDash val="solid"/>
          </a:ln>
        </p:spPr>
      </p:sp>
      <p:sp>
        <p:nvSpPr>
          <p:cNvPr id="34" name="M4"/>
          <p:cNvSpPr/>
          <p:nvPr/>
        </p:nvSpPr>
        <p:spPr>
          <a:xfrm flipV="1">
            <a:off x="7955280" y="5303520"/>
            <a:ext cx="0" cy="164592"/>
          </a:xfrm>
          <a:prstGeom prst="line">
            <a:avLst/>
          </a:prstGeom>
          <a:noFill/>
          <a:ln w="22225">
            <a:solidFill>
              <a:srgbClr val="5C6B66"/>
            </a:solidFill>
            <a:prstDash val="solid"/>
            <a:tailEnd type="triangle"/>
          </a:ln>
        </p:spPr>
      </p:sp>
      <p:sp>
        <p:nvSpPr>
          <p:cNvPr id="35" name="S_sel"/>
          <p:cNvSpPr/>
          <p:nvPr/>
        </p:nvSpPr>
        <p:spPr>
          <a:xfrm>
            <a:off x="6949440" y="4526280"/>
            <a:ext cx="2011680" cy="777240"/>
          </a:xfrm>
          <a:prstGeom prst="roundRect">
            <a:avLst>
              <a:gd name="adj" fmla="val 11765"/>
            </a:avLst>
          </a:prstGeom>
          <a:solidFill>
            <a:srgbClr val="FCEFD0"/>
          </a:solidFill>
          <a:ln w="15875">
            <a:solidFill>
              <a:srgbClr val="8A5A00"/>
            </a:solidFill>
          </a:ln>
        </p:spPr>
        <p:txBody>
          <a:bodyPr wrap="square" lIns="91440" tIns="201168" rIns="91440" bIns="45720" rtlCol="0" anchor="t"/>
          <a:lstStyle/>
          <a:p>
            <a:pPr algn="l" indent="0" marL="0">
              <a:buNone/>
            </a:pPr>
            <a:r>
              <a:rPr lang="en-US" sz="850" b="1" spc="150" kern="0" dirty="0">
                <a:solidFill>
                  <a:srgbClr val="8A5A00"/>
                </a:solidFill>
                <a:latin typeface="Calibri" pitchFamily="34" charset="0"/>
                <a:ea typeface="Calibri" pitchFamily="34" charset="-122"/>
                <a:cs typeface="Calibri" pitchFamily="34" charset="-120"/>
              </a:rPr>
              <a:t>PERSON</a:t>
            </a:r>
            <a:endParaRPr lang="en-US" sz="850" dirty="0"/>
          </a:p>
          <a:p>
            <a:pPr algn="l" indent="0" marL="0">
              <a:buNone/>
            </a:pPr>
            <a:r>
              <a:rPr lang="en-US" sz="1250" b="1" dirty="0">
                <a:solidFill>
                  <a:srgbClr val="16211E"/>
                </a:solidFill>
                <a:latin typeface="Calibri" pitchFamily="34" charset="0"/>
                <a:ea typeface="Calibri" pitchFamily="34" charset="-122"/>
                <a:cs typeface="Calibri" pitchFamily="34" charset="-120"/>
              </a:rPr>
              <a:t>Owner selects</a:t>
            </a:r>
            <a:endParaRPr lang="en-US" sz="850" dirty="0"/>
          </a:p>
          <a:p>
            <a:pPr algn="l" indent="0" marL="0">
              <a:buNone/>
            </a:pPr>
            <a:r>
              <a:rPr lang="en-US" sz="1000" dirty="0">
                <a:solidFill>
                  <a:srgbClr val="5C6B66"/>
                </a:solidFill>
                <a:latin typeface="Calibri" pitchFamily="34" charset="0"/>
                <a:ea typeface="Calibri" pitchFamily="34" charset="-122"/>
                <a:cs typeface="Calibri" pitchFamily="34" charset="-120"/>
              </a:rPr>
              <a:t>Codes and a policy</a:t>
            </a:r>
            <a:endParaRPr lang="en-US" sz="850" dirty="0"/>
          </a:p>
        </p:txBody>
      </p:sp>
      <p:sp>
        <p:nvSpPr>
          <p:cNvPr id="36" name="A5"/>
          <p:cNvSpPr/>
          <p:nvPr/>
        </p:nvSpPr>
        <p:spPr>
          <a:xfrm>
            <a:off x="8961120" y="4914900"/>
            <a:ext cx="457200" cy="0"/>
          </a:xfrm>
          <a:prstGeom prst="line">
            <a:avLst/>
          </a:prstGeom>
          <a:noFill/>
          <a:ln w="22225">
            <a:solidFill>
              <a:srgbClr val="5C6B66"/>
            </a:solidFill>
            <a:prstDash val="solid"/>
            <a:tailEnd type="triangle"/>
          </a:ln>
        </p:spPr>
      </p:sp>
      <p:sp>
        <p:nvSpPr>
          <p:cNvPr id="37" name="S_saved"/>
          <p:cNvSpPr/>
          <p:nvPr/>
        </p:nvSpPr>
        <p:spPr>
          <a:xfrm>
            <a:off x="9418320" y="4526280"/>
            <a:ext cx="2194560" cy="777240"/>
          </a:xfrm>
          <a:prstGeom prst="roundRect">
            <a:avLst>
              <a:gd name="adj" fmla="val 11765"/>
            </a:avLst>
          </a:prstGeom>
          <a:solidFill>
            <a:srgbClr val="E3F0EB"/>
          </a:solidFill>
          <a:ln w="15875">
            <a:solidFill>
              <a:srgbClr val="1F6F5C"/>
            </a:solidFill>
          </a:ln>
        </p:spPr>
        <p:txBody>
          <a:bodyPr wrap="square" lIns="91440" tIns="201168" rIns="91440" bIns="45720" rtlCol="0" anchor="t"/>
          <a:lstStyle/>
          <a:p>
            <a:pPr algn="l" indent="0" marL="0">
              <a:buNone/>
            </a:pPr>
            <a:r>
              <a:rPr lang="en-US" sz="850" b="1" spc="150" kern="0" dirty="0">
                <a:solidFill>
                  <a:srgbClr val="1F6F5C"/>
                </a:solidFill>
                <a:latin typeface="Calibri" pitchFamily="34" charset="0"/>
                <a:ea typeface="Calibri" pitchFamily="34" charset="-122"/>
                <a:cs typeface="Calibri" pitchFamily="34" charset="-120"/>
              </a:rPr>
              <a:t>CODE + DATA</a:t>
            </a:r>
            <a:endParaRPr lang="en-US" sz="850" dirty="0"/>
          </a:p>
          <a:p>
            <a:pPr algn="l" indent="0" marL="0">
              <a:buNone/>
            </a:pPr>
            <a:r>
              <a:rPr lang="en-US" sz="1250" b="1" dirty="0">
                <a:solidFill>
                  <a:srgbClr val="16211E"/>
                </a:solidFill>
                <a:latin typeface="Calibri" pitchFamily="34" charset="0"/>
                <a:ea typeface="Calibri" pitchFamily="34" charset="-122"/>
                <a:cs typeface="Calibri" pitchFamily="34" charset="-120"/>
              </a:rPr>
              <a:t>Service saved</a:t>
            </a:r>
            <a:endParaRPr lang="en-US" sz="850" dirty="0"/>
          </a:p>
          <a:p>
            <a:pPr algn="l" indent="0" marL="0">
              <a:buNone/>
            </a:pPr>
            <a:r>
              <a:rPr lang="en-US" sz="1000" dirty="0">
                <a:solidFill>
                  <a:srgbClr val="5C6B66"/>
                </a:solidFill>
                <a:latin typeface="Calibri" pitchFamily="34" charset="0"/>
                <a:ea typeface="Calibri" pitchFamily="34" charset="-122"/>
                <a:cs typeface="Calibri" pitchFamily="34" charset="-120"/>
              </a:rPr>
              <a:t>A new library version</a:t>
            </a:r>
            <a:endParaRPr lang="en-US" sz="850" dirty="0"/>
          </a:p>
        </p:txBody>
      </p:sp>
      <p:sp>
        <p:nvSpPr>
          <p:cNvPr id="38" name="N_new"/>
          <p:cNvSpPr txBox="1"/>
          <p:nvPr/>
        </p:nvSpPr>
        <p:spPr>
          <a:xfrm>
            <a:off x="9418320" y="5358384"/>
            <a:ext cx="2194560" cy="274320"/>
          </a:xfrm>
          <a:prstGeom prst="rect">
            <a:avLst/>
          </a:prstGeom>
          <a:noFill/>
          <a:ln/>
        </p:spPr>
        <p:txBody>
          <a:bodyPr wrap="square" lIns="0" tIns="0" rIns="0" bIns="0" rtlCol="0" anchor="t"/>
          <a:lstStyle/>
          <a:p>
            <a:pPr algn="l" indent="0" marL="0">
              <a:buNone/>
            </a:pPr>
            <a:r>
              <a:rPr lang="en-US" sz="950" i="1" dirty="0">
                <a:solidFill>
                  <a:srgbClr val="1F6F5C"/>
                </a:solidFill>
                <a:latin typeface="Calibri" pitchFamily="34" charset="0"/>
                <a:ea typeface="Calibri" pitchFamily="34" charset="-122"/>
                <a:cs typeface="Calibri" pitchFamily="34" charset="-120"/>
              </a:rPr>
              <a:t>A new policy goes to flow 2.</a:t>
            </a:r>
            <a:endParaRPr lang="en-US" sz="950" dirty="0"/>
          </a:p>
        </p:txBody>
      </p:sp>
      <p:sp>
        <p:nvSpPr>
          <p:cNvPr id="39" name="c1"/>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A weekly job calls the CMS Coverage API.</a:t>
            </a:r>
            <a:endParaRPr lang="en-US" sz="1600" dirty="0"/>
          </a:p>
        </p:txBody>
      </p:sp>
      <p:sp>
        <p:nvSpPr>
          <p:cNvPr id="40" name="c2"/>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It only fetches what is new or changed.</a:t>
            </a:r>
            <a:endParaRPr lang="en-US" sz="1600" dirty="0"/>
          </a:p>
        </p:txBody>
      </p:sp>
      <p:sp>
        <p:nvSpPr>
          <p:cNvPr id="41" name="c3"/>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And saves it in our database. The owner never waits on CMS.</a:t>
            </a:r>
            <a:endParaRPr lang="en-US" sz="1600" dirty="0"/>
          </a:p>
        </p:txBody>
      </p:sp>
      <p:sp>
        <p:nvSpPr>
          <p:cNvPr id="42" name="c4"/>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The owner creates a service. The app server reads the database.</a:t>
            </a:r>
            <a:endParaRPr lang="en-US" sz="1600" dirty="0"/>
          </a:p>
        </p:txBody>
      </p:sp>
      <p:sp>
        <p:nvSpPr>
          <p:cNvPr id="43" name="c5"/>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It shows billing codes, and policies that match.</a:t>
            </a:r>
            <a:endParaRPr lang="en-US" sz="1600" dirty="0"/>
          </a:p>
        </p:txBody>
      </p:sp>
      <p:sp>
        <p:nvSpPr>
          <p:cNvPr id="44" name="c6"/>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The owner picks. The service is saved.</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12"/>
                                        </p:tgtEl>
                                        <p:attrNameLst>
                                          <p:attrName>style.visibility</p:attrName>
                                        </p:attrNameLst>
                                      </p:cBhvr>
                                      <p:to>
                                        <p:strVal val="visible"/>
                                      </p:to>
                                    </p:set>
                                    <p:animEffect transition="in" filter="fade">
                                      <p:cBhvr>
                                        <p:cTn id="6" dur="500"/>
                                        <p:tgtEl>
                                          <p:spTgt spid="12"/>
                                        </p:tgtEl>
                                      </p:cBhvr>
                                    </p:animEffect>
                                  </p:childTnLst>
                                </p:cTn>
                              </p:par>
                              <p:par>
                                <p:cTn id="10" presetID="10" presetClass="entr" presetSubtype="0" fill="hold" grpId="0" nodeType="withEffect">
                                  <p:stCondLst>
                                    <p:cond delay="200"/>
                                  </p:stCondLst>
                                  <p:childTnLst>
                                    <p:set>
                                      <p:cBhvr>
                                        <p:cTn id="8" dur="1" fill="hold">
                                          <p:stCondLst>
                                            <p:cond delay="0"/>
                                          </p:stCondLst>
                                        </p:cTn>
                                        <p:tgtEl>
                                          <p:spTgt spid="18"/>
                                        </p:tgtEl>
                                        <p:attrNameLst>
                                          <p:attrName>style.visibility</p:attrName>
                                        </p:attrNameLst>
                                      </p:cBhvr>
                                      <p:to>
                                        <p:strVal val="visible"/>
                                      </p:to>
                                    </p:set>
                                    <p:animEffect transition="in" filter="fade">
                                      <p:cBhvr>
                                        <p:cTn id="9" dur="500"/>
                                        <p:tgtEl>
                                          <p:spTgt spid="18"/>
                                        </p:tgtEl>
                                      </p:cBhvr>
                                    </p:animEffect>
                                  </p:childTnLst>
                                </p:cTn>
                              </p:par>
                              <p:par>
                                <p:cTn id="13" presetID="10" presetClass="entr" presetSubtype="0" fill="hold" grpId="0" nodeType="withEffect">
                                  <p:stCondLst>
                                    <p:cond delay="300"/>
                                  </p:stCondLst>
                                  <p:childTnLst>
                                    <p:set>
                                      <p:cBhvr>
                                        <p:cTn id="11" dur="1" fill="hold">
                                          <p:stCondLst>
                                            <p:cond delay="0"/>
                                          </p:stCondLst>
                                        </p:cTn>
                                        <p:tgtEl>
                                          <p:spTgt spid="39"/>
                                        </p:tgtEl>
                                        <p:attrNameLst>
                                          <p:attrName>style.visibility</p:attrName>
                                        </p:attrNameLst>
                                      </p:cBhvr>
                                      <p:to>
                                        <p:strVal val="visible"/>
                                      </p:to>
                                    </p:set>
                                    <p:animEffect transition="in" filter="fade">
                                      <p:cBhvr>
                                        <p:cTn id="12" dur="500"/>
                                        <p:tgtEl>
                                          <p:spTgt spid="39"/>
                                        </p:tgtEl>
                                      </p:cBhvr>
                                    </p:animEffect>
                                  </p:childTnLst>
                                </p:cTn>
                              </p:par>
                            </p:childTnLst>
                          </p:cTn>
                        </p:par>
                      </p:childTnLst>
                    </p:cTn>
                  </p:par>
                  <p:par>
                    <p:cTn id="14" fill="hold">
                      <p:stCondLst>
                        <p:cond delay="indefinite"/>
                      </p:stCondLst>
                      <p:childTnLst>
                        <p:par>
                          <p:cTn id="15" fill="hold">
                            <p:stCondLst>
                              <p:cond delay="0"/>
                            </p:stCondLst>
                            <p:childTnLst>
                              <p:par>
                                <p:cTn id="18" presetID="10" presetClass="exit" presetSubtype="0" fill="hold" grpId="0" nodeType="clickEffect">
                                  <p:stCondLst>
                                    <p:cond delay="0"/>
                                  </p:stCondLst>
                                  <p:childTnLst>
                                    <p:animEffect transition="out" filter="fade">
                                      <p:cBhvr>
                                        <p:cTn id="16" dur="300"/>
                                        <p:tgtEl>
                                          <p:spTgt spid="39"/>
                                        </p:tgtEl>
                                      </p:cBhvr>
                                    </p:animEffect>
                                    <p:set>
                                      <p:cBhvr>
                                        <p:cTn id="17" dur="1" fill="hold">
                                          <p:stCondLst>
                                            <p:cond delay="299"/>
                                          </p:stCondLst>
                                        </p:cTn>
                                        <p:tgtEl>
                                          <p:spTgt spid="39"/>
                                        </p:tgtEl>
                                        <p:attrNameLst>
                                          <p:attrName>style.visibility</p:attrName>
                                        </p:attrNameLst>
                                      </p:cBhvr>
                                      <p:to>
                                        <p:strVal val="hidden"/>
                                      </p:to>
                                    </p:set>
                                  </p:childTnLst>
                                </p:cTn>
                              </p:par>
                              <p:par>
                                <p:cTn id="21" presetID="22" presetClass="entr" presetSubtype="8" fill="hold" nodeType="withEffect">
                                  <p:stCondLst>
                                    <p:cond delay="100"/>
                                  </p:stCondLst>
                                  <p:childTnLst>
                                    <p:set>
                                      <p:cBhvr>
                                        <p:cTn id="19" dur="1" fill="hold">
                                          <p:stCondLst>
                                            <p:cond delay="0"/>
                                          </p:stCondLst>
                                        </p:cTn>
                                        <p:tgtEl>
                                          <p:spTgt spid="13"/>
                                        </p:tgtEl>
                                        <p:attrNameLst>
                                          <p:attrName>style.visibility</p:attrName>
                                        </p:attrNameLst>
                                      </p:cBhvr>
                                      <p:to>
                                        <p:strVal val="visible"/>
                                      </p:to>
                                    </p:set>
                                    <p:animEffect transition="in" filter="wipe(left)">
                                      <p:cBhvr>
                                        <p:cTn id="20" dur="250"/>
                                        <p:tgtEl>
                                          <p:spTgt spid="13"/>
                                        </p:tgtEl>
                                      </p:cBhvr>
                                    </p:animEffect>
                                  </p:childTnLst>
                                </p:cTn>
                              </p:par>
                              <p:par>
                                <p:cTn id="24" presetID="10" presetClass="entr" presetSubtype="0" fill="hold" grpId="0" nodeType="withEffect">
                                  <p:stCondLst>
                                    <p:cond delay="30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par>
                                <p:cTn id="27" presetID="10" presetClass="entr" presetSubtype="0" fill="hold" grpId="0" nodeType="withEffect">
                                  <p:stCondLst>
                                    <p:cond delay="300"/>
                                  </p:stCondLst>
                                  <p:childTnLst>
                                    <p:set>
                                      <p:cBhvr>
                                        <p:cTn id="25" dur="1" fill="hold">
                                          <p:stCondLst>
                                            <p:cond delay="0"/>
                                          </p:stCondLst>
                                        </p:cTn>
                                        <p:tgtEl>
                                          <p:spTgt spid="40"/>
                                        </p:tgtEl>
                                        <p:attrNameLst>
                                          <p:attrName>style.visibility</p:attrName>
                                        </p:attrNameLst>
                                      </p:cBhvr>
                                      <p:to>
                                        <p:strVal val="visible"/>
                                      </p:to>
                                    </p:set>
                                    <p:animEffect transition="in" filter="fade">
                                      <p:cBhvr>
                                        <p:cTn id="26" dur="500"/>
                                        <p:tgtEl>
                                          <p:spTgt spid="40"/>
                                        </p:tgtEl>
                                      </p:cBhvr>
                                    </p:animEffect>
                                  </p:childTnLst>
                                </p:cTn>
                              </p:par>
                            </p:childTnLst>
                          </p:cTn>
                        </p:par>
                      </p:childTnLst>
                    </p:cTn>
                  </p:par>
                  <p:par>
                    <p:cTn id="28" fill="hold">
                      <p:stCondLst>
                        <p:cond delay="indefinite"/>
                      </p:stCondLst>
                      <p:childTnLst>
                        <p:par>
                          <p:cTn id="29" fill="hold">
                            <p:stCondLst>
                              <p:cond delay="0"/>
                            </p:stCondLst>
                            <p:childTnLst>
                              <p:par>
                                <p:cTn id="32" presetID="10" presetClass="exit" presetSubtype="0" fill="hold" grpId="0" nodeType="clickEffect">
                                  <p:stCondLst>
                                    <p:cond delay="0"/>
                                  </p:stCondLst>
                                  <p:childTnLst>
                                    <p:animEffect transition="out" filter="fade">
                                      <p:cBhvr>
                                        <p:cTn id="30" dur="300"/>
                                        <p:tgtEl>
                                          <p:spTgt spid="40"/>
                                        </p:tgtEl>
                                      </p:cBhvr>
                                    </p:animEffect>
                                    <p:set>
                                      <p:cBhvr>
                                        <p:cTn id="31" dur="1" fill="hold">
                                          <p:stCondLst>
                                            <p:cond delay="299"/>
                                          </p:stCondLst>
                                        </p:cTn>
                                        <p:tgtEl>
                                          <p:spTgt spid="40"/>
                                        </p:tgtEl>
                                        <p:attrNameLst>
                                          <p:attrName>style.visibility</p:attrName>
                                        </p:attrNameLst>
                                      </p:cBhvr>
                                      <p:to>
                                        <p:strVal val="hidden"/>
                                      </p:to>
                                    </p:set>
                                  </p:childTnLst>
                                </p:cTn>
                              </p:par>
                              <p:par>
                                <p:cTn id="35" presetID="22" presetClass="entr" presetSubtype="8" fill="hold" nodeType="withEffect">
                                  <p:stCondLst>
                                    <p:cond delay="100"/>
                                  </p:stCondLst>
                                  <p:childTnLst>
                                    <p:set>
                                      <p:cBhvr>
                                        <p:cTn id="33" dur="1" fill="hold">
                                          <p:stCondLst>
                                            <p:cond delay="0"/>
                                          </p:stCondLst>
                                        </p:cTn>
                                        <p:tgtEl>
                                          <p:spTgt spid="15"/>
                                        </p:tgtEl>
                                        <p:attrNameLst>
                                          <p:attrName>style.visibility</p:attrName>
                                        </p:attrNameLst>
                                      </p:cBhvr>
                                      <p:to>
                                        <p:strVal val="visible"/>
                                      </p:to>
                                    </p:set>
                                    <p:animEffect transition="in" filter="wipe(left)">
                                      <p:cBhvr>
                                        <p:cTn id="34" dur="250"/>
                                        <p:tgtEl>
                                          <p:spTgt spid="15"/>
                                        </p:tgtEl>
                                      </p:cBhvr>
                                    </p:animEffect>
                                  </p:childTnLst>
                                </p:cTn>
                              </p:par>
                              <p:par>
                                <p:cTn id="38" presetID="10" presetClass="entr" presetSubtype="0" fill="hold" nodeType="withEffect">
                                  <p:stCondLst>
                                    <p:cond delay="30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par>
                                <p:cTn id="41" presetID="10" presetClass="entr" presetSubtype="0" fill="hold" grpId="0" nodeType="withEffect">
                                  <p:stCondLst>
                                    <p:cond delay="30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500"/>
                                        <p:tgtEl>
                                          <p:spTgt spid="17"/>
                                        </p:tgtEl>
                                      </p:cBhvr>
                                    </p:animEffect>
                                  </p:childTnLst>
                                </p:cTn>
                              </p:par>
                              <p:par>
                                <p:cTn id="44" presetID="10" presetClass="entr" presetSubtype="0" fill="hold" grpId="0" nodeType="withEffect">
                                  <p:stCondLst>
                                    <p:cond delay="300"/>
                                  </p:stCondLst>
                                  <p:childTnLst>
                                    <p:set>
                                      <p:cBhvr>
                                        <p:cTn id="42" dur="1" fill="hold">
                                          <p:stCondLst>
                                            <p:cond delay="0"/>
                                          </p:stCondLst>
                                        </p:cTn>
                                        <p:tgtEl>
                                          <p:spTgt spid="41"/>
                                        </p:tgtEl>
                                        <p:attrNameLst>
                                          <p:attrName>style.visibility</p:attrName>
                                        </p:attrNameLst>
                                      </p:cBhvr>
                                      <p:to>
                                        <p:strVal val="visible"/>
                                      </p:to>
                                    </p:set>
                                    <p:animEffect transition="in" filter="fade">
                                      <p:cBhvr>
                                        <p:cTn id="43" dur="500"/>
                                        <p:tgtEl>
                                          <p:spTgt spid="41"/>
                                        </p:tgtEl>
                                      </p:cBhvr>
                                    </p:animEffect>
                                  </p:childTnLst>
                                </p:cTn>
                              </p:par>
                            </p:childTnLst>
                          </p:cTn>
                        </p:par>
                      </p:childTnLst>
                    </p:cTn>
                  </p:par>
                  <p:par>
                    <p:cTn id="45" fill="hold">
                      <p:stCondLst>
                        <p:cond delay="indefinite"/>
                      </p:stCondLst>
                      <p:childTnLst>
                        <p:par>
                          <p:cTn id="46" fill="hold">
                            <p:stCondLst>
                              <p:cond delay="0"/>
                            </p:stCondLst>
                            <p:childTnLst>
                              <p:par>
                                <p:cTn id="49" presetID="10" presetClass="exit" presetSubtype="0" fill="hold" grpId="0" nodeType="clickEffect">
                                  <p:stCondLst>
                                    <p:cond delay="0"/>
                                  </p:stCondLst>
                                  <p:childTnLst>
                                    <p:animEffect transition="out" filter="fade">
                                      <p:cBhvr>
                                        <p:cTn id="47" dur="300"/>
                                        <p:tgtEl>
                                          <p:spTgt spid="41"/>
                                        </p:tgtEl>
                                      </p:cBhvr>
                                    </p:animEffect>
                                    <p:set>
                                      <p:cBhvr>
                                        <p:cTn id="48" dur="1" fill="hold">
                                          <p:stCondLst>
                                            <p:cond delay="299"/>
                                          </p:stCondLst>
                                        </p:cTn>
                                        <p:tgtEl>
                                          <p:spTgt spid="41"/>
                                        </p:tgtEl>
                                        <p:attrNameLst>
                                          <p:attrName>style.visibility</p:attrName>
                                        </p:attrNameLst>
                                      </p:cBhvr>
                                      <p:to>
                                        <p:strVal val="hidden"/>
                                      </p:to>
                                    </p:set>
                                  </p:childTnLst>
                                </p:cTn>
                              </p:par>
                              <p:par>
                                <p:cTn id="52" presetID="10" presetClass="entr" presetSubtype="0"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00"/>
                                        <p:tgtEl>
                                          <p:spTgt spid="19"/>
                                        </p:tgtEl>
                                      </p:cBhvr>
                                    </p:animEffect>
                                  </p:childTnLst>
                                </p:cTn>
                              </p:par>
                              <p:par>
                                <p:cTn id="55" presetID="22" presetClass="entr" presetSubtype="8" fill="hold" nodeType="withEffect">
                                  <p:stCondLst>
                                    <p:cond delay="150"/>
                                  </p:stCondLst>
                                  <p:childTnLst>
                                    <p:set>
                                      <p:cBhvr>
                                        <p:cTn id="53" dur="1" fill="hold">
                                          <p:stCondLst>
                                            <p:cond delay="0"/>
                                          </p:stCondLst>
                                        </p:cTn>
                                        <p:tgtEl>
                                          <p:spTgt spid="20"/>
                                        </p:tgtEl>
                                        <p:attrNameLst>
                                          <p:attrName>style.visibility</p:attrName>
                                        </p:attrNameLst>
                                      </p:cBhvr>
                                      <p:to>
                                        <p:strVal val="visible"/>
                                      </p:to>
                                    </p:set>
                                    <p:animEffect transition="in" filter="wipe(left)">
                                      <p:cBhvr>
                                        <p:cTn id="54" dur="250"/>
                                        <p:tgtEl>
                                          <p:spTgt spid="20"/>
                                        </p:tgtEl>
                                      </p:cBhvr>
                                    </p:animEffect>
                                  </p:childTnLst>
                                </p:cTn>
                              </p:par>
                              <p:par>
                                <p:cTn id="58" presetID="10" presetClass="entr" presetSubtype="0" fill="hold" grpId="0" nodeType="withEffect">
                                  <p:stCondLst>
                                    <p:cond delay="40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500"/>
                                        <p:tgtEl>
                                          <p:spTgt spid="21"/>
                                        </p:tgtEl>
                                      </p:cBhvr>
                                    </p:animEffect>
                                  </p:childTnLst>
                                </p:cTn>
                              </p:par>
                              <p:par>
                                <p:cTn id="61" presetID="22" presetClass="entr" presetSubtype="8" fill="hold" nodeType="withEffect">
                                  <p:stCondLst>
                                    <p:cond delay="700"/>
                                  </p:stCondLst>
                                  <p:childTnLst>
                                    <p:set>
                                      <p:cBhvr>
                                        <p:cTn id="59" dur="1" fill="hold">
                                          <p:stCondLst>
                                            <p:cond delay="0"/>
                                          </p:stCondLst>
                                        </p:cTn>
                                        <p:tgtEl>
                                          <p:spTgt spid="22"/>
                                        </p:tgtEl>
                                        <p:attrNameLst>
                                          <p:attrName>style.visibility</p:attrName>
                                        </p:attrNameLst>
                                      </p:cBhvr>
                                      <p:to>
                                        <p:strVal val="visible"/>
                                      </p:to>
                                    </p:set>
                                    <p:animEffect transition="in" filter="wipe(left)">
                                      <p:cBhvr>
                                        <p:cTn id="60" dur="350"/>
                                        <p:tgtEl>
                                          <p:spTgt spid="22"/>
                                        </p:tgtEl>
                                      </p:cBhvr>
                                    </p:animEffect>
                                  </p:childTnLst>
                                </p:cTn>
                              </p:par>
                              <p:par>
                                <p:cTn id="64" presetID="22" presetClass="entr" presetSubtype="4" fill="hold" nodeType="withEffect">
                                  <p:stCondLst>
                                    <p:cond delay="1000"/>
                                  </p:stCondLst>
                                  <p:childTnLst>
                                    <p:set>
                                      <p:cBhvr>
                                        <p:cTn id="62" dur="1" fill="hold">
                                          <p:stCondLst>
                                            <p:cond delay="0"/>
                                          </p:stCondLst>
                                        </p:cTn>
                                        <p:tgtEl>
                                          <p:spTgt spid="23"/>
                                        </p:tgtEl>
                                        <p:attrNameLst>
                                          <p:attrName>style.visibility</p:attrName>
                                        </p:attrNameLst>
                                      </p:cBhvr>
                                      <p:to>
                                        <p:strVal val="visible"/>
                                      </p:to>
                                    </p:set>
                                    <p:animEffect transition="in" filter="wipe(down)">
                                      <p:cBhvr>
                                        <p:cTn id="63" dur="300"/>
                                        <p:tgtEl>
                                          <p:spTgt spid="23"/>
                                        </p:tgtEl>
                                      </p:cBhvr>
                                    </p:animEffect>
                                  </p:childTnLst>
                                </p:cTn>
                              </p:par>
                              <p:par>
                                <p:cTn id="67" presetID="10" presetClass="entr" presetSubtype="0" fill="hold" grpId="0" nodeType="withEffect">
                                  <p:stCondLst>
                                    <p:cond delay="70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500"/>
                                        <p:tgtEl>
                                          <p:spTgt spid="24"/>
                                        </p:tgtEl>
                                      </p:cBhvr>
                                    </p:animEffect>
                                  </p:childTnLst>
                                </p:cTn>
                              </p:par>
                              <p:par>
                                <p:cTn id="70" presetID="10" presetClass="entr" presetSubtype="0" fill="hold" grpId="0" nodeType="withEffect">
                                  <p:stCondLst>
                                    <p:cond delay="300"/>
                                  </p:stCondLst>
                                  <p:childTnLst>
                                    <p:set>
                                      <p:cBhvr>
                                        <p:cTn id="68" dur="1" fill="hold">
                                          <p:stCondLst>
                                            <p:cond delay="0"/>
                                          </p:stCondLst>
                                        </p:cTn>
                                        <p:tgtEl>
                                          <p:spTgt spid="42"/>
                                        </p:tgtEl>
                                        <p:attrNameLst>
                                          <p:attrName>style.visibility</p:attrName>
                                        </p:attrNameLst>
                                      </p:cBhvr>
                                      <p:to>
                                        <p:strVal val="visible"/>
                                      </p:to>
                                    </p:set>
                                    <p:animEffect transition="in" filter="fade">
                                      <p:cBhvr>
                                        <p:cTn id="69" dur="500"/>
                                        <p:tgtEl>
                                          <p:spTgt spid="42"/>
                                        </p:tgtEl>
                                      </p:cBhvr>
                                    </p:animEffect>
                                  </p:childTnLst>
                                </p:cTn>
                              </p:par>
                            </p:childTnLst>
                          </p:cTn>
                        </p:par>
                      </p:childTnLst>
                    </p:cTn>
                  </p:par>
                  <p:par>
                    <p:cTn id="71" fill="hold">
                      <p:stCondLst>
                        <p:cond delay="indefinite"/>
                      </p:stCondLst>
                      <p:childTnLst>
                        <p:par>
                          <p:cTn id="72" fill="hold">
                            <p:stCondLst>
                              <p:cond delay="0"/>
                            </p:stCondLst>
                            <p:childTnLst>
                              <p:par>
                                <p:cTn id="75" presetID="10" presetClass="exit" presetSubtype="0" fill="hold" grpId="0" nodeType="clickEffect">
                                  <p:stCondLst>
                                    <p:cond delay="0"/>
                                  </p:stCondLst>
                                  <p:childTnLst>
                                    <p:animEffect transition="out" filter="fade">
                                      <p:cBhvr>
                                        <p:cTn id="73" dur="300"/>
                                        <p:tgtEl>
                                          <p:spTgt spid="42"/>
                                        </p:tgtEl>
                                      </p:cBhvr>
                                    </p:animEffect>
                                    <p:set>
                                      <p:cBhvr>
                                        <p:cTn id="74" dur="1" fill="hold">
                                          <p:stCondLst>
                                            <p:cond delay="299"/>
                                          </p:stCondLst>
                                        </p:cTn>
                                        <p:tgtEl>
                                          <p:spTgt spid="42"/>
                                        </p:tgtEl>
                                        <p:attrNameLst>
                                          <p:attrName>style.visibility</p:attrName>
                                        </p:attrNameLst>
                                      </p:cBhvr>
                                      <p:to>
                                        <p:strVal val="hidden"/>
                                      </p:to>
                                    </p:set>
                                  </p:childTnLst>
                                </p:cTn>
                              </p:par>
                              <p:par>
                                <p:cTn id="78" presetID="22" presetClass="entr" presetSubtype="1" fill="hold" nodeType="withEffect">
                                  <p:stCondLst>
                                    <p:cond delay="100"/>
                                  </p:stCondLst>
                                  <p:childTnLst>
                                    <p:set>
                                      <p:cBhvr>
                                        <p:cTn id="76" dur="1" fill="hold">
                                          <p:stCondLst>
                                            <p:cond delay="0"/>
                                          </p:stCondLst>
                                        </p:cTn>
                                        <p:tgtEl>
                                          <p:spTgt spid="25"/>
                                        </p:tgtEl>
                                        <p:attrNameLst>
                                          <p:attrName>style.visibility</p:attrName>
                                        </p:attrNameLst>
                                      </p:cBhvr>
                                      <p:to>
                                        <p:strVal val="visible"/>
                                      </p:to>
                                    </p:set>
                                    <p:animEffect transition="in" filter="wipe(up)">
                                      <p:cBhvr>
                                        <p:cTn id="77" dur="200"/>
                                        <p:tgtEl>
                                          <p:spTgt spid="25"/>
                                        </p:tgtEl>
                                      </p:cBhvr>
                                    </p:animEffect>
                                  </p:childTnLst>
                                </p:cTn>
                              </p:par>
                              <p:par>
                                <p:cTn id="81" presetID="22" presetClass="entr" presetSubtype="8" fill="hold" nodeType="withEffect">
                                  <p:stCondLst>
                                    <p:cond delay="300"/>
                                  </p:stCondLst>
                                  <p:childTnLst>
                                    <p:set>
                                      <p:cBhvr>
                                        <p:cTn id="79" dur="1" fill="hold">
                                          <p:stCondLst>
                                            <p:cond delay="0"/>
                                          </p:stCondLst>
                                        </p:cTn>
                                        <p:tgtEl>
                                          <p:spTgt spid="26"/>
                                        </p:tgtEl>
                                        <p:attrNameLst>
                                          <p:attrName>style.visibility</p:attrName>
                                        </p:attrNameLst>
                                      </p:cBhvr>
                                      <p:to>
                                        <p:strVal val="visible"/>
                                      </p:to>
                                    </p:set>
                                    <p:animEffect transition="in" filter="wipe(left)">
                                      <p:cBhvr>
                                        <p:cTn id="80" dur="300"/>
                                        <p:tgtEl>
                                          <p:spTgt spid="26"/>
                                        </p:tgtEl>
                                      </p:cBhvr>
                                    </p:animEffect>
                                  </p:childTnLst>
                                </p:cTn>
                              </p:par>
                              <p:par>
                                <p:cTn id="84" presetID="22" presetClass="entr" presetSubtype="1" fill="hold" nodeType="withEffect">
                                  <p:stCondLst>
                                    <p:cond delay="600"/>
                                  </p:stCondLst>
                                  <p:childTnLst>
                                    <p:set>
                                      <p:cBhvr>
                                        <p:cTn id="82" dur="1" fill="hold">
                                          <p:stCondLst>
                                            <p:cond delay="0"/>
                                          </p:stCondLst>
                                        </p:cTn>
                                        <p:tgtEl>
                                          <p:spTgt spid="27"/>
                                        </p:tgtEl>
                                        <p:attrNameLst>
                                          <p:attrName>style.visibility</p:attrName>
                                        </p:attrNameLst>
                                      </p:cBhvr>
                                      <p:to>
                                        <p:strVal val="visible"/>
                                      </p:to>
                                    </p:set>
                                    <p:animEffect transition="in" filter="wipe(up)">
                                      <p:cBhvr>
                                        <p:cTn id="83" dur="200"/>
                                        <p:tgtEl>
                                          <p:spTgt spid="27"/>
                                        </p:tgtEl>
                                      </p:cBhvr>
                                    </p:animEffect>
                                  </p:childTnLst>
                                </p:cTn>
                              </p:par>
                              <p:par>
                                <p:cTn id="87" presetID="22" presetClass="entr" presetSubtype="1" fill="hold" nodeType="withEffect">
                                  <p:stCondLst>
                                    <p:cond delay="600"/>
                                  </p:stCondLst>
                                  <p:childTnLst>
                                    <p:set>
                                      <p:cBhvr>
                                        <p:cTn id="85" dur="1" fill="hold">
                                          <p:stCondLst>
                                            <p:cond delay="0"/>
                                          </p:stCondLst>
                                        </p:cTn>
                                        <p:tgtEl>
                                          <p:spTgt spid="28"/>
                                        </p:tgtEl>
                                        <p:attrNameLst>
                                          <p:attrName>style.visibility</p:attrName>
                                        </p:attrNameLst>
                                      </p:cBhvr>
                                      <p:to>
                                        <p:strVal val="visible"/>
                                      </p:to>
                                    </p:set>
                                    <p:animEffect transition="in" filter="wipe(up)">
                                      <p:cBhvr>
                                        <p:cTn id="86" dur="200"/>
                                        <p:tgtEl>
                                          <p:spTgt spid="28"/>
                                        </p:tgtEl>
                                      </p:cBhvr>
                                    </p:animEffect>
                                  </p:childTnLst>
                                </p:cTn>
                              </p:par>
                              <p:par>
                                <p:cTn id="90" presetID="10" presetClass="entr" presetSubtype="0" fill="hold" grpId="0" nodeType="withEffect">
                                  <p:stCondLst>
                                    <p:cond delay="800"/>
                                  </p:stCondLst>
                                  <p:childTnLst>
                                    <p:set>
                                      <p:cBhvr>
                                        <p:cTn id="88" dur="1" fill="hold">
                                          <p:stCondLst>
                                            <p:cond delay="0"/>
                                          </p:stCondLst>
                                        </p:cTn>
                                        <p:tgtEl>
                                          <p:spTgt spid="29"/>
                                        </p:tgtEl>
                                        <p:attrNameLst>
                                          <p:attrName>style.visibility</p:attrName>
                                        </p:attrNameLst>
                                      </p:cBhvr>
                                      <p:to>
                                        <p:strVal val="visible"/>
                                      </p:to>
                                    </p:set>
                                    <p:animEffect transition="in" filter="fade">
                                      <p:cBhvr>
                                        <p:cTn id="89" dur="500"/>
                                        <p:tgtEl>
                                          <p:spTgt spid="29"/>
                                        </p:tgtEl>
                                      </p:cBhvr>
                                    </p:animEffect>
                                  </p:childTnLst>
                                </p:cTn>
                              </p:par>
                              <p:par>
                                <p:cTn id="93" presetID="10" presetClass="entr" presetSubtype="0" fill="hold" grpId="0" nodeType="withEffect">
                                  <p:stCondLst>
                                    <p:cond delay="800"/>
                                  </p:stCondLst>
                                  <p:childTnLst>
                                    <p:set>
                                      <p:cBhvr>
                                        <p:cTn id="91" dur="1" fill="hold">
                                          <p:stCondLst>
                                            <p:cond delay="0"/>
                                          </p:stCondLst>
                                        </p:cTn>
                                        <p:tgtEl>
                                          <p:spTgt spid="30"/>
                                        </p:tgtEl>
                                        <p:attrNameLst>
                                          <p:attrName>style.visibility</p:attrName>
                                        </p:attrNameLst>
                                      </p:cBhvr>
                                      <p:to>
                                        <p:strVal val="visible"/>
                                      </p:to>
                                    </p:set>
                                    <p:animEffect transition="in" filter="fade">
                                      <p:cBhvr>
                                        <p:cTn id="92" dur="500"/>
                                        <p:tgtEl>
                                          <p:spTgt spid="30"/>
                                        </p:tgtEl>
                                      </p:cBhvr>
                                    </p:animEffect>
                                  </p:childTnLst>
                                </p:cTn>
                              </p:par>
                              <p:par>
                                <p:cTn id="96" presetID="10" presetClass="entr" presetSubtype="0" fill="hold" grpId="0" nodeType="withEffect">
                                  <p:stCondLst>
                                    <p:cond delay="300"/>
                                  </p:stCondLst>
                                  <p:childTnLst>
                                    <p:set>
                                      <p:cBhvr>
                                        <p:cTn id="94" dur="1" fill="hold">
                                          <p:stCondLst>
                                            <p:cond delay="0"/>
                                          </p:stCondLst>
                                        </p:cTn>
                                        <p:tgtEl>
                                          <p:spTgt spid="43"/>
                                        </p:tgtEl>
                                        <p:attrNameLst>
                                          <p:attrName>style.visibility</p:attrName>
                                        </p:attrNameLst>
                                      </p:cBhvr>
                                      <p:to>
                                        <p:strVal val="visible"/>
                                      </p:to>
                                    </p:set>
                                    <p:animEffect transition="in" filter="fade">
                                      <p:cBhvr>
                                        <p:cTn id="95" dur="500"/>
                                        <p:tgtEl>
                                          <p:spTgt spid="43"/>
                                        </p:tgtEl>
                                      </p:cBhvr>
                                    </p:animEffect>
                                  </p:childTnLst>
                                </p:cTn>
                              </p:par>
                            </p:childTnLst>
                          </p:cTn>
                        </p:par>
                      </p:childTnLst>
                    </p:cTn>
                  </p:par>
                  <p:par>
                    <p:cTn id="97" fill="hold">
                      <p:stCondLst>
                        <p:cond delay="indefinite"/>
                      </p:stCondLst>
                      <p:childTnLst>
                        <p:par>
                          <p:cTn id="98" fill="hold">
                            <p:stCondLst>
                              <p:cond delay="0"/>
                            </p:stCondLst>
                            <p:childTnLst>
                              <p:par>
                                <p:cTn id="101" presetID="10" presetClass="exit" presetSubtype="0" fill="hold" grpId="0" nodeType="clickEffect">
                                  <p:stCondLst>
                                    <p:cond delay="0"/>
                                  </p:stCondLst>
                                  <p:childTnLst>
                                    <p:animEffect transition="out" filter="fade">
                                      <p:cBhvr>
                                        <p:cTn id="99" dur="300"/>
                                        <p:tgtEl>
                                          <p:spTgt spid="43"/>
                                        </p:tgtEl>
                                      </p:cBhvr>
                                    </p:animEffect>
                                    <p:set>
                                      <p:cBhvr>
                                        <p:cTn id="100" dur="1" fill="hold">
                                          <p:stCondLst>
                                            <p:cond delay="299"/>
                                          </p:stCondLst>
                                        </p:cTn>
                                        <p:tgtEl>
                                          <p:spTgt spid="43"/>
                                        </p:tgtEl>
                                        <p:attrNameLst>
                                          <p:attrName>style.visibility</p:attrName>
                                        </p:attrNameLst>
                                      </p:cBhvr>
                                      <p:to>
                                        <p:strVal val="hidden"/>
                                      </p:to>
                                    </p:set>
                                  </p:childTnLst>
                                </p:cTn>
                              </p:par>
                              <p:par>
                                <p:cTn id="104" presetID="22" presetClass="entr" presetSubtype="1" fill="hold" nodeType="withEffect">
                                  <p:stCondLst>
                                    <p:cond delay="0"/>
                                  </p:stCondLst>
                                  <p:childTnLst>
                                    <p:set>
                                      <p:cBhvr>
                                        <p:cTn id="102" dur="1" fill="hold">
                                          <p:stCondLst>
                                            <p:cond delay="0"/>
                                          </p:stCondLst>
                                        </p:cTn>
                                        <p:tgtEl>
                                          <p:spTgt spid="31"/>
                                        </p:tgtEl>
                                        <p:attrNameLst>
                                          <p:attrName>style.visibility</p:attrName>
                                        </p:attrNameLst>
                                      </p:cBhvr>
                                      <p:to>
                                        <p:strVal val="visible"/>
                                      </p:to>
                                    </p:set>
                                    <p:animEffect transition="in" filter="wipe(up)">
                                      <p:cBhvr>
                                        <p:cTn id="103" dur="150"/>
                                        <p:tgtEl>
                                          <p:spTgt spid="31"/>
                                        </p:tgtEl>
                                      </p:cBhvr>
                                    </p:animEffect>
                                  </p:childTnLst>
                                </p:cTn>
                              </p:par>
                              <p:par>
                                <p:cTn id="107" presetID="22" presetClass="entr" presetSubtype="1" fill="hold" nodeType="withEffect">
                                  <p:stCondLst>
                                    <p:cond delay="0"/>
                                  </p:stCondLst>
                                  <p:childTnLst>
                                    <p:set>
                                      <p:cBhvr>
                                        <p:cTn id="105" dur="1" fill="hold">
                                          <p:stCondLst>
                                            <p:cond delay="0"/>
                                          </p:stCondLst>
                                        </p:cTn>
                                        <p:tgtEl>
                                          <p:spTgt spid="33"/>
                                        </p:tgtEl>
                                        <p:attrNameLst>
                                          <p:attrName>style.visibility</p:attrName>
                                        </p:attrNameLst>
                                      </p:cBhvr>
                                      <p:to>
                                        <p:strVal val="visible"/>
                                      </p:to>
                                    </p:set>
                                    <p:animEffect transition="in" filter="wipe(up)">
                                      <p:cBhvr>
                                        <p:cTn id="106" dur="150"/>
                                        <p:tgtEl>
                                          <p:spTgt spid="33"/>
                                        </p:tgtEl>
                                      </p:cBhvr>
                                    </p:animEffect>
                                  </p:childTnLst>
                                </p:cTn>
                              </p:par>
                              <p:par>
                                <p:cTn id="110" presetID="22" presetClass="entr" presetSubtype="2" fill="hold" nodeType="withEffect">
                                  <p:stCondLst>
                                    <p:cond delay="150"/>
                                  </p:stCondLst>
                                  <p:childTnLst>
                                    <p:set>
                                      <p:cBhvr>
                                        <p:cTn id="108" dur="1" fill="hold">
                                          <p:stCondLst>
                                            <p:cond delay="0"/>
                                          </p:stCondLst>
                                        </p:cTn>
                                        <p:tgtEl>
                                          <p:spTgt spid="32"/>
                                        </p:tgtEl>
                                        <p:attrNameLst>
                                          <p:attrName>style.visibility</p:attrName>
                                        </p:attrNameLst>
                                      </p:cBhvr>
                                      <p:to>
                                        <p:strVal val="visible"/>
                                      </p:to>
                                    </p:set>
                                    <p:animEffect transition="in" filter="wipe(right)">
                                      <p:cBhvr>
                                        <p:cTn id="109" dur="450"/>
                                        <p:tgtEl>
                                          <p:spTgt spid="32"/>
                                        </p:tgtEl>
                                      </p:cBhvr>
                                    </p:animEffect>
                                  </p:childTnLst>
                                </p:cTn>
                              </p:par>
                              <p:par>
                                <p:cTn id="113" presetID="22" presetClass="entr" presetSubtype="4" fill="hold" nodeType="withEffect">
                                  <p:stCondLst>
                                    <p:cond delay="600"/>
                                  </p:stCondLst>
                                  <p:childTnLst>
                                    <p:set>
                                      <p:cBhvr>
                                        <p:cTn id="111" dur="1" fill="hold">
                                          <p:stCondLst>
                                            <p:cond delay="0"/>
                                          </p:stCondLst>
                                        </p:cTn>
                                        <p:tgtEl>
                                          <p:spTgt spid="34"/>
                                        </p:tgtEl>
                                        <p:attrNameLst>
                                          <p:attrName>style.visibility</p:attrName>
                                        </p:attrNameLst>
                                      </p:cBhvr>
                                      <p:to>
                                        <p:strVal val="visible"/>
                                      </p:to>
                                    </p:set>
                                    <p:animEffect transition="in" filter="wipe(down)">
                                      <p:cBhvr>
                                        <p:cTn id="112" dur="200"/>
                                        <p:tgtEl>
                                          <p:spTgt spid="34"/>
                                        </p:tgtEl>
                                      </p:cBhvr>
                                    </p:animEffect>
                                  </p:childTnLst>
                                </p:cTn>
                              </p:par>
                              <p:par>
                                <p:cTn id="116" presetID="10" presetClass="entr" presetSubtype="0" fill="hold" grpId="0" nodeType="withEffect">
                                  <p:stCondLst>
                                    <p:cond delay="700"/>
                                  </p:stCondLst>
                                  <p:childTnLst>
                                    <p:set>
                                      <p:cBhvr>
                                        <p:cTn id="114" dur="1" fill="hold">
                                          <p:stCondLst>
                                            <p:cond delay="0"/>
                                          </p:stCondLst>
                                        </p:cTn>
                                        <p:tgtEl>
                                          <p:spTgt spid="35"/>
                                        </p:tgtEl>
                                        <p:attrNameLst>
                                          <p:attrName>style.visibility</p:attrName>
                                        </p:attrNameLst>
                                      </p:cBhvr>
                                      <p:to>
                                        <p:strVal val="visible"/>
                                      </p:to>
                                    </p:set>
                                    <p:animEffect transition="in" filter="fade">
                                      <p:cBhvr>
                                        <p:cTn id="115" dur="500"/>
                                        <p:tgtEl>
                                          <p:spTgt spid="35"/>
                                        </p:tgtEl>
                                      </p:cBhvr>
                                    </p:animEffect>
                                  </p:childTnLst>
                                </p:cTn>
                              </p:par>
                              <p:par>
                                <p:cTn id="119" presetID="22" presetClass="entr" presetSubtype="8" fill="hold" nodeType="withEffect">
                                  <p:stCondLst>
                                    <p:cond delay="900"/>
                                  </p:stCondLst>
                                  <p:childTnLst>
                                    <p:set>
                                      <p:cBhvr>
                                        <p:cTn id="117" dur="1" fill="hold">
                                          <p:stCondLst>
                                            <p:cond delay="0"/>
                                          </p:stCondLst>
                                        </p:cTn>
                                        <p:tgtEl>
                                          <p:spTgt spid="36"/>
                                        </p:tgtEl>
                                        <p:attrNameLst>
                                          <p:attrName>style.visibility</p:attrName>
                                        </p:attrNameLst>
                                      </p:cBhvr>
                                      <p:to>
                                        <p:strVal val="visible"/>
                                      </p:to>
                                    </p:set>
                                    <p:animEffect transition="in" filter="wipe(left)">
                                      <p:cBhvr>
                                        <p:cTn id="118" dur="250"/>
                                        <p:tgtEl>
                                          <p:spTgt spid="36"/>
                                        </p:tgtEl>
                                      </p:cBhvr>
                                    </p:animEffect>
                                  </p:childTnLst>
                                </p:cTn>
                              </p:par>
                              <p:par>
                                <p:cTn id="122" presetID="10" presetClass="entr" presetSubtype="0" fill="hold" grpId="0" nodeType="withEffect">
                                  <p:stCondLst>
                                    <p:cond delay="1100"/>
                                  </p:stCondLst>
                                  <p:childTnLst>
                                    <p:set>
                                      <p:cBhvr>
                                        <p:cTn id="120" dur="1" fill="hold">
                                          <p:stCondLst>
                                            <p:cond delay="0"/>
                                          </p:stCondLst>
                                        </p:cTn>
                                        <p:tgtEl>
                                          <p:spTgt spid="37"/>
                                        </p:tgtEl>
                                        <p:attrNameLst>
                                          <p:attrName>style.visibility</p:attrName>
                                        </p:attrNameLst>
                                      </p:cBhvr>
                                      <p:to>
                                        <p:strVal val="visible"/>
                                      </p:to>
                                    </p:set>
                                    <p:animEffect transition="in" filter="fade">
                                      <p:cBhvr>
                                        <p:cTn id="121" dur="500"/>
                                        <p:tgtEl>
                                          <p:spTgt spid="37"/>
                                        </p:tgtEl>
                                      </p:cBhvr>
                                    </p:animEffect>
                                  </p:childTnLst>
                                </p:cTn>
                              </p:par>
                              <p:par>
                                <p:cTn id="125" presetID="10" presetClass="entr" presetSubtype="0" fill="hold" grpId="0" nodeType="withEffect">
                                  <p:stCondLst>
                                    <p:cond delay="1200"/>
                                  </p:stCondLst>
                                  <p:childTnLst>
                                    <p:set>
                                      <p:cBhvr>
                                        <p:cTn id="123" dur="1" fill="hold">
                                          <p:stCondLst>
                                            <p:cond delay="0"/>
                                          </p:stCondLst>
                                        </p:cTn>
                                        <p:tgtEl>
                                          <p:spTgt spid="38"/>
                                        </p:tgtEl>
                                        <p:attrNameLst>
                                          <p:attrName>style.visibility</p:attrName>
                                        </p:attrNameLst>
                                      </p:cBhvr>
                                      <p:to>
                                        <p:strVal val="visible"/>
                                      </p:to>
                                    </p:set>
                                    <p:animEffect transition="in" filter="fade">
                                      <p:cBhvr>
                                        <p:cTn id="124" dur="500"/>
                                        <p:tgtEl>
                                          <p:spTgt spid="38"/>
                                        </p:tgtEl>
                                      </p:cBhvr>
                                    </p:animEffect>
                                  </p:childTnLst>
                                </p:cTn>
                              </p:par>
                              <p:par>
                                <p:cTn id="128" presetID="10" presetClass="entr" presetSubtype="0" fill="hold" grpId="0" nodeType="withEffect">
                                  <p:stCondLst>
                                    <p:cond delay="300"/>
                                  </p:stCondLst>
                                  <p:childTnLst>
                                    <p:set>
                                      <p:cBhvr>
                                        <p:cTn id="126" dur="1" fill="hold">
                                          <p:stCondLst>
                                            <p:cond delay="0"/>
                                          </p:stCondLst>
                                        </p:cTn>
                                        <p:tgtEl>
                                          <p:spTgt spid="44"/>
                                        </p:tgtEl>
                                        <p:attrNameLst>
                                          <p:attrName>style.visibility</p:attrName>
                                        </p:attrNameLst>
                                      </p:cBhvr>
                                      <p:to>
                                        <p:strVal val="visible"/>
                                      </p:to>
                                    </p:set>
                                    <p:animEffect transition="in" filter="fade">
                                      <p:cBhvr>
                                        <p:cTn id="127"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8" grpId="0"/>
      <p:bldP spid="39" grpId="0"/>
      <p:bldP spid="14" grpId="0" animBg="1"/>
      <p:bldP spid="40" grpId="0"/>
      <p:bldP spid="17" grpId="0"/>
      <p:bldP spid="41" grpId="0"/>
      <p:bldP spid="19" grpId="0" animBg="1"/>
      <p:bldP spid="21" grpId="0" animBg="1"/>
      <p:bldP spid="24" grpId="0"/>
      <p:bldP spid="42" grpId="0"/>
      <p:bldP spid="29" grpId="0" animBg="1"/>
      <p:bldP spid="30" grpId="0" animBg="1"/>
      <p:bldP spid="43" grpId="0"/>
      <p:bldP spid="35" grpId="0" animBg="1"/>
      <p:bldP spid="37" grpId="0" animBg="1"/>
      <p:bldP spid="38" grpId="0"/>
      <p:bldP spid="44"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CMS data to a service</dc:title>
  <dc:subject>PptxGenJS Presentation</dc:subject>
  <dc:creator>Nisha Mishra</dc:creator>
  <cp:lastModifiedBy>Nisha Mishra</cp:lastModifiedBy>
  <cp:revision>1</cp:revision>
  <dcterms:created xsi:type="dcterms:W3CDTF">2026-10-06T01:51:31Z</dcterms:created>
  <dcterms:modified xsi:type="dcterms:W3CDTF">2026-10-06T01:51:31Z</dcterms:modified>
</cp:coreProperties>
</file>