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Today a nurse checks every case against official policy, by hand. CMS publishes national and local coverage determinations, with billing articles beside them. Federal rules sit above those. Humana has its own documents. Each one says what must be true for a service to be covered. We start from the same sources.
Click 2: We read each policy with an ETL step that has AI inside. It keeps the structure: titles, paragraphs, tables and the page each came from. A flat block of text would lose the sections the rules hang on.
Click 3: An AI drafts the rules. Each requirement becomes one rule. For each rule it names the detail a nurse needs to check, for example the ejection fraction, and copies the exact sentence the rule came from. Those details are what we later look for in the packet.
Click 4: Plain code checks the draft. Is the quote really in the policy? Is every number in the quote? Does the detail exist? Anything that fails is shown to the owner, never dropped. There is no AI in this step.
Click 5: A policy owner approves, edits or rejects every rule, with the official text beside it. The AI drafts. It never publishes. A rule that needs a detail we cannot read yet waits.
Click 6: Then we link it. A procedure code is the short code on every request that names the procedure. A CPT code is five digits, for example 33249 for an implantable defibrillator. A HCPCS code is a letter and four digits, used for equipment. The policy gets its codes, with their source, and joins a service. A service is any product or business name we choose for a kind of request: ICD for heart failure, lumbar fusion, CPAP. The service holds its codes, its policies and the details to look for.
Click 7: In production we would not onboard services at random. Humana's own history of prior authorization requests, by procedure code, gives volume, pends and reversals, so we start where it matters most. In the prototype the owner sees the same signal live, as requests without a policy.
Click 8: We publish one versioned library. Every version is kept, so a change can be rolled back, and every action is in an audit trail. Part two reads every packet with this library.
Click 9: What we get: a versioned library of services, each with its codes, policies and the details to look for. Every rule is tied to the official sentence and approved by a named owner. Every code has its source and every change is recorded. A new service goes from planned to pilot to live, and any version can be rolled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45720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 PART 1 OF 2</a:t>
            </a:r>
            <a:endParaRPr lang="en-US" sz="1100" dirty="0"/>
          </a:p>
        </p:txBody>
      </p:sp>
      <p:sp>
        <p:nvSpPr>
          <p:cNvPr id="3" name="title"/>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Building the library, then onboarding a service.</a:t>
            </a:r>
            <a:endParaRPr lang="en-US" sz="2600" dirty="0"/>
          </a:p>
        </p:txBody>
      </p:sp>
      <p:sp>
        <p:nvSpPr>
          <p:cNvPr id="4" name="sub"/>
          <p:cNvSpPr txBox="1"/>
          <p:nvPr/>
        </p:nvSpPr>
        <p:spPr>
          <a:xfrm>
            <a:off x="7863840" y="502920"/>
            <a:ext cx="386791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Once per service, and when a policy changes</a:t>
            </a:r>
            <a:endParaRPr lang="en-US" sz="1400" dirty="0"/>
          </a:p>
        </p:txBody>
      </p:sp>
      <p:sp>
        <p:nvSpPr>
          <p:cNvPr id="5" name="panelSrc"/>
          <p:cNvSpPr/>
          <p:nvPr/>
        </p:nvSpPr>
        <p:spPr>
          <a:xfrm>
            <a:off x="457200" y="1325880"/>
            <a:ext cx="3017520" cy="4434840"/>
          </a:xfrm>
          <a:prstGeom prst="roundRect">
            <a:avLst>
              <a:gd name="adj" fmla="val 3030"/>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6" name="panelApp"/>
          <p:cNvSpPr/>
          <p:nvPr/>
        </p:nvSpPr>
        <p:spPr>
          <a:xfrm>
            <a:off x="3794760" y="1325880"/>
            <a:ext cx="7936992" cy="4434840"/>
          </a:xfrm>
          <a:prstGeom prst="roundRect">
            <a:avLst>
              <a:gd name="adj" fmla="val 2062"/>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hdrSrc"/>
          <p:cNvSpPr txBox="1"/>
          <p:nvPr/>
        </p:nvSpPr>
        <p:spPr>
          <a:xfrm>
            <a:off x="640080" y="1389888"/>
            <a:ext cx="2651760" cy="502920"/>
          </a:xfrm>
          <a:prstGeom prst="rect">
            <a:avLst/>
          </a:prstGeom>
          <a:noFill/>
          <a:ln/>
        </p:spPr>
        <p:txBody>
          <a:bodyPr wrap="square" lIns="0" tIns="0" rIns="0" bIns="0" rtlCol="0" anchor="t"/>
          <a:lstStyle/>
          <a:p>
            <a:pPr algn="l" indent="0" marL="0">
              <a:buNone/>
            </a:pPr>
            <a:r>
              <a:rPr lang="en-US" sz="1100" b="1" spc="300" kern="0" dirty="0">
                <a:solidFill>
                  <a:srgbClr val="16211E"/>
                </a:solidFill>
                <a:latin typeface="Calibri" pitchFamily="34" charset="0"/>
                <a:ea typeface="Calibri" pitchFamily="34" charset="-122"/>
                <a:cs typeface="Calibri" pitchFamily="34" charset="-120"/>
              </a:rPr>
              <a:t>OFFICIAL SOURCES</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What a nurse checks by hand today</a:t>
            </a:r>
            <a:endParaRPr lang="en-US" sz="1100" dirty="0"/>
          </a:p>
        </p:txBody>
      </p:sp>
      <p:sp>
        <p:nvSpPr>
          <p:cNvPr id="8" name="hdrApp"/>
          <p:cNvSpPr txBox="1"/>
          <p:nvPr/>
        </p:nvSpPr>
        <p:spPr>
          <a:xfrm>
            <a:off x="4023360" y="1389888"/>
            <a:ext cx="7498080" cy="502920"/>
          </a:xfrm>
          <a:prstGeom prst="rect">
            <a:avLst/>
          </a:prstGeom>
          <a:noFill/>
          <a:ln/>
        </p:spPr>
        <p:txBody>
          <a:bodyPr wrap="square" lIns="0" tIns="0" rIns="0" bIns="0" rtlCol="0" anchor="t"/>
          <a:lstStyle/>
          <a:p>
            <a:pPr algn="l" indent="0" marL="0">
              <a:buNone/>
            </a:pPr>
            <a:r>
              <a:rPr lang="en-US" sz="1100" b="1" spc="300" kern="0" dirty="0">
                <a:solidFill>
                  <a:srgbClr val="16211E"/>
                </a:solidFill>
                <a:latin typeface="Calibri" pitchFamily="34" charset="0"/>
                <a:ea typeface="Calibri" pitchFamily="34" charset="-122"/>
                <a:cs typeface="Calibri" pitchFamily="34" charset="-120"/>
              </a:rPr>
              <a:t>PA DESK</a:t>
            </a:r>
            <a:endParaRPr lang="en-US" sz="1100" dirty="0"/>
          </a:p>
          <a:p>
            <a:pPr algn="l" indent="0" marL="0">
              <a:buNone/>
            </a:pPr>
            <a:r>
              <a:rPr lang="en-US" sz="1000" dirty="0">
                <a:solidFill>
                  <a:srgbClr val="5C6B66"/>
                </a:solidFill>
                <a:latin typeface="Calibri" pitchFamily="34" charset="0"/>
                <a:ea typeface="Calibri" pitchFamily="34" charset="-122"/>
                <a:cs typeface="Calibri" pitchFamily="34" charset="-120"/>
              </a:rPr>
              <a:t>A policy owner turns a policy into a service the system can use</a:t>
            </a:r>
            <a:endParaRPr lang="en-US" sz="1100" dirty="0"/>
          </a:p>
        </p:txBody>
      </p:sp>
      <p:sp>
        <p:nvSpPr>
          <p:cNvPr id="9"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Policies shown are public Medicare policies. The Humana policy and MCG slots are placeholders. The AI drafts. It never publishes.</a:t>
            </a:r>
            <a:endParaRPr lang="en-US" sz="900" dirty="0"/>
          </a:p>
        </p:txBody>
      </p:sp>
      <p:sp>
        <p:nvSpPr>
          <p:cNvPr id="10" name="S1"/>
          <p:cNvSpPr/>
          <p:nvPr/>
        </p:nvSpPr>
        <p:spPr>
          <a:xfrm>
            <a:off x="640080" y="2011680"/>
            <a:ext cx="2651760" cy="868680"/>
          </a:xfrm>
          <a:prstGeom prst="roundRect">
            <a:avLst>
              <a:gd name="adj" fmla="val 8421"/>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CMS coverage database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National and local policies, plus their billing articles</a:t>
            </a:r>
            <a:endParaRPr lang="en-US" sz="1350" dirty="0"/>
          </a:p>
        </p:txBody>
      </p:sp>
      <p:pic>
        <p:nvPicPr>
          <p:cNvPr id="11" name="IcCms" descr="preencoded.png">    </p:cNvPr>
          <p:cNvPicPr>
            <a:picLocks noChangeAspect="1"/>
          </p:cNvPicPr>
          <p:nvPr/>
        </p:nvPicPr>
        <p:blipFill>
          <a:blip r:embed="rId1"/>
          <a:stretch>
            <a:fillRect/>
          </a:stretch>
        </p:blipFill>
        <p:spPr>
          <a:xfrm>
            <a:off x="749808" y="2167128"/>
            <a:ext cx="548640" cy="548640"/>
          </a:xfrm>
          <a:prstGeom prst="rect">
            <a:avLst/>
          </a:prstGeom>
        </p:spPr>
      </p:pic>
      <p:sp>
        <p:nvSpPr>
          <p:cNvPr id="12" name="S2"/>
          <p:cNvSpPr/>
          <p:nvPr/>
        </p:nvSpPr>
        <p:spPr>
          <a:xfrm>
            <a:off x="640080" y="3108960"/>
            <a:ext cx="2651760" cy="868680"/>
          </a:xfrm>
          <a:prstGeom prst="roundRect">
            <a:avLst>
              <a:gd name="adj" fmla="val 8421"/>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Federal rules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Regulations, from the eCFR</a:t>
            </a:r>
            <a:endParaRPr lang="en-US" sz="1350" dirty="0"/>
          </a:p>
        </p:txBody>
      </p:sp>
      <p:pic>
        <p:nvPicPr>
          <p:cNvPr id="13" name="IcFed" descr="preencoded.png">    </p:cNvPr>
          <p:cNvPicPr>
            <a:picLocks noChangeAspect="1"/>
          </p:cNvPicPr>
          <p:nvPr/>
        </p:nvPicPr>
        <p:blipFill>
          <a:blip r:embed="rId2"/>
          <a:stretch>
            <a:fillRect/>
          </a:stretch>
        </p:blipFill>
        <p:spPr>
          <a:xfrm>
            <a:off x="749808" y="3264408"/>
            <a:ext cx="548640" cy="548640"/>
          </a:xfrm>
          <a:prstGeom prst="rect">
            <a:avLst/>
          </a:prstGeom>
        </p:spPr>
      </p:pic>
      <p:sp>
        <p:nvSpPr>
          <p:cNvPr id="14" name="S3"/>
          <p:cNvSpPr/>
          <p:nvPr/>
        </p:nvSpPr>
        <p:spPr>
          <a:xfrm>
            <a:off x="640080" y="4206240"/>
            <a:ext cx="2651760" cy="868680"/>
          </a:xfrm>
          <a:prstGeom prst="roundRect">
            <a:avLst>
              <a:gd name="adj" fmla="val 8421"/>
            </a:avLst>
          </a:prstGeom>
          <a:solidFill>
            <a:srgbClr val="FFFFFF"/>
          </a:solidFill>
          <a:ln w="15875">
            <a:solidFill>
              <a:srgbClr val="CBD5D1"/>
            </a:solidFill>
          </a:ln>
        </p:spPr>
        <p:txBody>
          <a:bodyPr wrap="square" lIns="777240" tIns="36576" rIns="91440"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Humana policy</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The plan's own PDF. Commercial criteria are licensed</a:t>
            </a:r>
            <a:endParaRPr lang="en-US" sz="1350" dirty="0"/>
          </a:p>
        </p:txBody>
      </p:sp>
      <p:pic>
        <p:nvPicPr>
          <p:cNvPr id="15" name="IcHum" descr="preencoded.png">    </p:cNvPr>
          <p:cNvPicPr>
            <a:picLocks noChangeAspect="1"/>
          </p:cNvPicPr>
          <p:nvPr/>
        </p:nvPicPr>
        <p:blipFill>
          <a:blip r:embed="rId3"/>
          <a:stretch>
            <a:fillRect/>
          </a:stretch>
        </p:blipFill>
        <p:spPr>
          <a:xfrm>
            <a:off x="749808" y="4361688"/>
            <a:ext cx="548640" cy="548640"/>
          </a:xfrm>
          <a:prstGeom prst="rect">
            <a:avLst/>
          </a:prstGeom>
        </p:spPr>
      </p:pic>
      <p:sp>
        <p:nvSpPr>
          <p:cNvPr id="16" name="Stub1"/>
          <p:cNvSpPr/>
          <p:nvPr/>
        </p:nvSpPr>
        <p:spPr>
          <a:xfrm>
            <a:off x="3291840" y="2446020"/>
            <a:ext cx="320040" cy="0"/>
          </a:xfrm>
          <a:prstGeom prst="line">
            <a:avLst/>
          </a:prstGeom>
          <a:noFill/>
          <a:ln w="22225">
            <a:solidFill>
              <a:srgbClr val="5C6B66"/>
            </a:solidFill>
            <a:prstDash val="solid"/>
          </a:ln>
        </p:spPr>
      </p:sp>
      <p:sp>
        <p:nvSpPr>
          <p:cNvPr id="17" name="Stub2"/>
          <p:cNvSpPr/>
          <p:nvPr/>
        </p:nvSpPr>
        <p:spPr>
          <a:xfrm>
            <a:off x="3291840" y="3543300"/>
            <a:ext cx="320040" cy="0"/>
          </a:xfrm>
          <a:prstGeom prst="line">
            <a:avLst/>
          </a:prstGeom>
          <a:noFill/>
          <a:ln w="22225">
            <a:solidFill>
              <a:srgbClr val="5C6B66"/>
            </a:solidFill>
            <a:prstDash val="solid"/>
          </a:ln>
        </p:spPr>
      </p:sp>
      <p:sp>
        <p:nvSpPr>
          <p:cNvPr id="18" name="Stub3"/>
          <p:cNvSpPr/>
          <p:nvPr/>
        </p:nvSpPr>
        <p:spPr>
          <a:xfrm>
            <a:off x="3291840" y="4640580"/>
            <a:ext cx="320040" cy="0"/>
          </a:xfrm>
          <a:prstGeom prst="line">
            <a:avLst/>
          </a:prstGeom>
          <a:noFill/>
          <a:ln w="22225">
            <a:solidFill>
              <a:srgbClr val="5C6B66"/>
            </a:solidFill>
            <a:prstDash val="solid"/>
          </a:ln>
        </p:spPr>
      </p:sp>
      <p:sp>
        <p:nvSpPr>
          <p:cNvPr id="19" name="Bracket"/>
          <p:cNvSpPr/>
          <p:nvPr/>
        </p:nvSpPr>
        <p:spPr>
          <a:xfrm>
            <a:off x="3611880" y="2446020"/>
            <a:ext cx="0" cy="2194560"/>
          </a:xfrm>
          <a:prstGeom prst="line">
            <a:avLst/>
          </a:prstGeom>
          <a:noFill/>
          <a:ln w="22225">
            <a:solidFill>
              <a:srgbClr val="5C6B66"/>
            </a:solidFill>
            <a:prstDash val="solid"/>
          </a:ln>
        </p:spPr>
      </p:sp>
      <p:sp>
        <p:nvSpPr>
          <p:cNvPr id="20" name="ArrIn"/>
          <p:cNvSpPr/>
          <p:nvPr/>
        </p:nvSpPr>
        <p:spPr>
          <a:xfrm>
            <a:off x="3611880" y="2446020"/>
            <a:ext cx="411480" cy="0"/>
          </a:xfrm>
          <a:prstGeom prst="line">
            <a:avLst/>
          </a:prstGeom>
          <a:noFill/>
          <a:ln w="22225">
            <a:solidFill>
              <a:srgbClr val="5C6B66"/>
            </a:solidFill>
            <a:prstDash val="solid"/>
            <a:tailEnd type="triangle"/>
          </a:ln>
        </p:spPr>
      </p:sp>
      <p:sp>
        <p:nvSpPr>
          <p:cNvPr id="21" name="R1"/>
          <p:cNvSpPr/>
          <p:nvPr/>
        </p:nvSpPr>
        <p:spPr>
          <a:xfrm>
            <a:off x="4023360" y="2011680"/>
            <a:ext cx="2286000" cy="914400"/>
          </a:xfrm>
          <a:prstGeom prst="roundRect">
            <a:avLst>
              <a:gd name="adj" fmla="val 8000"/>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Read the policy</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ETL + AI keeps titles, paragraphs, tables and pages</a:t>
            </a:r>
            <a:endParaRPr lang="en-US" sz="1350" dirty="0"/>
          </a:p>
        </p:txBody>
      </p:sp>
      <p:pic>
        <p:nvPicPr>
          <p:cNvPr id="22" name="IcRead" descr="preencoded.png">    </p:cNvPr>
          <p:cNvPicPr>
            <a:picLocks noChangeAspect="1"/>
          </p:cNvPicPr>
          <p:nvPr/>
        </p:nvPicPr>
        <p:blipFill>
          <a:blip r:embed="rId4"/>
          <a:stretch>
            <a:fillRect/>
          </a:stretch>
        </p:blipFill>
        <p:spPr>
          <a:xfrm>
            <a:off x="4133088" y="2194560"/>
            <a:ext cx="548640" cy="548640"/>
          </a:xfrm>
          <a:prstGeom prst="rect">
            <a:avLst/>
          </a:prstGeom>
        </p:spPr>
      </p:pic>
      <p:sp>
        <p:nvSpPr>
          <p:cNvPr id="23" name="R2"/>
          <p:cNvSpPr/>
          <p:nvPr/>
        </p:nvSpPr>
        <p:spPr>
          <a:xfrm>
            <a:off x="6629400" y="2011680"/>
            <a:ext cx="2286000" cy="914400"/>
          </a:xfrm>
          <a:prstGeom prst="roundRect">
            <a:avLst>
              <a:gd name="adj" fmla="val 8000"/>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Draft the rules</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AI writes each rule with its source sentence</a:t>
            </a:r>
            <a:endParaRPr lang="en-US" sz="1350" dirty="0"/>
          </a:p>
        </p:txBody>
      </p:sp>
      <p:pic>
        <p:nvPicPr>
          <p:cNvPr id="24" name="IcDraft" descr="preencoded.png">    </p:cNvPr>
          <p:cNvPicPr>
            <a:picLocks noChangeAspect="1"/>
          </p:cNvPicPr>
          <p:nvPr/>
        </p:nvPicPr>
        <p:blipFill>
          <a:blip r:embed="rId5"/>
          <a:stretch>
            <a:fillRect/>
          </a:stretch>
        </p:blipFill>
        <p:spPr>
          <a:xfrm>
            <a:off x="6739128" y="2194560"/>
            <a:ext cx="548640" cy="548640"/>
          </a:xfrm>
          <a:prstGeom prst="rect">
            <a:avLst/>
          </a:prstGeom>
        </p:spPr>
      </p:pic>
      <p:sp>
        <p:nvSpPr>
          <p:cNvPr id="25" name="R3"/>
          <p:cNvSpPr/>
          <p:nvPr/>
        </p:nvSpPr>
        <p:spPr>
          <a:xfrm>
            <a:off x="9235440" y="2011680"/>
            <a:ext cx="2286000" cy="914400"/>
          </a:xfrm>
          <a:prstGeom prst="roundRect">
            <a:avLst>
              <a:gd name="adj" fmla="val 8000"/>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Check the draft</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Code checks every quote, number and detail</a:t>
            </a:r>
            <a:endParaRPr lang="en-US" sz="1350" dirty="0"/>
          </a:p>
        </p:txBody>
      </p:sp>
      <p:pic>
        <p:nvPicPr>
          <p:cNvPr id="26" name="IcCheck" descr="preencoded.png">    </p:cNvPr>
          <p:cNvPicPr>
            <a:picLocks noChangeAspect="1"/>
          </p:cNvPicPr>
          <p:nvPr/>
        </p:nvPicPr>
        <p:blipFill>
          <a:blip r:embed="rId6"/>
          <a:stretch>
            <a:fillRect/>
          </a:stretch>
        </p:blipFill>
        <p:spPr>
          <a:xfrm>
            <a:off x="9345168" y="2194560"/>
            <a:ext cx="548640" cy="548640"/>
          </a:xfrm>
          <a:prstGeom prst="rect">
            <a:avLst/>
          </a:prstGeom>
        </p:spPr>
      </p:pic>
      <p:sp>
        <p:nvSpPr>
          <p:cNvPr id="27" name="A12"/>
          <p:cNvSpPr/>
          <p:nvPr/>
        </p:nvSpPr>
        <p:spPr>
          <a:xfrm>
            <a:off x="6327648" y="2468880"/>
            <a:ext cx="283464" cy="0"/>
          </a:xfrm>
          <a:prstGeom prst="line">
            <a:avLst/>
          </a:prstGeom>
          <a:noFill/>
          <a:ln w="22225">
            <a:solidFill>
              <a:srgbClr val="5C6B66"/>
            </a:solidFill>
            <a:prstDash val="solid"/>
            <a:tailEnd type="triangle"/>
          </a:ln>
        </p:spPr>
      </p:sp>
      <p:sp>
        <p:nvSpPr>
          <p:cNvPr id="28" name="A23"/>
          <p:cNvSpPr/>
          <p:nvPr/>
        </p:nvSpPr>
        <p:spPr>
          <a:xfrm>
            <a:off x="8933688" y="2468880"/>
            <a:ext cx="283464" cy="0"/>
          </a:xfrm>
          <a:prstGeom prst="line">
            <a:avLst/>
          </a:prstGeom>
          <a:noFill/>
          <a:ln w="22225">
            <a:solidFill>
              <a:srgbClr val="5C6B66"/>
            </a:solidFill>
            <a:prstDash val="solid"/>
            <a:tailEnd type="triangle"/>
          </a:ln>
        </p:spPr>
      </p:sp>
      <p:sp>
        <p:nvSpPr>
          <p:cNvPr id="29" name="D1"/>
          <p:cNvSpPr/>
          <p:nvPr/>
        </p:nvSpPr>
        <p:spPr>
          <a:xfrm>
            <a:off x="6675120" y="3017520"/>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Ejection fraction</a:t>
            </a:r>
            <a:endParaRPr lang="en-US" sz="1000" dirty="0"/>
          </a:p>
        </p:txBody>
      </p:sp>
      <p:sp>
        <p:nvSpPr>
          <p:cNvPr id="30" name="D2"/>
          <p:cNvSpPr/>
          <p:nvPr/>
        </p:nvSpPr>
        <p:spPr>
          <a:xfrm>
            <a:off x="7818120" y="3017520"/>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Heart attack</a:t>
            </a:r>
            <a:endParaRPr lang="en-US" sz="1000" dirty="0"/>
          </a:p>
        </p:txBody>
      </p:sp>
      <p:sp>
        <p:nvSpPr>
          <p:cNvPr id="31" name="T4"/>
          <p:cNvSpPr txBox="1"/>
          <p:nvPr/>
        </p:nvSpPr>
        <p:spPr>
          <a:xfrm>
            <a:off x="9235440" y="3017520"/>
            <a:ext cx="2286000" cy="274320"/>
          </a:xfrm>
          <a:prstGeom prst="rect">
            <a:avLst/>
          </a:prstGeom>
          <a:noFill/>
          <a:ln/>
        </p:spPr>
        <p:txBody>
          <a:bodyPr wrap="square" lIns="0" tIns="0" rIns="0" bIns="0" rtlCol="0" anchor="t"/>
          <a:lstStyle/>
          <a:p>
            <a:pPr algn="l" indent="0" marL="0">
              <a:buNone/>
            </a:pPr>
            <a:r>
              <a:rPr lang="en-US" sz="1100" b="1" dirty="0">
                <a:solidFill>
                  <a:srgbClr val="B8452F"/>
                </a:solidFill>
                <a:latin typeface="Calibri" pitchFamily="34" charset="0"/>
                <a:ea typeface="Calibri" pitchFamily="34" charset="-122"/>
                <a:cs typeface="Calibri" pitchFamily="34" charset="-120"/>
              </a:rPr>
              <a:t>No AI here.</a:t>
            </a:r>
            <a:endParaRPr lang="en-US" sz="1100" dirty="0"/>
          </a:p>
        </p:txBody>
      </p:sp>
      <p:sp>
        <p:nvSpPr>
          <p:cNvPr id="32" name="E1"/>
          <p:cNvSpPr/>
          <p:nvPr/>
        </p:nvSpPr>
        <p:spPr>
          <a:xfrm>
            <a:off x="10378440" y="2926080"/>
            <a:ext cx="0" cy="502920"/>
          </a:xfrm>
          <a:prstGeom prst="line">
            <a:avLst/>
          </a:prstGeom>
          <a:noFill/>
          <a:ln w="22225">
            <a:solidFill>
              <a:srgbClr val="5C6B66"/>
            </a:solidFill>
            <a:prstDash val="solid"/>
          </a:ln>
        </p:spPr>
      </p:sp>
      <p:sp>
        <p:nvSpPr>
          <p:cNvPr id="33" name="E2"/>
          <p:cNvSpPr/>
          <p:nvPr/>
        </p:nvSpPr>
        <p:spPr>
          <a:xfrm>
            <a:off x="5166360" y="3429000"/>
            <a:ext cx="5212080" cy="0"/>
          </a:xfrm>
          <a:prstGeom prst="line">
            <a:avLst/>
          </a:prstGeom>
          <a:noFill/>
          <a:ln w="22225">
            <a:solidFill>
              <a:srgbClr val="5C6B66"/>
            </a:solidFill>
            <a:prstDash val="solid"/>
          </a:ln>
        </p:spPr>
      </p:sp>
      <p:sp>
        <p:nvSpPr>
          <p:cNvPr id="34" name="E3"/>
          <p:cNvSpPr/>
          <p:nvPr/>
        </p:nvSpPr>
        <p:spPr>
          <a:xfrm>
            <a:off x="5166360" y="3429000"/>
            <a:ext cx="0" cy="210312"/>
          </a:xfrm>
          <a:prstGeom prst="line">
            <a:avLst/>
          </a:prstGeom>
          <a:noFill/>
          <a:ln w="22225">
            <a:solidFill>
              <a:srgbClr val="5C6B66"/>
            </a:solidFill>
            <a:prstDash val="solid"/>
            <a:tailEnd type="triangle"/>
          </a:ln>
        </p:spPr>
      </p:sp>
      <p:sp>
        <p:nvSpPr>
          <p:cNvPr id="35" name="O1"/>
          <p:cNvSpPr/>
          <p:nvPr/>
        </p:nvSpPr>
        <p:spPr>
          <a:xfrm>
            <a:off x="4023360" y="3639312"/>
            <a:ext cx="2286000" cy="914400"/>
          </a:xfrm>
          <a:prstGeom prst="roundRect">
            <a:avLst>
              <a:gd name="adj" fmla="val 8000"/>
            </a:avLst>
          </a:prstGeom>
          <a:solidFill>
            <a:srgbClr val="EBE2F8"/>
          </a:solidFill>
          <a:ln w="15875">
            <a:solidFill>
              <a:srgbClr val="5F3AA8"/>
            </a:solidFill>
          </a:ln>
        </p:spPr>
        <p:txBody>
          <a:bodyPr wrap="square" lIns="777240" tIns="36576" rIns="73152" bIns="36576" rtlCol="0" anchor="ctr"/>
          <a:lstStyle/>
          <a:p>
            <a:pPr algn="l" indent="0" marL="0">
              <a:buNone/>
            </a:pPr>
            <a:r>
              <a:rPr lang="en-US" sz="1300" b="1" dirty="0">
                <a:solidFill>
                  <a:srgbClr val="5F3AA8"/>
                </a:solidFill>
                <a:latin typeface="Calibri" pitchFamily="34" charset="0"/>
                <a:ea typeface="Calibri" pitchFamily="34" charset="-122"/>
                <a:cs typeface="Calibri" pitchFamily="34" charset="-120"/>
              </a:rPr>
              <a:t>Policy owner approves</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Approves, edits or rejects each rule</a:t>
            </a:r>
            <a:endParaRPr lang="en-US" sz="1300" dirty="0"/>
          </a:p>
        </p:txBody>
      </p:sp>
      <p:pic>
        <p:nvPicPr>
          <p:cNvPr id="36" name="AvOwner" descr="preencoded.png">    </p:cNvPr>
          <p:cNvPicPr>
            <a:picLocks noChangeAspect="1"/>
          </p:cNvPicPr>
          <p:nvPr/>
        </p:nvPicPr>
        <p:blipFill>
          <a:blip r:embed="rId7"/>
          <a:stretch>
            <a:fillRect/>
          </a:stretch>
        </p:blipFill>
        <p:spPr>
          <a:xfrm>
            <a:off x="4133088" y="3822192"/>
            <a:ext cx="548640" cy="548640"/>
          </a:xfrm>
          <a:prstGeom prst="rect">
            <a:avLst/>
          </a:prstGeom>
        </p:spPr>
      </p:pic>
      <p:sp>
        <p:nvSpPr>
          <p:cNvPr id="37" name="O2"/>
          <p:cNvSpPr/>
          <p:nvPr/>
        </p:nvSpPr>
        <p:spPr>
          <a:xfrm>
            <a:off x="6629400" y="3639312"/>
            <a:ext cx="2286000" cy="914400"/>
          </a:xfrm>
          <a:prstGeom prst="roundRect">
            <a:avLst>
              <a:gd name="adj" fmla="val 8000"/>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Link to codes and a service</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A policy gets procedure codes and joins a service</a:t>
            </a:r>
            <a:endParaRPr lang="en-US" sz="1350" dirty="0"/>
          </a:p>
        </p:txBody>
      </p:sp>
      <p:pic>
        <p:nvPicPr>
          <p:cNvPr id="38" name="IcLink" descr="preencoded.png">    </p:cNvPr>
          <p:cNvPicPr>
            <a:picLocks noChangeAspect="1"/>
          </p:cNvPicPr>
          <p:nvPr/>
        </p:nvPicPr>
        <p:blipFill>
          <a:blip r:embed="rId8"/>
          <a:stretch>
            <a:fillRect/>
          </a:stretch>
        </p:blipFill>
        <p:spPr>
          <a:xfrm>
            <a:off x="6739128" y="3822192"/>
            <a:ext cx="548640" cy="548640"/>
          </a:xfrm>
          <a:prstGeom prst="rect">
            <a:avLst/>
          </a:prstGeom>
        </p:spPr>
      </p:pic>
      <p:sp>
        <p:nvSpPr>
          <p:cNvPr id="39" name="O3"/>
          <p:cNvSpPr/>
          <p:nvPr/>
        </p:nvSpPr>
        <p:spPr>
          <a:xfrm>
            <a:off x="9235440" y="3639312"/>
            <a:ext cx="2286000" cy="914400"/>
          </a:xfrm>
          <a:prstGeom prst="roundRect">
            <a:avLst>
              <a:gd name="adj" fmla="val 8000"/>
            </a:avLst>
          </a:prstGeom>
          <a:solidFill>
            <a:srgbClr val="FFFFFF"/>
          </a:solidFill>
          <a:ln w="15875">
            <a:solidFill>
              <a:srgbClr val="CBD5D1"/>
            </a:solidFill>
          </a:ln>
        </p:spPr>
        <p:txBody>
          <a:bodyPr wrap="square" lIns="777240" tIns="36576" rIns="73152" bIns="36576" rtlCol="0" anchor="ctr"/>
          <a:lstStyle/>
          <a:p>
            <a:pPr algn="l" indent="0" marL="0">
              <a:buNone/>
            </a:pPr>
            <a:r>
              <a:rPr lang="en-US" sz="1350" b="1" dirty="0">
                <a:solidFill>
                  <a:srgbClr val="16211E"/>
                </a:solidFill>
                <a:latin typeface="Calibri" pitchFamily="34" charset="0"/>
                <a:ea typeface="Calibri" pitchFamily="34" charset="-122"/>
                <a:cs typeface="Calibri" pitchFamily="34" charset="-120"/>
              </a:rPr>
              <a:t>Publish a version</a:t>
            </a:r>
            <a:endParaRPr lang="en-US" sz="1350" dirty="0"/>
          </a:p>
          <a:p>
            <a:pPr algn="l" indent="0" marL="0">
              <a:buNone/>
            </a:pPr>
            <a:r>
              <a:rPr lang="en-US" sz="1050" dirty="0">
                <a:solidFill>
                  <a:srgbClr val="5C6B66"/>
                </a:solidFill>
                <a:latin typeface="Calibri" pitchFamily="34" charset="0"/>
                <a:ea typeface="Calibri" pitchFamily="34" charset="-122"/>
                <a:cs typeface="Calibri" pitchFamily="34" charset="-120"/>
              </a:rPr>
              <a:t>One versioned library. Any version can roll back</a:t>
            </a:r>
            <a:endParaRPr lang="en-US" sz="1350" dirty="0"/>
          </a:p>
        </p:txBody>
      </p:sp>
      <p:pic>
        <p:nvPicPr>
          <p:cNvPr id="40" name="IcBook" descr="preencoded.png">    </p:cNvPr>
          <p:cNvPicPr>
            <a:picLocks noChangeAspect="1"/>
          </p:cNvPicPr>
          <p:nvPr/>
        </p:nvPicPr>
        <p:blipFill>
          <a:blip r:embed="rId9"/>
          <a:stretch>
            <a:fillRect/>
          </a:stretch>
        </p:blipFill>
        <p:spPr>
          <a:xfrm>
            <a:off x="9345168" y="3822192"/>
            <a:ext cx="548640" cy="548640"/>
          </a:xfrm>
          <a:prstGeom prst="rect">
            <a:avLst/>
          </a:prstGeom>
        </p:spPr>
      </p:pic>
      <p:sp>
        <p:nvSpPr>
          <p:cNvPr id="41" name="A56"/>
          <p:cNvSpPr/>
          <p:nvPr/>
        </p:nvSpPr>
        <p:spPr>
          <a:xfrm>
            <a:off x="6327648" y="4096512"/>
            <a:ext cx="283464" cy="0"/>
          </a:xfrm>
          <a:prstGeom prst="line">
            <a:avLst/>
          </a:prstGeom>
          <a:noFill/>
          <a:ln w="22225">
            <a:solidFill>
              <a:srgbClr val="5C6B66"/>
            </a:solidFill>
            <a:prstDash val="solid"/>
            <a:tailEnd type="triangle"/>
          </a:ln>
        </p:spPr>
      </p:sp>
      <p:sp>
        <p:nvSpPr>
          <p:cNvPr id="42" name="A67"/>
          <p:cNvSpPr/>
          <p:nvPr/>
        </p:nvSpPr>
        <p:spPr>
          <a:xfrm>
            <a:off x="8933688" y="4096512"/>
            <a:ext cx="283464" cy="0"/>
          </a:xfrm>
          <a:prstGeom prst="line">
            <a:avLst/>
          </a:prstGeom>
          <a:noFill/>
          <a:ln w="22225">
            <a:solidFill>
              <a:srgbClr val="5C6B66"/>
            </a:solidFill>
            <a:prstDash val="solid"/>
            <a:tailEnd type="triangle"/>
          </a:ln>
        </p:spPr>
      </p:sp>
      <p:sp>
        <p:nvSpPr>
          <p:cNvPr id="43" name="K1"/>
          <p:cNvSpPr/>
          <p:nvPr/>
        </p:nvSpPr>
        <p:spPr>
          <a:xfrm>
            <a:off x="6675120" y="4645152"/>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CPT code 33249</a:t>
            </a:r>
            <a:endParaRPr lang="en-US" sz="1000" dirty="0"/>
          </a:p>
        </p:txBody>
      </p:sp>
      <p:sp>
        <p:nvSpPr>
          <p:cNvPr id="44" name="K2"/>
          <p:cNvSpPr/>
          <p:nvPr/>
        </p:nvSpPr>
        <p:spPr>
          <a:xfrm>
            <a:off x="7818120" y="4645152"/>
            <a:ext cx="1051560" cy="274320"/>
          </a:xfrm>
          <a:prstGeom prst="roundRect">
            <a:avLst>
              <a:gd name="adj" fmla="val 20000"/>
            </a:avLst>
          </a:prstGeom>
          <a:solidFill>
            <a:srgbClr val="FFFFFF"/>
          </a:solidFill>
          <a:ln w="12700">
            <a:solidFill>
              <a:srgbClr val="1F6F5C"/>
            </a:solidFill>
          </a:ln>
        </p:spPr>
        <p:txBody>
          <a:bodyPr wrap="square" lIns="36576" tIns="0" rIns="36576" bIns="0" rtlCol="0" anchor="ctr"/>
          <a:lstStyle/>
          <a:p>
            <a:pPr algn="ctr" indent="0" marL="0">
              <a:buNone/>
            </a:pPr>
            <a:r>
              <a:rPr lang="en-US" sz="1000" dirty="0">
                <a:solidFill>
                  <a:srgbClr val="16211E"/>
                </a:solidFill>
                <a:latin typeface="Calibri" pitchFamily="34" charset="0"/>
                <a:ea typeface="Calibri" pitchFamily="34" charset="-122"/>
                <a:cs typeface="Calibri" pitchFamily="34" charset="-120"/>
              </a:rPr>
              <a:t>ICD service</a:t>
            </a:r>
            <a:endParaRPr lang="en-US" sz="1000" dirty="0"/>
          </a:p>
        </p:txBody>
      </p:sp>
      <p:sp>
        <p:nvSpPr>
          <p:cNvPr id="45" name="Gtm"/>
          <p:cNvSpPr/>
          <p:nvPr/>
        </p:nvSpPr>
        <p:spPr>
          <a:xfrm>
            <a:off x="4023360" y="5029200"/>
            <a:ext cx="7498080" cy="658368"/>
          </a:xfrm>
          <a:prstGeom prst="roundRect">
            <a:avLst>
              <a:gd name="adj" fmla="val 13889"/>
            </a:avLst>
          </a:prstGeom>
          <a:solidFill>
            <a:srgbClr val="FBE9E4"/>
          </a:solidFill>
          <a:ln w="15875">
            <a:solidFill>
              <a:srgbClr val="B8452F"/>
            </a:solidFill>
          </a:ln>
        </p:spPr>
        <p:txBody>
          <a:bodyPr wrap="square" lIns="182880" tIns="45720" rIns="182880" bIns="45720" rtlCol="0" anchor="ctr"/>
          <a:lstStyle/>
          <a:p>
            <a:pPr algn="l" indent="0" marL="0">
              <a:buNone/>
            </a:pPr>
            <a:r>
              <a:rPr lang="en-US" sz="1150" b="1" dirty="0">
                <a:solidFill>
                  <a:srgbClr val="B8452F"/>
                </a:solidFill>
                <a:latin typeface="Calibri" pitchFamily="34" charset="0"/>
                <a:ea typeface="Calibri" pitchFamily="34" charset="-122"/>
                <a:cs typeface="Calibri" pitchFamily="34" charset="-120"/>
              </a:rPr>
              <a:t>Which services first?  </a:t>
            </a:r>
            <a:pPr algn="l" indent="0" marL="0">
              <a:buNone/>
            </a:pPr>
            <a:r>
              <a:rPr lang="en-US" sz="1150" dirty="0">
                <a:solidFill>
                  <a:srgbClr val="16211E"/>
                </a:solidFill>
                <a:latin typeface="Calibri" pitchFamily="34" charset="0"/>
                <a:ea typeface="Calibri" pitchFamily="34" charset="-122"/>
                <a:cs typeface="Calibri" pitchFamily="34" charset="-120"/>
              </a:rPr>
              <a:t>In production, Humana's own history of prior authorization requests sets the rollout plan: volume, pends and reversals by procedure code.</a:t>
            </a:r>
            <a:endParaRPr lang="en-US" sz="1150" dirty="0"/>
          </a:p>
        </p:txBody>
      </p:sp>
      <p:sp>
        <p:nvSpPr>
          <p:cNvPr id="46" name="Get"/>
          <p:cNvSpPr/>
          <p:nvPr/>
        </p:nvSpPr>
        <p:spPr>
          <a:xfrm>
            <a:off x="4023360" y="5010912"/>
            <a:ext cx="7498080" cy="713232"/>
          </a:xfrm>
          <a:prstGeom prst="roundRect">
            <a:avLst>
              <a:gd name="adj" fmla="val 12821"/>
            </a:avLst>
          </a:prstGeom>
          <a:solidFill>
            <a:srgbClr val="DDF3E7"/>
          </a:solidFill>
          <a:ln w="15875">
            <a:solidFill>
              <a:srgbClr val="18764A"/>
            </a:solidFill>
          </a:ln>
        </p:spPr>
        <p:txBody>
          <a:bodyPr wrap="square" lIns="182880" tIns="36576" rIns="182880" bIns="36576" rtlCol="0" anchor="ctr"/>
          <a:lstStyle/>
          <a:p>
            <a:pPr algn="l" indent="0" marL="0">
              <a:buNone/>
            </a:pPr>
            <a:r>
              <a:rPr lang="en-US" sz="800" dirty="0">
                <a:solidFill>
                  <a:srgbClr val="000000"/>
                </a:solidFill>
              </a:rPr>
              <a:t> </a:t>
            </a:r>
            <a:endParaRPr lang="en-US" sz="800" dirty="0"/>
          </a:p>
        </p:txBody>
      </p:sp>
      <p:sp>
        <p:nvSpPr>
          <p:cNvPr id="47" name="G0"/>
          <p:cNvSpPr txBox="1"/>
          <p:nvPr/>
        </p:nvSpPr>
        <p:spPr>
          <a:xfrm>
            <a:off x="4206240" y="5074920"/>
            <a:ext cx="3520440" cy="310896"/>
          </a:xfrm>
          <a:prstGeom prst="rect">
            <a:avLst/>
          </a:prstGeom>
          <a:noFill/>
          <a:ln/>
        </p:spPr>
        <p:txBody>
          <a:bodyPr wrap="square" lIns="0" tIns="0" rIns="0" bIns="0" rtlCol="0" anchor="ctr"/>
          <a:lstStyle/>
          <a:p>
            <a:pPr algn="l" indent="0" marL="0">
              <a:buNone/>
            </a:pPr>
            <a:r>
              <a:rPr lang="en-US" sz="1050" b="1" dirty="0">
                <a:solidFill>
                  <a:srgbClr val="18764A"/>
                </a:solidFill>
                <a:latin typeface="Calibri" pitchFamily="34" charset="0"/>
                <a:ea typeface="Calibri" pitchFamily="34" charset="-122"/>
                <a:cs typeface="Calibri" pitchFamily="34" charset="-120"/>
              </a:rPr>
              <a:t>✓  </a:t>
            </a:r>
            <a:pPr algn="l" indent="0" marL="0">
              <a:buNone/>
            </a:pPr>
            <a:r>
              <a:rPr lang="en-US" sz="1000" dirty="0">
                <a:solidFill>
                  <a:srgbClr val="16211E"/>
                </a:solidFill>
                <a:latin typeface="Calibri" pitchFamily="34" charset="0"/>
                <a:ea typeface="Calibri" pitchFamily="34" charset="-122"/>
                <a:cs typeface="Calibri" pitchFamily="34" charset="-120"/>
              </a:rPr>
              <a:t>A versioned library of services, with codes, policies and details</a:t>
            </a:r>
            <a:endParaRPr lang="en-US" sz="1050" dirty="0"/>
          </a:p>
        </p:txBody>
      </p:sp>
      <p:sp>
        <p:nvSpPr>
          <p:cNvPr id="48" name="G1"/>
          <p:cNvSpPr txBox="1"/>
          <p:nvPr/>
        </p:nvSpPr>
        <p:spPr>
          <a:xfrm>
            <a:off x="7863840" y="5074920"/>
            <a:ext cx="3520440" cy="310896"/>
          </a:xfrm>
          <a:prstGeom prst="rect">
            <a:avLst/>
          </a:prstGeom>
          <a:noFill/>
          <a:ln/>
        </p:spPr>
        <p:txBody>
          <a:bodyPr wrap="square" lIns="0" tIns="0" rIns="0" bIns="0" rtlCol="0" anchor="ctr"/>
          <a:lstStyle/>
          <a:p>
            <a:pPr algn="l" indent="0" marL="0">
              <a:buNone/>
            </a:pPr>
            <a:r>
              <a:rPr lang="en-US" sz="1050" b="1" dirty="0">
                <a:solidFill>
                  <a:srgbClr val="18764A"/>
                </a:solidFill>
                <a:latin typeface="Calibri" pitchFamily="34" charset="0"/>
                <a:ea typeface="Calibri" pitchFamily="34" charset="-122"/>
                <a:cs typeface="Calibri" pitchFamily="34" charset="-120"/>
              </a:rPr>
              <a:t>✓  </a:t>
            </a:r>
            <a:pPr algn="l" indent="0" marL="0">
              <a:buNone/>
            </a:pPr>
            <a:r>
              <a:rPr lang="en-US" sz="1000" dirty="0">
                <a:solidFill>
                  <a:srgbClr val="16211E"/>
                </a:solidFill>
                <a:latin typeface="Calibri" pitchFamily="34" charset="0"/>
                <a:ea typeface="Calibri" pitchFamily="34" charset="-122"/>
                <a:cs typeface="Calibri" pitchFamily="34" charset="-120"/>
              </a:rPr>
              <a:t>Every rule tied to its official sentence and a named approver</a:t>
            </a:r>
            <a:endParaRPr lang="en-US" sz="1050" dirty="0"/>
          </a:p>
        </p:txBody>
      </p:sp>
      <p:sp>
        <p:nvSpPr>
          <p:cNvPr id="49" name="G2"/>
          <p:cNvSpPr txBox="1"/>
          <p:nvPr/>
        </p:nvSpPr>
        <p:spPr>
          <a:xfrm>
            <a:off x="4206240" y="5404104"/>
            <a:ext cx="3520440" cy="310896"/>
          </a:xfrm>
          <a:prstGeom prst="rect">
            <a:avLst/>
          </a:prstGeom>
          <a:noFill/>
          <a:ln/>
        </p:spPr>
        <p:txBody>
          <a:bodyPr wrap="square" lIns="0" tIns="0" rIns="0" bIns="0" rtlCol="0" anchor="ctr"/>
          <a:lstStyle/>
          <a:p>
            <a:pPr algn="l" indent="0" marL="0">
              <a:buNone/>
            </a:pPr>
            <a:r>
              <a:rPr lang="en-US" sz="1050" b="1" dirty="0">
                <a:solidFill>
                  <a:srgbClr val="18764A"/>
                </a:solidFill>
                <a:latin typeface="Calibri" pitchFamily="34" charset="0"/>
                <a:ea typeface="Calibri" pitchFamily="34" charset="-122"/>
                <a:cs typeface="Calibri" pitchFamily="34" charset="-120"/>
              </a:rPr>
              <a:t>✓  </a:t>
            </a:r>
            <a:pPr algn="l" indent="0" marL="0">
              <a:buNone/>
            </a:pPr>
            <a:r>
              <a:rPr lang="en-US" sz="1000" dirty="0">
                <a:solidFill>
                  <a:srgbClr val="16211E"/>
                </a:solidFill>
                <a:latin typeface="Calibri" pitchFamily="34" charset="0"/>
                <a:ea typeface="Calibri" pitchFamily="34" charset="-122"/>
                <a:cs typeface="Calibri" pitchFamily="34" charset="-120"/>
              </a:rPr>
              <a:t>Every code with its source, and every change in an audit trail</a:t>
            </a:r>
            <a:endParaRPr lang="en-US" sz="1050" dirty="0"/>
          </a:p>
        </p:txBody>
      </p:sp>
      <p:sp>
        <p:nvSpPr>
          <p:cNvPr id="50" name="G3"/>
          <p:cNvSpPr txBox="1"/>
          <p:nvPr/>
        </p:nvSpPr>
        <p:spPr>
          <a:xfrm>
            <a:off x="7863840" y="5404104"/>
            <a:ext cx="3520440" cy="310896"/>
          </a:xfrm>
          <a:prstGeom prst="rect">
            <a:avLst/>
          </a:prstGeom>
          <a:noFill/>
          <a:ln/>
        </p:spPr>
        <p:txBody>
          <a:bodyPr wrap="square" lIns="0" tIns="0" rIns="0" bIns="0" rtlCol="0" anchor="ctr"/>
          <a:lstStyle/>
          <a:p>
            <a:pPr algn="l" indent="0" marL="0">
              <a:buNone/>
            </a:pPr>
            <a:r>
              <a:rPr lang="en-US" sz="1050" b="1" dirty="0">
                <a:solidFill>
                  <a:srgbClr val="18764A"/>
                </a:solidFill>
                <a:latin typeface="Calibri" pitchFamily="34" charset="0"/>
                <a:ea typeface="Calibri" pitchFamily="34" charset="-122"/>
                <a:cs typeface="Calibri" pitchFamily="34" charset="-120"/>
              </a:rPr>
              <a:t>✓  </a:t>
            </a:r>
            <a:pPr algn="l" indent="0" marL="0">
              <a:buNone/>
            </a:pPr>
            <a:r>
              <a:rPr lang="en-US" sz="1000" dirty="0">
                <a:solidFill>
                  <a:srgbClr val="16211E"/>
                </a:solidFill>
                <a:latin typeface="Calibri" pitchFamily="34" charset="0"/>
                <a:ea typeface="Calibri" pitchFamily="34" charset="-122"/>
                <a:cs typeface="Calibri" pitchFamily="34" charset="-120"/>
              </a:rPr>
              <a:t>Planned, pilot, then live. Any version can be rolled back</a:t>
            </a:r>
            <a:endParaRPr lang="en-US" sz="1050" dirty="0"/>
          </a:p>
        </p:txBody>
      </p:sp>
      <p:sp>
        <p:nvSpPr>
          <p:cNvPr id="51"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Today a nurse checks every case against CMS, national and local policies, federal rules and Humana's own documents. We start from the same sources.</a:t>
            </a:r>
            <a:endParaRPr lang="en-US" sz="1600" dirty="0"/>
          </a:p>
        </p:txBody>
      </p:sp>
      <p:sp>
        <p:nvSpPr>
          <p:cNvPr id="52"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 ETL step with AI inside reads each policy and keeps its structure: titles, paragraphs, tables and the page each came from.</a:t>
            </a:r>
            <a:endParaRPr lang="en-US" sz="1600" dirty="0"/>
          </a:p>
        </p:txBody>
      </p:sp>
      <p:sp>
        <p:nvSpPr>
          <p:cNvPr id="53"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An AI turns each requirement into a rule, names the detail a nurse must check, and quotes the exact official sentence.</a:t>
            </a:r>
            <a:endParaRPr lang="en-US" sz="1600" dirty="0"/>
          </a:p>
        </p:txBody>
      </p:sp>
      <p:sp>
        <p:nvSpPr>
          <p:cNvPr id="54"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Plain code checks every quote, number and detail. Anything that fails goes to the owner. It is never dropped.</a:t>
            </a:r>
            <a:endParaRPr lang="en-US" sz="1600" dirty="0"/>
          </a:p>
        </p:txBody>
      </p:sp>
      <p:sp>
        <p:nvSpPr>
          <p:cNvPr id="55"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A policy owner approves, edits or rejects every rule. The AI drafts. It never publishes.</a:t>
            </a:r>
            <a:endParaRPr lang="en-US" sz="1600" dirty="0"/>
          </a:p>
        </p:txBody>
      </p:sp>
      <p:sp>
        <p:nvSpPr>
          <p:cNvPr id="56"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policy gets procedure codes and joins a service: any product or business name we choose. The service holds its codes, policies and details.</a:t>
            </a:r>
            <a:endParaRPr lang="en-US" sz="1600" dirty="0"/>
          </a:p>
        </p:txBody>
      </p:sp>
      <p:sp>
        <p:nvSpPr>
          <p:cNvPr id="57"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In production, Humana's history of prior authorization requests decides which services we onboard first.</a:t>
            </a:r>
            <a:endParaRPr lang="en-US" sz="1600" dirty="0"/>
          </a:p>
        </p:txBody>
      </p:sp>
      <p:sp>
        <p:nvSpPr>
          <p:cNvPr id="58" name="c8"/>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We publish one versioned library. Part two reads every packet with it.</a:t>
            </a:r>
            <a:endParaRPr lang="en-US" sz="1600" dirty="0"/>
          </a:p>
        </p:txBody>
      </p:sp>
      <p:sp>
        <p:nvSpPr>
          <p:cNvPr id="59" name="c9"/>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What we get.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par>
                                <p:cTn id="10"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6" presetID="10" presetClass="entr" presetSubtype="0" fill="hold" nodeType="withEffect">
                                  <p:stCondLst>
                                    <p:cond delay="15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9" presetID="10" presetClass="entr" presetSubtype="0" fill="hold" grpId="0" nodeType="withEffect">
                                  <p:stCondLst>
                                    <p:cond delay="30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22" presetID="10" presetClass="entr" presetSubtype="0" fill="hold" nodeType="withEffect">
                                  <p:stCondLst>
                                    <p:cond delay="3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5" presetID="22" presetClass="entr" presetSubtype="8" fill="hold" nodeType="withEffect">
                                  <p:stCondLst>
                                    <p:cond delay="50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250"/>
                                        <p:tgtEl>
                                          <p:spTgt spid="16"/>
                                        </p:tgtEl>
                                      </p:cBhvr>
                                    </p:animEffect>
                                  </p:childTnLst>
                                </p:cTn>
                              </p:par>
                              <p:par>
                                <p:cTn id="28" presetID="22" presetClass="entr" presetSubtype="8" fill="hold" nodeType="withEffect">
                                  <p:stCondLst>
                                    <p:cond delay="50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250"/>
                                        <p:tgtEl>
                                          <p:spTgt spid="17"/>
                                        </p:tgtEl>
                                      </p:cBhvr>
                                    </p:animEffect>
                                  </p:childTnLst>
                                </p:cTn>
                              </p:par>
                              <p:par>
                                <p:cTn id="31" presetID="22" presetClass="entr" presetSubtype="8" fill="hold" nodeType="withEffect">
                                  <p:stCondLst>
                                    <p:cond delay="50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250"/>
                                        <p:tgtEl>
                                          <p:spTgt spid="18"/>
                                        </p:tgtEl>
                                      </p:cBhvr>
                                    </p:animEffect>
                                  </p:childTnLst>
                                </p:cTn>
                              </p:par>
                              <p:par>
                                <p:cTn id="34" presetID="22" presetClass="entr" presetSubtype="1" fill="hold" nodeType="withEffect">
                                  <p:stCondLst>
                                    <p:cond delay="750"/>
                                  </p:stCondLst>
                                  <p:childTnLst>
                                    <p:set>
                                      <p:cBhvr>
                                        <p:cTn id="32" dur="1" fill="hold">
                                          <p:stCondLst>
                                            <p:cond delay="0"/>
                                          </p:stCondLst>
                                        </p:cTn>
                                        <p:tgtEl>
                                          <p:spTgt spid="19"/>
                                        </p:tgtEl>
                                        <p:attrNameLst>
                                          <p:attrName>style.visibility</p:attrName>
                                        </p:attrNameLst>
                                      </p:cBhvr>
                                      <p:to>
                                        <p:strVal val="visible"/>
                                      </p:to>
                                    </p:set>
                                    <p:animEffect transition="in" filter="wipe(up)">
                                      <p:cBhvr>
                                        <p:cTn id="33" dur="400"/>
                                        <p:tgtEl>
                                          <p:spTgt spid="19"/>
                                        </p:tgtEl>
                                      </p:cBhvr>
                                    </p:animEffect>
                                  </p:childTnLst>
                                </p:cTn>
                              </p:par>
                              <p:par>
                                <p:cTn id="37" presetID="10" presetClass="entr" presetSubtype="0" fill="hold" grpId="0" nodeType="withEffect">
                                  <p:stCondLst>
                                    <p:cond delay="100"/>
                                  </p:stCondLst>
                                  <p:childTnLst>
                                    <p:set>
                                      <p:cBhvr>
                                        <p:cTn id="35" dur="1" fill="hold">
                                          <p:stCondLst>
                                            <p:cond delay="0"/>
                                          </p:stCondLst>
                                        </p:cTn>
                                        <p:tgtEl>
                                          <p:spTgt spid="51"/>
                                        </p:tgtEl>
                                        <p:attrNameLst>
                                          <p:attrName>style.visibility</p:attrName>
                                        </p:attrNameLst>
                                      </p:cBhvr>
                                      <p:to>
                                        <p:strVal val="visible"/>
                                      </p:to>
                                    </p:set>
                                    <p:animEffect transition="in" filter="fade">
                                      <p:cBhvr>
                                        <p:cTn id="36" dur="500"/>
                                        <p:tgtEl>
                                          <p:spTgt spid="51"/>
                                        </p:tgtEl>
                                      </p:cBhvr>
                                    </p:animEffect>
                                  </p:childTnLst>
                                </p:cTn>
                              </p:par>
                            </p:childTnLst>
                          </p:cTn>
                        </p:par>
                      </p:childTnLst>
                    </p:cTn>
                  </p:par>
                  <p:par>
                    <p:cTn id="38" fill="hold">
                      <p:stCondLst>
                        <p:cond delay="indefinite"/>
                      </p:stCondLst>
                      <p:childTnLst>
                        <p:par>
                          <p:cTn id="39" fill="hold">
                            <p:stCondLst>
                              <p:cond delay="0"/>
                            </p:stCondLst>
                            <p:childTnLst>
                              <p:par>
                                <p:cTn id="42" presetID="10" presetClass="exit" presetSubtype="0" fill="hold" grpId="0" nodeType="clickEffect">
                                  <p:stCondLst>
                                    <p:cond delay="0"/>
                                  </p:stCondLst>
                                  <p:childTnLst>
                                    <p:animEffect transition="out" filter="fade">
                                      <p:cBhvr>
                                        <p:cTn id="40" dur="300"/>
                                        <p:tgtEl>
                                          <p:spTgt spid="51"/>
                                        </p:tgtEl>
                                      </p:cBhvr>
                                    </p:animEffect>
                                    <p:set>
                                      <p:cBhvr>
                                        <p:cTn id="41" dur="1" fill="hold">
                                          <p:stCondLst>
                                            <p:cond delay="299"/>
                                          </p:stCondLst>
                                        </p:cTn>
                                        <p:tgtEl>
                                          <p:spTgt spid="51"/>
                                        </p:tgtEl>
                                        <p:attrNameLst>
                                          <p:attrName>style.visibility</p:attrName>
                                        </p:attrNameLst>
                                      </p:cBhvr>
                                      <p:to>
                                        <p:strVal val="hidden"/>
                                      </p:to>
                                    </p:set>
                                  </p:childTnLst>
                                </p:cTn>
                              </p:par>
                              <p:par>
                                <p:cTn id="45" presetID="22" presetClass="entr" presetSubtype="8" fill="hold" nodeType="withEffect">
                                  <p:stCondLst>
                                    <p:cond delay="200"/>
                                  </p:stCondLst>
                                  <p:childTnLst>
                                    <p:set>
                                      <p:cBhvr>
                                        <p:cTn id="43" dur="1" fill="hold">
                                          <p:stCondLst>
                                            <p:cond delay="0"/>
                                          </p:stCondLst>
                                        </p:cTn>
                                        <p:tgtEl>
                                          <p:spTgt spid="20"/>
                                        </p:tgtEl>
                                        <p:attrNameLst>
                                          <p:attrName>style.visibility</p:attrName>
                                        </p:attrNameLst>
                                      </p:cBhvr>
                                      <p:to>
                                        <p:strVal val="visible"/>
                                      </p:to>
                                    </p:set>
                                    <p:animEffect transition="in" filter="wipe(left)">
                                      <p:cBhvr>
                                        <p:cTn id="44" dur="300"/>
                                        <p:tgtEl>
                                          <p:spTgt spid="20"/>
                                        </p:tgtEl>
                                      </p:cBhvr>
                                    </p:animEffect>
                                  </p:childTnLst>
                                </p:cTn>
                              </p:par>
                              <p:par>
                                <p:cTn id="48" presetID="10" presetClass="entr" presetSubtype="0" fill="hold" grpId="0" nodeType="withEffect">
                                  <p:stCondLst>
                                    <p:cond delay="50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51" presetID="10" presetClass="entr" presetSubtype="0" fill="hold" nodeType="withEffect">
                                  <p:stCondLst>
                                    <p:cond delay="50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4" presetID="10" presetClass="entr" presetSubtype="0" fill="hold" grpId="0" nodeType="withEffect">
                                  <p:stCondLst>
                                    <p:cond delay="30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500"/>
                                        <p:tgtEl>
                                          <p:spTgt spid="52"/>
                                        </p:tgtEl>
                                      </p:cBhvr>
                                    </p:animEffect>
                                  </p:childTnLst>
                                </p:cTn>
                              </p:par>
                            </p:childTnLst>
                          </p:cTn>
                        </p:par>
                      </p:childTnLst>
                    </p:cTn>
                  </p:par>
                  <p:par>
                    <p:cTn id="55" fill="hold">
                      <p:stCondLst>
                        <p:cond delay="indefinite"/>
                      </p:stCondLst>
                      <p:childTnLst>
                        <p:par>
                          <p:cTn id="56" fill="hold">
                            <p:stCondLst>
                              <p:cond delay="0"/>
                            </p:stCondLst>
                            <p:childTnLst>
                              <p:par>
                                <p:cTn id="59" presetID="10" presetClass="exit" presetSubtype="0" fill="hold" grpId="0" nodeType="clickEffect">
                                  <p:stCondLst>
                                    <p:cond delay="0"/>
                                  </p:stCondLst>
                                  <p:childTnLst>
                                    <p:animEffect transition="out" filter="fade">
                                      <p:cBhvr>
                                        <p:cTn id="57" dur="300"/>
                                        <p:tgtEl>
                                          <p:spTgt spid="52"/>
                                        </p:tgtEl>
                                      </p:cBhvr>
                                    </p:animEffect>
                                    <p:set>
                                      <p:cBhvr>
                                        <p:cTn id="58" dur="1" fill="hold">
                                          <p:stCondLst>
                                            <p:cond delay="299"/>
                                          </p:stCondLst>
                                        </p:cTn>
                                        <p:tgtEl>
                                          <p:spTgt spid="52"/>
                                        </p:tgtEl>
                                        <p:attrNameLst>
                                          <p:attrName>style.visibility</p:attrName>
                                        </p:attrNameLst>
                                      </p:cBhvr>
                                      <p:to>
                                        <p:strVal val="hidden"/>
                                      </p:to>
                                    </p:set>
                                  </p:childTnLst>
                                </p:cTn>
                              </p:par>
                              <p:par>
                                <p:cTn id="62" presetID="22" presetClass="entr" presetSubtype="8" fill="hold" nodeType="withEffect">
                                  <p:stCondLst>
                                    <p:cond delay="200"/>
                                  </p:stCondLst>
                                  <p:childTnLst>
                                    <p:set>
                                      <p:cBhvr>
                                        <p:cTn id="60" dur="1" fill="hold">
                                          <p:stCondLst>
                                            <p:cond delay="0"/>
                                          </p:stCondLst>
                                        </p:cTn>
                                        <p:tgtEl>
                                          <p:spTgt spid="27"/>
                                        </p:tgtEl>
                                        <p:attrNameLst>
                                          <p:attrName>style.visibility</p:attrName>
                                        </p:attrNameLst>
                                      </p:cBhvr>
                                      <p:to>
                                        <p:strVal val="visible"/>
                                      </p:to>
                                    </p:set>
                                    <p:animEffect transition="in" filter="wipe(left)">
                                      <p:cBhvr>
                                        <p:cTn id="61" dur="300"/>
                                        <p:tgtEl>
                                          <p:spTgt spid="27"/>
                                        </p:tgtEl>
                                      </p:cBhvr>
                                    </p:animEffect>
                                  </p:childTnLst>
                                </p:cTn>
                              </p:par>
                              <p:par>
                                <p:cTn id="65" presetID="10" presetClass="entr" presetSubtype="0" fill="hold" grpId="0" nodeType="withEffect">
                                  <p:stCondLst>
                                    <p:cond delay="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8" presetID="10" presetClass="entr" presetSubtype="0" fill="hold" nodeType="withEffect">
                                  <p:stCondLst>
                                    <p:cond delay="5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71" presetID="10" presetClass="entr" presetSubtype="0" fill="hold" grpId="0" nodeType="withEffect">
                                  <p:stCondLst>
                                    <p:cond delay="100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4" presetID="10" presetClass="entr" presetSubtype="0" fill="hold" grpId="0" nodeType="withEffect">
                                  <p:stCondLst>
                                    <p:cond delay="120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7" presetID="10" presetClass="entr" presetSubtype="0" fill="hold" grpId="0" nodeType="withEffect">
                                  <p:stCondLst>
                                    <p:cond delay="300"/>
                                  </p:stCondLst>
                                  <p:childTnLst>
                                    <p:set>
                                      <p:cBhvr>
                                        <p:cTn id="75" dur="1" fill="hold">
                                          <p:stCondLst>
                                            <p:cond delay="0"/>
                                          </p:stCondLst>
                                        </p:cTn>
                                        <p:tgtEl>
                                          <p:spTgt spid="53"/>
                                        </p:tgtEl>
                                        <p:attrNameLst>
                                          <p:attrName>style.visibility</p:attrName>
                                        </p:attrNameLst>
                                      </p:cBhvr>
                                      <p:to>
                                        <p:strVal val="visible"/>
                                      </p:to>
                                    </p:set>
                                    <p:animEffect transition="in" filter="fade">
                                      <p:cBhvr>
                                        <p:cTn id="76" dur="500"/>
                                        <p:tgtEl>
                                          <p:spTgt spid="53"/>
                                        </p:tgtEl>
                                      </p:cBhvr>
                                    </p:animEffect>
                                  </p:childTnLst>
                                </p:cTn>
                              </p:par>
                            </p:childTnLst>
                          </p:cTn>
                        </p:par>
                      </p:childTnLst>
                    </p:cTn>
                  </p:par>
                  <p:par>
                    <p:cTn id="78" fill="hold">
                      <p:stCondLst>
                        <p:cond delay="indefinite"/>
                      </p:stCondLst>
                      <p:childTnLst>
                        <p:par>
                          <p:cTn id="79" fill="hold">
                            <p:stCondLst>
                              <p:cond delay="0"/>
                            </p:stCondLst>
                            <p:childTnLst>
                              <p:par>
                                <p:cTn id="82" presetID="10" presetClass="exit" presetSubtype="0" fill="hold" grpId="0" nodeType="clickEffect">
                                  <p:stCondLst>
                                    <p:cond delay="0"/>
                                  </p:stCondLst>
                                  <p:childTnLst>
                                    <p:animEffect transition="out" filter="fade">
                                      <p:cBhvr>
                                        <p:cTn id="80" dur="300"/>
                                        <p:tgtEl>
                                          <p:spTgt spid="53"/>
                                        </p:tgtEl>
                                      </p:cBhvr>
                                    </p:animEffect>
                                    <p:set>
                                      <p:cBhvr>
                                        <p:cTn id="81" dur="1" fill="hold">
                                          <p:stCondLst>
                                            <p:cond delay="299"/>
                                          </p:stCondLst>
                                        </p:cTn>
                                        <p:tgtEl>
                                          <p:spTgt spid="53"/>
                                        </p:tgtEl>
                                        <p:attrNameLst>
                                          <p:attrName>style.visibility</p:attrName>
                                        </p:attrNameLst>
                                      </p:cBhvr>
                                      <p:to>
                                        <p:strVal val="hidden"/>
                                      </p:to>
                                    </p:set>
                                  </p:childTnLst>
                                </p:cTn>
                              </p:par>
                              <p:par>
                                <p:cTn id="85" presetID="22" presetClass="entr" presetSubtype="8" fill="hold" nodeType="withEffect">
                                  <p:stCondLst>
                                    <p:cond delay="20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300"/>
                                        <p:tgtEl>
                                          <p:spTgt spid="28"/>
                                        </p:tgtEl>
                                      </p:cBhvr>
                                    </p:animEffect>
                                  </p:childTnLst>
                                </p:cTn>
                              </p:par>
                              <p:par>
                                <p:cTn id="88" presetID="10" presetClass="entr" presetSubtype="0" fill="hold" grpId="0" nodeType="withEffect">
                                  <p:stCondLst>
                                    <p:cond delay="50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par>
                                <p:cTn id="91" presetID="10" presetClass="entr" presetSubtype="0" fill="hold" nodeType="withEffect">
                                  <p:stCondLst>
                                    <p:cond delay="50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00"/>
                                        <p:tgtEl>
                                          <p:spTgt spid="26"/>
                                        </p:tgtEl>
                                      </p:cBhvr>
                                    </p:animEffect>
                                  </p:childTnLst>
                                </p:cTn>
                              </p:par>
                              <p:par>
                                <p:cTn id="94" presetID="10" presetClass="entr" presetSubtype="0" fill="hold" grpId="0" nodeType="withEffect">
                                  <p:stCondLst>
                                    <p:cond delay="100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7" presetID="10" presetClass="entr" presetSubtype="0" fill="hold" grpId="0" nodeType="withEffect">
                                  <p:stCondLst>
                                    <p:cond delay="30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childTnLst>
                          </p:cTn>
                        </p:par>
                      </p:childTnLst>
                    </p:cTn>
                  </p:par>
                  <p:par>
                    <p:cTn id="98" fill="hold">
                      <p:stCondLst>
                        <p:cond delay="indefinite"/>
                      </p:stCondLst>
                      <p:childTnLst>
                        <p:par>
                          <p:cTn id="99" fill="hold">
                            <p:stCondLst>
                              <p:cond delay="0"/>
                            </p:stCondLst>
                            <p:childTnLst>
                              <p:par>
                                <p:cTn id="102" presetID="10" presetClass="exit" presetSubtype="0" fill="hold" grpId="0" nodeType="clickEffect">
                                  <p:stCondLst>
                                    <p:cond delay="0"/>
                                  </p:stCondLst>
                                  <p:childTnLst>
                                    <p:animEffect transition="out" filter="fade">
                                      <p:cBhvr>
                                        <p:cTn id="100" dur="300"/>
                                        <p:tgtEl>
                                          <p:spTgt spid="54"/>
                                        </p:tgtEl>
                                      </p:cBhvr>
                                    </p:animEffect>
                                    <p:set>
                                      <p:cBhvr>
                                        <p:cTn id="101" dur="1" fill="hold">
                                          <p:stCondLst>
                                            <p:cond delay="299"/>
                                          </p:stCondLst>
                                        </p:cTn>
                                        <p:tgtEl>
                                          <p:spTgt spid="54"/>
                                        </p:tgtEl>
                                        <p:attrNameLst>
                                          <p:attrName>style.visibility</p:attrName>
                                        </p:attrNameLst>
                                      </p:cBhvr>
                                      <p:to>
                                        <p:strVal val="hidden"/>
                                      </p:to>
                                    </p:set>
                                  </p:childTnLst>
                                </p:cTn>
                              </p:par>
                              <p:par>
                                <p:cTn id="105" presetID="22" presetClass="entr" presetSubtype="1" fill="hold" nodeType="withEffect">
                                  <p:stCondLst>
                                    <p:cond delay="200"/>
                                  </p:stCondLst>
                                  <p:childTnLst>
                                    <p:set>
                                      <p:cBhvr>
                                        <p:cTn id="103" dur="1" fill="hold">
                                          <p:stCondLst>
                                            <p:cond delay="0"/>
                                          </p:stCondLst>
                                        </p:cTn>
                                        <p:tgtEl>
                                          <p:spTgt spid="32"/>
                                        </p:tgtEl>
                                        <p:attrNameLst>
                                          <p:attrName>style.visibility</p:attrName>
                                        </p:attrNameLst>
                                      </p:cBhvr>
                                      <p:to>
                                        <p:strVal val="visible"/>
                                      </p:to>
                                    </p:set>
                                    <p:animEffect transition="in" filter="wipe(up)">
                                      <p:cBhvr>
                                        <p:cTn id="104" dur="300"/>
                                        <p:tgtEl>
                                          <p:spTgt spid="32"/>
                                        </p:tgtEl>
                                      </p:cBhvr>
                                    </p:animEffect>
                                  </p:childTnLst>
                                </p:cTn>
                              </p:par>
                              <p:par>
                                <p:cTn id="108" presetID="22" presetClass="entr" presetSubtype="2" fill="hold" nodeType="withEffect">
                                  <p:stCondLst>
                                    <p:cond delay="500"/>
                                  </p:stCondLst>
                                  <p:childTnLst>
                                    <p:set>
                                      <p:cBhvr>
                                        <p:cTn id="106" dur="1" fill="hold">
                                          <p:stCondLst>
                                            <p:cond delay="0"/>
                                          </p:stCondLst>
                                        </p:cTn>
                                        <p:tgtEl>
                                          <p:spTgt spid="33"/>
                                        </p:tgtEl>
                                        <p:attrNameLst>
                                          <p:attrName>style.visibility</p:attrName>
                                        </p:attrNameLst>
                                      </p:cBhvr>
                                      <p:to>
                                        <p:strVal val="visible"/>
                                      </p:to>
                                    </p:set>
                                    <p:animEffect transition="in" filter="wipe(right)">
                                      <p:cBhvr>
                                        <p:cTn id="107" dur="600"/>
                                        <p:tgtEl>
                                          <p:spTgt spid="33"/>
                                        </p:tgtEl>
                                      </p:cBhvr>
                                    </p:animEffect>
                                  </p:childTnLst>
                                </p:cTn>
                              </p:par>
                              <p:par>
                                <p:cTn id="111" presetID="22" presetClass="entr" presetSubtype="1" fill="hold" nodeType="withEffect">
                                  <p:stCondLst>
                                    <p:cond delay="1100"/>
                                  </p:stCondLst>
                                  <p:childTnLst>
                                    <p:set>
                                      <p:cBhvr>
                                        <p:cTn id="109" dur="1" fill="hold">
                                          <p:stCondLst>
                                            <p:cond delay="0"/>
                                          </p:stCondLst>
                                        </p:cTn>
                                        <p:tgtEl>
                                          <p:spTgt spid="34"/>
                                        </p:tgtEl>
                                        <p:attrNameLst>
                                          <p:attrName>style.visibility</p:attrName>
                                        </p:attrNameLst>
                                      </p:cBhvr>
                                      <p:to>
                                        <p:strVal val="visible"/>
                                      </p:to>
                                    </p:set>
                                    <p:animEffect transition="in" filter="wipe(up)">
                                      <p:cBhvr>
                                        <p:cTn id="110" dur="300"/>
                                        <p:tgtEl>
                                          <p:spTgt spid="34"/>
                                        </p:tgtEl>
                                      </p:cBhvr>
                                    </p:animEffect>
                                  </p:childTnLst>
                                </p:cTn>
                              </p:par>
                              <p:par>
                                <p:cTn id="114" presetID="10" presetClass="entr" presetSubtype="0" fill="hold" grpId="0" nodeType="withEffect">
                                  <p:stCondLst>
                                    <p:cond delay="1400"/>
                                  </p:stCondLst>
                                  <p:childTnLst>
                                    <p:set>
                                      <p:cBhvr>
                                        <p:cTn id="112" dur="1" fill="hold">
                                          <p:stCondLst>
                                            <p:cond delay="0"/>
                                          </p:stCondLst>
                                        </p:cTn>
                                        <p:tgtEl>
                                          <p:spTgt spid="35"/>
                                        </p:tgtEl>
                                        <p:attrNameLst>
                                          <p:attrName>style.visibility</p:attrName>
                                        </p:attrNameLst>
                                      </p:cBhvr>
                                      <p:to>
                                        <p:strVal val="visible"/>
                                      </p:to>
                                    </p:set>
                                    <p:animEffect transition="in" filter="fade">
                                      <p:cBhvr>
                                        <p:cTn id="113" dur="500"/>
                                        <p:tgtEl>
                                          <p:spTgt spid="35"/>
                                        </p:tgtEl>
                                      </p:cBhvr>
                                    </p:animEffect>
                                  </p:childTnLst>
                                </p:cTn>
                              </p:par>
                              <p:par>
                                <p:cTn id="117" presetID="10" presetClass="entr" presetSubtype="0" fill="hold" nodeType="withEffect">
                                  <p:stCondLst>
                                    <p:cond delay="140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500"/>
                                        <p:tgtEl>
                                          <p:spTgt spid="36"/>
                                        </p:tgtEl>
                                      </p:cBhvr>
                                    </p:animEffect>
                                  </p:childTnLst>
                                </p:cTn>
                              </p:par>
                              <p:par>
                                <p:cTn id="120" presetID="10" presetClass="entr" presetSubtype="0" fill="hold" grpId="0" nodeType="withEffect">
                                  <p:stCondLst>
                                    <p:cond delay="300"/>
                                  </p:stCondLst>
                                  <p:childTnLst>
                                    <p:set>
                                      <p:cBhvr>
                                        <p:cTn id="118" dur="1" fill="hold">
                                          <p:stCondLst>
                                            <p:cond delay="0"/>
                                          </p:stCondLst>
                                        </p:cTn>
                                        <p:tgtEl>
                                          <p:spTgt spid="55"/>
                                        </p:tgtEl>
                                        <p:attrNameLst>
                                          <p:attrName>style.visibility</p:attrName>
                                        </p:attrNameLst>
                                      </p:cBhvr>
                                      <p:to>
                                        <p:strVal val="visible"/>
                                      </p:to>
                                    </p:set>
                                    <p:animEffect transition="in" filter="fade">
                                      <p:cBhvr>
                                        <p:cTn id="119" dur="500"/>
                                        <p:tgtEl>
                                          <p:spTgt spid="55"/>
                                        </p:tgtEl>
                                      </p:cBhvr>
                                    </p:animEffect>
                                  </p:childTnLst>
                                </p:cTn>
                              </p:par>
                            </p:childTnLst>
                          </p:cTn>
                        </p:par>
                      </p:childTnLst>
                    </p:cTn>
                  </p:par>
                  <p:par>
                    <p:cTn id="121" fill="hold">
                      <p:stCondLst>
                        <p:cond delay="indefinite"/>
                      </p:stCondLst>
                      <p:childTnLst>
                        <p:par>
                          <p:cTn id="122" fill="hold">
                            <p:stCondLst>
                              <p:cond delay="0"/>
                            </p:stCondLst>
                            <p:childTnLst>
                              <p:par>
                                <p:cTn id="125" presetID="10" presetClass="exit" presetSubtype="0" fill="hold" grpId="0" nodeType="clickEffect">
                                  <p:stCondLst>
                                    <p:cond delay="0"/>
                                  </p:stCondLst>
                                  <p:childTnLst>
                                    <p:animEffect transition="out" filter="fade">
                                      <p:cBhvr>
                                        <p:cTn id="123" dur="300"/>
                                        <p:tgtEl>
                                          <p:spTgt spid="55"/>
                                        </p:tgtEl>
                                      </p:cBhvr>
                                    </p:animEffect>
                                    <p:set>
                                      <p:cBhvr>
                                        <p:cTn id="124" dur="1" fill="hold">
                                          <p:stCondLst>
                                            <p:cond delay="299"/>
                                          </p:stCondLst>
                                        </p:cTn>
                                        <p:tgtEl>
                                          <p:spTgt spid="55"/>
                                        </p:tgtEl>
                                        <p:attrNameLst>
                                          <p:attrName>style.visibility</p:attrName>
                                        </p:attrNameLst>
                                      </p:cBhvr>
                                      <p:to>
                                        <p:strVal val="hidden"/>
                                      </p:to>
                                    </p:set>
                                  </p:childTnLst>
                                </p:cTn>
                              </p:par>
                              <p:par>
                                <p:cTn id="128" presetID="22" presetClass="entr" presetSubtype="8" fill="hold" nodeType="withEffect">
                                  <p:stCondLst>
                                    <p:cond delay="200"/>
                                  </p:stCondLst>
                                  <p:childTnLst>
                                    <p:set>
                                      <p:cBhvr>
                                        <p:cTn id="126" dur="1" fill="hold">
                                          <p:stCondLst>
                                            <p:cond delay="0"/>
                                          </p:stCondLst>
                                        </p:cTn>
                                        <p:tgtEl>
                                          <p:spTgt spid="41"/>
                                        </p:tgtEl>
                                        <p:attrNameLst>
                                          <p:attrName>style.visibility</p:attrName>
                                        </p:attrNameLst>
                                      </p:cBhvr>
                                      <p:to>
                                        <p:strVal val="visible"/>
                                      </p:to>
                                    </p:set>
                                    <p:animEffect transition="in" filter="wipe(left)">
                                      <p:cBhvr>
                                        <p:cTn id="127" dur="300"/>
                                        <p:tgtEl>
                                          <p:spTgt spid="41"/>
                                        </p:tgtEl>
                                      </p:cBhvr>
                                    </p:animEffect>
                                  </p:childTnLst>
                                </p:cTn>
                              </p:par>
                              <p:par>
                                <p:cTn id="131" presetID="10" presetClass="entr" presetSubtype="0" fill="hold" grpId="0" nodeType="withEffect">
                                  <p:stCondLst>
                                    <p:cond delay="50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childTnLst>
                                </p:cTn>
                              </p:par>
                              <p:par>
                                <p:cTn id="134" presetID="10" presetClass="entr" presetSubtype="0" fill="hold" nodeType="withEffect">
                                  <p:stCondLst>
                                    <p:cond delay="50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7" presetID="10" presetClass="entr" presetSubtype="0" fill="hold" grpId="0" nodeType="withEffect">
                                  <p:stCondLst>
                                    <p:cond delay="100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6" dur="500"/>
                                        <p:tgtEl>
                                          <p:spTgt spid="43"/>
                                        </p:tgtEl>
                                      </p:cBhvr>
                                    </p:animEffect>
                                  </p:childTnLst>
                                </p:cTn>
                              </p:par>
                              <p:par>
                                <p:cTn id="140" presetID="10" presetClass="entr" presetSubtype="0" fill="hold" grpId="0" nodeType="withEffect">
                                  <p:stCondLst>
                                    <p:cond delay="120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500"/>
                                        <p:tgtEl>
                                          <p:spTgt spid="44"/>
                                        </p:tgtEl>
                                      </p:cBhvr>
                                    </p:animEffect>
                                  </p:childTnLst>
                                </p:cTn>
                              </p:par>
                              <p:par>
                                <p:cTn id="143" presetID="10" presetClass="entr" presetSubtype="0" fill="hold" grpId="0" nodeType="withEffect">
                                  <p:stCondLst>
                                    <p:cond delay="300"/>
                                  </p:stCondLst>
                                  <p:childTnLst>
                                    <p:set>
                                      <p:cBhvr>
                                        <p:cTn id="141" dur="1" fill="hold">
                                          <p:stCondLst>
                                            <p:cond delay="0"/>
                                          </p:stCondLst>
                                        </p:cTn>
                                        <p:tgtEl>
                                          <p:spTgt spid="56"/>
                                        </p:tgtEl>
                                        <p:attrNameLst>
                                          <p:attrName>style.visibility</p:attrName>
                                        </p:attrNameLst>
                                      </p:cBhvr>
                                      <p:to>
                                        <p:strVal val="visible"/>
                                      </p:to>
                                    </p:set>
                                    <p:animEffect transition="in" filter="fade">
                                      <p:cBhvr>
                                        <p:cTn id="142" dur="500"/>
                                        <p:tgtEl>
                                          <p:spTgt spid="56"/>
                                        </p:tgtEl>
                                      </p:cBhvr>
                                    </p:animEffect>
                                  </p:childTnLst>
                                </p:cTn>
                              </p:par>
                            </p:childTnLst>
                          </p:cTn>
                        </p:par>
                      </p:childTnLst>
                    </p:cTn>
                  </p:par>
                  <p:par>
                    <p:cTn id="144" fill="hold">
                      <p:stCondLst>
                        <p:cond delay="indefinite"/>
                      </p:stCondLst>
                      <p:childTnLst>
                        <p:par>
                          <p:cTn id="145" fill="hold">
                            <p:stCondLst>
                              <p:cond delay="0"/>
                            </p:stCondLst>
                            <p:childTnLst>
                              <p:par>
                                <p:cTn id="148" presetID="10" presetClass="exit" presetSubtype="0" fill="hold" grpId="0" nodeType="clickEffect">
                                  <p:stCondLst>
                                    <p:cond delay="0"/>
                                  </p:stCondLst>
                                  <p:childTnLst>
                                    <p:animEffect transition="out" filter="fade">
                                      <p:cBhvr>
                                        <p:cTn id="146" dur="300"/>
                                        <p:tgtEl>
                                          <p:spTgt spid="56"/>
                                        </p:tgtEl>
                                      </p:cBhvr>
                                    </p:animEffect>
                                    <p:set>
                                      <p:cBhvr>
                                        <p:cTn id="147" dur="1" fill="hold">
                                          <p:stCondLst>
                                            <p:cond delay="299"/>
                                          </p:stCondLst>
                                        </p:cTn>
                                        <p:tgtEl>
                                          <p:spTgt spid="56"/>
                                        </p:tgtEl>
                                        <p:attrNameLst>
                                          <p:attrName>style.visibility</p:attrName>
                                        </p:attrNameLst>
                                      </p:cBhvr>
                                      <p:to>
                                        <p:strVal val="hidden"/>
                                      </p:to>
                                    </p:set>
                                  </p:childTnLst>
                                </p:cTn>
                              </p:par>
                              <p:par>
                                <p:cTn id="151" presetID="10" presetClass="entr" presetSubtype="0" fill="hold" grpId="0" nodeType="withEffect">
                                  <p:stCondLst>
                                    <p:cond delay="300"/>
                                  </p:stCondLst>
                                  <p:childTnLst>
                                    <p:set>
                                      <p:cBhvr>
                                        <p:cTn id="149" dur="1" fill="hold">
                                          <p:stCondLst>
                                            <p:cond delay="0"/>
                                          </p:stCondLst>
                                        </p:cTn>
                                        <p:tgtEl>
                                          <p:spTgt spid="45"/>
                                        </p:tgtEl>
                                        <p:attrNameLst>
                                          <p:attrName>style.visibility</p:attrName>
                                        </p:attrNameLst>
                                      </p:cBhvr>
                                      <p:to>
                                        <p:strVal val="visible"/>
                                      </p:to>
                                    </p:set>
                                    <p:animEffect transition="in" filter="fade">
                                      <p:cBhvr>
                                        <p:cTn id="150" dur="500"/>
                                        <p:tgtEl>
                                          <p:spTgt spid="45"/>
                                        </p:tgtEl>
                                      </p:cBhvr>
                                    </p:animEffect>
                                  </p:childTnLst>
                                </p:cTn>
                              </p:par>
                              <p:par>
                                <p:cTn id="154" presetID="10" presetClass="entr" presetSubtype="0" fill="hold" grpId="0" nodeType="withEffect">
                                  <p:stCondLst>
                                    <p:cond delay="30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3" dur="500"/>
                                        <p:tgtEl>
                                          <p:spTgt spid="57"/>
                                        </p:tgtEl>
                                      </p:cBhvr>
                                    </p:animEffect>
                                  </p:childTnLst>
                                </p:cTn>
                              </p:par>
                            </p:childTnLst>
                          </p:cTn>
                        </p:par>
                      </p:childTnLst>
                    </p:cTn>
                  </p:par>
                  <p:par>
                    <p:cTn id="155" fill="hold">
                      <p:stCondLst>
                        <p:cond delay="indefinite"/>
                      </p:stCondLst>
                      <p:childTnLst>
                        <p:par>
                          <p:cTn id="156" fill="hold">
                            <p:stCondLst>
                              <p:cond delay="0"/>
                            </p:stCondLst>
                            <p:childTnLst>
                              <p:par>
                                <p:cTn id="159" presetID="10" presetClass="exit" presetSubtype="0" fill="hold" grpId="0" nodeType="clickEffect">
                                  <p:stCondLst>
                                    <p:cond delay="0"/>
                                  </p:stCondLst>
                                  <p:childTnLst>
                                    <p:animEffect transition="out" filter="fade">
                                      <p:cBhvr>
                                        <p:cTn id="157" dur="300"/>
                                        <p:tgtEl>
                                          <p:spTgt spid="57"/>
                                        </p:tgtEl>
                                      </p:cBhvr>
                                    </p:animEffect>
                                    <p:set>
                                      <p:cBhvr>
                                        <p:cTn id="158" dur="1" fill="hold">
                                          <p:stCondLst>
                                            <p:cond delay="299"/>
                                          </p:stCondLst>
                                        </p:cTn>
                                        <p:tgtEl>
                                          <p:spTgt spid="57"/>
                                        </p:tgtEl>
                                        <p:attrNameLst>
                                          <p:attrName>style.visibility</p:attrName>
                                        </p:attrNameLst>
                                      </p:cBhvr>
                                      <p:to>
                                        <p:strVal val="hidden"/>
                                      </p:to>
                                    </p:set>
                                  </p:childTnLst>
                                </p:cTn>
                              </p:par>
                              <p:par>
                                <p:cTn id="162" presetID="10" presetClass="exit" presetSubtype="0" fill="hold" grpId="0" nodeType="withEffect">
                                  <p:stCondLst>
                                    <p:cond delay="0"/>
                                  </p:stCondLst>
                                  <p:childTnLst>
                                    <p:animEffect transition="out" filter="fade">
                                      <p:cBhvr>
                                        <p:cTn id="160" dur="300"/>
                                        <p:tgtEl>
                                          <p:spTgt spid="45"/>
                                        </p:tgtEl>
                                      </p:cBhvr>
                                    </p:animEffect>
                                    <p:set>
                                      <p:cBhvr>
                                        <p:cTn id="161" dur="1" fill="hold">
                                          <p:stCondLst>
                                            <p:cond delay="299"/>
                                          </p:stCondLst>
                                        </p:cTn>
                                        <p:tgtEl>
                                          <p:spTgt spid="45"/>
                                        </p:tgtEl>
                                        <p:attrNameLst>
                                          <p:attrName>style.visibility</p:attrName>
                                        </p:attrNameLst>
                                      </p:cBhvr>
                                      <p:to>
                                        <p:strVal val="hidden"/>
                                      </p:to>
                                    </p:set>
                                  </p:childTnLst>
                                </p:cTn>
                              </p:par>
                              <p:par>
                                <p:cTn id="165" presetID="22" presetClass="entr" presetSubtype="8" fill="hold" nodeType="withEffect">
                                  <p:stCondLst>
                                    <p:cond delay="200"/>
                                  </p:stCondLst>
                                  <p:childTnLst>
                                    <p:set>
                                      <p:cBhvr>
                                        <p:cTn id="163" dur="1" fill="hold">
                                          <p:stCondLst>
                                            <p:cond delay="0"/>
                                          </p:stCondLst>
                                        </p:cTn>
                                        <p:tgtEl>
                                          <p:spTgt spid="42"/>
                                        </p:tgtEl>
                                        <p:attrNameLst>
                                          <p:attrName>style.visibility</p:attrName>
                                        </p:attrNameLst>
                                      </p:cBhvr>
                                      <p:to>
                                        <p:strVal val="visible"/>
                                      </p:to>
                                    </p:set>
                                    <p:animEffect transition="in" filter="wipe(left)">
                                      <p:cBhvr>
                                        <p:cTn id="164" dur="300"/>
                                        <p:tgtEl>
                                          <p:spTgt spid="42"/>
                                        </p:tgtEl>
                                      </p:cBhvr>
                                    </p:animEffect>
                                  </p:childTnLst>
                                </p:cTn>
                              </p:par>
                              <p:par>
                                <p:cTn id="168" presetID="10" presetClass="entr" presetSubtype="0" fill="hold" grpId="0" nodeType="withEffect">
                                  <p:stCondLst>
                                    <p:cond delay="500"/>
                                  </p:stCondLst>
                                  <p:childTnLst>
                                    <p:set>
                                      <p:cBhvr>
                                        <p:cTn id="166" dur="1" fill="hold">
                                          <p:stCondLst>
                                            <p:cond delay="0"/>
                                          </p:stCondLst>
                                        </p:cTn>
                                        <p:tgtEl>
                                          <p:spTgt spid="39"/>
                                        </p:tgtEl>
                                        <p:attrNameLst>
                                          <p:attrName>style.visibility</p:attrName>
                                        </p:attrNameLst>
                                      </p:cBhvr>
                                      <p:to>
                                        <p:strVal val="visible"/>
                                      </p:to>
                                    </p:set>
                                    <p:animEffect transition="in" filter="fade">
                                      <p:cBhvr>
                                        <p:cTn id="167" dur="500"/>
                                        <p:tgtEl>
                                          <p:spTgt spid="39"/>
                                        </p:tgtEl>
                                      </p:cBhvr>
                                    </p:animEffect>
                                  </p:childTnLst>
                                </p:cTn>
                              </p:par>
                              <p:par>
                                <p:cTn id="171" presetID="10" presetClass="entr" presetSubtype="0" fill="hold" nodeType="withEffect">
                                  <p:stCondLst>
                                    <p:cond delay="500"/>
                                  </p:stCondLst>
                                  <p:childTnLst>
                                    <p:set>
                                      <p:cBhvr>
                                        <p:cTn id="169" dur="1" fill="hold">
                                          <p:stCondLst>
                                            <p:cond delay="0"/>
                                          </p:stCondLst>
                                        </p:cTn>
                                        <p:tgtEl>
                                          <p:spTgt spid="40"/>
                                        </p:tgtEl>
                                        <p:attrNameLst>
                                          <p:attrName>style.visibility</p:attrName>
                                        </p:attrNameLst>
                                      </p:cBhvr>
                                      <p:to>
                                        <p:strVal val="visible"/>
                                      </p:to>
                                    </p:set>
                                    <p:animEffect transition="in" filter="fade">
                                      <p:cBhvr>
                                        <p:cTn id="170" dur="500"/>
                                        <p:tgtEl>
                                          <p:spTgt spid="40"/>
                                        </p:tgtEl>
                                      </p:cBhvr>
                                    </p:animEffect>
                                  </p:childTnLst>
                                </p:cTn>
                              </p:par>
                              <p:par>
                                <p:cTn id="174" presetID="10" presetClass="entr" presetSubtype="0" fill="hold" grpId="0" nodeType="withEffect">
                                  <p:stCondLst>
                                    <p:cond delay="300"/>
                                  </p:stCondLst>
                                  <p:childTnLst>
                                    <p:set>
                                      <p:cBhvr>
                                        <p:cTn id="172" dur="1" fill="hold">
                                          <p:stCondLst>
                                            <p:cond delay="0"/>
                                          </p:stCondLst>
                                        </p:cTn>
                                        <p:tgtEl>
                                          <p:spTgt spid="58"/>
                                        </p:tgtEl>
                                        <p:attrNameLst>
                                          <p:attrName>style.visibility</p:attrName>
                                        </p:attrNameLst>
                                      </p:cBhvr>
                                      <p:to>
                                        <p:strVal val="visible"/>
                                      </p:to>
                                    </p:set>
                                    <p:animEffect transition="in" filter="fade">
                                      <p:cBhvr>
                                        <p:cTn id="173" dur="500"/>
                                        <p:tgtEl>
                                          <p:spTgt spid="58"/>
                                        </p:tgtEl>
                                      </p:cBhvr>
                                    </p:animEffect>
                                  </p:childTnLst>
                                </p:cTn>
                              </p:par>
                            </p:childTnLst>
                          </p:cTn>
                        </p:par>
                      </p:childTnLst>
                    </p:cTn>
                  </p:par>
                  <p:par>
                    <p:cTn id="175" fill="hold">
                      <p:stCondLst>
                        <p:cond delay="indefinite"/>
                      </p:stCondLst>
                      <p:childTnLst>
                        <p:par>
                          <p:cTn id="176" fill="hold">
                            <p:stCondLst>
                              <p:cond delay="0"/>
                            </p:stCondLst>
                            <p:childTnLst>
                              <p:par>
                                <p:cTn id="179" presetID="10" presetClass="exit" presetSubtype="0" fill="hold" grpId="0" nodeType="clickEffect">
                                  <p:stCondLst>
                                    <p:cond delay="0"/>
                                  </p:stCondLst>
                                  <p:childTnLst>
                                    <p:animEffect transition="out" filter="fade">
                                      <p:cBhvr>
                                        <p:cTn id="177" dur="300"/>
                                        <p:tgtEl>
                                          <p:spTgt spid="58"/>
                                        </p:tgtEl>
                                      </p:cBhvr>
                                    </p:animEffect>
                                    <p:set>
                                      <p:cBhvr>
                                        <p:cTn id="178" dur="1" fill="hold">
                                          <p:stCondLst>
                                            <p:cond delay="299"/>
                                          </p:stCondLst>
                                        </p:cTn>
                                        <p:tgtEl>
                                          <p:spTgt spid="58"/>
                                        </p:tgtEl>
                                        <p:attrNameLst>
                                          <p:attrName>style.visibility</p:attrName>
                                        </p:attrNameLst>
                                      </p:cBhvr>
                                      <p:to>
                                        <p:strVal val="hidden"/>
                                      </p:to>
                                    </p:set>
                                  </p:childTnLst>
                                </p:cTn>
                              </p:par>
                              <p:par>
                                <p:cTn id="182" presetID="10" presetClass="entr" presetSubtype="0" fill="hold" grpId="0" nodeType="withEffect">
                                  <p:stCondLst>
                                    <p:cond delay="300"/>
                                  </p:stCondLst>
                                  <p:childTnLst>
                                    <p:set>
                                      <p:cBhvr>
                                        <p:cTn id="180" dur="1" fill="hold">
                                          <p:stCondLst>
                                            <p:cond delay="0"/>
                                          </p:stCondLst>
                                        </p:cTn>
                                        <p:tgtEl>
                                          <p:spTgt spid="46"/>
                                        </p:tgtEl>
                                        <p:attrNameLst>
                                          <p:attrName>style.visibility</p:attrName>
                                        </p:attrNameLst>
                                      </p:cBhvr>
                                      <p:to>
                                        <p:strVal val="visible"/>
                                      </p:to>
                                    </p:set>
                                    <p:animEffect transition="in" filter="fade">
                                      <p:cBhvr>
                                        <p:cTn id="181" dur="500"/>
                                        <p:tgtEl>
                                          <p:spTgt spid="46"/>
                                        </p:tgtEl>
                                      </p:cBhvr>
                                    </p:animEffect>
                                  </p:childTnLst>
                                </p:cTn>
                              </p:par>
                              <p:par>
                                <p:cTn id="185" presetID="10" presetClass="entr" presetSubtype="0" fill="hold" grpId="0" nodeType="withEffect">
                                  <p:stCondLst>
                                    <p:cond delay="400"/>
                                  </p:stCondLst>
                                  <p:childTnLst>
                                    <p:set>
                                      <p:cBhvr>
                                        <p:cTn id="183" dur="1" fill="hold">
                                          <p:stCondLst>
                                            <p:cond delay="0"/>
                                          </p:stCondLst>
                                        </p:cTn>
                                        <p:tgtEl>
                                          <p:spTgt spid="47"/>
                                        </p:tgtEl>
                                        <p:attrNameLst>
                                          <p:attrName>style.visibility</p:attrName>
                                        </p:attrNameLst>
                                      </p:cBhvr>
                                      <p:to>
                                        <p:strVal val="visible"/>
                                      </p:to>
                                    </p:set>
                                    <p:animEffect transition="in" filter="fade">
                                      <p:cBhvr>
                                        <p:cTn id="184" dur="500"/>
                                        <p:tgtEl>
                                          <p:spTgt spid="47"/>
                                        </p:tgtEl>
                                      </p:cBhvr>
                                    </p:animEffect>
                                  </p:childTnLst>
                                </p:cTn>
                              </p:par>
                              <p:par>
                                <p:cTn id="188" presetID="10" presetClass="entr" presetSubtype="0" fill="hold" grpId="0" nodeType="withEffect">
                                  <p:stCondLst>
                                    <p:cond delay="600"/>
                                  </p:stCondLst>
                                  <p:childTnLst>
                                    <p:set>
                                      <p:cBhvr>
                                        <p:cTn id="186" dur="1" fill="hold">
                                          <p:stCondLst>
                                            <p:cond delay="0"/>
                                          </p:stCondLst>
                                        </p:cTn>
                                        <p:tgtEl>
                                          <p:spTgt spid="48"/>
                                        </p:tgtEl>
                                        <p:attrNameLst>
                                          <p:attrName>style.visibility</p:attrName>
                                        </p:attrNameLst>
                                      </p:cBhvr>
                                      <p:to>
                                        <p:strVal val="visible"/>
                                      </p:to>
                                    </p:set>
                                    <p:animEffect transition="in" filter="fade">
                                      <p:cBhvr>
                                        <p:cTn id="187" dur="500"/>
                                        <p:tgtEl>
                                          <p:spTgt spid="48"/>
                                        </p:tgtEl>
                                      </p:cBhvr>
                                    </p:animEffect>
                                  </p:childTnLst>
                                </p:cTn>
                              </p:par>
                              <p:par>
                                <p:cTn id="191" presetID="10" presetClass="entr" presetSubtype="0" fill="hold" grpId="0" nodeType="withEffect">
                                  <p:stCondLst>
                                    <p:cond delay="80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00"/>
                                        <p:tgtEl>
                                          <p:spTgt spid="49"/>
                                        </p:tgtEl>
                                      </p:cBhvr>
                                    </p:animEffect>
                                  </p:childTnLst>
                                </p:cTn>
                              </p:par>
                              <p:par>
                                <p:cTn id="194" presetID="10" presetClass="entr" presetSubtype="0" fill="hold" grpId="0" nodeType="withEffect">
                                  <p:stCondLst>
                                    <p:cond delay="1000"/>
                                  </p:stCondLst>
                                  <p:childTnLst>
                                    <p:set>
                                      <p:cBhvr>
                                        <p:cTn id="192" dur="1" fill="hold">
                                          <p:stCondLst>
                                            <p:cond delay="0"/>
                                          </p:stCondLst>
                                        </p:cTn>
                                        <p:tgtEl>
                                          <p:spTgt spid="50"/>
                                        </p:tgtEl>
                                        <p:attrNameLst>
                                          <p:attrName>style.visibility</p:attrName>
                                        </p:attrNameLst>
                                      </p:cBhvr>
                                      <p:to>
                                        <p:strVal val="visible"/>
                                      </p:to>
                                    </p:set>
                                    <p:animEffect transition="in" filter="fade">
                                      <p:cBhvr>
                                        <p:cTn id="193" dur="500"/>
                                        <p:tgtEl>
                                          <p:spTgt spid="50"/>
                                        </p:tgtEl>
                                      </p:cBhvr>
                                    </p:animEffect>
                                  </p:childTnLst>
                                </p:cTn>
                              </p:par>
                              <p:par>
                                <p:cTn id="197" presetID="10" presetClass="entr" presetSubtype="0" fill="hold" grpId="0" nodeType="withEffect">
                                  <p:stCondLst>
                                    <p:cond delay="300"/>
                                  </p:stCondLst>
                                  <p:childTnLst>
                                    <p:set>
                                      <p:cBhvr>
                                        <p:cTn id="195" dur="1" fill="hold">
                                          <p:stCondLst>
                                            <p:cond delay="0"/>
                                          </p:stCondLst>
                                        </p:cTn>
                                        <p:tgtEl>
                                          <p:spTgt spid="59"/>
                                        </p:tgtEl>
                                        <p:attrNameLst>
                                          <p:attrName>style.visibility</p:attrName>
                                        </p:attrNameLst>
                                      </p:cBhvr>
                                      <p:to>
                                        <p:strVal val="visible"/>
                                      </p:to>
                                    </p:set>
                                    <p:animEffect transition="in" filter="fade">
                                      <p:cBhvr>
                                        <p:cTn id="19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51" grpId="0"/>
      <p:bldP spid="21" grpId="0" animBg="1"/>
      <p:bldP spid="52" grpId="0"/>
      <p:bldP spid="23" grpId="0" animBg="1"/>
      <p:bldP spid="29" grpId="0" animBg="1"/>
      <p:bldP spid="30" grpId="0" animBg="1"/>
      <p:bldP spid="53" grpId="0"/>
      <p:bldP spid="25" grpId="0" animBg="1"/>
      <p:bldP spid="31" grpId="0"/>
      <p:bldP spid="54" grpId="0"/>
      <p:bldP spid="35" grpId="0" animBg="1"/>
      <p:bldP spid="55" grpId="0"/>
      <p:bldP spid="37" grpId="0" animBg="1"/>
      <p:bldP spid="43" grpId="0" animBg="1"/>
      <p:bldP spid="44" grpId="0" animBg="1"/>
      <p:bldP spid="56" grpId="0"/>
      <p:bldP spid="45" grpId="0" animBg="1"/>
      <p:bldP spid="57" grpId="0"/>
      <p:bldP spid="39" grpId="0" animBg="1"/>
      <p:bldP spid="58" grpId="0"/>
      <p:bldP spid="46" grpId="0" animBg="1"/>
      <p:bldP spid="47" grpId="0"/>
      <p:bldP spid="48" grpId="0"/>
      <p:bldP spid="49" grpId="0"/>
      <p:bldP spid="50" grpId="0"/>
      <p:bldP spid="5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building the library and onboarding a service</dc:title>
  <dc:subject>PptxGenJS Presentation</dc:subject>
  <dc:creator>Nisha Mishra</dc:creator>
  <cp:lastModifiedBy>Nisha Mishra</cp:lastModifiedBy>
  <cp:revision>1</cp:revision>
  <dcterms:created xsi:type="dcterms:W3CDTF">2026-10-04T22:32:44Z</dcterms:created>
  <dcterms:modified xsi:type="dcterms:W3CDTF">2026-10-04T22:32:44Z</dcterms:modified>
</cp:coreProperties>
</file>