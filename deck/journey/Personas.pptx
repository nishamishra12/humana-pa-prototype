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people you will meet in the prototype. Each owns one decision.
The policy owner is part one. They work before go-live, and it is the biggest piece of real work. They choose the policies and procedures we cover, and they approve every rule the AI drafts. They own what we check against.
Then part two, every packet. The intake coordinator receives the packet, checks it in and assigns it to a nurse. They can see every nurse's workload. They own who reviews it.
The UM nurse is the star player. They review the packet with the AI's help and confirm approve, ask the provider one precise question, or escalate. They own the recommendation.
The medical director decides the hard cases, with the evidence attached, and writes the reason. They own any denial. Only they can deny.
And one more teammate: the AI. It reads, drafts and cites. It never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ctr"/>
          <a:lstStyle/>
          <a:p>
            <a:pPr indent="0" marL="0">
              <a:buNone/>
            </a:pPr>
            <a:r>
              <a:rPr lang="en-US" sz="1100" b="1" spc="300" kern="0" dirty="0">
                <a:solidFill>
                  <a:srgbClr val="1F6F5C"/>
                </a:solidFill>
                <a:latin typeface="Calibri" pitchFamily="34" charset="0"/>
                <a:ea typeface="Calibri" pitchFamily="34" charset="-122"/>
                <a:cs typeface="Calibri" pitchFamily="34" charset="-120"/>
              </a:rPr>
              <a:t>THE PEOPLE</a:t>
            </a:r>
            <a:endParaRPr lang="en-US" sz="1100" dirty="0"/>
          </a:p>
        </p:txBody>
      </p:sp>
      <p:sp>
        <p:nvSpPr>
          <p:cNvPr id="3" name="title"/>
          <p:cNvSpPr txBox="1"/>
          <p:nvPr/>
        </p:nvSpPr>
        <p:spPr>
          <a:xfrm>
            <a:off x="457200" y="502920"/>
            <a:ext cx="6858000" cy="685800"/>
          </a:xfrm>
          <a:prstGeom prst="rect">
            <a:avLst/>
          </a:prstGeom>
          <a:noFill/>
          <a:ln/>
        </p:spPr>
        <p:txBody>
          <a:bodyPr wrap="square" lIns="0" tIns="0" rIns="0" bIns="0" rtlCol="0" anchor="ctr"/>
          <a:lstStyle/>
          <a:p>
            <a:pPr indent="0" marL="0">
              <a:buNone/>
            </a:pPr>
            <a:r>
              <a:rPr lang="en-US" sz="2800" dirty="0">
                <a:solidFill>
                  <a:srgbClr val="16211E"/>
                </a:solidFill>
                <a:latin typeface="Cambria" pitchFamily="34" charset="0"/>
                <a:ea typeface="Cambria" pitchFamily="34" charset="-122"/>
                <a:cs typeface="Cambria" pitchFamily="34" charset="-120"/>
              </a:rPr>
              <a:t>Four people, two parts.</a:t>
            </a:r>
            <a:endParaRPr lang="en-US" sz="2800" dirty="0"/>
          </a:p>
        </p:txBody>
      </p:sp>
      <p:sp>
        <p:nvSpPr>
          <p:cNvPr id="4" name="sub"/>
          <p:cNvSpPr txBox="1"/>
          <p:nvPr/>
        </p:nvSpPr>
        <p:spPr>
          <a:xfrm>
            <a:off x="6949440" y="502920"/>
            <a:ext cx="478231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The people you will meet in the prototype</a:t>
            </a:r>
            <a:endParaRPr lang="en-US" sz="1400" dirty="0"/>
          </a:p>
        </p:txBody>
      </p:sp>
      <p:sp>
        <p:nvSpPr>
          <p:cNvPr id="5" name="Card1"/>
          <p:cNvSpPr/>
          <p:nvPr/>
        </p:nvSpPr>
        <p:spPr>
          <a:xfrm>
            <a:off x="457200" y="1417320"/>
            <a:ext cx="2560320" cy="3886200"/>
          </a:xfrm>
          <a:prstGeom prst="roundRect">
            <a:avLst>
              <a:gd name="adj" fmla="val 3571"/>
            </a:avLst>
          </a:prstGeom>
          <a:solidFill>
            <a:srgbClr val="FFFFFF"/>
          </a:solidFill>
          <a:ln w="25400">
            <a:solidFill>
              <a:srgbClr val="5F3AA8"/>
            </a:solidFill>
          </a:ln>
        </p:spPr>
        <p:txBody>
          <a:bodyPr wrap="square" lIns="182880" tIns="182880" rIns="182880" bIns="137160" rtlCol="0" anchor="t"/>
          <a:lstStyle/>
          <a:p>
            <a:pPr algn="l" indent="0" marL="0">
              <a:spcAft>
                <a:spcPts val="8500"/>
              </a:spcAft>
              <a:buNone/>
            </a:pPr>
            <a:r>
              <a:rPr lang="en-US" sz="950" b="1" spc="150" kern="0" dirty="0">
                <a:solidFill>
                  <a:srgbClr val="5F3AA8"/>
                </a:solidFill>
                <a:latin typeface="Calibri" pitchFamily="34" charset="0"/>
                <a:ea typeface="Calibri" pitchFamily="34" charset="-122"/>
                <a:cs typeface="Calibri" pitchFamily="34" charset="-120"/>
              </a:rPr>
              <a:t>PART 1  ·  BEFORE GO-LIVE</a:t>
            </a:r>
            <a:endParaRPr lang="en-US" sz="950" dirty="0"/>
          </a:p>
          <a:p>
            <a:pPr algn="l" indent="0" marL="0">
              <a:spcAft>
                <a:spcPts val="800"/>
              </a:spcAft>
              <a:buNone/>
            </a:pPr>
            <a:r>
              <a:rPr lang="en-US" sz="1900" b="1" dirty="0">
                <a:solidFill>
                  <a:srgbClr val="16211E"/>
                </a:solidFill>
                <a:latin typeface="Calibri" pitchFamily="34" charset="0"/>
                <a:ea typeface="Calibri" pitchFamily="34" charset="-122"/>
                <a:cs typeface="Calibri" pitchFamily="34" charset="-120"/>
              </a:rPr>
              <a:t>Policy owner</a:t>
            </a:r>
            <a:endParaRPr lang="en-US" sz="950" dirty="0"/>
          </a:p>
          <a:p>
            <a:pPr algn="l" indent="0" marL="0">
              <a:buNone/>
            </a:pPr>
            <a:r>
              <a:rPr lang="en-US" sz="1400" dirty="0">
                <a:solidFill>
                  <a:srgbClr val="5C6B66"/>
                </a:solidFill>
                <a:latin typeface="Calibri" pitchFamily="34" charset="0"/>
                <a:ea typeface="Calibri" pitchFamily="34" charset="-122"/>
                <a:cs typeface="Calibri" pitchFamily="34" charset="-120"/>
              </a:rPr>
              <a:t>Builds the library the AI checks against. Chooses the policies and procedures we cover, and approves every rule.</a:t>
            </a:r>
            <a:endParaRPr lang="en-US" sz="950" dirty="0"/>
          </a:p>
        </p:txBody>
      </p:sp>
      <p:pic>
        <p:nvPicPr>
          <p:cNvPr id="6" name="Avatar1" descr="preencoded.png">    </p:cNvPr>
          <p:cNvPicPr>
            <a:picLocks noChangeAspect="1"/>
          </p:cNvPicPr>
          <p:nvPr/>
        </p:nvPicPr>
        <p:blipFill>
          <a:blip r:embed="rId1"/>
          <a:stretch>
            <a:fillRect/>
          </a:stretch>
        </p:blipFill>
        <p:spPr>
          <a:xfrm>
            <a:off x="640080" y="1874520"/>
            <a:ext cx="868680" cy="868680"/>
          </a:xfrm>
          <a:prstGeom prst="rect">
            <a:avLst/>
          </a:prstGeom>
        </p:spPr>
      </p:pic>
      <p:sp>
        <p:nvSpPr>
          <p:cNvPr id="7" name="Owns1"/>
          <p:cNvSpPr/>
          <p:nvPr/>
        </p:nvSpPr>
        <p:spPr>
          <a:xfrm>
            <a:off x="594360" y="4617720"/>
            <a:ext cx="2286000" cy="502920"/>
          </a:xfrm>
          <a:prstGeom prst="roundRect">
            <a:avLst>
              <a:gd name="adj" fmla="val 10909"/>
            </a:avLst>
          </a:prstGeom>
          <a:solidFill>
            <a:srgbClr val="EBE2F8"/>
          </a:solidFill>
          <a:ln w="9525">
            <a:solidFill>
              <a:srgbClr val="5F3AA8"/>
            </a:solidFill>
          </a:ln>
        </p:spPr>
        <p:txBody>
          <a:bodyPr wrap="square" lIns="36576" tIns="109728" rIns="109728" bIns="36576" rtlCol="0" anchor="ctr"/>
          <a:lstStyle/>
          <a:p>
            <a:pPr algn="l" indent="0" marL="0">
              <a:buNone/>
            </a:pPr>
            <a:r>
              <a:rPr lang="en-US" sz="950" b="1" spc="150" kern="0" dirty="0">
                <a:solidFill>
                  <a:srgbClr val="5F3AA8"/>
                </a:solidFill>
                <a:latin typeface="Calibri" pitchFamily="34" charset="0"/>
                <a:ea typeface="Calibri" pitchFamily="34" charset="-122"/>
                <a:cs typeface="Calibri" pitchFamily="34" charset="-120"/>
              </a:rPr>
              <a:t>OWNS  </a:t>
            </a:r>
            <a:pPr algn="l" indent="0" marL="0">
              <a:buNone/>
            </a:pPr>
            <a:r>
              <a:rPr lang="en-US" sz="1250" b="1" dirty="0">
                <a:solidFill>
                  <a:srgbClr val="16211E"/>
                </a:solidFill>
                <a:latin typeface="Calibri" pitchFamily="34" charset="0"/>
                <a:ea typeface="Calibri" pitchFamily="34" charset="-122"/>
                <a:cs typeface="Calibri" pitchFamily="34" charset="-120"/>
              </a:rPr>
              <a:t>What we check against</a:t>
            </a:r>
            <a:endParaRPr lang="en-US" sz="950" dirty="0"/>
          </a:p>
        </p:txBody>
      </p:sp>
      <p:sp>
        <p:nvSpPr>
          <p:cNvPr id="8" name="Card2"/>
          <p:cNvSpPr/>
          <p:nvPr/>
        </p:nvSpPr>
        <p:spPr>
          <a:xfrm>
            <a:off x="3520440" y="1417320"/>
            <a:ext cx="2560320" cy="3886200"/>
          </a:xfrm>
          <a:prstGeom prst="roundRect">
            <a:avLst>
              <a:gd name="adj" fmla="val 3571"/>
            </a:avLst>
          </a:prstGeom>
          <a:solidFill>
            <a:srgbClr val="FFFFFF"/>
          </a:solidFill>
          <a:ln w="25400">
            <a:solidFill>
              <a:srgbClr val="1F6F5C"/>
            </a:solidFill>
          </a:ln>
        </p:spPr>
        <p:txBody>
          <a:bodyPr wrap="square" lIns="182880" tIns="182880" rIns="182880" bIns="137160" rtlCol="0" anchor="t"/>
          <a:lstStyle/>
          <a:p>
            <a:pPr algn="l" indent="0" marL="0">
              <a:spcAft>
                <a:spcPts val="8500"/>
              </a:spcAft>
              <a:buNone/>
            </a:pPr>
            <a:r>
              <a:rPr lang="en-US" sz="950" b="1" spc="150" kern="0" dirty="0">
                <a:solidFill>
                  <a:srgbClr val="1F6F5C"/>
                </a:solidFill>
                <a:latin typeface="Calibri" pitchFamily="34" charset="0"/>
                <a:ea typeface="Calibri" pitchFamily="34" charset="-122"/>
                <a:cs typeface="Calibri" pitchFamily="34" charset="-120"/>
              </a:rPr>
              <a:t>PART 2  ·  EVERY PACKET</a:t>
            </a:r>
            <a:endParaRPr lang="en-US" sz="950" dirty="0"/>
          </a:p>
          <a:p>
            <a:pPr algn="l" indent="0" marL="0">
              <a:spcAft>
                <a:spcPts val="800"/>
              </a:spcAft>
              <a:buNone/>
            </a:pPr>
            <a:r>
              <a:rPr lang="en-US" sz="1900" b="1" dirty="0">
                <a:solidFill>
                  <a:srgbClr val="16211E"/>
                </a:solidFill>
                <a:latin typeface="Calibri" pitchFamily="34" charset="0"/>
                <a:ea typeface="Calibri" pitchFamily="34" charset="-122"/>
                <a:cs typeface="Calibri" pitchFamily="34" charset="-120"/>
              </a:rPr>
              <a:t>Intake coordinator</a:t>
            </a:r>
            <a:endParaRPr lang="en-US" sz="950" dirty="0"/>
          </a:p>
          <a:p>
            <a:pPr algn="l" indent="0" marL="0">
              <a:buNone/>
            </a:pPr>
            <a:r>
              <a:rPr lang="en-US" sz="1400" dirty="0">
                <a:solidFill>
                  <a:srgbClr val="5C6B66"/>
                </a:solidFill>
                <a:latin typeface="Calibri" pitchFamily="34" charset="0"/>
                <a:ea typeface="Calibri" pitchFamily="34" charset="-122"/>
                <a:cs typeface="Calibri" pitchFamily="34" charset="-120"/>
              </a:rPr>
              <a:t>Receives the packet, checks it in, and assigns it to a nurse. Sees every nurse's workload.</a:t>
            </a:r>
            <a:endParaRPr lang="en-US" sz="950" dirty="0"/>
          </a:p>
        </p:txBody>
      </p:sp>
      <p:pic>
        <p:nvPicPr>
          <p:cNvPr id="9" name="Avatar2" descr="preencoded.png">    </p:cNvPr>
          <p:cNvPicPr>
            <a:picLocks noChangeAspect="1"/>
          </p:cNvPicPr>
          <p:nvPr/>
        </p:nvPicPr>
        <p:blipFill>
          <a:blip r:embed="rId2"/>
          <a:stretch>
            <a:fillRect/>
          </a:stretch>
        </p:blipFill>
        <p:spPr>
          <a:xfrm>
            <a:off x="3703320" y="1874520"/>
            <a:ext cx="868680" cy="868680"/>
          </a:xfrm>
          <a:prstGeom prst="rect">
            <a:avLst/>
          </a:prstGeom>
        </p:spPr>
      </p:pic>
      <p:sp>
        <p:nvSpPr>
          <p:cNvPr id="10" name="Owns2"/>
          <p:cNvSpPr/>
          <p:nvPr/>
        </p:nvSpPr>
        <p:spPr>
          <a:xfrm>
            <a:off x="3657600" y="4617720"/>
            <a:ext cx="2286000" cy="502920"/>
          </a:xfrm>
          <a:prstGeom prst="roundRect">
            <a:avLst>
              <a:gd name="adj" fmla="val 10909"/>
            </a:avLst>
          </a:prstGeom>
          <a:solidFill>
            <a:srgbClr val="E3F0EB"/>
          </a:solidFill>
          <a:ln w="9525">
            <a:solidFill>
              <a:srgbClr val="1F6F5C"/>
            </a:solidFill>
          </a:ln>
        </p:spPr>
        <p:txBody>
          <a:bodyPr wrap="square" lIns="36576" tIns="109728" rIns="109728" bIns="36576" rtlCol="0" anchor="ctr"/>
          <a:lstStyle/>
          <a:p>
            <a:pPr algn="l" indent="0" marL="0">
              <a:buNone/>
            </a:pPr>
            <a:r>
              <a:rPr lang="en-US" sz="950" b="1" spc="150" kern="0" dirty="0">
                <a:solidFill>
                  <a:srgbClr val="1F6F5C"/>
                </a:solidFill>
                <a:latin typeface="Calibri" pitchFamily="34" charset="0"/>
                <a:ea typeface="Calibri" pitchFamily="34" charset="-122"/>
                <a:cs typeface="Calibri" pitchFamily="34" charset="-120"/>
              </a:rPr>
              <a:t>OWNS  </a:t>
            </a:r>
            <a:pPr algn="l" indent="0" marL="0">
              <a:buNone/>
            </a:pPr>
            <a:r>
              <a:rPr lang="en-US" sz="1250" b="1" dirty="0">
                <a:solidFill>
                  <a:srgbClr val="16211E"/>
                </a:solidFill>
                <a:latin typeface="Calibri" pitchFamily="34" charset="0"/>
                <a:ea typeface="Calibri" pitchFamily="34" charset="-122"/>
                <a:cs typeface="Calibri" pitchFamily="34" charset="-120"/>
              </a:rPr>
              <a:t>Who reviews it</a:t>
            </a:r>
            <a:endParaRPr lang="en-US" sz="950" dirty="0"/>
          </a:p>
        </p:txBody>
      </p:sp>
      <p:sp>
        <p:nvSpPr>
          <p:cNvPr id="11" name="Card3"/>
          <p:cNvSpPr/>
          <p:nvPr/>
        </p:nvSpPr>
        <p:spPr>
          <a:xfrm>
            <a:off x="6263640" y="1417320"/>
            <a:ext cx="2560320" cy="3886200"/>
          </a:xfrm>
          <a:prstGeom prst="roundRect">
            <a:avLst>
              <a:gd name="adj" fmla="val 3571"/>
            </a:avLst>
          </a:prstGeom>
          <a:solidFill>
            <a:srgbClr val="FFFFFF"/>
          </a:solidFill>
          <a:ln w="25400">
            <a:solidFill>
              <a:srgbClr val="1F6F5C"/>
            </a:solidFill>
          </a:ln>
        </p:spPr>
        <p:txBody>
          <a:bodyPr wrap="square" lIns="182880" tIns="182880" rIns="182880" bIns="137160" rtlCol="0" anchor="t"/>
          <a:lstStyle/>
          <a:p>
            <a:pPr algn="l" indent="0" marL="0">
              <a:spcAft>
                <a:spcPts val="8500"/>
              </a:spcAft>
              <a:buNone/>
            </a:pPr>
            <a:r>
              <a:rPr lang="en-US" sz="950" b="1" spc="150" kern="0" dirty="0">
                <a:solidFill>
                  <a:srgbClr val="1F6F5C"/>
                </a:solidFill>
                <a:latin typeface="Calibri" pitchFamily="34" charset="0"/>
                <a:ea typeface="Calibri" pitchFamily="34" charset="-122"/>
                <a:cs typeface="Calibri" pitchFamily="34" charset="-120"/>
              </a:rPr>
              <a:t>PART 2  ·  EVERY PACKET</a:t>
            </a:r>
            <a:endParaRPr lang="en-US" sz="950" dirty="0"/>
          </a:p>
          <a:p>
            <a:pPr algn="l" indent="0" marL="0">
              <a:spcAft>
                <a:spcPts val="800"/>
              </a:spcAft>
              <a:buNone/>
            </a:pPr>
            <a:r>
              <a:rPr lang="en-US" sz="1900" b="1" dirty="0">
                <a:solidFill>
                  <a:srgbClr val="16211E"/>
                </a:solidFill>
                <a:latin typeface="Calibri" pitchFamily="34" charset="0"/>
                <a:ea typeface="Calibri" pitchFamily="34" charset="-122"/>
                <a:cs typeface="Calibri" pitchFamily="34" charset="-120"/>
              </a:rPr>
              <a:t>UM nurse</a:t>
            </a:r>
            <a:endParaRPr lang="en-US" sz="950" dirty="0"/>
          </a:p>
          <a:p>
            <a:pPr algn="l" indent="0" marL="0">
              <a:buNone/>
            </a:pPr>
            <a:r>
              <a:rPr lang="en-US" sz="1400" dirty="0">
                <a:solidFill>
                  <a:srgbClr val="5C6B66"/>
                </a:solidFill>
                <a:latin typeface="Calibri" pitchFamily="34" charset="0"/>
                <a:ea typeface="Calibri" pitchFamily="34" charset="-122"/>
                <a:cs typeface="Calibri" pitchFamily="34" charset="-120"/>
              </a:rPr>
              <a:t>Reviews the packet with the AI's help. Confirms approve, asks the provider one precise question, or escalates.</a:t>
            </a:r>
            <a:endParaRPr lang="en-US" sz="950" dirty="0"/>
          </a:p>
        </p:txBody>
      </p:sp>
      <p:pic>
        <p:nvPicPr>
          <p:cNvPr id="12" name="Avatar3" descr="preencoded.png">    </p:cNvPr>
          <p:cNvPicPr>
            <a:picLocks noChangeAspect="1"/>
          </p:cNvPicPr>
          <p:nvPr/>
        </p:nvPicPr>
        <p:blipFill>
          <a:blip r:embed="rId3"/>
          <a:stretch>
            <a:fillRect/>
          </a:stretch>
        </p:blipFill>
        <p:spPr>
          <a:xfrm>
            <a:off x="6446520" y="1874520"/>
            <a:ext cx="868680" cy="868680"/>
          </a:xfrm>
          <a:prstGeom prst="rect">
            <a:avLst/>
          </a:prstGeom>
        </p:spPr>
      </p:pic>
      <p:sp>
        <p:nvSpPr>
          <p:cNvPr id="13" name="Owns3"/>
          <p:cNvSpPr/>
          <p:nvPr/>
        </p:nvSpPr>
        <p:spPr>
          <a:xfrm>
            <a:off x="6400800" y="4617720"/>
            <a:ext cx="2286000" cy="502920"/>
          </a:xfrm>
          <a:prstGeom prst="roundRect">
            <a:avLst>
              <a:gd name="adj" fmla="val 10909"/>
            </a:avLst>
          </a:prstGeom>
          <a:solidFill>
            <a:srgbClr val="E3F0EB"/>
          </a:solidFill>
          <a:ln w="9525">
            <a:solidFill>
              <a:srgbClr val="1F6F5C"/>
            </a:solidFill>
          </a:ln>
        </p:spPr>
        <p:txBody>
          <a:bodyPr wrap="square" lIns="36576" tIns="109728" rIns="109728" bIns="36576" rtlCol="0" anchor="ctr"/>
          <a:lstStyle/>
          <a:p>
            <a:pPr algn="l" indent="0" marL="0">
              <a:buNone/>
            </a:pPr>
            <a:r>
              <a:rPr lang="en-US" sz="950" b="1" spc="150" kern="0" dirty="0">
                <a:solidFill>
                  <a:srgbClr val="1F6F5C"/>
                </a:solidFill>
                <a:latin typeface="Calibri" pitchFamily="34" charset="0"/>
                <a:ea typeface="Calibri" pitchFamily="34" charset="-122"/>
                <a:cs typeface="Calibri" pitchFamily="34" charset="-120"/>
              </a:rPr>
              <a:t>OWNS  </a:t>
            </a:r>
            <a:pPr algn="l" indent="0" marL="0">
              <a:buNone/>
            </a:pPr>
            <a:r>
              <a:rPr lang="en-US" sz="1250" b="1" dirty="0">
                <a:solidFill>
                  <a:srgbClr val="16211E"/>
                </a:solidFill>
                <a:latin typeface="Calibri" pitchFamily="34" charset="0"/>
                <a:ea typeface="Calibri" pitchFamily="34" charset="-122"/>
                <a:cs typeface="Calibri" pitchFamily="34" charset="-120"/>
              </a:rPr>
              <a:t>The recommendation</a:t>
            </a:r>
            <a:endParaRPr lang="en-US" sz="950" dirty="0"/>
          </a:p>
        </p:txBody>
      </p:sp>
      <p:sp>
        <p:nvSpPr>
          <p:cNvPr id="14" name="Card4"/>
          <p:cNvSpPr/>
          <p:nvPr/>
        </p:nvSpPr>
        <p:spPr>
          <a:xfrm>
            <a:off x="9006840" y="1417320"/>
            <a:ext cx="2560320" cy="3886200"/>
          </a:xfrm>
          <a:prstGeom prst="roundRect">
            <a:avLst>
              <a:gd name="adj" fmla="val 3571"/>
            </a:avLst>
          </a:prstGeom>
          <a:solidFill>
            <a:srgbClr val="FFFFFF"/>
          </a:solidFill>
          <a:ln w="25400">
            <a:solidFill>
              <a:srgbClr val="1F6F5C"/>
            </a:solidFill>
          </a:ln>
        </p:spPr>
        <p:txBody>
          <a:bodyPr wrap="square" lIns="182880" tIns="182880" rIns="182880" bIns="137160" rtlCol="0" anchor="t"/>
          <a:lstStyle/>
          <a:p>
            <a:pPr algn="l" indent="0" marL="0">
              <a:spcAft>
                <a:spcPts val="8500"/>
              </a:spcAft>
              <a:buNone/>
            </a:pPr>
            <a:r>
              <a:rPr lang="en-US" sz="950" b="1" spc="150" kern="0" dirty="0">
                <a:solidFill>
                  <a:srgbClr val="1F6F5C"/>
                </a:solidFill>
                <a:latin typeface="Calibri" pitchFamily="34" charset="0"/>
                <a:ea typeface="Calibri" pitchFamily="34" charset="-122"/>
                <a:cs typeface="Calibri" pitchFamily="34" charset="-120"/>
              </a:rPr>
              <a:t>PART 2  ·  EVERY PACKET</a:t>
            </a:r>
            <a:endParaRPr lang="en-US" sz="950" dirty="0"/>
          </a:p>
          <a:p>
            <a:pPr algn="l" indent="0" marL="0">
              <a:spcAft>
                <a:spcPts val="800"/>
              </a:spcAft>
              <a:buNone/>
            </a:pPr>
            <a:r>
              <a:rPr lang="en-US" sz="1900" b="1" dirty="0">
                <a:solidFill>
                  <a:srgbClr val="16211E"/>
                </a:solidFill>
                <a:latin typeface="Calibri" pitchFamily="34" charset="0"/>
                <a:ea typeface="Calibri" pitchFamily="34" charset="-122"/>
                <a:cs typeface="Calibri" pitchFamily="34" charset="-120"/>
              </a:rPr>
              <a:t>Medical director</a:t>
            </a:r>
            <a:endParaRPr lang="en-US" sz="950" dirty="0"/>
          </a:p>
          <a:p>
            <a:pPr algn="l" indent="0" marL="0">
              <a:buNone/>
            </a:pPr>
            <a:r>
              <a:rPr lang="en-US" sz="1400" dirty="0">
                <a:solidFill>
                  <a:srgbClr val="5C6B66"/>
                </a:solidFill>
                <a:latin typeface="Calibri" pitchFamily="34" charset="0"/>
                <a:ea typeface="Calibri" pitchFamily="34" charset="-122"/>
                <a:cs typeface="Calibri" pitchFamily="34" charset="-120"/>
              </a:rPr>
              <a:t>Decides the hard cases, with the evidence attached. Writes the reason for every decision.</a:t>
            </a:r>
            <a:endParaRPr lang="en-US" sz="950" dirty="0"/>
          </a:p>
        </p:txBody>
      </p:sp>
      <p:pic>
        <p:nvPicPr>
          <p:cNvPr id="15" name="Avatar4" descr="preencoded.png">    </p:cNvPr>
          <p:cNvPicPr>
            <a:picLocks noChangeAspect="1"/>
          </p:cNvPicPr>
          <p:nvPr/>
        </p:nvPicPr>
        <p:blipFill>
          <a:blip r:embed="rId4"/>
          <a:stretch>
            <a:fillRect/>
          </a:stretch>
        </p:blipFill>
        <p:spPr>
          <a:xfrm>
            <a:off x="9189720" y="1874520"/>
            <a:ext cx="868680" cy="868680"/>
          </a:xfrm>
          <a:prstGeom prst="rect">
            <a:avLst/>
          </a:prstGeom>
        </p:spPr>
      </p:pic>
      <p:sp>
        <p:nvSpPr>
          <p:cNvPr id="16" name="Owns4"/>
          <p:cNvSpPr/>
          <p:nvPr/>
        </p:nvSpPr>
        <p:spPr>
          <a:xfrm>
            <a:off x="9144000" y="4617720"/>
            <a:ext cx="2286000" cy="502920"/>
          </a:xfrm>
          <a:prstGeom prst="roundRect">
            <a:avLst>
              <a:gd name="adj" fmla="val 10909"/>
            </a:avLst>
          </a:prstGeom>
          <a:solidFill>
            <a:srgbClr val="E3F0EB"/>
          </a:solidFill>
          <a:ln w="9525">
            <a:solidFill>
              <a:srgbClr val="1F6F5C"/>
            </a:solidFill>
          </a:ln>
        </p:spPr>
        <p:txBody>
          <a:bodyPr wrap="square" lIns="36576" tIns="109728" rIns="109728" bIns="36576" rtlCol="0" anchor="ctr"/>
          <a:lstStyle/>
          <a:p>
            <a:pPr algn="l" indent="0" marL="0">
              <a:buNone/>
            </a:pPr>
            <a:r>
              <a:rPr lang="en-US" sz="950" b="1" spc="150" kern="0" dirty="0">
                <a:solidFill>
                  <a:srgbClr val="1F6F5C"/>
                </a:solidFill>
                <a:latin typeface="Calibri" pitchFamily="34" charset="0"/>
                <a:ea typeface="Calibri" pitchFamily="34" charset="-122"/>
                <a:cs typeface="Calibri" pitchFamily="34" charset="-120"/>
              </a:rPr>
              <a:t>OWNS  </a:t>
            </a:r>
            <a:pPr algn="l" indent="0" marL="0">
              <a:buNone/>
            </a:pPr>
            <a:r>
              <a:rPr lang="en-US" sz="1250" b="1" dirty="0">
                <a:solidFill>
                  <a:srgbClr val="16211E"/>
                </a:solidFill>
                <a:latin typeface="Calibri" pitchFamily="34" charset="0"/>
                <a:ea typeface="Calibri" pitchFamily="34" charset="-122"/>
                <a:cs typeface="Calibri" pitchFamily="34" charset="-120"/>
              </a:rPr>
              <a:t>Any denial. Only they can deny.</a:t>
            </a:r>
            <a:endParaRPr lang="en-US" sz="950" dirty="0"/>
          </a:p>
        </p:txBody>
      </p:sp>
      <p:sp>
        <p:nvSpPr>
          <p:cNvPr id="17" name="Divider"/>
          <p:cNvSpPr/>
          <p:nvPr/>
        </p:nvSpPr>
        <p:spPr>
          <a:xfrm>
            <a:off x="3273552" y="1417320"/>
            <a:ext cx="0" cy="3886200"/>
          </a:xfrm>
          <a:prstGeom prst="line">
            <a:avLst/>
          </a:prstGeom>
          <a:noFill/>
          <a:ln w="19050">
            <a:solidFill>
              <a:srgbClr val="CBD5D1"/>
            </a:solidFill>
            <a:prstDash val="dash"/>
          </a:ln>
        </p:spPr>
      </p:sp>
      <p:sp>
        <p:nvSpPr>
          <p:cNvPr id="18" name="AIBar"/>
          <p:cNvSpPr/>
          <p:nvPr/>
        </p:nvSpPr>
        <p:spPr>
          <a:xfrm>
            <a:off x="457200" y="5577840"/>
            <a:ext cx="11274552" cy="594360"/>
          </a:xfrm>
          <a:prstGeom prst="roundRect">
            <a:avLst>
              <a:gd name="adj" fmla="val 12308"/>
            </a:avLst>
          </a:prstGeom>
          <a:solidFill>
            <a:srgbClr val="FFFFFF"/>
          </a:solidFill>
          <a:ln w="15875">
            <a:solidFill>
              <a:srgbClr val="1F6F5C"/>
            </a:solidFill>
          </a:ln>
        </p:spPr>
        <p:txBody>
          <a:bodyPr wrap="square" lIns="45720" tIns="182880" rIns="182880" bIns="45720" rtlCol="0" anchor="ctr"/>
          <a:lstStyle/>
          <a:p>
            <a:pPr algn="ctr" indent="0" marL="0">
              <a:buNone/>
            </a:pPr>
            <a:r>
              <a:rPr lang="en-US" sz="1500" b="1" dirty="0">
                <a:solidFill>
                  <a:srgbClr val="1F6F5C"/>
                </a:solidFill>
                <a:latin typeface="Calibri" pitchFamily="34" charset="0"/>
                <a:ea typeface="Calibri" pitchFamily="34" charset="-122"/>
                <a:cs typeface="Calibri" pitchFamily="34" charset="-120"/>
              </a:rPr>
              <a:t>One more teammate: the AI.  </a:t>
            </a:r>
            <a:pPr algn="ctr" indent="0" marL="0">
              <a:buNone/>
            </a:pPr>
            <a:r>
              <a:rPr lang="en-US" sz="1500" dirty="0">
                <a:solidFill>
                  <a:srgbClr val="16211E"/>
                </a:solidFill>
                <a:latin typeface="Calibri" pitchFamily="34" charset="0"/>
                <a:ea typeface="Calibri" pitchFamily="34" charset="-122"/>
                <a:cs typeface="Calibri" pitchFamily="34" charset="-120"/>
              </a:rPr>
              <a:t>It reads, drafts and cites. It never decides.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people, two parts</dc:title>
  <dc:subject>PptxGenJS Presentation</dc:subject>
  <dc:creator>Nisha Mishra</dc:creator>
  <cp:lastModifiedBy>Nisha Mishra</cp:lastModifiedBy>
  <cp:revision>1</cp:revision>
  <dcterms:created xsi:type="dcterms:W3CDTF">2026-10-05T18:57:34Z</dcterms:created>
  <dcterms:modified xsi:type="dcterms:W3CDTF">2026-10-05T18:57:34Z</dcterms:modified>
</cp:coreProperties>
</file>