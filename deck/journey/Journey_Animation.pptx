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this left to right and let it play. One click starts it.
Start with the provider. A surgeon decides the patient needs a lumbar fusion, and the office assembles a packet. Fourteen pages of clinical documents. They fax it to the plan.
On the plan side, intake checks the member, the form, and the codes. That is a paperwork check. Nobody has read the clinical pages yet.
A UM nurse picks it up. She reads all fourteen pages, hunting for four facts, and checks each one against policy.
Then there are three ways out.
Path one: everything is there, and she approves.
Path two: a fact is missing. She pends the case. The provider has to work out what is missing and resend, and the case starts again from zero. A pend does not stop the clock.
Path three: the facts are there but the case is borderline. It goes to a medical director, the only role that can deny. A denial can be appealed, and many are overturned.
Close on this: every step is somebody doing their job correctly. The delay is built into the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743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1621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prior authorization moves today.</a:t>
            </a:r>
            <a:endParaRPr lang="en-US" sz="2800" dirty="0"/>
          </a:p>
        </p:txBody>
      </p:sp>
      <p:sp>
        <p:nvSpPr>
          <p:cNvPr id="4" name="panelProv"/>
          <p:cNvSpPr/>
          <p:nvPr/>
        </p:nvSpPr>
        <p:spPr>
          <a:xfrm>
            <a:off x="457200" y="1325880"/>
            <a:ext cx="4069080" cy="4434840"/>
          </a:xfrm>
          <a:prstGeom prst="roundRect">
            <a:avLst>
              <a:gd name="adj" fmla="val 2247"/>
            </a:avLst>
          </a:prstGeom>
          <a:solidFill>
            <a:srgbClr val="F5F3EE"/>
          </a:solidFill>
          <a:ln w="12700">
            <a:solidFill>
              <a:srgbClr val="CBD5D1"/>
            </a:solidFill>
          </a:ln>
        </p:spPr>
        <p:txBody>
          <a:bodyPr wrap="square" lIns="54864" tIns="109728" rIns="109728" bIns="54864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800" dirty="0"/>
          </a:p>
        </p:txBody>
      </p:sp>
      <p:sp>
        <p:nvSpPr>
          <p:cNvPr id="5" name="panelPay"/>
          <p:cNvSpPr/>
          <p:nvPr/>
        </p:nvSpPr>
        <p:spPr>
          <a:xfrm>
            <a:off x="5074920" y="132588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EEF5F2"/>
          </a:solidFill>
          <a:ln w="12700">
            <a:solidFill>
              <a:srgbClr val="CBD5D1"/>
            </a:solidFill>
          </a:ln>
        </p:spPr>
        <p:txBody>
          <a:bodyPr wrap="square" lIns="54864" tIns="109728" rIns="109728" bIns="54864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800" dirty="0"/>
          </a:p>
        </p:txBody>
      </p:sp>
      <p:sp>
        <p:nvSpPr>
          <p:cNvPr id="6" name="hdrProv"/>
          <p:cNvSpPr txBox="1"/>
          <p:nvPr/>
        </p:nvSpPr>
        <p:spPr>
          <a:xfrm>
            <a:off x="640080" y="138988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or physician office</a:t>
            </a:r>
            <a:endParaRPr lang="en-US" sz="1200" dirty="0"/>
          </a:p>
        </p:txBody>
      </p:sp>
      <p:sp>
        <p:nvSpPr>
          <p:cNvPr id="7" name="hdrPay"/>
          <p:cNvSpPr txBox="1"/>
          <p:nvPr/>
        </p:nvSpPr>
        <p:spPr>
          <a:xfrm>
            <a:off x="5257800" y="138988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plan: Utilization Management (UM)</a:t>
            </a:r>
            <a:endParaRPr lang="en-US" sz="1200" dirty="0"/>
          </a:p>
        </p:txBody>
      </p:sp>
      <p:sp>
        <p:nvSpPr>
          <p:cNvPr id="8" name="footer"/>
          <p:cNvSpPr txBox="1"/>
          <p:nvPr/>
        </p:nvSpPr>
        <p:spPr>
          <a:xfrm>
            <a:off x="457200" y="6492240"/>
            <a:ext cx="11274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elective inpatient lumbar spinal fusion request, as it works today.</a:t>
            </a:r>
            <a:endParaRPr lang="en-US" sz="900" dirty="0"/>
          </a:p>
        </p:txBody>
      </p:sp>
      <p:sp>
        <p:nvSpPr>
          <p:cNvPr id="9" name="L1"/>
          <p:cNvSpPr/>
          <p:nvPr/>
        </p:nvSpPr>
        <p:spPr>
          <a:xfrm>
            <a:off x="685800" y="2011680"/>
            <a:ext cx="36118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CBD5D1"/>
            </a:solidFill>
          </a:ln>
        </p:spPr>
        <p:txBody>
          <a:bodyPr wrap="square" lIns="54864" tIns="128016" rIns="1188720" bIns="54864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Surgeon's office</a:t>
            </a:r>
            <a:endParaRPr lang="en-US" sz="14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the fusion. Staff assemble the packet.</a:t>
            </a:r>
            <a:endParaRPr lang="en-US" sz="1400" dirty="0"/>
          </a:p>
        </p:txBody>
      </p:sp>
      <p:sp>
        <p:nvSpPr>
          <p:cNvPr id="10" name="P1"/>
          <p:cNvSpPr/>
          <p:nvPr/>
        </p:nvSpPr>
        <p:spPr>
          <a:xfrm>
            <a:off x="3310128" y="2267712"/>
            <a:ext cx="8686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pages</a:t>
            </a:r>
            <a:endParaRPr lang="en-US" sz="1100" dirty="0"/>
          </a:p>
        </p:txBody>
      </p:sp>
      <p:sp>
        <p:nvSpPr>
          <p:cNvPr id="11" name="Member"/>
          <p:cNvSpPr/>
          <p:nvPr/>
        </p:nvSpPr>
        <p:spPr>
          <a:xfrm>
            <a:off x="685800" y="3154680"/>
            <a:ext cx="36118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CBD5D1"/>
            </a:solidFill>
          </a:ln>
        </p:spPr>
        <p:txBody>
          <a:bodyPr wrap="square" lIns="54864" tIns="128016" rIns="109728" bIns="54864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member: John Doe, 71</a:t>
            </a:r>
            <a:endParaRPr lang="en-US" sz="14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on the surgery. Sees none of this.</a:t>
            </a:r>
            <a:endParaRPr lang="en-US" sz="1400" dirty="0"/>
          </a:p>
        </p:txBody>
      </p:sp>
      <p:sp>
        <p:nvSpPr>
          <p:cNvPr id="12" name="L3"/>
          <p:cNvSpPr/>
          <p:nvPr/>
        </p:nvSpPr>
        <p:spPr>
          <a:xfrm>
            <a:off x="685800" y="434340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BD5D1"/>
            </a:solidFill>
          </a:ln>
        </p:spPr>
        <p:txBody>
          <a:bodyPr wrap="square" lIns="54864" tIns="128016" rIns="1188720" bIns="54864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decodes the pend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out what is missing, then resends.</a:t>
            </a:r>
            <a:endParaRPr lang="en-US" sz="1300" dirty="0"/>
          </a:p>
        </p:txBody>
      </p:sp>
      <p:sp>
        <p:nvSpPr>
          <p:cNvPr id="13" name="PL3"/>
          <p:cNvSpPr/>
          <p:nvPr/>
        </p:nvSpPr>
        <p:spPr>
          <a:xfrm>
            <a:off x="3310128" y="4480560"/>
            <a:ext cx="8686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pages</a:t>
            </a:r>
            <a:endParaRPr lang="en-US" sz="1100" dirty="0"/>
          </a:p>
        </p:txBody>
      </p:sp>
      <p:sp>
        <p:nvSpPr>
          <p:cNvPr id="14" name="T3"/>
          <p:cNvSpPr/>
          <p:nvPr/>
        </p:nvSpPr>
        <p:spPr>
          <a:xfrm>
            <a:off x="685800" y="5102352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FBE9E4"/>
          </a:solidFill>
          <a:ln w="12700">
            <a:solidFill>
              <a:srgbClr val="B8452F"/>
            </a:solidFill>
          </a:ln>
        </p:spPr>
        <p:txBody>
          <a:bodyPr wrap="square" lIns="45720" tIns="109728" rIns="109728" bIns="4572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pend does not stop the clock. The case starts again from zero.</a:t>
            </a:r>
            <a:endParaRPr lang="en-US" sz="1200" dirty="0"/>
          </a:p>
        </p:txBody>
      </p:sp>
      <p:sp>
        <p:nvSpPr>
          <p:cNvPr id="15" name="Intake"/>
          <p:cNvSpPr/>
          <p:nvPr/>
        </p:nvSpPr>
        <p:spPr>
          <a:xfrm>
            <a:off x="5303520" y="2011680"/>
            <a:ext cx="32004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CBD5D1"/>
            </a:solidFill>
          </a:ln>
        </p:spPr>
        <p:txBody>
          <a:bodyPr wrap="square" lIns="54864" tIns="128016" rIns="1188720" bIns="54864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4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member, form, and codes. Not a clinical check.</a:t>
            </a:r>
            <a:endParaRPr lang="en-US" sz="1400" dirty="0"/>
          </a:p>
        </p:txBody>
      </p:sp>
      <p:sp>
        <p:nvSpPr>
          <p:cNvPr id="16" name="P2"/>
          <p:cNvSpPr/>
          <p:nvPr/>
        </p:nvSpPr>
        <p:spPr>
          <a:xfrm>
            <a:off x="7516368" y="2267712"/>
            <a:ext cx="8686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pages</a:t>
            </a:r>
            <a:endParaRPr lang="en-US" sz="1100" dirty="0"/>
          </a:p>
        </p:txBody>
      </p:sp>
      <p:sp>
        <p:nvSpPr>
          <p:cNvPr id="17" name="T1"/>
          <p:cNvSpPr/>
          <p:nvPr/>
        </p:nvSpPr>
        <p:spPr>
          <a:xfrm>
            <a:off x="8686800" y="2011680"/>
            <a:ext cx="2834640" cy="868680"/>
          </a:xfrm>
          <a:prstGeom prst="roundRect">
            <a:avLst>
              <a:gd name="adj" fmla="val 8421"/>
            </a:avLst>
          </a:prstGeom>
          <a:solidFill>
            <a:srgbClr val="FBE9E4"/>
          </a:solidFill>
          <a:ln w="12700">
            <a:solidFill>
              <a:srgbClr val="B8452F"/>
            </a:solidFill>
          </a:ln>
        </p:spPr>
        <p:txBody>
          <a:bodyPr wrap="square" lIns="45720" tIns="109728" rIns="109728" bIns="4572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has read the clinical pages yet.</a:t>
            </a:r>
            <a:endParaRPr lang="en-US" sz="1200" dirty="0"/>
          </a:p>
        </p:txBody>
      </p:sp>
      <p:sp>
        <p:nvSpPr>
          <p:cNvPr id="18" name="Nurse"/>
          <p:cNvSpPr/>
          <p:nvPr/>
        </p:nvSpPr>
        <p:spPr>
          <a:xfrm>
            <a:off x="5303520" y="3154680"/>
            <a:ext cx="32004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CBD5D1"/>
            </a:solidFill>
          </a:ln>
        </p:spPr>
        <p:txBody>
          <a:bodyPr wrap="square" lIns="54864" tIns="128016" rIns="1188720" bIns="54864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nurse</a:t>
            </a:r>
            <a:endParaRPr lang="en-US" sz="14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all 14 pages and checks them against policy.</a:t>
            </a:r>
            <a:endParaRPr lang="en-US" sz="1400" dirty="0"/>
          </a:p>
        </p:txBody>
      </p:sp>
      <p:sp>
        <p:nvSpPr>
          <p:cNvPr id="19" name="P3"/>
          <p:cNvSpPr/>
          <p:nvPr/>
        </p:nvSpPr>
        <p:spPr>
          <a:xfrm>
            <a:off x="7516368" y="3410712"/>
            <a:ext cx="8686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B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pages</a:t>
            </a:r>
            <a:endParaRPr lang="en-US" sz="1100" dirty="0"/>
          </a:p>
        </p:txBody>
      </p:sp>
      <p:sp>
        <p:nvSpPr>
          <p:cNvPr id="20" name="T2"/>
          <p:cNvSpPr txBox="1"/>
          <p:nvPr/>
        </p:nvSpPr>
        <p:spPr>
          <a:xfrm>
            <a:off x="8686800" y="31089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facts hidden in 14 pages</a:t>
            </a:r>
            <a:endParaRPr lang="en-US" sz="1200" dirty="0"/>
          </a:p>
        </p:txBody>
      </p:sp>
      <p:sp>
        <p:nvSpPr>
          <p:cNvPr id="21" name="Chip1"/>
          <p:cNvSpPr/>
          <p:nvPr/>
        </p:nvSpPr>
        <p:spPr>
          <a:xfrm>
            <a:off x="8686800" y="3401568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F6F5C"/>
            </a:solidFill>
          </a:ln>
        </p:spPr>
        <p:txBody>
          <a:bodyPr wrap="square" lIns="0" tIns="36576" rIns="36576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stay</a:t>
            </a:r>
            <a:endParaRPr lang="en-US" sz="1100" dirty="0"/>
          </a:p>
        </p:txBody>
      </p:sp>
      <p:sp>
        <p:nvSpPr>
          <p:cNvPr id="22" name="Chip2"/>
          <p:cNvSpPr/>
          <p:nvPr/>
        </p:nvSpPr>
        <p:spPr>
          <a:xfrm>
            <a:off x="10149840" y="3401568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F6F5C"/>
            </a:solidFill>
          </a:ln>
        </p:spPr>
        <p:txBody>
          <a:bodyPr wrap="square" lIns="0" tIns="36576" rIns="36576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</a:t>
            </a:r>
            <a:endParaRPr lang="en-US" sz="1100" dirty="0"/>
          </a:p>
        </p:txBody>
      </p:sp>
      <p:sp>
        <p:nvSpPr>
          <p:cNvPr id="23" name="Chip3"/>
          <p:cNvSpPr/>
          <p:nvPr/>
        </p:nvSpPr>
        <p:spPr>
          <a:xfrm>
            <a:off x="8686800" y="3712464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F6F5C"/>
            </a:solidFill>
          </a:ln>
        </p:spPr>
        <p:txBody>
          <a:bodyPr wrap="square" lIns="0" tIns="36576" rIns="36576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</a:t>
            </a:r>
            <a:endParaRPr lang="en-US" sz="1100" dirty="0"/>
          </a:p>
        </p:txBody>
      </p:sp>
      <p:sp>
        <p:nvSpPr>
          <p:cNvPr id="24" name="Chip4"/>
          <p:cNvSpPr/>
          <p:nvPr/>
        </p:nvSpPr>
        <p:spPr>
          <a:xfrm>
            <a:off x="10149840" y="3712464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F6F5C"/>
            </a:solidFill>
          </a:ln>
        </p:spPr>
        <p:txBody>
          <a:bodyPr wrap="square" lIns="0" tIns="36576" rIns="36576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care</a:t>
            </a:r>
            <a:endParaRPr lang="en-US" sz="1100" dirty="0"/>
          </a:p>
        </p:txBody>
      </p:sp>
      <p:sp>
        <p:nvSpPr>
          <p:cNvPr id="25" name="OutPend"/>
          <p:cNvSpPr/>
          <p:nvPr/>
        </p:nvSpPr>
        <p:spPr>
          <a:xfrm>
            <a:off x="5303520" y="4343400"/>
            <a:ext cx="1920240" cy="640080"/>
          </a:xfrm>
          <a:prstGeom prst="roundRect">
            <a:avLst>
              <a:gd name="adj" fmla="val 11429"/>
            </a:avLst>
          </a:prstGeom>
          <a:solidFill>
            <a:srgbClr val="FCEFD0"/>
          </a:solidFill>
          <a:ln w="12700">
            <a:solidFill>
              <a:srgbClr val="8A5A00"/>
            </a:solidFill>
          </a:ln>
        </p:spPr>
        <p:txBody>
          <a:bodyPr wrap="square" lIns="36576" tIns="128016" rIns="109728" bIns="36576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the provider</a:t>
            </a:r>
            <a:endParaRPr lang="en-US" sz="1400" dirty="0"/>
          </a:p>
        </p:txBody>
      </p:sp>
      <p:sp>
        <p:nvSpPr>
          <p:cNvPr id="26" name="OutApprove"/>
          <p:cNvSpPr/>
          <p:nvPr/>
        </p:nvSpPr>
        <p:spPr>
          <a:xfrm>
            <a:off x="7315200" y="4343400"/>
            <a:ext cx="1920240" cy="640080"/>
          </a:xfrm>
          <a:prstGeom prst="roundRect">
            <a:avLst>
              <a:gd name="adj" fmla="val 11429"/>
            </a:avLst>
          </a:prstGeom>
          <a:solidFill>
            <a:srgbClr val="DDF3E7"/>
          </a:solidFill>
          <a:ln w="12700">
            <a:solidFill>
              <a:srgbClr val="18764A"/>
            </a:solidFill>
          </a:ln>
        </p:spPr>
        <p:txBody>
          <a:bodyPr wrap="square" lIns="36576" tIns="128016" rIns="109728" bIns="36576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87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87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 is complete</a:t>
            </a:r>
            <a:endParaRPr lang="en-US" sz="1400" dirty="0"/>
          </a:p>
        </p:txBody>
      </p:sp>
      <p:sp>
        <p:nvSpPr>
          <p:cNvPr id="27" name="OutEsc"/>
          <p:cNvSpPr/>
          <p:nvPr/>
        </p:nvSpPr>
        <p:spPr>
          <a:xfrm>
            <a:off x="9372600" y="4343400"/>
            <a:ext cx="2103120" cy="640080"/>
          </a:xfrm>
          <a:prstGeom prst="roundRect">
            <a:avLst>
              <a:gd name="adj" fmla="val 11429"/>
            </a:avLst>
          </a:prstGeom>
          <a:solidFill>
            <a:srgbClr val="EBE2F8"/>
          </a:solidFill>
          <a:ln w="12700">
            <a:solidFill>
              <a:srgbClr val="5F3AA8"/>
            </a:solidFill>
          </a:ln>
        </p:spPr>
        <p:txBody>
          <a:bodyPr wrap="square" lIns="36576" tIns="128016" rIns="109728" bIns="36576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F3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F3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physician</a:t>
            </a:r>
            <a:endParaRPr lang="en-US" sz="1400" dirty="0"/>
          </a:p>
        </p:txBody>
      </p:sp>
      <p:sp>
        <p:nvSpPr>
          <p:cNvPr id="28" name="RingPend"/>
          <p:cNvSpPr/>
          <p:nvPr/>
        </p:nvSpPr>
        <p:spPr>
          <a:xfrm>
            <a:off x="5248656" y="4288536"/>
            <a:ext cx="2029968" cy="749808"/>
          </a:xfrm>
          <a:prstGeom prst="roundRect">
            <a:avLst>
              <a:gd name="adj" fmla="val 12195"/>
            </a:avLst>
          </a:prstGeom>
          <a:ln w="38100">
            <a:solidFill>
              <a:srgbClr val="8A5A00"/>
            </a:solidFill>
            <a:prstDash val="solid"/>
          </a:ln>
        </p:spPr>
      </p:sp>
      <p:sp>
        <p:nvSpPr>
          <p:cNvPr id="29" name="RingApprove"/>
          <p:cNvSpPr/>
          <p:nvPr/>
        </p:nvSpPr>
        <p:spPr>
          <a:xfrm>
            <a:off x="7260336" y="4288536"/>
            <a:ext cx="2029968" cy="749808"/>
          </a:xfrm>
          <a:prstGeom prst="roundRect">
            <a:avLst>
              <a:gd name="adj" fmla="val 12195"/>
            </a:avLst>
          </a:prstGeom>
          <a:ln w="38100">
            <a:solidFill>
              <a:srgbClr val="18764A"/>
            </a:solidFill>
            <a:prstDash val="solid"/>
          </a:ln>
        </p:spPr>
      </p:sp>
      <p:sp>
        <p:nvSpPr>
          <p:cNvPr id="30" name="RingEsc"/>
          <p:cNvSpPr/>
          <p:nvPr/>
        </p:nvSpPr>
        <p:spPr>
          <a:xfrm>
            <a:off x="9317736" y="4288536"/>
            <a:ext cx="2212848" cy="749808"/>
          </a:xfrm>
          <a:prstGeom prst="roundRect">
            <a:avLst>
              <a:gd name="adj" fmla="val 12195"/>
            </a:avLst>
          </a:prstGeom>
          <a:ln w="38100">
            <a:solidFill>
              <a:srgbClr val="5F3AA8"/>
            </a:solidFill>
            <a:prstDash val="solid"/>
          </a:ln>
        </p:spPr>
      </p:sp>
      <p:sp>
        <p:nvSpPr>
          <p:cNvPr id="31" name="MD"/>
          <p:cNvSpPr/>
          <p:nvPr/>
        </p:nvSpPr>
        <p:spPr>
          <a:xfrm>
            <a:off x="8595360" y="5166360"/>
            <a:ext cx="2926080" cy="548640"/>
          </a:xfrm>
          <a:prstGeom prst="roundRect">
            <a:avLst>
              <a:gd name="adj" fmla="val 13333"/>
            </a:avLst>
          </a:prstGeom>
          <a:solidFill>
            <a:srgbClr val="EBE2F8"/>
          </a:solidFill>
          <a:ln w="12700">
            <a:solidFill>
              <a:srgbClr val="5F3AA8"/>
            </a:solidFill>
          </a:ln>
        </p:spPr>
        <p:txBody>
          <a:bodyPr wrap="square" lIns="27432" tIns="128016" rIns="109728" bIns="27432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F3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director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Decides. The only role that can deny.</a:t>
            </a:r>
            <a:endParaRPr lang="en-US" sz="1300" dirty="0"/>
          </a:p>
        </p:txBody>
      </p:sp>
      <p:sp>
        <p:nvSpPr>
          <p:cNvPr id="32" name="T4"/>
          <p:cNvSpPr/>
          <p:nvPr/>
        </p:nvSpPr>
        <p:spPr>
          <a:xfrm>
            <a:off x="5303520" y="5166360"/>
            <a:ext cx="3108960" cy="548640"/>
          </a:xfrm>
          <a:prstGeom prst="roundRect">
            <a:avLst>
              <a:gd name="adj" fmla="val 13333"/>
            </a:avLst>
          </a:prstGeom>
          <a:solidFill>
            <a:srgbClr val="FBE9E4"/>
          </a:solidFill>
          <a:ln w="12700">
            <a:solidFill>
              <a:srgbClr val="B8452F"/>
            </a:solidFill>
          </a:ln>
        </p:spPr>
        <p:txBody>
          <a:bodyPr wrap="square" lIns="45720" tIns="109728" rIns="109728" bIns="4572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denial can be appealed, and many are overturned.</a:t>
            </a:r>
            <a:endParaRPr lang="en-US" sz="1200" dirty="0"/>
          </a:p>
        </p:txBody>
      </p:sp>
      <p:sp>
        <p:nvSpPr>
          <p:cNvPr id="33" name="ArrFax"/>
          <p:cNvSpPr/>
          <p:nvPr/>
        </p:nvSpPr>
        <p:spPr>
          <a:xfrm>
            <a:off x="4297680" y="2446020"/>
            <a:ext cx="1005840" cy="0"/>
          </a:xfrm>
          <a:prstGeom prst="line">
            <a:avLst/>
          </a:prstGeom>
          <a:noFill/>
          <a:ln w="25400">
            <a:solidFill>
              <a:srgbClr val="B8452F"/>
            </a:solidFill>
            <a:prstDash val="dash"/>
            <a:tailEnd type="triangle"/>
          </a:ln>
        </p:spPr>
      </p:sp>
      <p:sp>
        <p:nvSpPr>
          <p:cNvPr id="34" name="LblFax"/>
          <p:cNvSpPr txBox="1"/>
          <p:nvPr/>
        </p:nvSpPr>
        <p:spPr>
          <a:xfrm>
            <a:off x="4315968" y="2130552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B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FAX</a:t>
            </a:r>
            <a:endParaRPr lang="en-US" sz="1100" dirty="0"/>
          </a:p>
        </p:txBody>
      </p:sp>
      <p:sp>
        <p:nvSpPr>
          <p:cNvPr id="35" name="ArrIn"/>
          <p:cNvSpPr/>
          <p:nvPr/>
        </p:nvSpPr>
        <p:spPr>
          <a:xfrm>
            <a:off x="6903720" y="2880360"/>
            <a:ext cx="0" cy="274320"/>
          </a:xfrm>
          <a:prstGeom prst="line">
            <a:avLst/>
          </a:prstGeom>
          <a:noFill/>
          <a:ln w="25400">
            <a:solidFill>
              <a:srgbClr val="5C6B66"/>
            </a:solidFill>
            <a:prstDash val="solid"/>
            <a:tailEnd type="triangle"/>
          </a:ln>
        </p:spPr>
      </p:sp>
      <p:sp>
        <p:nvSpPr>
          <p:cNvPr id="36" name="ForkStub"/>
          <p:cNvSpPr/>
          <p:nvPr/>
        </p:nvSpPr>
        <p:spPr>
          <a:xfrm>
            <a:off x="6903720" y="4023360"/>
            <a:ext cx="0" cy="137160"/>
          </a:xfrm>
          <a:prstGeom prst="line">
            <a:avLst/>
          </a:prstGeom>
          <a:noFill/>
          <a:ln w="25400">
            <a:solidFill>
              <a:srgbClr val="5C6B66"/>
            </a:solidFill>
            <a:prstDash val="solid"/>
          </a:ln>
        </p:spPr>
      </p:sp>
      <p:sp>
        <p:nvSpPr>
          <p:cNvPr id="37" name="ForkBar"/>
          <p:cNvSpPr/>
          <p:nvPr/>
        </p:nvSpPr>
        <p:spPr>
          <a:xfrm>
            <a:off x="6263640" y="4160520"/>
            <a:ext cx="4160520" cy="0"/>
          </a:xfrm>
          <a:prstGeom prst="line">
            <a:avLst/>
          </a:prstGeom>
          <a:noFill/>
          <a:ln w="25400">
            <a:solidFill>
              <a:srgbClr val="5C6B66"/>
            </a:solidFill>
            <a:prstDash val="solid"/>
          </a:ln>
        </p:spPr>
      </p:sp>
      <p:sp>
        <p:nvSpPr>
          <p:cNvPr id="38" name="DropPend"/>
          <p:cNvSpPr/>
          <p:nvPr/>
        </p:nvSpPr>
        <p:spPr>
          <a:xfrm>
            <a:off x="6263640" y="4160520"/>
            <a:ext cx="0" cy="182880"/>
          </a:xfrm>
          <a:prstGeom prst="line">
            <a:avLst/>
          </a:prstGeom>
          <a:noFill/>
          <a:ln w="25400">
            <a:solidFill>
              <a:srgbClr val="5C6B66"/>
            </a:solidFill>
            <a:prstDash val="solid"/>
            <a:tailEnd type="triangle"/>
          </a:ln>
        </p:spPr>
      </p:sp>
      <p:sp>
        <p:nvSpPr>
          <p:cNvPr id="39" name="DropApprove"/>
          <p:cNvSpPr/>
          <p:nvPr/>
        </p:nvSpPr>
        <p:spPr>
          <a:xfrm>
            <a:off x="8275320" y="4160520"/>
            <a:ext cx="0" cy="182880"/>
          </a:xfrm>
          <a:prstGeom prst="line">
            <a:avLst/>
          </a:prstGeom>
          <a:noFill/>
          <a:ln w="25400">
            <a:solidFill>
              <a:srgbClr val="5C6B66"/>
            </a:solidFill>
            <a:prstDash val="solid"/>
            <a:tailEnd type="triangle"/>
          </a:ln>
        </p:spPr>
      </p:sp>
      <p:sp>
        <p:nvSpPr>
          <p:cNvPr id="40" name="DropEsc"/>
          <p:cNvSpPr/>
          <p:nvPr/>
        </p:nvSpPr>
        <p:spPr>
          <a:xfrm>
            <a:off x="10424160" y="4160520"/>
            <a:ext cx="0" cy="182880"/>
          </a:xfrm>
          <a:prstGeom prst="line">
            <a:avLst/>
          </a:prstGeom>
          <a:noFill/>
          <a:ln w="25400">
            <a:solidFill>
              <a:srgbClr val="5C6B66"/>
            </a:solidFill>
            <a:prstDash val="solid"/>
            <a:tailEnd type="triangle"/>
          </a:ln>
        </p:spPr>
      </p:sp>
      <p:sp>
        <p:nvSpPr>
          <p:cNvPr id="41" name="ArrPend"/>
          <p:cNvSpPr/>
          <p:nvPr/>
        </p:nvSpPr>
        <p:spPr>
          <a:xfrm flipH="1">
            <a:off x="4297680" y="4663440"/>
            <a:ext cx="1005840" cy="0"/>
          </a:xfrm>
          <a:prstGeom prst="line">
            <a:avLst/>
          </a:prstGeom>
          <a:noFill/>
          <a:ln w="25400">
            <a:solidFill>
              <a:srgbClr val="8A5A00"/>
            </a:solidFill>
            <a:prstDash val="solid"/>
            <a:tailEnd type="triangle"/>
          </a:ln>
        </p:spPr>
      </p:sp>
      <p:sp>
        <p:nvSpPr>
          <p:cNvPr id="42" name="ArrMD"/>
          <p:cNvSpPr/>
          <p:nvPr/>
        </p:nvSpPr>
        <p:spPr>
          <a:xfrm>
            <a:off x="10424160" y="4983480"/>
            <a:ext cx="0" cy="182880"/>
          </a:xfrm>
          <a:prstGeom prst="line">
            <a:avLst/>
          </a:prstGeom>
          <a:noFill/>
          <a:ln w="25400">
            <a:solidFill>
              <a:srgbClr val="5F3AA8"/>
            </a:solidFill>
            <a:prstDash val="solid"/>
            <a:tailEnd type="triangle"/>
          </a:ln>
        </p:spPr>
      </p:sp>
      <p:sp>
        <p:nvSpPr>
          <p:cNvPr id="43" name="LabelA"/>
          <p:cNvSpPr txBox="1"/>
          <p:nvPr/>
        </p:nvSpPr>
        <p:spPr>
          <a:xfrm>
            <a:off x="6675120" y="457200"/>
            <a:ext cx="5056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spc="100" kern="0" dirty="0">
                <a:solidFill>
                  <a:srgbClr val="187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1  ·  A COMPLETE PACKET</a:t>
            </a:r>
            <a:endParaRPr lang="en-US" sz="1600" dirty="0"/>
          </a:p>
        </p:txBody>
      </p:sp>
      <p:sp>
        <p:nvSpPr>
          <p:cNvPr id="44" name="LabelB"/>
          <p:cNvSpPr txBox="1"/>
          <p:nvPr/>
        </p:nvSpPr>
        <p:spPr>
          <a:xfrm>
            <a:off x="6675120" y="457200"/>
            <a:ext cx="5056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spc="100" kern="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2  ·  SOMETHING IS MISSING</a:t>
            </a:r>
            <a:endParaRPr lang="en-US" sz="1600" dirty="0"/>
          </a:p>
        </p:txBody>
      </p:sp>
      <p:sp>
        <p:nvSpPr>
          <p:cNvPr id="45" name="LabelC"/>
          <p:cNvSpPr txBox="1"/>
          <p:nvPr/>
        </p:nvSpPr>
        <p:spPr>
          <a:xfrm>
            <a:off x="6675120" y="457200"/>
            <a:ext cx="5056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spc="100" kern="0" dirty="0">
                <a:solidFill>
                  <a:srgbClr val="5F3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3  ·  NEEDS A PHYSICIAN</a:t>
            </a:r>
            <a:endParaRPr lang="en-US" sz="1600" dirty="0"/>
          </a:p>
        </p:txBody>
      </p:sp>
      <p:sp>
        <p:nvSpPr>
          <p:cNvPr id="46" name="c1"/>
          <p:cNvSpPr txBox="1"/>
          <p:nvPr/>
        </p:nvSpPr>
        <p:spPr>
          <a:xfrm>
            <a:off x="457200" y="594360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surgeon decides a patient needs a lumbar fusion. The office assembles a packet of clinical documents.</a:t>
            </a:r>
            <a:endParaRPr lang="en-US" sz="1800" dirty="0"/>
          </a:p>
        </p:txBody>
      </p:sp>
      <p:sp>
        <p:nvSpPr>
          <p:cNvPr id="47" name="c2"/>
          <p:cNvSpPr txBox="1"/>
          <p:nvPr/>
        </p:nvSpPr>
        <p:spPr>
          <a:xfrm>
            <a:off x="457200" y="594360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packet is faxed to the plan. Fourteen pages.</a:t>
            </a:r>
            <a:endParaRPr lang="en-US" sz="1800" dirty="0"/>
          </a:p>
        </p:txBody>
      </p:sp>
      <p:sp>
        <p:nvSpPr>
          <p:cNvPr id="48" name="c3"/>
          <p:cNvSpPr txBox="1"/>
          <p:nvPr/>
        </p:nvSpPr>
        <p:spPr>
          <a:xfrm>
            <a:off x="457200" y="594360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checks the member, the form, and the codes. That is a paperwork check, not a clinical one.</a:t>
            </a:r>
            <a:endParaRPr lang="en-US" sz="1800" dirty="0"/>
          </a:p>
        </p:txBody>
      </p:sp>
      <p:sp>
        <p:nvSpPr>
          <p:cNvPr id="49" name="c4"/>
          <p:cNvSpPr txBox="1"/>
          <p:nvPr/>
        </p:nvSpPr>
        <p:spPr>
          <a:xfrm>
            <a:off x="457200" y="594360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UM nurse picks it up and reads all fourteen pages.</a:t>
            </a:r>
            <a:endParaRPr lang="en-US" sz="1800" dirty="0"/>
          </a:p>
        </p:txBody>
      </p:sp>
      <p:sp>
        <p:nvSpPr>
          <p:cNvPr id="50" name="c5"/>
          <p:cNvSpPr txBox="1"/>
          <p:nvPr/>
        </p:nvSpPr>
        <p:spPr>
          <a:xfrm>
            <a:off x="457200" y="594360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hunts for four facts and checks each one against policy.</a:t>
            </a:r>
            <a:endParaRPr lang="en-US" sz="1800" dirty="0"/>
          </a:p>
        </p:txBody>
      </p:sp>
      <p:sp>
        <p:nvSpPr>
          <p:cNvPr id="51" name="c6"/>
          <p:cNvSpPr txBox="1"/>
          <p:nvPr/>
        </p:nvSpPr>
        <p:spPr>
          <a:xfrm>
            <a:off x="457200" y="594360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there are three ways out.</a:t>
            </a:r>
            <a:endParaRPr lang="en-US" sz="1800" dirty="0"/>
          </a:p>
        </p:txBody>
      </p:sp>
      <p:sp>
        <p:nvSpPr>
          <p:cNvPr id="52" name="c7"/>
          <p:cNvSpPr txBox="1"/>
          <p:nvPr/>
        </p:nvSpPr>
        <p:spPr>
          <a:xfrm>
            <a:off x="457200" y="594360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1. Every fact is there and every criterion is met. She approves.</a:t>
            </a:r>
            <a:endParaRPr lang="en-US" sz="1800" dirty="0"/>
          </a:p>
        </p:txBody>
      </p:sp>
      <p:sp>
        <p:nvSpPr>
          <p:cNvPr id="53" name="c8"/>
          <p:cNvSpPr txBox="1"/>
          <p:nvPr/>
        </p:nvSpPr>
        <p:spPr>
          <a:xfrm>
            <a:off x="457200" y="594360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2. A fact is missing. She pends the case and it goes back to the provider.</a:t>
            </a:r>
            <a:endParaRPr lang="en-US" sz="1800" dirty="0"/>
          </a:p>
        </p:txBody>
      </p:sp>
      <p:sp>
        <p:nvSpPr>
          <p:cNvPr id="54" name="c9"/>
          <p:cNvSpPr txBox="1"/>
          <p:nvPr/>
        </p:nvSpPr>
        <p:spPr>
          <a:xfrm>
            <a:off x="457200" y="594360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provider has to work out what is missing, then resend. The case starts again from zero, and the clock keeps running.</a:t>
            </a:r>
            <a:endParaRPr lang="en-US" sz="1800" dirty="0"/>
          </a:p>
        </p:txBody>
      </p:sp>
      <p:sp>
        <p:nvSpPr>
          <p:cNvPr id="55" name="c10"/>
          <p:cNvSpPr txBox="1"/>
          <p:nvPr/>
        </p:nvSpPr>
        <p:spPr>
          <a:xfrm>
            <a:off x="457200" y="594360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3. The facts are there but the case is borderline. It goes to a medical director.</a:t>
            </a:r>
            <a:endParaRPr lang="en-US" sz="1800" dirty="0"/>
          </a:p>
        </p:txBody>
      </p:sp>
      <p:sp>
        <p:nvSpPr>
          <p:cNvPr id="56" name="c11"/>
          <p:cNvSpPr txBox="1"/>
          <p:nvPr/>
        </p:nvSpPr>
        <p:spPr>
          <a:xfrm>
            <a:off x="457200" y="594360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medical director can deny. A denial can be appealed, and many are overturned.</a:t>
            </a:r>
            <a:endParaRPr lang="en-US" sz="1800" dirty="0"/>
          </a:p>
        </p:txBody>
      </p:sp>
      <p:sp>
        <p:nvSpPr>
          <p:cNvPr id="57" name="c12"/>
          <p:cNvSpPr txBox="1"/>
          <p:nvPr/>
        </p:nvSpPr>
        <p:spPr>
          <a:xfrm>
            <a:off x="457200" y="594360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is somebody doing their job correctly. The delay is built into the process.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900"/>
                            </p:stCondLst>
                            <p:childTnLst>
                              <p:par>
                                <p:cTn id="20" presetID="10" presetClass="exit" presetSubtype="0" fill="hold" grpId="0" nodeType="afterEffect">
                                  <p:stCondLst>
                                    <p:cond delay="3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600"/>
                            </p:stCondLst>
                            <p:childTnLst>
                              <p:par>
                                <p:cTn id="36" presetID="10" presetClass="exit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7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9800"/>
                            </p:stCondLst>
                            <p:childTnLst>
                              <p:par>
                                <p:cTn id="52" presetID="10" presetClass="exit" presetSubtype="0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22" presetClass="entr" presetSubtype="1" fill="hold" nodeType="withEffect">
                                  <p:stCondLst>
                                    <p:cond delay="43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0" nodeType="withEffect">
                                  <p:stCondLst>
                                    <p:cond delay="4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49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43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5200"/>
                            </p:stCondLst>
                            <p:childTnLst>
                              <p:par>
                                <p:cTn id="71" presetID="10" presetClass="exit" presetSubtype="0" fill="hold" grpId="0" nodeType="afterEffect">
                                  <p:stCondLst>
                                    <p:cond delay="2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37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43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20000"/>
                            </p:stCondLst>
                            <p:childTnLst>
                              <p:par>
                                <p:cTn id="93" presetID="10" presetClass="exit" presetSubtype="0" fill="hold" grpId="0" nodeType="afterEffect">
                                  <p:stCondLst>
                                    <p:cond delay="3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22" presetClass="entr" presetSubtype="1" fill="hold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5" dur="2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1" fill="hold" nodeType="withEffect">
                                  <p:stCondLst>
                                    <p:cond delay="455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1" dur="2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1" fill="hold" nodeType="withEffect">
                                  <p:stCondLst>
                                    <p:cond delay="455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4" dur="2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1" fill="hold" nodeType="withEffect">
                                  <p:stCondLst>
                                    <p:cond delay="455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7" dur="2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48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48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48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25300"/>
                            </p:stCondLst>
                            <p:childTnLst>
                              <p:par>
                                <p:cTn id="124" presetID="10" presetClass="exit" presetSubtype="0" fill="hold" grpId="0" nodeType="after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2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28300"/>
                            </p:stCondLst>
                            <p:childTnLst>
                              <p:par>
                                <p:cTn id="137" presetID="10" presetClass="exit" presetSubtype="0" fill="hold" grpId="0" nodeType="after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5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0" presetClass="exit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8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0" presetClass="exit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1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xit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0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6" fill="hold">
                            <p:stCondLst>
                              <p:cond delay="33000"/>
                            </p:stCondLst>
                            <p:childTnLst>
                              <p:par>
                                <p:cTn id="159" presetID="10" presetClass="exit" presetSubtype="0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22" presetClass="entr" presetSubtype="2" fill="hold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1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10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grpId="0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10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5" fill="hold">
                            <p:stCondLst>
                              <p:cond delay="38000"/>
                            </p:stCondLst>
                            <p:childTnLst>
                              <p:par>
                                <p:cTn id="178" presetID="10" presetClass="exit" presetSubtype="0" fill="hold" grpId="0" nodeType="afterEffect">
                                  <p:stCondLst>
                                    <p:cond delay="5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6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xit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8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550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550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550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6" fill="hold">
                            <p:stCondLst>
                              <p:cond delay="44000"/>
                            </p:stCondLst>
                            <p:childTnLst>
                              <p:par>
                                <p:cTn id="209" presetID="10" presetClass="exit" presetSubtype="0" fill="hold" grpId="0" nodeType="afterEffect">
                                  <p:stCondLst>
                                    <p:cond delay="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2" presetID="22" presetClass="entr" presetSubtype="1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1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grpId="0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10" presetClass="entr" presetSubtype="0" fill="hold" grpId="0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presetID="10" presetClass="entr" presetSubtype="0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9200"/>
                            </p:stCondLst>
                            <p:childTnLst>
                              <p:par>
                                <p:cTn id="225" presetID="10" presetClass="exit" presetSubtype="0" fill="hold" grpId="0" nodeType="afterEffect">
                                  <p:stCondLst>
                                    <p:cond delay="4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0" presetClass="exit" presetSubtype="0" fill="hold" grpId="0" nodeType="withEffect">
                                  <p:stCondLst>
                                    <p:cond delay="4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6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0" presetClass="exit" presetSubtype="0" fill="hold" grpId="0" nodeType="withEffect">
                                  <p:stCondLst>
                                    <p:cond delay="4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grpId="0" nodeType="withEffect">
                                  <p:stCondLst>
                                    <p:cond delay="490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0" grpId="0" animBg="1"/>
      <p:bldP spid="46" grpId="0"/>
      <p:bldP spid="34" grpId="0"/>
      <p:bldP spid="47" grpId="0"/>
      <p:bldP spid="15" grpId="0" animBg="1"/>
      <p:bldP spid="16" grpId="0" animBg="1"/>
      <p:bldP spid="48" grpId="0"/>
      <p:bldP spid="17" grpId="0" animBg="1"/>
      <p:bldP spid="18" grpId="0" animBg="1"/>
      <p:bldP spid="19" grpId="0" animBg="1"/>
      <p:bldP spid="49" grpId="0"/>
      <p:bldP spid="20" grpId="0"/>
      <p:bldP spid="21" grpId="0" animBg="1"/>
      <p:bldP spid="22" grpId="0" animBg="1"/>
      <p:bldP spid="23" grpId="0" animBg="1"/>
      <p:bldP spid="24" grpId="0" animBg="1"/>
      <p:bldP spid="50" grpId="0"/>
      <p:bldP spid="25" grpId="0" animBg="1"/>
      <p:bldP spid="26" grpId="0" animBg="1"/>
      <p:bldP spid="27" grpId="0" animBg="1"/>
      <p:bldP spid="51" grpId="0"/>
      <p:bldP spid="43" grpId="0"/>
      <p:bldP spid="29" grpId="0" animBg="1"/>
      <p:bldP spid="52" grpId="0"/>
      <p:bldP spid="44" grpId="0"/>
      <p:bldP spid="28" grpId="0" animBg="1"/>
      <p:bldP spid="53" grpId="0"/>
      <p:bldP spid="12" grpId="0" animBg="1"/>
      <p:bldP spid="13" grpId="0" animBg="1"/>
      <p:bldP spid="14" grpId="0" animBg="1"/>
      <p:bldP spid="54" grpId="0"/>
      <p:bldP spid="45" grpId="0"/>
      <p:bldP spid="30" grpId="0" animBg="1"/>
      <p:bldP spid="55" grpId="0"/>
      <p:bldP spid="31" grpId="0" animBg="1"/>
      <p:bldP spid="32" grpId="0" animBg="1"/>
      <p:bldP spid="56" grpId="0"/>
      <p:bldP spid="57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 prior authorization moves today (animated)</dc:title>
  <dc:subject>PptxGenJS Presentation</dc:subject>
  <dc:creator>Nisha Mishra</dc:creator>
  <cp:lastModifiedBy>Nisha Mishra</cp:lastModifiedBy>
  <cp:revision>1</cp:revision>
  <dcterms:created xsi:type="dcterms:W3CDTF">2026-10-04T01:10:54Z</dcterms:created>
  <dcterms:modified xsi:type="dcterms:W3CDTF">2026-10-04T01:10:54Z</dcterms:modified>
</cp:coreProperties>
</file>