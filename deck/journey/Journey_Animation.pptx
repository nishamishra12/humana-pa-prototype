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left to right and let it play. One click starts it.
Start with the provider. A surgeon decides the patient needs a lumbar fusion, and the office assembles a packet. Fourteen pages of clinical documents. They fax it to the plan.
On the plan side, intake checks the member, the form, and the codes. That is a paperwork check. Nobody has read the clinical pages yet.
A UM nurse picks it up. She reads all fourteen pages, hunting for four facts, and checks each one against policy.
Then there are three ways out.
Path one: everything is there, and she approves.
Path two: a fact is missing. She pends the case and it goes back to the provider. They have to work out what is missing, find it, and resend. The packet goes through the fax all over again, and the case starts again from zero. A pend does not stop the clock.
Path three: the facts are there but the case is borderline. It goes to a medical director, the only role that can deny. A denial can be appealed, and many are overturned.
Close on this: every step is somebody doing their job correctly. The delay is built into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36576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CURRENT STATE</a:t>
            </a:r>
            <a:endParaRPr lang="en-US" sz="1100" dirty="0"/>
          </a:p>
        </p:txBody>
      </p:sp>
      <p:sp>
        <p:nvSpPr>
          <p:cNvPr id="3" name="title"/>
          <p:cNvSpPr txBox="1"/>
          <p:nvPr/>
        </p:nvSpPr>
        <p:spPr>
          <a:xfrm>
            <a:off x="457200" y="502920"/>
            <a:ext cx="6583680" cy="685800"/>
          </a:xfrm>
          <a:prstGeom prst="rect">
            <a:avLst/>
          </a:prstGeom>
          <a:noFill/>
          <a:ln/>
        </p:spPr>
        <p:txBody>
          <a:bodyPr wrap="square" lIns="0" tIns="0" rIns="0" bIns="0" rtlCol="0" anchor="ctr"/>
          <a:lstStyle/>
          <a:p>
            <a:pPr algn="l" indent="0" marL="0">
              <a:buNone/>
            </a:pPr>
            <a:r>
              <a:rPr lang="en-US" sz="2800" dirty="0">
                <a:solidFill>
                  <a:srgbClr val="16211E"/>
                </a:solidFill>
                <a:latin typeface="Cambria" pitchFamily="34" charset="0"/>
                <a:ea typeface="Cambria" pitchFamily="34" charset="-122"/>
                <a:cs typeface="Cambria" pitchFamily="34" charset="-120"/>
              </a:rPr>
              <a:t>How a prior authorization moves today.</a:t>
            </a:r>
            <a:endParaRPr lang="en-US" sz="2800" dirty="0"/>
          </a:p>
        </p:txBody>
      </p:sp>
      <p:sp>
        <p:nvSpPr>
          <p:cNvPr id="4" name="panelProv"/>
          <p:cNvSpPr/>
          <p:nvPr/>
        </p:nvSpPr>
        <p:spPr>
          <a:xfrm>
            <a:off x="457200" y="1325880"/>
            <a:ext cx="4069080" cy="4434840"/>
          </a:xfrm>
          <a:prstGeom prst="roundRect">
            <a:avLst>
              <a:gd name="adj" fmla="val 2247"/>
            </a:avLst>
          </a:prstGeom>
          <a:solidFill>
            <a:srgbClr val="F5F3EE"/>
          </a:solidFill>
          <a:ln w="12700">
            <a:solidFill>
              <a:srgbClr val="CBD5D1"/>
            </a:solidFill>
          </a:ln>
        </p:spPr>
        <p:txBody>
          <a:bodyPr wrap="square" lIns="54864" tIns="109728" rIns="109728" bIns="54864" rtlCol="0" anchor="ctr"/>
          <a:lstStyle/>
          <a:p>
            <a:pPr algn="l" indent="0" marL="0">
              <a:buNone/>
            </a:pPr>
            <a:r>
              <a:rPr lang="en-US" sz="800" dirty="0">
                <a:solidFill>
                  <a:srgbClr val="000000"/>
                </a:solidFill>
              </a:rPr>
              <a:t> </a:t>
            </a:r>
            <a:endParaRPr lang="en-US" sz="800" dirty="0"/>
          </a:p>
        </p:txBody>
      </p:sp>
      <p:sp>
        <p:nvSpPr>
          <p:cNvPr id="5" name="panelPay"/>
          <p:cNvSpPr/>
          <p:nvPr/>
        </p:nvSpPr>
        <p:spPr>
          <a:xfrm>
            <a:off x="5074920" y="1325880"/>
            <a:ext cx="6656832" cy="4434840"/>
          </a:xfrm>
          <a:prstGeom prst="roundRect">
            <a:avLst>
              <a:gd name="adj" fmla="val 2062"/>
            </a:avLst>
          </a:prstGeom>
          <a:solidFill>
            <a:srgbClr val="EEF5F2"/>
          </a:solidFill>
          <a:ln w="12700">
            <a:solidFill>
              <a:srgbClr val="CBD5D1"/>
            </a:solidFill>
          </a:ln>
        </p:spPr>
        <p:txBody>
          <a:bodyPr wrap="square" lIns="54864" tIns="109728" rIns="109728" bIns="54864" rtlCol="0" anchor="ctr"/>
          <a:lstStyle/>
          <a:p>
            <a:pPr algn="l" indent="0" marL="0">
              <a:buNone/>
            </a:pPr>
            <a:r>
              <a:rPr lang="en-US" sz="800" dirty="0">
                <a:solidFill>
                  <a:srgbClr val="000000"/>
                </a:solidFill>
              </a:rPr>
              <a:t> </a:t>
            </a:r>
            <a:endParaRPr lang="en-US" sz="800" dirty="0"/>
          </a:p>
        </p:txBody>
      </p:sp>
      <p:sp>
        <p:nvSpPr>
          <p:cNvPr id="6" name="hdrProv"/>
          <p:cNvSpPr txBox="1"/>
          <p:nvPr/>
        </p:nvSpPr>
        <p:spPr>
          <a:xfrm>
            <a:off x="777240" y="1389888"/>
            <a:ext cx="3566160" cy="502920"/>
          </a:xfrm>
          <a:prstGeom prst="rect">
            <a:avLst/>
          </a:prstGeom>
          <a:noFill/>
          <a:ln/>
        </p:spPr>
        <p:txBody>
          <a:bodyPr wrap="square" lIns="0" tIns="0" rIns="0" bIns="0" rtlCol="0" anchor="t"/>
          <a:lstStyle/>
          <a:p>
            <a:pPr algn="l" indent="0" marL="0">
              <a:buNone/>
            </a:pPr>
            <a:r>
              <a:rPr lang="en-US" sz="1200" b="1" spc="300" kern="0" dirty="0">
                <a:solidFill>
                  <a:srgbClr val="16211E"/>
                </a:solidFill>
                <a:latin typeface="Calibri" pitchFamily="34" charset="0"/>
                <a:ea typeface="Calibri" pitchFamily="34" charset="-122"/>
                <a:cs typeface="Calibri" pitchFamily="34" charset="-120"/>
              </a:rPr>
              <a:t>PROVIDER</a:t>
            </a:r>
            <a:endParaRPr lang="en-US" sz="1200" dirty="0"/>
          </a:p>
          <a:p>
            <a:pPr algn="l" indent="0" marL="0">
              <a:buNone/>
            </a:pPr>
            <a:r>
              <a:rPr lang="en-US" sz="1100" dirty="0">
                <a:solidFill>
                  <a:srgbClr val="5C6B66"/>
                </a:solidFill>
                <a:latin typeface="Calibri" pitchFamily="34" charset="0"/>
                <a:ea typeface="Calibri" pitchFamily="34" charset="-122"/>
                <a:cs typeface="Calibri" pitchFamily="34" charset="-120"/>
              </a:rPr>
              <a:t>Hospital or physician office</a:t>
            </a:r>
            <a:endParaRPr lang="en-US" sz="1200" dirty="0"/>
          </a:p>
        </p:txBody>
      </p:sp>
      <p:sp>
        <p:nvSpPr>
          <p:cNvPr id="7" name="hdrPay"/>
          <p:cNvSpPr txBox="1"/>
          <p:nvPr/>
        </p:nvSpPr>
        <p:spPr>
          <a:xfrm>
            <a:off x="5303520" y="1389888"/>
            <a:ext cx="5943600" cy="502920"/>
          </a:xfrm>
          <a:prstGeom prst="rect">
            <a:avLst/>
          </a:prstGeom>
          <a:noFill/>
          <a:ln/>
        </p:spPr>
        <p:txBody>
          <a:bodyPr wrap="square" lIns="0" tIns="0" rIns="0" bIns="0" rtlCol="0" anchor="t"/>
          <a:lstStyle/>
          <a:p>
            <a:pPr algn="l" indent="0" marL="0">
              <a:buNone/>
            </a:pPr>
            <a:r>
              <a:rPr lang="en-US" sz="1200" b="1" spc="300" kern="0" dirty="0">
                <a:solidFill>
                  <a:srgbClr val="16211E"/>
                </a:solidFill>
                <a:latin typeface="Calibri" pitchFamily="34" charset="0"/>
                <a:ea typeface="Calibri" pitchFamily="34" charset="-122"/>
                <a:cs typeface="Calibri" pitchFamily="34" charset="-120"/>
              </a:rPr>
              <a:t>PAYER</a:t>
            </a:r>
            <a:endParaRPr lang="en-US" sz="1200" dirty="0"/>
          </a:p>
          <a:p>
            <a:pPr algn="l" indent="0" marL="0">
              <a:buNone/>
            </a:pPr>
            <a:r>
              <a:rPr lang="en-US" sz="1100" dirty="0">
                <a:solidFill>
                  <a:srgbClr val="5C6B66"/>
                </a:solidFill>
                <a:latin typeface="Calibri" pitchFamily="34" charset="0"/>
                <a:ea typeface="Calibri" pitchFamily="34" charset="-122"/>
                <a:cs typeface="Calibri" pitchFamily="34" charset="-120"/>
              </a:rPr>
              <a:t>The health plan: Utilization Management (UM)</a:t>
            </a:r>
            <a:endParaRPr lang="en-US" sz="1200" dirty="0"/>
          </a:p>
        </p:txBody>
      </p:sp>
      <p:sp>
        <p:nvSpPr>
          <p:cNvPr id="8"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An elective inpatient lumbar spinal fusion request, as it works today.</a:t>
            </a:r>
            <a:endParaRPr lang="en-US" sz="900" dirty="0"/>
          </a:p>
        </p:txBody>
      </p:sp>
      <p:sp>
        <p:nvSpPr>
          <p:cNvPr id="9" name="L1"/>
          <p:cNvSpPr/>
          <p:nvPr/>
        </p:nvSpPr>
        <p:spPr>
          <a:xfrm>
            <a:off x="777240" y="2011680"/>
            <a:ext cx="3520440" cy="868680"/>
          </a:xfrm>
          <a:prstGeom prst="roundRect">
            <a:avLst>
              <a:gd name="adj" fmla="val 8421"/>
            </a:avLst>
          </a:prstGeom>
          <a:solidFill>
            <a:srgbClr val="FFFFFF"/>
          </a:solidFill>
          <a:ln w="12700">
            <a:solidFill>
              <a:srgbClr val="CBD5D1"/>
            </a:solidFill>
          </a:ln>
        </p:spPr>
        <p:txBody>
          <a:bodyPr wrap="square" lIns="54864" tIns="914400" rIns="109728" bIns="54864" rtlCol="0" anchor="ctr"/>
          <a:lstStyle/>
          <a:p>
            <a:pPr algn="l" indent="0" marL="0">
              <a:buNone/>
            </a:pPr>
            <a:r>
              <a:rPr lang="en-US" sz="1400" b="1" dirty="0">
                <a:solidFill>
                  <a:srgbClr val="16211E"/>
                </a:solidFill>
                <a:latin typeface="Calibri" pitchFamily="34" charset="0"/>
                <a:ea typeface="Calibri" pitchFamily="34" charset="-122"/>
                <a:cs typeface="Calibri" pitchFamily="34" charset="-120"/>
              </a:rPr>
              <a:t>Surgeon's office</a:t>
            </a:r>
            <a:endParaRPr lang="en-US" sz="1400" dirty="0"/>
          </a:p>
          <a:p>
            <a:pPr algn="l" indent="0" marL="0">
              <a:buNone/>
            </a:pPr>
            <a:r>
              <a:rPr lang="en-US" sz="1150" dirty="0">
                <a:solidFill>
                  <a:srgbClr val="5C6B66"/>
                </a:solidFill>
                <a:latin typeface="Calibri" pitchFamily="34" charset="0"/>
                <a:ea typeface="Calibri" pitchFamily="34" charset="-122"/>
                <a:cs typeface="Calibri" pitchFamily="34" charset="-120"/>
              </a:rPr>
              <a:t>Staff assemble the packet.</a:t>
            </a:r>
            <a:endParaRPr lang="en-US" sz="1400" dirty="0"/>
          </a:p>
        </p:txBody>
      </p:sp>
      <p:pic>
        <p:nvPicPr>
          <p:cNvPr id="10" name="AvL1" descr="preencoded.png">    </p:cNvPr>
          <p:cNvPicPr>
            <a:picLocks noChangeAspect="1"/>
          </p:cNvPicPr>
          <p:nvPr/>
        </p:nvPicPr>
        <p:blipFill>
          <a:blip r:embed="rId1"/>
          <a:stretch>
            <a:fillRect/>
          </a:stretch>
        </p:blipFill>
        <p:spPr>
          <a:xfrm>
            <a:off x="886968" y="2121408"/>
            <a:ext cx="649224" cy="649224"/>
          </a:xfrm>
          <a:prstGeom prst="rect">
            <a:avLst/>
          </a:prstGeom>
        </p:spPr>
      </p:pic>
      <p:sp>
        <p:nvSpPr>
          <p:cNvPr id="11" name="P1"/>
          <p:cNvSpPr/>
          <p:nvPr/>
        </p:nvSpPr>
        <p:spPr>
          <a:xfrm>
            <a:off x="3246120" y="2715768"/>
            <a:ext cx="868680" cy="329184"/>
          </a:xfrm>
          <a:prstGeom prst="roundRect">
            <a:avLst>
              <a:gd name="adj" fmla="val 16667"/>
            </a:avLst>
          </a:prstGeom>
          <a:solidFill>
            <a:srgbClr val="FFFFFF"/>
          </a:solidFill>
          <a:ln w="19050">
            <a:solidFill>
              <a:srgbClr val="B8452F"/>
            </a:solidFill>
          </a:ln>
        </p:spPr>
        <p:txBody>
          <a:bodyPr wrap="square" lIns="0" tIns="0" rIns="0" bIns="0" rtlCol="0" anchor="ctr"/>
          <a:lstStyle/>
          <a:p>
            <a:pPr algn="ctr" indent="0" marL="0">
              <a:buNone/>
            </a:pPr>
            <a:r>
              <a:rPr lang="en-US" sz="1100" b="1" dirty="0">
                <a:solidFill>
                  <a:srgbClr val="B8452F"/>
                </a:solidFill>
                <a:latin typeface="Calibri" pitchFamily="34" charset="0"/>
                <a:ea typeface="Calibri" pitchFamily="34" charset="-122"/>
                <a:cs typeface="Calibri" pitchFamily="34" charset="-120"/>
              </a:rPr>
              <a:t>14 pages</a:t>
            </a:r>
            <a:endParaRPr lang="en-US" sz="1100" dirty="0"/>
          </a:p>
        </p:txBody>
      </p:sp>
      <p:sp>
        <p:nvSpPr>
          <p:cNvPr id="12" name="P1b"/>
          <p:cNvSpPr/>
          <p:nvPr/>
        </p:nvSpPr>
        <p:spPr>
          <a:xfrm>
            <a:off x="3246120" y="2715768"/>
            <a:ext cx="868680" cy="329184"/>
          </a:xfrm>
          <a:prstGeom prst="roundRect">
            <a:avLst>
              <a:gd name="adj" fmla="val 16667"/>
            </a:avLst>
          </a:prstGeom>
          <a:solidFill>
            <a:srgbClr val="FFFFFF"/>
          </a:solidFill>
          <a:ln w="19050">
            <a:solidFill>
              <a:srgbClr val="B8452F"/>
            </a:solidFill>
          </a:ln>
        </p:spPr>
        <p:txBody>
          <a:bodyPr wrap="square" lIns="0" tIns="0" rIns="0" bIns="0" rtlCol="0" anchor="ctr"/>
          <a:lstStyle/>
          <a:p>
            <a:pPr algn="ctr" indent="0" marL="0">
              <a:buNone/>
            </a:pPr>
            <a:r>
              <a:rPr lang="en-US" sz="1100" b="1" dirty="0">
                <a:solidFill>
                  <a:srgbClr val="B8452F"/>
                </a:solidFill>
                <a:latin typeface="Calibri" pitchFamily="34" charset="0"/>
                <a:ea typeface="Calibri" pitchFamily="34" charset="-122"/>
                <a:cs typeface="Calibri" pitchFamily="34" charset="-120"/>
              </a:rPr>
              <a:t>14 pages</a:t>
            </a:r>
            <a:endParaRPr lang="en-US" sz="1100" dirty="0"/>
          </a:p>
        </p:txBody>
      </p:sp>
      <p:sp>
        <p:nvSpPr>
          <p:cNvPr id="13" name="Member"/>
          <p:cNvSpPr/>
          <p:nvPr/>
        </p:nvSpPr>
        <p:spPr>
          <a:xfrm>
            <a:off x="777240" y="3154680"/>
            <a:ext cx="3520440" cy="868680"/>
          </a:xfrm>
          <a:prstGeom prst="roundRect">
            <a:avLst>
              <a:gd name="adj" fmla="val 8421"/>
            </a:avLst>
          </a:prstGeom>
          <a:solidFill>
            <a:srgbClr val="FFFFFF"/>
          </a:solidFill>
          <a:ln w="12700">
            <a:solidFill>
              <a:srgbClr val="CBD5D1"/>
            </a:solidFill>
          </a:ln>
        </p:spPr>
        <p:txBody>
          <a:bodyPr wrap="square" lIns="54864" tIns="914400" rIns="109728" bIns="54864" rtlCol="0" anchor="ctr"/>
          <a:lstStyle/>
          <a:p>
            <a:pPr algn="l" indent="0" marL="0">
              <a:buNone/>
            </a:pPr>
            <a:r>
              <a:rPr lang="en-US" sz="1400" b="1" dirty="0">
                <a:solidFill>
                  <a:srgbClr val="16211E"/>
                </a:solidFill>
                <a:latin typeface="Calibri" pitchFamily="34" charset="0"/>
                <a:ea typeface="Calibri" pitchFamily="34" charset="-122"/>
                <a:cs typeface="Calibri" pitchFamily="34" charset="-120"/>
              </a:rPr>
              <a:t>The member: John Doe, 71</a:t>
            </a:r>
            <a:endParaRPr lang="en-US" sz="1400" dirty="0"/>
          </a:p>
          <a:p>
            <a:pPr algn="l" indent="0" marL="0">
              <a:buNone/>
            </a:pPr>
            <a:r>
              <a:rPr lang="en-US" sz="1150" dirty="0">
                <a:solidFill>
                  <a:srgbClr val="5C6B66"/>
                </a:solidFill>
                <a:latin typeface="Calibri" pitchFamily="34" charset="0"/>
                <a:ea typeface="Calibri" pitchFamily="34" charset="-122"/>
                <a:cs typeface="Calibri" pitchFamily="34" charset="-120"/>
              </a:rPr>
              <a:t>Waiting on the surgery. Sees none of this.</a:t>
            </a:r>
            <a:endParaRPr lang="en-US" sz="1400" dirty="0"/>
          </a:p>
        </p:txBody>
      </p:sp>
      <p:pic>
        <p:nvPicPr>
          <p:cNvPr id="14" name="AvM" descr="preencoded.png">    </p:cNvPr>
          <p:cNvPicPr>
            <a:picLocks noChangeAspect="1"/>
          </p:cNvPicPr>
          <p:nvPr/>
        </p:nvPicPr>
        <p:blipFill>
          <a:blip r:embed="rId2"/>
          <a:stretch>
            <a:fillRect/>
          </a:stretch>
        </p:blipFill>
        <p:spPr>
          <a:xfrm>
            <a:off x="886968" y="3264408"/>
            <a:ext cx="649224" cy="649224"/>
          </a:xfrm>
          <a:prstGeom prst="rect">
            <a:avLst/>
          </a:prstGeom>
        </p:spPr>
      </p:pic>
      <p:sp>
        <p:nvSpPr>
          <p:cNvPr id="15" name="L3"/>
          <p:cNvSpPr/>
          <p:nvPr/>
        </p:nvSpPr>
        <p:spPr>
          <a:xfrm>
            <a:off x="777240" y="4343400"/>
            <a:ext cx="3520440" cy="640080"/>
          </a:xfrm>
          <a:prstGeom prst="roundRect">
            <a:avLst>
              <a:gd name="adj" fmla="val 11429"/>
            </a:avLst>
          </a:prstGeom>
          <a:solidFill>
            <a:srgbClr val="FFFFFF"/>
          </a:solidFill>
          <a:ln w="12700">
            <a:solidFill>
              <a:srgbClr val="CBD5D1"/>
            </a:solidFill>
          </a:ln>
        </p:spPr>
        <p:txBody>
          <a:bodyPr wrap="square" lIns="36576" tIns="777240" rIns="109728" bIns="36576" rtlCol="0" anchor="ctr"/>
          <a:lstStyle/>
          <a:p>
            <a:pPr algn="l" indent="0" marL="0">
              <a:buNone/>
            </a:pPr>
            <a:r>
              <a:rPr lang="en-US" sz="1300" b="1" dirty="0">
                <a:solidFill>
                  <a:srgbClr val="16211E"/>
                </a:solidFill>
                <a:latin typeface="Calibri" pitchFamily="34" charset="0"/>
                <a:ea typeface="Calibri" pitchFamily="34" charset="-122"/>
                <a:cs typeface="Calibri" pitchFamily="34" charset="-120"/>
              </a:rPr>
              <a:t>Provider decodes the pend</a:t>
            </a:r>
            <a:endParaRPr lang="en-US" sz="1300" dirty="0"/>
          </a:p>
          <a:p>
            <a:pPr algn="l" indent="0" marL="0">
              <a:buNone/>
            </a:pPr>
            <a:r>
              <a:rPr lang="en-US" sz="1050" dirty="0">
                <a:solidFill>
                  <a:srgbClr val="5C6B66"/>
                </a:solidFill>
                <a:latin typeface="Calibri" pitchFamily="34" charset="0"/>
                <a:ea typeface="Calibri" pitchFamily="34" charset="-122"/>
                <a:cs typeface="Calibri" pitchFamily="34" charset="-120"/>
              </a:rPr>
              <a:t>Works out what is missing.</a:t>
            </a:r>
            <a:endParaRPr lang="en-US" sz="1300" dirty="0"/>
          </a:p>
        </p:txBody>
      </p:sp>
      <p:pic>
        <p:nvPicPr>
          <p:cNvPr id="16" name="AvL3" descr="preencoded.png">    </p:cNvPr>
          <p:cNvPicPr>
            <a:picLocks noChangeAspect="1"/>
          </p:cNvPicPr>
          <p:nvPr/>
        </p:nvPicPr>
        <p:blipFill>
          <a:blip r:embed="rId3"/>
          <a:stretch>
            <a:fillRect/>
          </a:stretch>
        </p:blipFill>
        <p:spPr>
          <a:xfrm>
            <a:off x="868680" y="4416552"/>
            <a:ext cx="493776" cy="493776"/>
          </a:xfrm>
          <a:prstGeom prst="rect">
            <a:avLst/>
          </a:prstGeom>
        </p:spPr>
      </p:pic>
      <p:sp>
        <p:nvSpPr>
          <p:cNvPr id="17" name="PL3"/>
          <p:cNvSpPr/>
          <p:nvPr/>
        </p:nvSpPr>
        <p:spPr>
          <a:xfrm>
            <a:off x="3246120" y="4818888"/>
            <a:ext cx="868680" cy="329184"/>
          </a:xfrm>
          <a:prstGeom prst="roundRect">
            <a:avLst>
              <a:gd name="adj" fmla="val 16667"/>
            </a:avLst>
          </a:prstGeom>
          <a:solidFill>
            <a:srgbClr val="FFFFFF"/>
          </a:solidFill>
          <a:ln w="19050">
            <a:solidFill>
              <a:srgbClr val="B8452F"/>
            </a:solidFill>
          </a:ln>
        </p:spPr>
        <p:txBody>
          <a:bodyPr wrap="square" lIns="0" tIns="0" rIns="0" bIns="0" rtlCol="0" anchor="ctr"/>
          <a:lstStyle/>
          <a:p>
            <a:pPr algn="ctr" indent="0" marL="0">
              <a:buNone/>
            </a:pPr>
            <a:r>
              <a:rPr lang="en-US" sz="1100" b="1" dirty="0">
                <a:solidFill>
                  <a:srgbClr val="B8452F"/>
                </a:solidFill>
                <a:latin typeface="Calibri" pitchFamily="34" charset="0"/>
                <a:ea typeface="Calibri" pitchFamily="34" charset="-122"/>
                <a:cs typeface="Calibri" pitchFamily="34" charset="-120"/>
              </a:rPr>
              <a:t>14 pages</a:t>
            </a:r>
            <a:endParaRPr lang="en-US" sz="1100" dirty="0"/>
          </a:p>
        </p:txBody>
      </p:sp>
      <p:sp>
        <p:nvSpPr>
          <p:cNvPr id="18" name="T3"/>
          <p:cNvSpPr/>
          <p:nvPr/>
        </p:nvSpPr>
        <p:spPr>
          <a:xfrm>
            <a:off x="777240" y="5193792"/>
            <a:ext cx="3520440" cy="502920"/>
          </a:xfrm>
          <a:prstGeom prst="roundRect">
            <a:avLst>
              <a:gd name="adj" fmla="val 14545"/>
            </a:avLst>
          </a:prstGeom>
          <a:solidFill>
            <a:srgbClr val="FBE9E4"/>
          </a:solidFill>
          <a:ln w="12700">
            <a:solidFill>
              <a:srgbClr val="B8452F"/>
            </a:solidFill>
          </a:ln>
        </p:spPr>
        <p:txBody>
          <a:bodyPr wrap="square" lIns="45720" tIns="109728" rIns="109728" bIns="45720" rtlCol="0" anchor="ctr"/>
          <a:lstStyle/>
          <a:p>
            <a:pPr algn="l" indent="0" marL="0">
              <a:buNone/>
            </a:pPr>
            <a:r>
              <a:rPr lang="en-US" sz="1200" b="1" dirty="0">
                <a:solidFill>
                  <a:srgbClr val="B8452F"/>
                </a:solidFill>
                <a:latin typeface="Calibri" pitchFamily="34" charset="0"/>
                <a:ea typeface="Calibri" pitchFamily="34" charset="-122"/>
                <a:cs typeface="Calibri" pitchFamily="34" charset="-120"/>
              </a:rPr>
              <a:t>A pend does not stop the clock.</a:t>
            </a:r>
            <a:endParaRPr lang="en-US" sz="1200" dirty="0"/>
          </a:p>
        </p:txBody>
      </p:sp>
      <p:sp>
        <p:nvSpPr>
          <p:cNvPr id="19" name="Intake"/>
          <p:cNvSpPr/>
          <p:nvPr/>
        </p:nvSpPr>
        <p:spPr>
          <a:xfrm>
            <a:off x="5303520" y="2011680"/>
            <a:ext cx="3200400" cy="868680"/>
          </a:xfrm>
          <a:prstGeom prst="roundRect">
            <a:avLst>
              <a:gd name="adj" fmla="val 8421"/>
            </a:avLst>
          </a:prstGeom>
          <a:solidFill>
            <a:srgbClr val="FFFFFF"/>
          </a:solidFill>
          <a:ln w="12700">
            <a:solidFill>
              <a:srgbClr val="CBD5D1"/>
            </a:solidFill>
          </a:ln>
        </p:spPr>
        <p:txBody>
          <a:bodyPr wrap="square" lIns="54864" tIns="914400" rIns="109728" bIns="54864" rtlCol="0" anchor="ctr"/>
          <a:lstStyle/>
          <a:p>
            <a:pPr algn="l" indent="0" marL="0">
              <a:buNone/>
            </a:pPr>
            <a:r>
              <a:rPr lang="en-US" sz="1400" b="1" dirty="0">
                <a:solidFill>
                  <a:srgbClr val="16211E"/>
                </a:solidFill>
                <a:latin typeface="Calibri" pitchFamily="34" charset="0"/>
                <a:ea typeface="Calibri" pitchFamily="34" charset="-122"/>
                <a:cs typeface="Calibri" pitchFamily="34" charset="-120"/>
              </a:rPr>
              <a:t>Intake</a:t>
            </a:r>
            <a:endParaRPr lang="en-US" sz="1400" dirty="0"/>
          </a:p>
          <a:p>
            <a:pPr algn="l" indent="0" marL="0">
              <a:buNone/>
            </a:pPr>
            <a:r>
              <a:rPr lang="en-US" sz="1150" dirty="0">
                <a:solidFill>
                  <a:srgbClr val="5C6B66"/>
                </a:solidFill>
                <a:latin typeface="Calibri" pitchFamily="34" charset="0"/>
                <a:ea typeface="Calibri" pitchFamily="34" charset="-122"/>
                <a:cs typeface="Calibri" pitchFamily="34" charset="-120"/>
              </a:rPr>
              <a:t>Checks member, form, and codes. Not a clinical check.</a:t>
            </a:r>
            <a:endParaRPr lang="en-US" sz="1400" dirty="0"/>
          </a:p>
        </p:txBody>
      </p:sp>
      <p:pic>
        <p:nvPicPr>
          <p:cNvPr id="20" name="AvIntake" descr="preencoded.png">    </p:cNvPr>
          <p:cNvPicPr>
            <a:picLocks noChangeAspect="1"/>
          </p:cNvPicPr>
          <p:nvPr/>
        </p:nvPicPr>
        <p:blipFill>
          <a:blip r:embed="rId4"/>
          <a:stretch>
            <a:fillRect/>
          </a:stretch>
        </p:blipFill>
        <p:spPr>
          <a:xfrm>
            <a:off x="5413248" y="2121408"/>
            <a:ext cx="649224" cy="649224"/>
          </a:xfrm>
          <a:prstGeom prst="rect">
            <a:avLst/>
          </a:prstGeom>
        </p:spPr>
      </p:pic>
      <p:sp>
        <p:nvSpPr>
          <p:cNvPr id="21" name="P2"/>
          <p:cNvSpPr/>
          <p:nvPr/>
        </p:nvSpPr>
        <p:spPr>
          <a:xfrm>
            <a:off x="7589520" y="2715768"/>
            <a:ext cx="868680" cy="329184"/>
          </a:xfrm>
          <a:prstGeom prst="roundRect">
            <a:avLst>
              <a:gd name="adj" fmla="val 16667"/>
            </a:avLst>
          </a:prstGeom>
          <a:solidFill>
            <a:srgbClr val="FFFFFF"/>
          </a:solidFill>
          <a:ln w="19050">
            <a:solidFill>
              <a:srgbClr val="B8452F"/>
            </a:solidFill>
          </a:ln>
        </p:spPr>
        <p:txBody>
          <a:bodyPr wrap="square" lIns="0" tIns="0" rIns="0" bIns="0" rtlCol="0" anchor="ctr"/>
          <a:lstStyle/>
          <a:p>
            <a:pPr algn="ctr" indent="0" marL="0">
              <a:buNone/>
            </a:pPr>
            <a:r>
              <a:rPr lang="en-US" sz="1100" b="1" dirty="0">
                <a:solidFill>
                  <a:srgbClr val="B8452F"/>
                </a:solidFill>
                <a:latin typeface="Calibri" pitchFamily="34" charset="0"/>
                <a:ea typeface="Calibri" pitchFamily="34" charset="-122"/>
                <a:cs typeface="Calibri" pitchFamily="34" charset="-120"/>
              </a:rPr>
              <a:t>14 pages</a:t>
            </a:r>
            <a:endParaRPr lang="en-US" sz="1100" dirty="0"/>
          </a:p>
        </p:txBody>
      </p:sp>
      <p:sp>
        <p:nvSpPr>
          <p:cNvPr id="22" name="P2b"/>
          <p:cNvSpPr/>
          <p:nvPr/>
        </p:nvSpPr>
        <p:spPr>
          <a:xfrm>
            <a:off x="7589520" y="2715768"/>
            <a:ext cx="868680" cy="329184"/>
          </a:xfrm>
          <a:prstGeom prst="roundRect">
            <a:avLst>
              <a:gd name="adj" fmla="val 16667"/>
            </a:avLst>
          </a:prstGeom>
          <a:solidFill>
            <a:srgbClr val="FFFFFF"/>
          </a:solidFill>
          <a:ln w="19050">
            <a:solidFill>
              <a:srgbClr val="B8452F"/>
            </a:solidFill>
          </a:ln>
        </p:spPr>
        <p:txBody>
          <a:bodyPr wrap="square" lIns="0" tIns="0" rIns="0" bIns="0" rtlCol="0" anchor="ctr"/>
          <a:lstStyle/>
          <a:p>
            <a:pPr algn="ctr" indent="0" marL="0">
              <a:buNone/>
            </a:pPr>
            <a:r>
              <a:rPr lang="en-US" sz="1100" b="1" dirty="0">
                <a:solidFill>
                  <a:srgbClr val="B8452F"/>
                </a:solidFill>
                <a:latin typeface="Calibri" pitchFamily="34" charset="0"/>
                <a:ea typeface="Calibri" pitchFamily="34" charset="-122"/>
                <a:cs typeface="Calibri" pitchFamily="34" charset="-120"/>
              </a:rPr>
              <a:t>14 pages</a:t>
            </a:r>
            <a:endParaRPr lang="en-US" sz="1100" dirty="0"/>
          </a:p>
        </p:txBody>
      </p:sp>
      <p:sp>
        <p:nvSpPr>
          <p:cNvPr id="23" name="T1"/>
          <p:cNvSpPr/>
          <p:nvPr/>
        </p:nvSpPr>
        <p:spPr>
          <a:xfrm>
            <a:off x="8686800" y="2011680"/>
            <a:ext cx="2834640" cy="868680"/>
          </a:xfrm>
          <a:prstGeom prst="roundRect">
            <a:avLst>
              <a:gd name="adj" fmla="val 8421"/>
            </a:avLst>
          </a:prstGeom>
          <a:solidFill>
            <a:srgbClr val="FBE9E4"/>
          </a:solidFill>
          <a:ln w="12700">
            <a:solidFill>
              <a:srgbClr val="B8452F"/>
            </a:solidFill>
          </a:ln>
        </p:spPr>
        <p:txBody>
          <a:bodyPr wrap="square" lIns="45720" tIns="109728" rIns="109728" bIns="45720" rtlCol="0" anchor="ctr"/>
          <a:lstStyle/>
          <a:p>
            <a:pPr algn="l" indent="0" marL="0">
              <a:buNone/>
            </a:pPr>
            <a:r>
              <a:rPr lang="en-US" sz="1200" b="1" dirty="0">
                <a:solidFill>
                  <a:srgbClr val="B8452F"/>
                </a:solidFill>
                <a:latin typeface="Calibri" pitchFamily="34" charset="0"/>
                <a:ea typeface="Calibri" pitchFamily="34" charset="-122"/>
                <a:cs typeface="Calibri" pitchFamily="34" charset="-120"/>
              </a:rPr>
              <a:t>Nobody has read the clinical pages yet.</a:t>
            </a:r>
            <a:endParaRPr lang="en-US" sz="1200" dirty="0"/>
          </a:p>
        </p:txBody>
      </p:sp>
      <p:sp>
        <p:nvSpPr>
          <p:cNvPr id="24" name="T5"/>
          <p:cNvSpPr/>
          <p:nvPr/>
        </p:nvSpPr>
        <p:spPr>
          <a:xfrm>
            <a:off x="8686800" y="2011680"/>
            <a:ext cx="2834640" cy="868680"/>
          </a:xfrm>
          <a:prstGeom prst="roundRect">
            <a:avLst>
              <a:gd name="adj" fmla="val 8421"/>
            </a:avLst>
          </a:prstGeom>
          <a:solidFill>
            <a:srgbClr val="FBE9E4"/>
          </a:solidFill>
          <a:ln w="12700">
            <a:solidFill>
              <a:srgbClr val="B8452F"/>
            </a:solidFill>
          </a:ln>
        </p:spPr>
        <p:txBody>
          <a:bodyPr wrap="square" lIns="45720" tIns="109728" rIns="109728" bIns="45720" rtlCol="0" anchor="ctr"/>
          <a:lstStyle/>
          <a:p>
            <a:pPr algn="l" indent="0" marL="0">
              <a:buNone/>
            </a:pPr>
            <a:r>
              <a:rPr lang="en-US" sz="1200" b="1" dirty="0">
                <a:solidFill>
                  <a:srgbClr val="B8452F"/>
                </a:solidFill>
                <a:latin typeface="Calibri" pitchFamily="34" charset="0"/>
                <a:ea typeface="Calibri" pitchFamily="34" charset="-122"/>
                <a:cs typeface="Calibri" pitchFamily="34" charset="-120"/>
              </a:rPr>
              <a:t>Back to the start of the line. Maybe a different nurse.</a:t>
            </a:r>
            <a:endParaRPr lang="en-US" sz="1200" dirty="0"/>
          </a:p>
        </p:txBody>
      </p:sp>
      <p:sp>
        <p:nvSpPr>
          <p:cNvPr id="25" name="Nurse"/>
          <p:cNvSpPr/>
          <p:nvPr/>
        </p:nvSpPr>
        <p:spPr>
          <a:xfrm>
            <a:off x="5303520" y="3154680"/>
            <a:ext cx="3200400" cy="868680"/>
          </a:xfrm>
          <a:prstGeom prst="roundRect">
            <a:avLst>
              <a:gd name="adj" fmla="val 8421"/>
            </a:avLst>
          </a:prstGeom>
          <a:solidFill>
            <a:srgbClr val="FFFFFF"/>
          </a:solidFill>
          <a:ln w="12700">
            <a:solidFill>
              <a:srgbClr val="CBD5D1"/>
            </a:solidFill>
          </a:ln>
        </p:spPr>
        <p:txBody>
          <a:bodyPr wrap="square" lIns="54864" tIns="914400" rIns="109728" bIns="54864" rtlCol="0" anchor="ctr"/>
          <a:lstStyle/>
          <a:p>
            <a:pPr algn="l" indent="0" marL="0">
              <a:buNone/>
            </a:pPr>
            <a:r>
              <a:rPr lang="en-US" sz="1400" b="1" dirty="0">
                <a:solidFill>
                  <a:srgbClr val="16211E"/>
                </a:solidFill>
                <a:latin typeface="Calibri" pitchFamily="34" charset="0"/>
                <a:ea typeface="Calibri" pitchFamily="34" charset="-122"/>
                <a:cs typeface="Calibri" pitchFamily="34" charset="-120"/>
              </a:rPr>
              <a:t>UM nurse</a:t>
            </a:r>
            <a:endParaRPr lang="en-US" sz="1400" dirty="0"/>
          </a:p>
          <a:p>
            <a:pPr algn="l" indent="0" marL="0">
              <a:buNone/>
            </a:pPr>
            <a:r>
              <a:rPr lang="en-US" sz="1150" dirty="0">
                <a:solidFill>
                  <a:srgbClr val="5C6B66"/>
                </a:solidFill>
                <a:latin typeface="Calibri" pitchFamily="34" charset="0"/>
                <a:ea typeface="Calibri" pitchFamily="34" charset="-122"/>
                <a:cs typeface="Calibri" pitchFamily="34" charset="-120"/>
              </a:rPr>
              <a:t>Reads all 14 pages and checks them against policy.</a:t>
            </a:r>
            <a:endParaRPr lang="en-US" sz="1400" dirty="0"/>
          </a:p>
        </p:txBody>
      </p:sp>
      <p:pic>
        <p:nvPicPr>
          <p:cNvPr id="26" name="AvNurse" descr="preencoded.png">    </p:cNvPr>
          <p:cNvPicPr>
            <a:picLocks noChangeAspect="1"/>
          </p:cNvPicPr>
          <p:nvPr/>
        </p:nvPicPr>
        <p:blipFill>
          <a:blip r:embed="rId5"/>
          <a:stretch>
            <a:fillRect/>
          </a:stretch>
        </p:blipFill>
        <p:spPr>
          <a:xfrm>
            <a:off x="5413248" y="3264408"/>
            <a:ext cx="649224" cy="649224"/>
          </a:xfrm>
          <a:prstGeom prst="rect">
            <a:avLst/>
          </a:prstGeom>
        </p:spPr>
      </p:pic>
      <p:sp>
        <p:nvSpPr>
          <p:cNvPr id="27" name="P3"/>
          <p:cNvSpPr/>
          <p:nvPr/>
        </p:nvSpPr>
        <p:spPr>
          <a:xfrm>
            <a:off x="7589520" y="2990088"/>
            <a:ext cx="868680" cy="329184"/>
          </a:xfrm>
          <a:prstGeom prst="roundRect">
            <a:avLst>
              <a:gd name="adj" fmla="val 16667"/>
            </a:avLst>
          </a:prstGeom>
          <a:solidFill>
            <a:srgbClr val="FFFFFF"/>
          </a:solidFill>
          <a:ln w="19050">
            <a:solidFill>
              <a:srgbClr val="B8452F"/>
            </a:solidFill>
          </a:ln>
        </p:spPr>
        <p:txBody>
          <a:bodyPr wrap="square" lIns="0" tIns="0" rIns="0" bIns="0" rtlCol="0" anchor="ctr"/>
          <a:lstStyle/>
          <a:p>
            <a:pPr algn="ctr" indent="0" marL="0">
              <a:buNone/>
            </a:pPr>
            <a:r>
              <a:rPr lang="en-US" sz="1100" b="1" dirty="0">
                <a:solidFill>
                  <a:srgbClr val="B8452F"/>
                </a:solidFill>
                <a:latin typeface="Calibri" pitchFamily="34" charset="0"/>
                <a:ea typeface="Calibri" pitchFamily="34" charset="-122"/>
                <a:cs typeface="Calibri" pitchFamily="34" charset="-120"/>
              </a:rPr>
              <a:t>14 pages</a:t>
            </a:r>
            <a:endParaRPr lang="en-US" sz="1100" dirty="0"/>
          </a:p>
        </p:txBody>
      </p:sp>
      <p:sp>
        <p:nvSpPr>
          <p:cNvPr id="28" name="T2"/>
          <p:cNvSpPr txBox="1"/>
          <p:nvPr/>
        </p:nvSpPr>
        <p:spPr>
          <a:xfrm>
            <a:off x="8686800" y="3108960"/>
            <a:ext cx="2834640" cy="256032"/>
          </a:xfrm>
          <a:prstGeom prst="rect">
            <a:avLst/>
          </a:prstGeom>
          <a:noFill/>
          <a:ln/>
        </p:spPr>
        <p:txBody>
          <a:bodyPr wrap="square" lIns="0" tIns="0" rIns="0" bIns="0" rtlCol="0" anchor="t"/>
          <a:lstStyle/>
          <a:p>
            <a:pPr algn="l" indent="0" marL="0">
              <a:buNone/>
            </a:pPr>
            <a:r>
              <a:rPr lang="en-US" sz="1200" b="1" dirty="0">
                <a:solidFill>
                  <a:srgbClr val="B8452F"/>
                </a:solidFill>
                <a:latin typeface="Calibri" pitchFamily="34" charset="0"/>
                <a:ea typeface="Calibri" pitchFamily="34" charset="-122"/>
                <a:cs typeface="Calibri" pitchFamily="34" charset="-120"/>
              </a:rPr>
              <a:t>4 facts hidden in 14 pages</a:t>
            </a:r>
            <a:endParaRPr lang="en-US" sz="1200" dirty="0"/>
          </a:p>
        </p:txBody>
      </p:sp>
      <p:sp>
        <p:nvSpPr>
          <p:cNvPr id="29" name="Chip1"/>
          <p:cNvSpPr/>
          <p:nvPr/>
        </p:nvSpPr>
        <p:spPr>
          <a:xfrm>
            <a:off x="8686800" y="3401568"/>
            <a:ext cx="1371600" cy="274320"/>
          </a:xfrm>
          <a:prstGeom prst="roundRect">
            <a:avLst>
              <a:gd name="adj" fmla="val 20000"/>
            </a:avLst>
          </a:prstGeom>
          <a:solidFill>
            <a:srgbClr val="FFFFFF"/>
          </a:solidFill>
          <a:ln w="12700">
            <a:solidFill>
              <a:srgbClr val="1F6F5C"/>
            </a:solidFill>
          </a:ln>
        </p:spPr>
        <p:txBody>
          <a:bodyPr wrap="square" lIns="0" tIns="36576" rIns="36576" bIns="0" rtlCol="0" anchor="ctr"/>
          <a:lstStyle/>
          <a:p>
            <a:pPr algn="ctr" indent="0" marL="0">
              <a:buNone/>
            </a:pPr>
            <a:r>
              <a:rPr lang="en-US" sz="1100" dirty="0">
                <a:solidFill>
                  <a:srgbClr val="16211E"/>
                </a:solidFill>
                <a:latin typeface="Calibri" pitchFamily="34" charset="0"/>
                <a:ea typeface="Calibri" pitchFamily="34" charset="-122"/>
                <a:cs typeface="Calibri" pitchFamily="34" charset="-120"/>
              </a:rPr>
              <a:t>Expected stay</a:t>
            </a:r>
            <a:endParaRPr lang="en-US" sz="1100" dirty="0"/>
          </a:p>
        </p:txBody>
      </p:sp>
      <p:sp>
        <p:nvSpPr>
          <p:cNvPr id="30" name="Chip2"/>
          <p:cNvSpPr/>
          <p:nvPr/>
        </p:nvSpPr>
        <p:spPr>
          <a:xfrm>
            <a:off x="10149840" y="3401568"/>
            <a:ext cx="1371600" cy="274320"/>
          </a:xfrm>
          <a:prstGeom prst="roundRect">
            <a:avLst>
              <a:gd name="adj" fmla="val 20000"/>
            </a:avLst>
          </a:prstGeom>
          <a:solidFill>
            <a:srgbClr val="FFFFFF"/>
          </a:solidFill>
          <a:ln w="12700">
            <a:solidFill>
              <a:srgbClr val="1F6F5C"/>
            </a:solidFill>
          </a:ln>
        </p:spPr>
        <p:txBody>
          <a:bodyPr wrap="square" lIns="0" tIns="36576" rIns="36576" bIns="0" rtlCol="0" anchor="ctr"/>
          <a:lstStyle/>
          <a:p>
            <a:pPr algn="ctr" indent="0" marL="0">
              <a:buNone/>
            </a:pPr>
            <a:r>
              <a:rPr lang="en-US" sz="1100" dirty="0">
                <a:solidFill>
                  <a:srgbClr val="16211E"/>
                </a:solidFill>
                <a:latin typeface="Calibri" pitchFamily="34" charset="0"/>
                <a:ea typeface="Calibri" pitchFamily="34" charset="-122"/>
                <a:cs typeface="Calibri" pitchFamily="34" charset="-120"/>
              </a:rPr>
              <a:t>Risk factors</a:t>
            </a:r>
            <a:endParaRPr lang="en-US" sz="1100" dirty="0"/>
          </a:p>
        </p:txBody>
      </p:sp>
      <p:sp>
        <p:nvSpPr>
          <p:cNvPr id="31" name="Chip3"/>
          <p:cNvSpPr/>
          <p:nvPr/>
        </p:nvSpPr>
        <p:spPr>
          <a:xfrm>
            <a:off x="8686800" y="3712464"/>
            <a:ext cx="1371600" cy="274320"/>
          </a:xfrm>
          <a:prstGeom prst="roundRect">
            <a:avLst>
              <a:gd name="adj" fmla="val 20000"/>
            </a:avLst>
          </a:prstGeom>
          <a:solidFill>
            <a:srgbClr val="FFFFFF"/>
          </a:solidFill>
          <a:ln w="12700">
            <a:solidFill>
              <a:srgbClr val="1F6F5C"/>
            </a:solidFill>
          </a:ln>
        </p:spPr>
        <p:txBody>
          <a:bodyPr wrap="square" lIns="0" tIns="36576" rIns="36576" bIns="0" rtlCol="0" anchor="ctr"/>
          <a:lstStyle/>
          <a:p>
            <a:pPr algn="ctr" indent="0" marL="0">
              <a:buNone/>
            </a:pPr>
            <a:r>
              <a:rPr lang="en-US" sz="1100" dirty="0">
                <a:solidFill>
                  <a:srgbClr val="16211E"/>
                </a:solidFill>
                <a:latin typeface="Calibri" pitchFamily="34" charset="0"/>
                <a:ea typeface="Calibri" pitchFamily="34" charset="-122"/>
                <a:cs typeface="Calibri" pitchFamily="34" charset="-120"/>
              </a:rPr>
              <a:t>Imaging</a:t>
            </a:r>
            <a:endParaRPr lang="en-US" sz="1100" dirty="0"/>
          </a:p>
        </p:txBody>
      </p:sp>
      <p:sp>
        <p:nvSpPr>
          <p:cNvPr id="32" name="Chip4"/>
          <p:cNvSpPr/>
          <p:nvPr/>
        </p:nvSpPr>
        <p:spPr>
          <a:xfrm>
            <a:off x="10149840" y="3712464"/>
            <a:ext cx="1371600" cy="274320"/>
          </a:xfrm>
          <a:prstGeom prst="roundRect">
            <a:avLst>
              <a:gd name="adj" fmla="val 20000"/>
            </a:avLst>
          </a:prstGeom>
          <a:solidFill>
            <a:srgbClr val="FFFFFF"/>
          </a:solidFill>
          <a:ln w="12700">
            <a:solidFill>
              <a:srgbClr val="1F6F5C"/>
            </a:solidFill>
          </a:ln>
        </p:spPr>
        <p:txBody>
          <a:bodyPr wrap="square" lIns="0" tIns="36576" rIns="36576" bIns="0" rtlCol="0" anchor="ctr"/>
          <a:lstStyle/>
          <a:p>
            <a:pPr algn="ctr" indent="0" marL="0">
              <a:buNone/>
            </a:pPr>
            <a:r>
              <a:rPr lang="en-US" sz="1100" dirty="0">
                <a:solidFill>
                  <a:srgbClr val="16211E"/>
                </a:solidFill>
                <a:latin typeface="Calibri" pitchFamily="34" charset="0"/>
                <a:ea typeface="Calibri" pitchFamily="34" charset="-122"/>
                <a:cs typeface="Calibri" pitchFamily="34" charset="-120"/>
              </a:rPr>
              <a:t>Conservative care</a:t>
            </a:r>
            <a:endParaRPr lang="en-US" sz="1100" dirty="0"/>
          </a:p>
        </p:txBody>
      </p:sp>
      <p:sp>
        <p:nvSpPr>
          <p:cNvPr id="33" name="OutPend"/>
          <p:cNvSpPr/>
          <p:nvPr/>
        </p:nvSpPr>
        <p:spPr>
          <a:xfrm>
            <a:off x="5303520" y="4343400"/>
            <a:ext cx="1920240" cy="640080"/>
          </a:xfrm>
          <a:prstGeom prst="roundRect">
            <a:avLst>
              <a:gd name="adj" fmla="val 11429"/>
            </a:avLst>
          </a:prstGeom>
          <a:solidFill>
            <a:srgbClr val="FCEFD0"/>
          </a:solidFill>
          <a:ln w="12700">
            <a:solidFill>
              <a:srgbClr val="8A5A00"/>
            </a:solidFill>
          </a:ln>
        </p:spPr>
        <p:txBody>
          <a:bodyPr wrap="square" lIns="36576" tIns="128016" rIns="109728" bIns="36576" rtlCol="0" anchor="ctr"/>
          <a:lstStyle/>
          <a:p>
            <a:pPr algn="l" indent="0" marL="0">
              <a:buNone/>
            </a:pPr>
            <a:r>
              <a:rPr lang="en-US" sz="1400" b="1" dirty="0">
                <a:solidFill>
                  <a:srgbClr val="8A5A00"/>
                </a:solidFill>
                <a:latin typeface="Calibri" pitchFamily="34" charset="0"/>
                <a:ea typeface="Calibri" pitchFamily="34" charset="-122"/>
                <a:cs typeface="Calibri" pitchFamily="34" charset="-120"/>
              </a:rPr>
              <a:t>Pend</a:t>
            </a:r>
            <a:endParaRPr lang="en-US" sz="1400" dirty="0"/>
          </a:p>
          <a:p>
            <a:pPr algn="l" indent="0" marL="0">
              <a:buNone/>
            </a:pPr>
            <a:r>
              <a:rPr lang="en-US" sz="1100" dirty="0">
                <a:solidFill>
                  <a:srgbClr val="8A5A00"/>
                </a:solidFill>
                <a:latin typeface="Calibri" pitchFamily="34" charset="0"/>
                <a:ea typeface="Calibri" pitchFamily="34" charset="-122"/>
                <a:cs typeface="Calibri" pitchFamily="34" charset="-120"/>
              </a:rPr>
              <a:t>Asks the provider</a:t>
            </a:r>
            <a:endParaRPr lang="en-US" sz="1400" dirty="0"/>
          </a:p>
        </p:txBody>
      </p:sp>
      <p:sp>
        <p:nvSpPr>
          <p:cNvPr id="34" name="OutApprove"/>
          <p:cNvSpPr/>
          <p:nvPr/>
        </p:nvSpPr>
        <p:spPr>
          <a:xfrm>
            <a:off x="7315200" y="4343400"/>
            <a:ext cx="1920240" cy="640080"/>
          </a:xfrm>
          <a:prstGeom prst="roundRect">
            <a:avLst>
              <a:gd name="adj" fmla="val 11429"/>
            </a:avLst>
          </a:prstGeom>
          <a:solidFill>
            <a:srgbClr val="DDF3E7"/>
          </a:solidFill>
          <a:ln w="12700">
            <a:solidFill>
              <a:srgbClr val="18764A"/>
            </a:solidFill>
          </a:ln>
        </p:spPr>
        <p:txBody>
          <a:bodyPr wrap="square" lIns="36576" tIns="128016" rIns="109728" bIns="36576" rtlCol="0" anchor="ctr"/>
          <a:lstStyle/>
          <a:p>
            <a:pPr algn="l" indent="0" marL="0">
              <a:buNone/>
            </a:pPr>
            <a:r>
              <a:rPr lang="en-US" sz="1400" b="1" dirty="0">
                <a:solidFill>
                  <a:srgbClr val="18764A"/>
                </a:solidFill>
                <a:latin typeface="Calibri" pitchFamily="34" charset="0"/>
                <a:ea typeface="Calibri" pitchFamily="34" charset="-122"/>
                <a:cs typeface="Calibri" pitchFamily="34" charset="-120"/>
              </a:rPr>
              <a:t>Approve</a:t>
            </a:r>
            <a:endParaRPr lang="en-US" sz="1400" dirty="0"/>
          </a:p>
          <a:p>
            <a:pPr algn="l" indent="0" marL="0">
              <a:buNone/>
            </a:pPr>
            <a:r>
              <a:rPr lang="en-US" sz="1100" dirty="0">
                <a:solidFill>
                  <a:srgbClr val="18764A"/>
                </a:solidFill>
                <a:latin typeface="Calibri" pitchFamily="34" charset="0"/>
                <a:ea typeface="Calibri" pitchFamily="34" charset="-122"/>
                <a:cs typeface="Calibri" pitchFamily="34" charset="-120"/>
              </a:rPr>
              <a:t>Packet is complete</a:t>
            </a:r>
            <a:endParaRPr lang="en-US" sz="1400" dirty="0"/>
          </a:p>
        </p:txBody>
      </p:sp>
      <p:sp>
        <p:nvSpPr>
          <p:cNvPr id="35" name="OutEsc"/>
          <p:cNvSpPr/>
          <p:nvPr/>
        </p:nvSpPr>
        <p:spPr>
          <a:xfrm>
            <a:off x="9372600" y="4343400"/>
            <a:ext cx="2103120" cy="640080"/>
          </a:xfrm>
          <a:prstGeom prst="roundRect">
            <a:avLst>
              <a:gd name="adj" fmla="val 11429"/>
            </a:avLst>
          </a:prstGeom>
          <a:solidFill>
            <a:srgbClr val="EBE2F8"/>
          </a:solidFill>
          <a:ln w="12700">
            <a:solidFill>
              <a:srgbClr val="5F3AA8"/>
            </a:solidFill>
          </a:ln>
        </p:spPr>
        <p:txBody>
          <a:bodyPr wrap="square" lIns="36576" tIns="128016" rIns="109728" bIns="36576" rtlCol="0" anchor="ctr"/>
          <a:lstStyle/>
          <a:p>
            <a:pPr algn="l" indent="0" marL="0">
              <a:buNone/>
            </a:pPr>
            <a:r>
              <a:rPr lang="en-US" sz="1400" b="1" dirty="0">
                <a:solidFill>
                  <a:srgbClr val="5F3AA8"/>
                </a:solidFill>
                <a:latin typeface="Calibri" pitchFamily="34" charset="0"/>
                <a:ea typeface="Calibri" pitchFamily="34" charset="-122"/>
                <a:cs typeface="Calibri" pitchFamily="34" charset="-120"/>
              </a:rPr>
              <a:t>Escalate</a:t>
            </a:r>
            <a:endParaRPr lang="en-US" sz="1400" dirty="0"/>
          </a:p>
          <a:p>
            <a:pPr algn="l" indent="0" marL="0">
              <a:buNone/>
            </a:pPr>
            <a:r>
              <a:rPr lang="en-US" sz="1100" dirty="0">
                <a:solidFill>
                  <a:srgbClr val="5F3AA8"/>
                </a:solidFill>
                <a:latin typeface="Calibri" pitchFamily="34" charset="0"/>
                <a:ea typeface="Calibri" pitchFamily="34" charset="-122"/>
                <a:cs typeface="Calibri" pitchFamily="34" charset="-120"/>
              </a:rPr>
              <a:t>Needs a physician</a:t>
            </a:r>
            <a:endParaRPr lang="en-US" sz="1400" dirty="0"/>
          </a:p>
        </p:txBody>
      </p:sp>
      <p:sp>
        <p:nvSpPr>
          <p:cNvPr id="36" name="RingPend"/>
          <p:cNvSpPr/>
          <p:nvPr/>
        </p:nvSpPr>
        <p:spPr>
          <a:xfrm>
            <a:off x="5248656" y="4288536"/>
            <a:ext cx="2029968" cy="749808"/>
          </a:xfrm>
          <a:prstGeom prst="roundRect">
            <a:avLst>
              <a:gd name="adj" fmla="val 12195"/>
            </a:avLst>
          </a:prstGeom>
          <a:ln w="38100">
            <a:solidFill>
              <a:srgbClr val="8A5A00"/>
            </a:solidFill>
            <a:prstDash val="solid"/>
          </a:ln>
        </p:spPr>
      </p:sp>
      <p:sp>
        <p:nvSpPr>
          <p:cNvPr id="37" name="RingApprove"/>
          <p:cNvSpPr/>
          <p:nvPr/>
        </p:nvSpPr>
        <p:spPr>
          <a:xfrm>
            <a:off x="7260336" y="4288536"/>
            <a:ext cx="2029968" cy="749808"/>
          </a:xfrm>
          <a:prstGeom prst="roundRect">
            <a:avLst>
              <a:gd name="adj" fmla="val 12195"/>
            </a:avLst>
          </a:prstGeom>
          <a:ln w="38100">
            <a:solidFill>
              <a:srgbClr val="18764A"/>
            </a:solidFill>
            <a:prstDash val="solid"/>
          </a:ln>
        </p:spPr>
      </p:sp>
      <p:sp>
        <p:nvSpPr>
          <p:cNvPr id="38" name="RingEsc"/>
          <p:cNvSpPr/>
          <p:nvPr/>
        </p:nvSpPr>
        <p:spPr>
          <a:xfrm>
            <a:off x="9317736" y="4288536"/>
            <a:ext cx="2212848" cy="749808"/>
          </a:xfrm>
          <a:prstGeom prst="roundRect">
            <a:avLst>
              <a:gd name="adj" fmla="val 12195"/>
            </a:avLst>
          </a:prstGeom>
          <a:ln w="38100">
            <a:solidFill>
              <a:srgbClr val="5F3AA8"/>
            </a:solidFill>
            <a:prstDash val="solid"/>
          </a:ln>
        </p:spPr>
      </p:sp>
      <p:sp>
        <p:nvSpPr>
          <p:cNvPr id="39" name="MD"/>
          <p:cNvSpPr/>
          <p:nvPr/>
        </p:nvSpPr>
        <p:spPr>
          <a:xfrm>
            <a:off x="8321040" y="5138928"/>
            <a:ext cx="3291840" cy="566928"/>
          </a:xfrm>
          <a:prstGeom prst="roundRect">
            <a:avLst>
              <a:gd name="adj" fmla="val 12903"/>
            </a:avLst>
          </a:prstGeom>
          <a:solidFill>
            <a:srgbClr val="EBE2F8"/>
          </a:solidFill>
          <a:ln w="12700">
            <a:solidFill>
              <a:srgbClr val="5F3AA8"/>
            </a:solidFill>
          </a:ln>
        </p:spPr>
        <p:txBody>
          <a:bodyPr wrap="square" lIns="27432" tIns="731520" rIns="91440" bIns="27432" rtlCol="0" anchor="ctr"/>
          <a:lstStyle/>
          <a:p>
            <a:pPr algn="l" indent="0" marL="0">
              <a:buNone/>
            </a:pPr>
            <a:r>
              <a:rPr lang="en-US" sz="1300" b="1" dirty="0">
                <a:solidFill>
                  <a:srgbClr val="5F3AA8"/>
                </a:solidFill>
                <a:latin typeface="Calibri" pitchFamily="34" charset="0"/>
                <a:ea typeface="Calibri" pitchFamily="34" charset="-122"/>
                <a:cs typeface="Calibri" pitchFamily="34" charset="-120"/>
              </a:rPr>
              <a:t>Medical director</a:t>
            </a:r>
            <a:endParaRPr lang="en-US" sz="1300" dirty="0"/>
          </a:p>
          <a:p>
            <a:pPr algn="l" indent="0" marL="0">
              <a:buNone/>
            </a:pPr>
            <a:r>
              <a:rPr lang="en-US" sz="1050" dirty="0">
                <a:solidFill>
                  <a:srgbClr val="5C6B66"/>
                </a:solidFill>
                <a:latin typeface="Calibri" pitchFamily="34" charset="0"/>
                <a:ea typeface="Calibri" pitchFamily="34" charset="-122"/>
                <a:cs typeface="Calibri" pitchFamily="34" charset="-120"/>
              </a:rPr>
              <a:t>Decides. Only role that can deny.</a:t>
            </a:r>
            <a:endParaRPr lang="en-US" sz="1300" dirty="0"/>
          </a:p>
        </p:txBody>
      </p:sp>
      <p:pic>
        <p:nvPicPr>
          <p:cNvPr id="40" name="AvMD" descr="preencoded.png">    </p:cNvPr>
          <p:cNvPicPr>
            <a:picLocks noChangeAspect="1"/>
          </p:cNvPicPr>
          <p:nvPr/>
        </p:nvPicPr>
        <p:blipFill>
          <a:blip r:embed="rId6"/>
          <a:stretch>
            <a:fillRect/>
          </a:stretch>
        </p:blipFill>
        <p:spPr>
          <a:xfrm>
            <a:off x="8394192" y="5184648"/>
            <a:ext cx="475488" cy="475488"/>
          </a:xfrm>
          <a:prstGeom prst="rect">
            <a:avLst/>
          </a:prstGeom>
        </p:spPr>
      </p:pic>
      <p:sp>
        <p:nvSpPr>
          <p:cNvPr id="41" name="T4"/>
          <p:cNvSpPr/>
          <p:nvPr/>
        </p:nvSpPr>
        <p:spPr>
          <a:xfrm>
            <a:off x="5303520" y="5138928"/>
            <a:ext cx="2834640" cy="566928"/>
          </a:xfrm>
          <a:prstGeom prst="roundRect">
            <a:avLst>
              <a:gd name="adj" fmla="val 12903"/>
            </a:avLst>
          </a:prstGeom>
          <a:solidFill>
            <a:srgbClr val="FBE9E4"/>
          </a:solidFill>
          <a:ln w="12700">
            <a:solidFill>
              <a:srgbClr val="B8452F"/>
            </a:solidFill>
          </a:ln>
        </p:spPr>
        <p:txBody>
          <a:bodyPr wrap="square" lIns="45720" tIns="109728" rIns="109728" bIns="45720" rtlCol="0" anchor="ctr"/>
          <a:lstStyle/>
          <a:p>
            <a:pPr algn="l" indent="0" marL="0">
              <a:buNone/>
            </a:pPr>
            <a:r>
              <a:rPr lang="en-US" sz="1200" b="1" dirty="0">
                <a:solidFill>
                  <a:srgbClr val="B8452F"/>
                </a:solidFill>
                <a:latin typeface="Calibri" pitchFamily="34" charset="0"/>
                <a:ea typeface="Calibri" pitchFamily="34" charset="-122"/>
                <a:cs typeface="Calibri" pitchFamily="34" charset="-120"/>
              </a:rPr>
              <a:t>A denial can be appealed, and many are overturned.</a:t>
            </a:r>
            <a:endParaRPr lang="en-US" sz="1200" dirty="0"/>
          </a:p>
        </p:txBody>
      </p:sp>
      <p:sp>
        <p:nvSpPr>
          <p:cNvPr id="42" name="ArrFax"/>
          <p:cNvSpPr/>
          <p:nvPr/>
        </p:nvSpPr>
        <p:spPr>
          <a:xfrm>
            <a:off x="4297680" y="2446020"/>
            <a:ext cx="1005840" cy="0"/>
          </a:xfrm>
          <a:prstGeom prst="line">
            <a:avLst/>
          </a:prstGeom>
          <a:noFill/>
          <a:ln w="25400">
            <a:solidFill>
              <a:srgbClr val="B8452F"/>
            </a:solidFill>
            <a:prstDash val="dash"/>
            <a:tailEnd type="triangle"/>
          </a:ln>
        </p:spPr>
      </p:sp>
      <p:pic>
        <p:nvPicPr>
          <p:cNvPr id="43" name="IcFax" descr="preencoded.png">    </p:cNvPr>
          <p:cNvPicPr>
            <a:picLocks noChangeAspect="1"/>
          </p:cNvPicPr>
          <p:nvPr/>
        </p:nvPicPr>
        <p:blipFill>
          <a:blip r:embed="rId7"/>
          <a:stretch>
            <a:fillRect/>
          </a:stretch>
        </p:blipFill>
        <p:spPr>
          <a:xfrm>
            <a:off x="4553712" y="1901952"/>
            <a:ext cx="493776" cy="493776"/>
          </a:xfrm>
          <a:prstGeom prst="rect">
            <a:avLst/>
          </a:prstGeom>
        </p:spPr>
      </p:pic>
      <p:sp>
        <p:nvSpPr>
          <p:cNvPr id="44" name="LblFax"/>
          <p:cNvSpPr txBox="1"/>
          <p:nvPr/>
        </p:nvSpPr>
        <p:spPr>
          <a:xfrm>
            <a:off x="4315968" y="2487168"/>
            <a:ext cx="969264" cy="228600"/>
          </a:xfrm>
          <a:prstGeom prst="rect">
            <a:avLst/>
          </a:prstGeom>
          <a:noFill/>
          <a:ln/>
        </p:spPr>
        <p:txBody>
          <a:bodyPr wrap="square" lIns="0" tIns="0" rIns="0" bIns="0" rtlCol="0" anchor="t"/>
          <a:lstStyle/>
          <a:p>
            <a:pPr algn="ctr" indent="0" marL="0">
              <a:buNone/>
            </a:pPr>
            <a:r>
              <a:rPr lang="en-US" sz="1100" b="1" spc="300" kern="0" dirty="0">
                <a:solidFill>
                  <a:srgbClr val="B8452F"/>
                </a:solidFill>
                <a:latin typeface="Calibri" pitchFamily="34" charset="0"/>
                <a:ea typeface="Calibri" pitchFamily="34" charset="-122"/>
                <a:cs typeface="Calibri" pitchFamily="34" charset="-120"/>
              </a:rPr>
              <a:t>FAX</a:t>
            </a:r>
            <a:endParaRPr lang="en-US" sz="1100" dirty="0"/>
          </a:p>
        </p:txBody>
      </p:sp>
      <p:sp>
        <p:nvSpPr>
          <p:cNvPr id="45" name="ArrIn"/>
          <p:cNvSpPr/>
          <p:nvPr/>
        </p:nvSpPr>
        <p:spPr>
          <a:xfrm>
            <a:off x="6903720" y="2880360"/>
            <a:ext cx="0" cy="274320"/>
          </a:xfrm>
          <a:prstGeom prst="line">
            <a:avLst/>
          </a:prstGeom>
          <a:noFill/>
          <a:ln w="25400">
            <a:solidFill>
              <a:srgbClr val="5C6B66"/>
            </a:solidFill>
            <a:prstDash val="solid"/>
            <a:tailEnd type="triangle"/>
          </a:ln>
        </p:spPr>
      </p:sp>
      <p:sp>
        <p:nvSpPr>
          <p:cNvPr id="46" name="ForkStub"/>
          <p:cNvSpPr/>
          <p:nvPr/>
        </p:nvSpPr>
        <p:spPr>
          <a:xfrm>
            <a:off x="6903720" y="4023360"/>
            <a:ext cx="0" cy="137160"/>
          </a:xfrm>
          <a:prstGeom prst="line">
            <a:avLst/>
          </a:prstGeom>
          <a:noFill/>
          <a:ln w="25400">
            <a:solidFill>
              <a:srgbClr val="5C6B66"/>
            </a:solidFill>
            <a:prstDash val="solid"/>
          </a:ln>
        </p:spPr>
      </p:sp>
      <p:sp>
        <p:nvSpPr>
          <p:cNvPr id="47" name="ForkBar"/>
          <p:cNvSpPr/>
          <p:nvPr/>
        </p:nvSpPr>
        <p:spPr>
          <a:xfrm>
            <a:off x="6263640" y="4160520"/>
            <a:ext cx="4160520" cy="0"/>
          </a:xfrm>
          <a:prstGeom prst="line">
            <a:avLst/>
          </a:prstGeom>
          <a:noFill/>
          <a:ln w="25400">
            <a:solidFill>
              <a:srgbClr val="5C6B66"/>
            </a:solidFill>
            <a:prstDash val="solid"/>
          </a:ln>
        </p:spPr>
      </p:sp>
      <p:sp>
        <p:nvSpPr>
          <p:cNvPr id="48" name="DropPend"/>
          <p:cNvSpPr/>
          <p:nvPr/>
        </p:nvSpPr>
        <p:spPr>
          <a:xfrm>
            <a:off x="6263640" y="4160520"/>
            <a:ext cx="0" cy="182880"/>
          </a:xfrm>
          <a:prstGeom prst="line">
            <a:avLst/>
          </a:prstGeom>
          <a:noFill/>
          <a:ln w="25400">
            <a:solidFill>
              <a:srgbClr val="5C6B66"/>
            </a:solidFill>
            <a:prstDash val="solid"/>
            <a:tailEnd type="triangle"/>
          </a:ln>
        </p:spPr>
      </p:sp>
      <p:sp>
        <p:nvSpPr>
          <p:cNvPr id="49" name="DropApprove"/>
          <p:cNvSpPr/>
          <p:nvPr/>
        </p:nvSpPr>
        <p:spPr>
          <a:xfrm>
            <a:off x="8275320" y="4160520"/>
            <a:ext cx="0" cy="182880"/>
          </a:xfrm>
          <a:prstGeom prst="line">
            <a:avLst/>
          </a:prstGeom>
          <a:noFill/>
          <a:ln w="25400">
            <a:solidFill>
              <a:srgbClr val="5C6B66"/>
            </a:solidFill>
            <a:prstDash val="solid"/>
            <a:tailEnd type="triangle"/>
          </a:ln>
        </p:spPr>
      </p:sp>
      <p:sp>
        <p:nvSpPr>
          <p:cNvPr id="50" name="DropEsc"/>
          <p:cNvSpPr/>
          <p:nvPr/>
        </p:nvSpPr>
        <p:spPr>
          <a:xfrm>
            <a:off x="10424160" y="4160520"/>
            <a:ext cx="0" cy="182880"/>
          </a:xfrm>
          <a:prstGeom prst="line">
            <a:avLst/>
          </a:prstGeom>
          <a:noFill/>
          <a:ln w="25400">
            <a:solidFill>
              <a:srgbClr val="5C6B66"/>
            </a:solidFill>
            <a:prstDash val="solid"/>
            <a:tailEnd type="triangle"/>
          </a:ln>
        </p:spPr>
      </p:sp>
      <p:sp>
        <p:nvSpPr>
          <p:cNvPr id="51" name="ArrPend"/>
          <p:cNvSpPr/>
          <p:nvPr/>
        </p:nvSpPr>
        <p:spPr>
          <a:xfrm flipH="1">
            <a:off x="4297680" y="4663440"/>
            <a:ext cx="1005840" cy="0"/>
          </a:xfrm>
          <a:prstGeom prst="line">
            <a:avLst/>
          </a:prstGeom>
          <a:noFill/>
          <a:ln w="25400">
            <a:solidFill>
              <a:srgbClr val="8A5A00"/>
            </a:solidFill>
            <a:prstDash val="solid"/>
            <a:tailEnd type="triangle"/>
          </a:ln>
        </p:spPr>
      </p:sp>
      <p:sp>
        <p:nvSpPr>
          <p:cNvPr id="52" name="ArrMD"/>
          <p:cNvSpPr/>
          <p:nvPr/>
        </p:nvSpPr>
        <p:spPr>
          <a:xfrm>
            <a:off x="10424160" y="4983480"/>
            <a:ext cx="0" cy="155448"/>
          </a:xfrm>
          <a:prstGeom prst="line">
            <a:avLst/>
          </a:prstGeom>
          <a:noFill/>
          <a:ln w="25400">
            <a:solidFill>
              <a:srgbClr val="5F3AA8"/>
            </a:solidFill>
            <a:prstDash val="solid"/>
            <a:tailEnd type="triangle"/>
          </a:ln>
        </p:spPr>
      </p:sp>
      <p:sp>
        <p:nvSpPr>
          <p:cNvPr id="53" name="ResA"/>
          <p:cNvSpPr/>
          <p:nvPr/>
        </p:nvSpPr>
        <p:spPr>
          <a:xfrm>
            <a:off x="603504" y="4663440"/>
            <a:ext cx="173736" cy="0"/>
          </a:xfrm>
          <a:prstGeom prst="line">
            <a:avLst/>
          </a:prstGeom>
          <a:noFill/>
          <a:ln w="25400">
            <a:solidFill>
              <a:srgbClr val="B8452F"/>
            </a:solidFill>
            <a:prstDash val="solid"/>
          </a:ln>
        </p:spPr>
      </p:sp>
      <p:sp>
        <p:nvSpPr>
          <p:cNvPr id="54" name="ResB"/>
          <p:cNvSpPr/>
          <p:nvPr/>
        </p:nvSpPr>
        <p:spPr>
          <a:xfrm>
            <a:off x="603504" y="2446020"/>
            <a:ext cx="0" cy="2217420"/>
          </a:xfrm>
          <a:prstGeom prst="line">
            <a:avLst/>
          </a:prstGeom>
          <a:noFill/>
          <a:ln w="25400">
            <a:solidFill>
              <a:srgbClr val="B8452F"/>
            </a:solidFill>
            <a:prstDash val="solid"/>
          </a:ln>
        </p:spPr>
      </p:sp>
      <p:sp>
        <p:nvSpPr>
          <p:cNvPr id="55" name="ResC"/>
          <p:cNvSpPr/>
          <p:nvPr/>
        </p:nvSpPr>
        <p:spPr>
          <a:xfrm>
            <a:off x="603504" y="2446020"/>
            <a:ext cx="173736" cy="0"/>
          </a:xfrm>
          <a:prstGeom prst="line">
            <a:avLst/>
          </a:prstGeom>
          <a:noFill/>
          <a:ln w="25400">
            <a:solidFill>
              <a:srgbClr val="B8452F"/>
            </a:solidFill>
            <a:prstDash val="solid"/>
            <a:tailEnd type="triangle"/>
          </a:ln>
        </p:spPr>
      </p:sp>
      <p:sp>
        <p:nvSpPr>
          <p:cNvPr id="56" name="LabelA"/>
          <p:cNvSpPr txBox="1"/>
          <p:nvPr/>
        </p:nvSpPr>
        <p:spPr>
          <a:xfrm>
            <a:off x="6675120" y="457200"/>
            <a:ext cx="5056632" cy="548640"/>
          </a:xfrm>
          <a:prstGeom prst="rect">
            <a:avLst/>
          </a:prstGeom>
          <a:noFill/>
          <a:ln/>
        </p:spPr>
        <p:txBody>
          <a:bodyPr wrap="square" lIns="0" tIns="0" rIns="0" bIns="0" rtlCol="0" anchor="ctr"/>
          <a:lstStyle/>
          <a:p>
            <a:pPr algn="r" indent="0" marL="0">
              <a:buNone/>
            </a:pPr>
            <a:r>
              <a:rPr lang="en-US" sz="1600" b="1" spc="100" kern="0" dirty="0">
                <a:solidFill>
                  <a:srgbClr val="18764A"/>
                </a:solidFill>
                <a:latin typeface="Calibri" pitchFamily="34" charset="0"/>
                <a:ea typeface="Calibri" pitchFamily="34" charset="-122"/>
                <a:cs typeface="Calibri" pitchFamily="34" charset="-120"/>
              </a:rPr>
              <a:t>PATH 1  ·  A COMPLETE PACKET</a:t>
            </a:r>
            <a:endParaRPr lang="en-US" sz="1600" dirty="0"/>
          </a:p>
        </p:txBody>
      </p:sp>
      <p:sp>
        <p:nvSpPr>
          <p:cNvPr id="57" name="LabelB"/>
          <p:cNvSpPr txBox="1"/>
          <p:nvPr/>
        </p:nvSpPr>
        <p:spPr>
          <a:xfrm>
            <a:off x="6675120" y="457200"/>
            <a:ext cx="5056632" cy="548640"/>
          </a:xfrm>
          <a:prstGeom prst="rect">
            <a:avLst/>
          </a:prstGeom>
          <a:noFill/>
          <a:ln/>
        </p:spPr>
        <p:txBody>
          <a:bodyPr wrap="square" lIns="0" tIns="0" rIns="0" bIns="0" rtlCol="0" anchor="ctr"/>
          <a:lstStyle/>
          <a:p>
            <a:pPr algn="r" indent="0" marL="0">
              <a:buNone/>
            </a:pPr>
            <a:r>
              <a:rPr lang="en-US" sz="1600" b="1" spc="100" kern="0" dirty="0">
                <a:solidFill>
                  <a:srgbClr val="8A5A00"/>
                </a:solidFill>
                <a:latin typeface="Calibri" pitchFamily="34" charset="0"/>
                <a:ea typeface="Calibri" pitchFamily="34" charset="-122"/>
                <a:cs typeface="Calibri" pitchFamily="34" charset="-120"/>
              </a:rPr>
              <a:t>PATH 2  ·  SOMETHING IS MISSING</a:t>
            </a:r>
            <a:endParaRPr lang="en-US" sz="1600" dirty="0"/>
          </a:p>
        </p:txBody>
      </p:sp>
      <p:sp>
        <p:nvSpPr>
          <p:cNvPr id="58" name="LabelC"/>
          <p:cNvSpPr txBox="1"/>
          <p:nvPr/>
        </p:nvSpPr>
        <p:spPr>
          <a:xfrm>
            <a:off x="6675120" y="457200"/>
            <a:ext cx="5056632" cy="548640"/>
          </a:xfrm>
          <a:prstGeom prst="rect">
            <a:avLst/>
          </a:prstGeom>
          <a:noFill/>
          <a:ln/>
        </p:spPr>
        <p:txBody>
          <a:bodyPr wrap="square" lIns="0" tIns="0" rIns="0" bIns="0" rtlCol="0" anchor="ctr"/>
          <a:lstStyle/>
          <a:p>
            <a:pPr algn="r" indent="0" marL="0">
              <a:buNone/>
            </a:pPr>
            <a:r>
              <a:rPr lang="en-US" sz="1600" b="1" spc="100" kern="0" dirty="0">
                <a:solidFill>
                  <a:srgbClr val="5F3AA8"/>
                </a:solidFill>
                <a:latin typeface="Calibri" pitchFamily="34" charset="0"/>
                <a:ea typeface="Calibri" pitchFamily="34" charset="-122"/>
                <a:cs typeface="Calibri" pitchFamily="34" charset="-120"/>
              </a:rPr>
              <a:t>PATH 3  ·  NEEDS A PHYSICIAN</a:t>
            </a:r>
            <a:endParaRPr lang="en-US" sz="1600" dirty="0"/>
          </a:p>
        </p:txBody>
      </p:sp>
      <p:sp>
        <p:nvSpPr>
          <p:cNvPr id="59" name="c1"/>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A surgeon decides a patient needs a lumbar fusion. The office assembles a packet of clinical documents.</a:t>
            </a:r>
            <a:endParaRPr lang="en-US" sz="1800" dirty="0"/>
          </a:p>
        </p:txBody>
      </p:sp>
      <p:sp>
        <p:nvSpPr>
          <p:cNvPr id="60" name="c2"/>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The packet is faxed to the plan. Fourteen pages.</a:t>
            </a:r>
            <a:endParaRPr lang="en-US" sz="1800" dirty="0"/>
          </a:p>
        </p:txBody>
      </p:sp>
      <p:sp>
        <p:nvSpPr>
          <p:cNvPr id="61" name="c3"/>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Intake checks the member, the form, and the codes. That is a paperwork check, not a clinical one.</a:t>
            </a:r>
            <a:endParaRPr lang="en-US" sz="1800" dirty="0"/>
          </a:p>
        </p:txBody>
      </p:sp>
      <p:sp>
        <p:nvSpPr>
          <p:cNvPr id="62" name="c4"/>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A UM nurse picks it up and reads all fourteen pages.</a:t>
            </a:r>
            <a:endParaRPr lang="en-US" sz="1800" dirty="0"/>
          </a:p>
        </p:txBody>
      </p:sp>
      <p:sp>
        <p:nvSpPr>
          <p:cNvPr id="63" name="c5"/>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She hunts for four facts and checks each one against policy.</a:t>
            </a:r>
            <a:endParaRPr lang="en-US" sz="1800" dirty="0"/>
          </a:p>
        </p:txBody>
      </p:sp>
      <p:sp>
        <p:nvSpPr>
          <p:cNvPr id="64" name="c6"/>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Then there are three ways out.</a:t>
            </a:r>
            <a:endParaRPr lang="en-US" sz="1800" dirty="0"/>
          </a:p>
        </p:txBody>
      </p:sp>
      <p:sp>
        <p:nvSpPr>
          <p:cNvPr id="65" name="c7"/>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Path 1. Every fact is there and every criterion is met. She approves.</a:t>
            </a:r>
            <a:endParaRPr lang="en-US" sz="1800" dirty="0"/>
          </a:p>
        </p:txBody>
      </p:sp>
      <p:sp>
        <p:nvSpPr>
          <p:cNvPr id="66" name="c8"/>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Path 2. A fact is missing. She pends the case and sends it back to the provider.</a:t>
            </a:r>
            <a:endParaRPr lang="en-US" sz="1800" dirty="0"/>
          </a:p>
        </p:txBody>
      </p:sp>
      <p:sp>
        <p:nvSpPr>
          <p:cNvPr id="67" name="c9"/>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The provider has to work out what is missing.</a:t>
            </a:r>
            <a:endParaRPr lang="en-US" sz="1800" dirty="0"/>
          </a:p>
        </p:txBody>
      </p:sp>
      <p:sp>
        <p:nvSpPr>
          <p:cNvPr id="68" name="c9b"/>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They find it and resend the packet. It goes through the fax all over again.</a:t>
            </a:r>
            <a:endParaRPr lang="en-US" sz="1800" dirty="0"/>
          </a:p>
        </p:txBody>
      </p:sp>
      <p:sp>
        <p:nvSpPr>
          <p:cNvPr id="69" name="c9c"/>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Back at intake, the case starts from zero. The clock never stopped.</a:t>
            </a:r>
            <a:endParaRPr lang="en-US" sz="1800" dirty="0"/>
          </a:p>
        </p:txBody>
      </p:sp>
      <p:sp>
        <p:nvSpPr>
          <p:cNvPr id="70" name="c10"/>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Path 3. The facts are there but the case is borderline. It goes to a medical director.</a:t>
            </a:r>
            <a:endParaRPr lang="en-US" sz="1800" dirty="0"/>
          </a:p>
        </p:txBody>
      </p:sp>
      <p:sp>
        <p:nvSpPr>
          <p:cNvPr id="71" name="c11"/>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Only the medical director can deny. A denial can be appealed, and many are overturned.</a:t>
            </a:r>
            <a:endParaRPr lang="en-US" sz="1800" dirty="0"/>
          </a:p>
        </p:txBody>
      </p:sp>
      <p:sp>
        <p:nvSpPr>
          <p:cNvPr id="72" name="c12"/>
          <p:cNvSpPr txBox="1"/>
          <p:nvPr/>
        </p:nvSpPr>
        <p:spPr>
          <a:xfrm>
            <a:off x="457200" y="5943600"/>
            <a:ext cx="11274552" cy="594360"/>
          </a:xfrm>
          <a:prstGeom prst="rect">
            <a:avLst/>
          </a:prstGeom>
          <a:noFill/>
          <a:ln/>
        </p:spPr>
        <p:txBody>
          <a:bodyPr wrap="square" lIns="0" tIns="0" rIns="0" bIns="0" rtlCol="0" anchor="ctr"/>
          <a:lstStyle/>
          <a:p>
            <a:pPr algn="l" indent="0" marL="0">
              <a:buNone/>
            </a:pPr>
            <a:r>
              <a:rPr lang="en-US" sz="1800" dirty="0">
                <a:solidFill>
                  <a:srgbClr val="16211E"/>
                </a:solidFill>
                <a:latin typeface="Calibri" pitchFamily="34" charset="0"/>
                <a:ea typeface="Calibri" pitchFamily="34" charset="-122"/>
                <a:cs typeface="Calibri" pitchFamily="34" charset="-120"/>
              </a:rPr>
              <a:t>Every step is somebody doing their job correctly. The delay is built into the process.</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9"/>
                                        </p:tgtEl>
                                        <p:attrNameLst>
                                          <p:attrName>style.visibility</p:attrName>
                                        </p:attrNameLst>
                                      </p:cBhvr>
                                      <p:to>
                                        <p:strVal val="visible"/>
                                      </p:to>
                                    </p:set>
                                    <p:animEffect transition="in" filter="fade">
                                      <p:cBhvr>
                                        <p:cTn id="6" dur="500"/>
                                        <p:tgtEl>
                                          <p:spTgt spid="9"/>
                                        </p:tgtEl>
                                      </p:cBhvr>
                                    </p:animEffect>
                                  </p:childTnLst>
                                </p:cTn>
                              </p:par>
                              <p:par>
                                <p:cTn id="10" presetID="10"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animEffect transition="in" filter="fade">
                                      <p:cBhvr>
                                        <p:cTn id="9" dur="500"/>
                                        <p:tgtEl>
                                          <p:spTgt spid="10"/>
                                        </p:tgtEl>
                                      </p:cBhvr>
                                    </p:animEffect>
                                  </p:childTnLst>
                                </p:cTn>
                              </p:par>
                              <p:par>
                                <p:cTn id="13" presetID="10" presetClass="entr" presetSubtype="0" fill="hold" grpId="0" nodeType="withEffect">
                                  <p:stCondLst>
                                    <p:cond delay="20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par>
                                <p:cTn id="16" presetID="10" presetClass="entr" presetSubtype="0" fill="hold" nodeType="withEffect">
                                  <p:stCondLst>
                                    <p:cond delay="20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9" presetID="10" presetClass="entr" presetSubtype="0" fill="hold" grpId="0" nodeType="withEffect">
                                  <p:stCondLst>
                                    <p:cond delay="60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22" presetID="10" presetClass="entr" presetSubtype="0" fill="hold" grpId="0" nodeType="withEffect">
                                  <p:stCondLst>
                                    <p:cond delay="300"/>
                                  </p:stCondLst>
                                  <p:childTnLst>
                                    <p:set>
                                      <p:cBhvr>
                                        <p:cTn id="20" dur="1" fill="hold">
                                          <p:stCondLst>
                                            <p:cond delay="0"/>
                                          </p:stCondLst>
                                        </p:cTn>
                                        <p:tgtEl>
                                          <p:spTgt spid="59"/>
                                        </p:tgtEl>
                                        <p:attrNameLst>
                                          <p:attrName>style.visibility</p:attrName>
                                        </p:attrNameLst>
                                      </p:cBhvr>
                                      <p:to>
                                        <p:strVal val="visible"/>
                                      </p:to>
                                    </p:set>
                                    <p:animEffect transition="in" filter="fade">
                                      <p:cBhvr>
                                        <p:cTn id="21" dur="500"/>
                                        <p:tgtEl>
                                          <p:spTgt spid="59"/>
                                        </p:tgtEl>
                                      </p:cBhvr>
                                    </p:animEffect>
                                  </p:childTnLst>
                                </p:cTn>
                              </p:par>
                            </p:childTnLst>
                          </p:cTn>
                        </p:par>
                        <p:par>
                          <p:cTn id="23" fill="hold">
                            <p:stCondLst>
                              <p:cond delay="1100"/>
                            </p:stCondLst>
                            <p:childTnLst>
                              <p:par>
                                <p:cTn id="26" presetID="10" presetClass="exit" presetSubtype="0" fill="hold" grpId="0" nodeType="afterEffect">
                                  <p:stCondLst>
                                    <p:cond delay="3500"/>
                                  </p:stCondLst>
                                  <p:childTnLst>
                                    <p:animEffect transition="out" filter="fade">
                                      <p:cBhvr>
                                        <p:cTn id="24" dur="300"/>
                                        <p:tgtEl>
                                          <p:spTgt spid="59"/>
                                        </p:tgtEl>
                                      </p:cBhvr>
                                    </p:animEffect>
                                    <p:set>
                                      <p:cBhvr>
                                        <p:cTn id="25" dur="1" fill="hold">
                                          <p:stCondLst>
                                            <p:cond delay="299"/>
                                          </p:stCondLst>
                                        </p:cTn>
                                        <p:tgtEl>
                                          <p:spTgt spid="59"/>
                                        </p:tgtEl>
                                        <p:attrNameLst>
                                          <p:attrName>style.visibility</p:attrName>
                                        </p:attrNameLst>
                                      </p:cBhvr>
                                      <p:to>
                                        <p:strVal val="hidden"/>
                                      </p:to>
                                    </p:set>
                                  </p:childTnLst>
                                </p:cTn>
                              </p:par>
                              <p:par>
                                <p:cTn id="29" presetID="10" presetClass="entr" presetSubtype="0" fill="hold" nodeType="withEffect">
                                  <p:stCondLst>
                                    <p:cond delay="3800"/>
                                  </p:stCondLst>
                                  <p:childTnLst>
                                    <p:set>
                                      <p:cBhvr>
                                        <p:cTn id="27" dur="1" fill="hold">
                                          <p:stCondLst>
                                            <p:cond delay="0"/>
                                          </p:stCondLst>
                                        </p:cTn>
                                        <p:tgtEl>
                                          <p:spTgt spid="43"/>
                                        </p:tgtEl>
                                        <p:attrNameLst>
                                          <p:attrName>style.visibility</p:attrName>
                                        </p:attrNameLst>
                                      </p:cBhvr>
                                      <p:to>
                                        <p:strVal val="visible"/>
                                      </p:to>
                                    </p:set>
                                    <p:animEffect transition="in" filter="fade">
                                      <p:cBhvr>
                                        <p:cTn id="28" dur="500"/>
                                        <p:tgtEl>
                                          <p:spTgt spid="43"/>
                                        </p:tgtEl>
                                      </p:cBhvr>
                                    </p:animEffect>
                                  </p:childTnLst>
                                </p:cTn>
                              </p:par>
                              <p:par>
                                <p:cTn id="32" presetID="22" presetClass="entr" presetSubtype="8" fill="hold" nodeType="withEffect">
                                  <p:stCondLst>
                                    <p:cond delay="3800"/>
                                  </p:stCondLst>
                                  <p:childTnLst>
                                    <p:set>
                                      <p:cBhvr>
                                        <p:cTn id="30" dur="1" fill="hold">
                                          <p:stCondLst>
                                            <p:cond delay="0"/>
                                          </p:stCondLst>
                                        </p:cTn>
                                        <p:tgtEl>
                                          <p:spTgt spid="42"/>
                                        </p:tgtEl>
                                        <p:attrNameLst>
                                          <p:attrName>style.visibility</p:attrName>
                                        </p:attrNameLst>
                                      </p:cBhvr>
                                      <p:to>
                                        <p:strVal val="visible"/>
                                      </p:to>
                                    </p:set>
                                    <p:animEffect transition="in" filter="wipe(left)">
                                      <p:cBhvr>
                                        <p:cTn id="31" dur="600"/>
                                        <p:tgtEl>
                                          <p:spTgt spid="42"/>
                                        </p:tgtEl>
                                      </p:cBhvr>
                                    </p:animEffect>
                                  </p:childTnLst>
                                </p:cTn>
                              </p:par>
                              <p:par>
                                <p:cTn id="35" presetID="10" presetClass="entr" presetSubtype="0" fill="hold" grpId="0" nodeType="withEffect">
                                  <p:stCondLst>
                                    <p:cond delay="3800"/>
                                  </p:stCondLst>
                                  <p:childTnLst>
                                    <p:set>
                                      <p:cBhvr>
                                        <p:cTn id="33" dur="1" fill="hold">
                                          <p:stCondLst>
                                            <p:cond delay="0"/>
                                          </p:stCondLst>
                                        </p:cTn>
                                        <p:tgtEl>
                                          <p:spTgt spid="44"/>
                                        </p:tgtEl>
                                        <p:attrNameLst>
                                          <p:attrName>style.visibility</p:attrName>
                                        </p:attrNameLst>
                                      </p:cBhvr>
                                      <p:to>
                                        <p:strVal val="visible"/>
                                      </p:to>
                                    </p:set>
                                    <p:animEffect transition="in" filter="fade">
                                      <p:cBhvr>
                                        <p:cTn id="34" dur="500"/>
                                        <p:tgtEl>
                                          <p:spTgt spid="44"/>
                                        </p:tgtEl>
                                      </p:cBhvr>
                                    </p:animEffect>
                                  </p:childTnLst>
                                </p:cTn>
                              </p:par>
                              <p:par>
                                <p:cTn id="38" presetID="10" presetClass="exit" presetSubtype="0" fill="hold" grpId="0" nodeType="withEffect">
                                  <p:stCondLst>
                                    <p:cond delay="4400"/>
                                  </p:stCondLst>
                                  <p:childTnLst>
                                    <p:animEffect transition="out" filter="fade">
                                      <p:cBhvr>
                                        <p:cTn id="36" dur="300"/>
                                        <p:tgtEl>
                                          <p:spTgt spid="11"/>
                                        </p:tgtEl>
                                      </p:cBhvr>
                                    </p:animEffect>
                                    <p:set>
                                      <p:cBhvr>
                                        <p:cTn id="37" dur="1" fill="hold">
                                          <p:stCondLst>
                                            <p:cond delay="299"/>
                                          </p:stCondLst>
                                        </p:cTn>
                                        <p:tgtEl>
                                          <p:spTgt spid="11"/>
                                        </p:tgtEl>
                                        <p:attrNameLst>
                                          <p:attrName>style.visibility</p:attrName>
                                        </p:attrNameLst>
                                      </p:cBhvr>
                                      <p:to>
                                        <p:strVal val="hidden"/>
                                      </p:to>
                                    </p:set>
                                  </p:childTnLst>
                                </p:cTn>
                              </p:par>
                              <p:par>
                                <p:cTn id="41" presetID="10" presetClass="entr" presetSubtype="0" fill="hold" grpId="0" nodeType="withEffect">
                                  <p:stCondLst>
                                    <p:cond delay="4000"/>
                                  </p:stCondLst>
                                  <p:childTnLst>
                                    <p:set>
                                      <p:cBhvr>
                                        <p:cTn id="39" dur="1" fill="hold">
                                          <p:stCondLst>
                                            <p:cond delay="0"/>
                                          </p:stCondLst>
                                        </p:cTn>
                                        <p:tgtEl>
                                          <p:spTgt spid="60"/>
                                        </p:tgtEl>
                                        <p:attrNameLst>
                                          <p:attrName>style.visibility</p:attrName>
                                        </p:attrNameLst>
                                      </p:cBhvr>
                                      <p:to>
                                        <p:strVal val="visible"/>
                                      </p:to>
                                    </p:set>
                                    <p:animEffect transition="in" filter="fade">
                                      <p:cBhvr>
                                        <p:cTn id="40" dur="500"/>
                                        <p:tgtEl>
                                          <p:spTgt spid="60"/>
                                        </p:tgtEl>
                                      </p:cBhvr>
                                    </p:animEffect>
                                  </p:childTnLst>
                                </p:cTn>
                              </p:par>
                            </p:childTnLst>
                          </p:cTn>
                        </p:par>
                        <p:par>
                          <p:cTn id="42" fill="hold">
                            <p:stCondLst>
                              <p:cond delay="5800"/>
                            </p:stCondLst>
                            <p:childTnLst>
                              <p:par>
                                <p:cTn id="45" presetID="10" presetClass="exit" presetSubtype="0" fill="hold" grpId="0" nodeType="afterEffect">
                                  <p:stCondLst>
                                    <p:cond delay="2200"/>
                                  </p:stCondLst>
                                  <p:childTnLst>
                                    <p:animEffect transition="out" filter="fade">
                                      <p:cBhvr>
                                        <p:cTn id="43" dur="300"/>
                                        <p:tgtEl>
                                          <p:spTgt spid="60"/>
                                        </p:tgtEl>
                                      </p:cBhvr>
                                    </p:animEffect>
                                    <p:set>
                                      <p:cBhvr>
                                        <p:cTn id="44" dur="1" fill="hold">
                                          <p:stCondLst>
                                            <p:cond delay="299"/>
                                          </p:stCondLst>
                                        </p:cTn>
                                        <p:tgtEl>
                                          <p:spTgt spid="60"/>
                                        </p:tgtEl>
                                        <p:attrNameLst>
                                          <p:attrName>style.visibility</p:attrName>
                                        </p:attrNameLst>
                                      </p:cBhvr>
                                      <p:to>
                                        <p:strVal val="hidden"/>
                                      </p:to>
                                    </p:set>
                                  </p:childTnLst>
                                </p:cTn>
                              </p:par>
                              <p:par>
                                <p:cTn id="48" presetID="10" presetClass="entr" presetSubtype="0" fill="hold" grpId="0" nodeType="withEffect">
                                  <p:stCondLst>
                                    <p:cond delay="250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51" presetID="10" presetClass="entr" presetSubtype="0" fill="hold" nodeType="withEffect">
                                  <p:stCondLst>
                                    <p:cond delay="2500"/>
                                  </p:stCondLst>
                                  <p:childTnLst>
                                    <p:set>
                                      <p:cBhvr>
                                        <p:cTn id="49" dur="1" fill="hold">
                                          <p:stCondLst>
                                            <p:cond delay="0"/>
                                          </p:stCondLst>
                                        </p:cTn>
                                        <p:tgtEl>
                                          <p:spTgt spid="20"/>
                                        </p:tgtEl>
                                        <p:attrNameLst>
                                          <p:attrName>style.visibility</p:attrName>
                                        </p:attrNameLst>
                                      </p:cBhvr>
                                      <p:to>
                                        <p:strVal val="visible"/>
                                      </p:to>
                                    </p:set>
                                    <p:animEffect transition="in" filter="fade">
                                      <p:cBhvr>
                                        <p:cTn id="50" dur="500"/>
                                        <p:tgtEl>
                                          <p:spTgt spid="20"/>
                                        </p:tgtEl>
                                      </p:cBhvr>
                                    </p:animEffect>
                                  </p:childTnLst>
                                </p:cTn>
                              </p:par>
                              <p:par>
                                <p:cTn id="54" presetID="10" presetClass="entr" presetSubtype="0" fill="hold" grpId="0" nodeType="withEffect">
                                  <p:stCondLst>
                                    <p:cond delay="2900"/>
                                  </p:stCondLst>
                                  <p:childTnLst>
                                    <p:set>
                                      <p:cBhvr>
                                        <p:cTn id="52" dur="1" fill="hold">
                                          <p:stCondLst>
                                            <p:cond delay="0"/>
                                          </p:stCondLst>
                                        </p:cTn>
                                        <p:tgtEl>
                                          <p:spTgt spid="21"/>
                                        </p:tgtEl>
                                        <p:attrNameLst>
                                          <p:attrName>style.visibility</p:attrName>
                                        </p:attrNameLst>
                                      </p:cBhvr>
                                      <p:to>
                                        <p:strVal val="visible"/>
                                      </p:to>
                                    </p:set>
                                    <p:animEffect transition="in" filter="fade">
                                      <p:cBhvr>
                                        <p:cTn id="53" dur="500"/>
                                        <p:tgtEl>
                                          <p:spTgt spid="21"/>
                                        </p:tgtEl>
                                      </p:cBhvr>
                                    </p:animEffect>
                                  </p:childTnLst>
                                </p:cTn>
                              </p:par>
                              <p:par>
                                <p:cTn id="57" presetID="10" presetClass="entr" presetSubtype="0" fill="hold" grpId="0" nodeType="withEffect">
                                  <p:stCondLst>
                                    <p:cond delay="2500"/>
                                  </p:stCondLst>
                                  <p:childTnLst>
                                    <p:set>
                                      <p:cBhvr>
                                        <p:cTn id="55" dur="1" fill="hold">
                                          <p:stCondLst>
                                            <p:cond delay="0"/>
                                          </p:stCondLst>
                                        </p:cTn>
                                        <p:tgtEl>
                                          <p:spTgt spid="61"/>
                                        </p:tgtEl>
                                        <p:attrNameLst>
                                          <p:attrName>style.visibility</p:attrName>
                                        </p:attrNameLst>
                                      </p:cBhvr>
                                      <p:to>
                                        <p:strVal val="visible"/>
                                      </p:to>
                                    </p:set>
                                    <p:animEffect transition="in" filter="fade">
                                      <p:cBhvr>
                                        <p:cTn id="56" dur="500"/>
                                        <p:tgtEl>
                                          <p:spTgt spid="61"/>
                                        </p:tgtEl>
                                      </p:cBhvr>
                                    </p:animEffect>
                                  </p:childTnLst>
                                </p:cTn>
                              </p:par>
                              <p:par>
                                <p:cTn id="60" presetID="10" presetClass="entr" presetSubtype="0" fill="hold" grpId="0" nodeType="withEffect">
                                  <p:stCondLst>
                                    <p:cond delay="370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childTnLst>
                          </p:cTn>
                        </p:par>
                        <p:par>
                          <p:cTn id="61" fill="hold">
                            <p:stCondLst>
                              <p:cond delay="10000"/>
                            </p:stCondLst>
                            <p:childTnLst>
                              <p:par>
                                <p:cTn id="64" presetID="10" presetClass="exit" presetSubtype="0" fill="hold" grpId="0" nodeType="afterEffect">
                                  <p:stCondLst>
                                    <p:cond delay="4000"/>
                                  </p:stCondLst>
                                  <p:childTnLst>
                                    <p:animEffect transition="out" filter="fade">
                                      <p:cBhvr>
                                        <p:cTn id="62" dur="300"/>
                                        <p:tgtEl>
                                          <p:spTgt spid="61"/>
                                        </p:tgtEl>
                                      </p:cBhvr>
                                    </p:animEffect>
                                    <p:set>
                                      <p:cBhvr>
                                        <p:cTn id="63" dur="1" fill="hold">
                                          <p:stCondLst>
                                            <p:cond delay="299"/>
                                          </p:stCondLst>
                                        </p:cTn>
                                        <p:tgtEl>
                                          <p:spTgt spid="61"/>
                                        </p:tgtEl>
                                        <p:attrNameLst>
                                          <p:attrName>style.visibility</p:attrName>
                                        </p:attrNameLst>
                                      </p:cBhvr>
                                      <p:to>
                                        <p:strVal val="hidden"/>
                                      </p:to>
                                    </p:set>
                                  </p:childTnLst>
                                </p:cTn>
                              </p:par>
                              <p:par>
                                <p:cTn id="67" presetID="22" presetClass="entr" presetSubtype="1" fill="hold" nodeType="withEffect">
                                  <p:stCondLst>
                                    <p:cond delay="4300"/>
                                  </p:stCondLst>
                                  <p:childTnLst>
                                    <p:set>
                                      <p:cBhvr>
                                        <p:cTn id="65" dur="1" fill="hold">
                                          <p:stCondLst>
                                            <p:cond delay="0"/>
                                          </p:stCondLst>
                                        </p:cTn>
                                        <p:tgtEl>
                                          <p:spTgt spid="45"/>
                                        </p:tgtEl>
                                        <p:attrNameLst>
                                          <p:attrName>style.visibility</p:attrName>
                                        </p:attrNameLst>
                                      </p:cBhvr>
                                      <p:to>
                                        <p:strVal val="visible"/>
                                      </p:to>
                                    </p:set>
                                    <p:animEffect transition="in" filter="wipe(up)">
                                      <p:cBhvr>
                                        <p:cTn id="66" dur="600"/>
                                        <p:tgtEl>
                                          <p:spTgt spid="45"/>
                                        </p:tgtEl>
                                      </p:cBhvr>
                                    </p:animEffect>
                                  </p:childTnLst>
                                </p:cTn>
                              </p:par>
                              <p:par>
                                <p:cTn id="70" presetID="10" presetClass="exit" presetSubtype="0" fill="hold" grpId="0" nodeType="withEffect">
                                  <p:stCondLst>
                                    <p:cond delay="4300"/>
                                  </p:stCondLst>
                                  <p:childTnLst>
                                    <p:animEffect transition="out" filter="fade">
                                      <p:cBhvr>
                                        <p:cTn id="68" dur="300"/>
                                        <p:tgtEl>
                                          <p:spTgt spid="21"/>
                                        </p:tgtEl>
                                      </p:cBhvr>
                                    </p:animEffect>
                                    <p:set>
                                      <p:cBhvr>
                                        <p:cTn id="69" dur="1" fill="hold">
                                          <p:stCondLst>
                                            <p:cond delay="299"/>
                                          </p:stCondLst>
                                        </p:cTn>
                                        <p:tgtEl>
                                          <p:spTgt spid="21"/>
                                        </p:tgtEl>
                                        <p:attrNameLst>
                                          <p:attrName>style.visibility</p:attrName>
                                        </p:attrNameLst>
                                      </p:cBhvr>
                                      <p:to>
                                        <p:strVal val="hidden"/>
                                      </p:to>
                                    </p:set>
                                  </p:childTnLst>
                                </p:cTn>
                              </p:par>
                              <p:par>
                                <p:cTn id="73" presetID="10" presetClass="entr" presetSubtype="0" fill="hold" grpId="0" nodeType="withEffect">
                                  <p:stCondLst>
                                    <p:cond delay="470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6" presetID="10" presetClass="entr" presetSubtype="0" fill="hold" nodeType="withEffect">
                                  <p:stCondLst>
                                    <p:cond delay="470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9" presetID="10" presetClass="entr" presetSubtype="0" fill="hold" grpId="0" nodeType="withEffect">
                                  <p:stCondLst>
                                    <p:cond delay="500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82" presetID="10" presetClass="entr" presetSubtype="0" fill="hold" grpId="0" nodeType="withEffect">
                                  <p:stCondLst>
                                    <p:cond delay="4300"/>
                                  </p:stCondLst>
                                  <p:childTnLst>
                                    <p:set>
                                      <p:cBhvr>
                                        <p:cTn id="80" dur="1" fill="hold">
                                          <p:stCondLst>
                                            <p:cond delay="0"/>
                                          </p:stCondLst>
                                        </p:cTn>
                                        <p:tgtEl>
                                          <p:spTgt spid="62"/>
                                        </p:tgtEl>
                                        <p:attrNameLst>
                                          <p:attrName>style.visibility</p:attrName>
                                        </p:attrNameLst>
                                      </p:cBhvr>
                                      <p:to>
                                        <p:strVal val="visible"/>
                                      </p:to>
                                    </p:set>
                                    <p:animEffect transition="in" filter="fade">
                                      <p:cBhvr>
                                        <p:cTn id="81" dur="500"/>
                                        <p:tgtEl>
                                          <p:spTgt spid="62"/>
                                        </p:tgtEl>
                                      </p:cBhvr>
                                    </p:animEffect>
                                  </p:childTnLst>
                                </p:cTn>
                              </p:par>
                            </p:childTnLst>
                          </p:cTn>
                        </p:par>
                        <p:par>
                          <p:cTn id="83" fill="hold">
                            <p:stCondLst>
                              <p:cond delay="15500"/>
                            </p:stCondLst>
                            <p:childTnLst>
                              <p:par>
                                <p:cTn id="86" presetID="10" presetClass="exit" presetSubtype="0" fill="hold" grpId="0" nodeType="afterEffect">
                                  <p:stCondLst>
                                    <p:cond delay="2800"/>
                                  </p:stCondLst>
                                  <p:childTnLst>
                                    <p:animEffect transition="out" filter="fade">
                                      <p:cBhvr>
                                        <p:cTn id="84" dur="300"/>
                                        <p:tgtEl>
                                          <p:spTgt spid="62"/>
                                        </p:tgtEl>
                                      </p:cBhvr>
                                    </p:animEffect>
                                    <p:set>
                                      <p:cBhvr>
                                        <p:cTn id="85" dur="1" fill="hold">
                                          <p:stCondLst>
                                            <p:cond delay="299"/>
                                          </p:stCondLst>
                                        </p:cTn>
                                        <p:tgtEl>
                                          <p:spTgt spid="62"/>
                                        </p:tgtEl>
                                        <p:attrNameLst>
                                          <p:attrName>style.visibility</p:attrName>
                                        </p:attrNameLst>
                                      </p:cBhvr>
                                      <p:to>
                                        <p:strVal val="hidden"/>
                                      </p:to>
                                    </p:set>
                                  </p:childTnLst>
                                </p:cTn>
                              </p:par>
                              <p:par>
                                <p:cTn id="89" presetID="10" presetClass="entr" presetSubtype="0" fill="hold" grpId="0" nodeType="withEffect">
                                  <p:stCondLst>
                                    <p:cond delay="3100"/>
                                  </p:stCondLst>
                                  <p:childTnLst>
                                    <p:set>
                                      <p:cBhvr>
                                        <p:cTn id="87" dur="1" fill="hold">
                                          <p:stCondLst>
                                            <p:cond delay="0"/>
                                          </p:stCondLst>
                                        </p:cTn>
                                        <p:tgtEl>
                                          <p:spTgt spid="28"/>
                                        </p:tgtEl>
                                        <p:attrNameLst>
                                          <p:attrName>style.visibility</p:attrName>
                                        </p:attrNameLst>
                                      </p:cBhvr>
                                      <p:to>
                                        <p:strVal val="visible"/>
                                      </p:to>
                                    </p:set>
                                    <p:animEffect transition="in" filter="fade">
                                      <p:cBhvr>
                                        <p:cTn id="88" dur="500"/>
                                        <p:tgtEl>
                                          <p:spTgt spid="28"/>
                                        </p:tgtEl>
                                      </p:cBhvr>
                                    </p:animEffect>
                                  </p:childTnLst>
                                </p:cTn>
                              </p:par>
                              <p:par>
                                <p:cTn id="92" presetID="10" presetClass="entr" presetSubtype="0" fill="hold" grpId="0" nodeType="withEffect">
                                  <p:stCondLst>
                                    <p:cond delay="3400"/>
                                  </p:stCondLst>
                                  <p:childTnLst>
                                    <p:set>
                                      <p:cBhvr>
                                        <p:cTn id="90" dur="1" fill="hold">
                                          <p:stCondLst>
                                            <p:cond delay="0"/>
                                          </p:stCondLst>
                                        </p:cTn>
                                        <p:tgtEl>
                                          <p:spTgt spid="29"/>
                                        </p:tgtEl>
                                        <p:attrNameLst>
                                          <p:attrName>style.visibility</p:attrName>
                                        </p:attrNameLst>
                                      </p:cBhvr>
                                      <p:to>
                                        <p:strVal val="visible"/>
                                      </p:to>
                                    </p:set>
                                    <p:animEffect transition="in" filter="fade">
                                      <p:cBhvr>
                                        <p:cTn id="91" dur="500"/>
                                        <p:tgtEl>
                                          <p:spTgt spid="29"/>
                                        </p:tgtEl>
                                      </p:cBhvr>
                                    </p:animEffect>
                                  </p:childTnLst>
                                </p:cTn>
                              </p:par>
                              <p:par>
                                <p:cTn id="95" presetID="10" presetClass="entr" presetSubtype="0" fill="hold" grpId="0" nodeType="withEffect">
                                  <p:stCondLst>
                                    <p:cond delay="370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500"/>
                                        <p:tgtEl>
                                          <p:spTgt spid="30"/>
                                        </p:tgtEl>
                                      </p:cBhvr>
                                    </p:animEffect>
                                  </p:childTnLst>
                                </p:cTn>
                              </p:par>
                              <p:par>
                                <p:cTn id="98" presetID="10" presetClass="entr" presetSubtype="0" fill="hold" grpId="0" nodeType="withEffect">
                                  <p:stCondLst>
                                    <p:cond delay="4000"/>
                                  </p:stCondLst>
                                  <p:childTnLst>
                                    <p:set>
                                      <p:cBhvr>
                                        <p:cTn id="96" dur="1" fill="hold">
                                          <p:stCondLst>
                                            <p:cond delay="0"/>
                                          </p:stCondLst>
                                        </p:cTn>
                                        <p:tgtEl>
                                          <p:spTgt spid="31"/>
                                        </p:tgtEl>
                                        <p:attrNameLst>
                                          <p:attrName>style.visibility</p:attrName>
                                        </p:attrNameLst>
                                      </p:cBhvr>
                                      <p:to>
                                        <p:strVal val="visible"/>
                                      </p:to>
                                    </p:set>
                                    <p:animEffect transition="in" filter="fade">
                                      <p:cBhvr>
                                        <p:cTn id="97" dur="500"/>
                                        <p:tgtEl>
                                          <p:spTgt spid="31"/>
                                        </p:tgtEl>
                                      </p:cBhvr>
                                    </p:animEffect>
                                  </p:childTnLst>
                                </p:cTn>
                              </p:par>
                              <p:par>
                                <p:cTn id="101" presetID="10" presetClass="entr" presetSubtype="0" fill="hold" grpId="0" nodeType="withEffect">
                                  <p:stCondLst>
                                    <p:cond delay="4300"/>
                                  </p:stCondLst>
                                  <p:childTnLst>
                                    <p:set>
                                      <p:cBhvr>
                                        <p:cTn id="99" dur="1" fill="hold">
                                          <p:stCondLst>
                                            <p:cond delay="0"/>
                                          </p:stCondLst>
                                        </p:cTn>
                                        <p:tgtEl>
                                          <p:spTgt spid="32"/>
                                        </p:tgtEl>
                                        <p:attrNameLst>
                                          <p:attrName>style.visibility</p:attrName>
                                        </p:attrNameLst>
                                      </p:cBhvr>
                                      <p:to>
                                        <p:strVal val="visible"/>
                                      </p:to>
                                    </p:set>
                                    <p:animEffect transition="in" filter="fade">
                                      <p:cBhvr>
                                        <p:cTn id="100" dur="500"/>
                                        <p:tgtEl>
                                          <p:spTgt spid="32"/>
                                        </p:tgtEl>
                                      </p:cBhvr>
                                    </p:animEffect>
                                  </p:childTnLst>
                                </p:cTn>
                              </p:par>
                              <p:par>
                                <p:cTn id="104" presetID="10" presetClass="entr" presetSubtype="0" fill="hold" grpId="0" nodeType="withEffect">
                                  <p:stCondLst>
                                    <p:cond delay="3100"/>
                                  </p:stCondLst>
                                  <p:childTnLst>
                                    <p:set>
                                      <p:cBhvr>
                                        <p:cTn id="102" dur="1" fill="hold">
                                          <p:stCondLst>
                                            <p:cond delay="0"/>
                                          </p:stCondLst>
                                        </p:cTn>
                                        <p:tgtEl>
                                          <p:spTgt spid="63"/>
                                        </p:tgtEl>
                                        <p:attrNameLst>
                                          <p:attrName>style.visibility</p:attrName>
                                        </p:attrNameLst>
                                      </p:cBhvr>
                                      <p:to>
                                        <p:strVal val="visible"/>
                                      </p:to>
                                    </p:set>
                                    <p:animEffect transition="in" filter="fade">
                                      <p:cBhvr>
                                        <p:cTn id="103" dur="500"/>
                                        <p:tgtEl>
                                          <p:spTgt spid="63"/>
                                        </p:tgtEl>
                                      </p:cBhvr>
                                    </p:animEffect>
                                  </p:childTnLst>
                                </p:cTn>
                              </p:par>
                            </p:childTnLst>
                          </p:cTn>
                        </p:par>
                        <p:par>
                          <p:cTn id="105" fill="hold">
                            <p:stCondLst>
                              <p:cond delay="20300"/>
                            </p:stCondLst>
                            <p:childTnLst>
                              <p:par>
                                <p:cTn id="108" presetID="10" presetClass="exit" presetSubtype="0" fill="hold" grpId="0" nodeType="afterEffect">
                                  <p:stCondLst>
                                    <p:cond delay="3500"/>
                                  </p:stCondLst>
                                  <p:childTnLst>
                                    <p:animEffect transition="out" filter="fade">
                                      <p:cBhvr>
                                        <p:cTn id="106" dur="300"/>
                                        <p:tgtEl>
                                          <p:spTgt spid="63"/>
                                        </p:tgtEl>
                                      </p:cBhvr>
                                    </p:animEffect>
                                    <p:set>
                                      <p:cBhvr>
                                        <p:cTn id="107" dur="1" fill="hold">
                                          <p:stCondLst>
                                            <p:cond delay="299"/>
                                          </p:stCondLst>
                                        </p:cTn>
                                        <p:tgtEl>
                                          <p:spTgt spid="63"/>
                                        </p:tgtEl>
                                        <p:attrNameLst>
                                          <p:attrName>style.visibility</p:attrName>
                                        </p:attrNameLst>
                                      </p:cBhvr>
                                      <p:to>
                                        <p:strVal val="hidden"/>
                                      </p:to>
                                    </p:set>
                                  </p:childTnLst>
                                </p:cTn>
                              </p:par>
                              <p:par>
                                <p:cTn id="111" presetID="22" presetClass="entr" presetSubtype="1" fill="hold" nodeType="withEffect">
                                  <p:stCondLst>
                                    <p:cond delay="3800"/>
                                  </p:stCondLst>
                                  <p:childTnLst>
                                    <p:set>
                                      <p:cBhvr>
                                        <p:cTn id="109" dur="1" fill="hold">
                                          <p:stCondLst>
                                            <p:cond delay="0"/>
                                          </p:stCondLst>
                                        </p:cTn>
                                        <p:tgtEl>
                                          <p:spTgt spid="46"/>
                                        </p:tgtEl>
                                        <p:attrNameLst>
                                          <p:attrName>style.visibility</p:attrName>
                                        </p:attrNameLst>
                                      </p:cBhvr>
                                      <p:to>
                                        <p:strVal val="visible"/>
                                      </p:to>
                                    </p:set>
                                    <p:animEffect transition="in" filter="wipe(up)">
                                      <p:cBhvr>
                                        <p:cTn id="110" dur="250"/>
                                        <p:tgtEl>
                                          <p:spTgt spid="46"/>
                                        </p:tgtEl>
                                      </p:cBhvr>
                                    </p:animEffect>
                                  </p:childTnLst>
                                </p:cTn>
                              </p:par>
                              <p:par>
                                <p:cTn id="114" presetID="22" presetClass="entr" presetSubtype="8" fill="hold" nodeType="withEffect">
                                  <p:stCondLst>
                                    <p:cond delay="4050"/>
                                  </p:stCondLst>
                                  <p:childTnLst>
                                    <p:set>
                                      <p:cBhvr>
                                        <p:cTn id="112" dur="1" fill="hold">
                                          <p:stCondLst>
                                            <p:cond delay="0"/>
                                          </p:stCondLst>
                                        </p:cTn>
                                        <p:tgtEl>
                                          <p:spTgt spid="47"/>
                                        </p:tgtEl>
                                        <p:attrNameLst>
                                          <p:attrName>style.visibility</p:attrName>
                                        </p:attrNameLst>
                                      </p:cBhvr>
                                      <p:to>
                                        <p:strVal val="visible"/>
                                      </p:to>
                                    </p:set>
                                    <p:animEffect transition="in" filter="wipe(left)">
                                      <p:cBhvr>
                                        <p:cTn id="113" dur="500"/>
                                        <p:tgtEl>
                                          <p:spTgt spid="47"/>
                                        </p:tgtEl>
                                      </p:cBhvr>
                                    </p:animEffect>
                                  </p:childTnLst>
                                </p:cTn>
                              </p:par>
                              <p:par>
                                <p:cTn id="117" presetID="22" presetClass="entr" presetSubtype="1" fill="hold" nodeType="withEffect">
                                  <p:stCondLst>
                                    <p:cond delay="4550"/>
                                  </p:stCondLst>
                                  <p:childTnLst>
                                    <p:set>
                                      <p:cBhvr>
                                        <p:cTn id="115" dur="1" fill="hold">
                                          <p:stCondLst>
                                            <p:cond delay="0"/>
                                          </p:stCondLst>
                                        </p:cTn>
                                        <p:tgtEl>
                                          <p:spTgt spid="48"/>
                                        </p:tgtEl>
                                        <p:attrNameLst>
                                          <p:attrName>style.visibility</p:attrName>
                                        </p:attrNameLst>
                                      </p:cBhvr>
                                      <p:to>
                                        <p:strVal val="visible"/>
                                      </p:to>
                                    </p:set>
                                    <p:animEffect transition="in" filter="wipe(up)">
                                      <p:cBhvr>
                                        <p:cTn id="116" dur="250"/>
                                        <p:tgtEl>
                                          <p:spTgt spid="48"/>
                                        </p:tgtEl>
                                      </p:cBhvr>
                                    </p:animEffect>
                                  </p:childTnLst>
                                </p:cTn>
                              </p:par>
                              <p:par>
                                <p:cTn id="120" presetID="22" presetClass="entr" presetSubtype="1" fill="hold" nodeType="withEffect">
                                  <p:stCondLst>
                                    <p:cond delay="4550"/>
                                  </p:stCondLst>
                                  <p:childTnLst>
                                    <p:set>
                                      <p:cBhvr>
                                        <p:cTn id="118" dur="1" fill="hold">
                                          <p:stCondLst>
                                            <p:cond delay="0"/>
                                          </p:stCondLst>
                                        </p:cTn>
                                        <p:tgtEl>
                                          <p:spTgt spid="49"/>
                                        </p:tgtEl>
                                        <p:attrNameLst>
                                          <p:attrName>style.visibility</p:attrName>
                                        </p:attrNameLst>
                                      </p:cBhvr>
                                      <p:to>
                                        <p:strVal val="visible"/>
                                      </p:to>
                                    </p:set>
                                    <p:animEffect transition="in" filter="wipe(up)">
                                      <p:cBhvr>
                                        <p:cTn id="119" dur="250"/>
                                        <p:tgtEl>
                                          <p:spTgt spid="49"/>
                                        </p:tgtEl>
                                      </p:cBhvr>
                                    </p:animEffect>
                                  </p:childTnLst>
                                </p:cTn>
                              </p:par>
                              <p:par>
                                <p:cTn id="123" presetID="22" presetClass="entr" presetSubtype="1" fill="hold" nodeType="withEffect">
                                  <p:stCondLst>
                                    <p:cond delay="4550"/>
                                  </p:stCondLst>
                                  <p:childTnLst>
                                    <p:set>
                                      <p:cBhvr>
                                        <p:cTn id="121" dur="1" fill="hold">
                                          <p:stCondLst>
                                            <p:cond delay="0"/>
                                          </p:stCondLst>
                                        </p:cTn>
                                        <p:tgtEl>
                                          <p:spTgt spid="50"/>
                                        </p:tgtEl>
                                        <p:attrNameLst>
                                          <p:attrName>style.visibility</p:attrName>
                                        </p:attrNameLst>
                                      </p:cBhvr>
                                      <p:to>
                                        <p:strVal val="visible"/>
                                      </p:to>
                                    </p:set>
                                    <p:animEffect transition="in" filter="wipe(up)">
                                      <p:cBhvr>
                                        <p:cTn id="122" dur="250"/>
                                        <p:tgtEl>
                                          <p:spTgt spid="50"/>
                                        </p:tgtEl>
                                      </p:cBhvr>
                                    </p:animEffect>
                                  </p:childTnLst>
                                </p:cTn>
                              </p:par>
                              <p:par>
                                <p:cTn id="126" presetID="10" presetClass="entr" presetSubtype="0" fill="hold" grpId="0" nodeType="withEffect">
                                  <p:stCondLst>
                                    <p:cond delay="4800"/>
                                  </p:stCondLst>
                                  <p:childTnLst>
                                    <p:set>
                                      <p:cBhvr>
                                        <p:cTn id="124" dur="1" fill="hold">
                                          <p:stCondLst>
                                            <p:cond delay="0"/>
                                          </p:stCondLst>
                                        </p:cTn>
                                        <p:tgtEl>
                                          <p:spTgt spid="33"/>
                                        </p:tgtEl>
                                        <p:attrNameLst>
                                          <p:attrName>style.visibility</p:attrName>
                                        </p:attrNameLst>
                                      </p:cBhvr>
                                      <p:to>
                                        <p:strVal val="visible"/>
                                      </p:to>
                                    </p:set>
                                    <p:animEffect transition="in" filter="fade">
                                      <p:cBhvr>
                                        <p:cTn id="125" dur="500"/>
                                        <p:tgtEl>
                                          <p:spTgt spid="33"/>
                                        </p:tgtEl>
                                      </p:cBhvr>
                                    </p:animEffect>
                                  </p:childTnLst>
                                </p:cTn>
                              </p:par>
                              <p:par>
                                <p:cTn id="129" presetID="10" presetClass="entr" presetSubtype="0" fill="hold" grpId="0" nodeType="withEffect">
                                  <p:stCondLst>
                                    <p:cond delay="4800"/>
                                  </p:stCondLst>
                                  <p:childTnLst>
                                    <p:set>
                                      <p:cBhvr>
                                        <p:cTn id="127" dur="1" fill="hold">
                                          <p:stCondLst>
                                            <p:cond delay="0"/>
                                          </p:stCondLst>
                                        </p:cTn>
                                        <p:tgtEl>
                                          <p:spTgt spid="34"/>
                                        </p:tgtEl>
                                        <p:attrNameLst>
                                          <p:attrName>style.visibility</p:attrName>
                                        </p:attrNameLst>
                                      </p:cBhvr>
                                      <p:to>
                                        <p:strVal val="visible"/>
                                      </p:to>
                                    </p:set>
                                    <p:animEffect transition="in" filter="fade">
                                      <p:cBhvr>
                                        <p:cTn id="128" dur="500"/>
                                        <p:tgtEl>
                                          <p:spTgt spid="34"/>
                                        </p:tgtEl>
                                      </p:cBhvr>
                                    </p:animEffect>
                                  </p:childTnLst>
                                </p:cTn>
                              </p:par>
                              <p:par>
                                <p:cTn id="132" presetID="10" presetClass="entr" presetSubtype="0" fill="hold" grpId="0" nodeType="withEffect">
                                  <p:stCondLst>
                                    <p:cond delay="4800"/>
                                  </p:stCondLst>
                                  <p:childTnLst>
                                    <p:set>
                                      <p:cBhvr>
                                        <p:cTn id="130" dur="1" fill="hold">
                                          <p:stCondLst>
                                            <p:cond delay="0"/>
                                          </p:stCondLst>
                                        </p:cTn>
                                        <p:tgtEl>
                                          <p:spTgt spid="35"/>
                                        </p:tgtEl>
                                        <p:attrNameLst>
                                          <p:attrName>style.visibility</p:attrName>
                                        </p:attrNameLst>
                                      </p:cBhvr>
                                      <p:to>
                                        <p:strVal val="visible"/>
                                      </p:to>
                                    </p:set>
                                    <p:animEffect transition="in" filter="fade">
                                      <p:cBhvr>
                                        <p:cTn id="131" dur="500"/>
                                        <p:tgtEl>
                                          <p:spTgt spid="35"/>
                                        </p:tgtEl>
                                      </p:cBhvr>
                                    </p:animEffect>
                                  </p:childTnLst>
                                </p:cTn>
                              </p:par>
                              <p:par>
                                <p:cTn id="135" presetID="10" presetClass="entr" presetSubtype="0" fill="hold" grpId="0" nodeType="withEffect">
                                  <p:stCondLst>
                                    <p:cond delay="3800"/>
                                  </p:stCondLst>
                                  <p:childTnLst>
                                    <p:set>
                                      <p:cBhvr>
                                        <p:cTn id="133" dur="1" fill="hold">
                                          <p:stCondLst>
                                            <p:cond delay="0"/>
                                          </p:stCondLst>
                                        </p:cTn>
                                        <p:tgtEl>
                                          <p:spTgt spid="64"/>
                                        </p:tgtEl>
                                        <p:attrNameLst>
                                          <p:attrName>style.visibility</p:attrName>
                                        </p:attrNameLst>
                                      </p:cBhvr>
                                      <p:to>
                                        <p:strVal val="visible"/>
                                      </p:to>
                                    </p:set>
                                    <p:animEffect transition="in" filter="fade">
                                      <p:cBhvr>
                                        <p:cTn id="134" dur="500"/>
                                        <p:tgtEl>
                                          <p:spTgt spid="64"/>
                                        </p:tgtEl>
                                      </p:cBhvr>
                                    </p:animEffect>
                                  </p:childTnLst>
                                </p:cTn>
                              </p:par>
                            </p:childTnLst>
                          </p:cTn>
                        </p:par>
                        <p:par>
                          <p:cTn id="136" fill="hold">
                            <p:stCondLst>
                              <p:cond delay="25600"/>
                            </p:stCondLst>
                            <p:childTnLst>
                              <p:par>
                                <p:cTn id="139" presetID="10" presetClass="exit" presetSubtype="0" fill="hold" grpId="0" nodeType="afterEffect">
                                  <p:stCondLst>
                                    <p:cond delay="2200"/>
                                  </p:stCondLst>
                                  <p:childTnLst>
                                    <p:animEffect transition="out" filter="fade">
                                      <p:cBhvr>
                                        <p:cTn id="137" dur="300"/>
                                        <p:tgtEl>
                                          <p:spTgt spid="64"/>
                                        </p:tgtEl>
                                      </p:cBhvr>
                                    </p:animEffect>
                                    <p:set>
                                      <p:cBhvr>
                                        <p:cTn id="138" dur="1" fill="hold">
                                          <p:stCondLst>
                                            <p:cond delay="299"/>
                                          </p:stCondLst>
                                        </p:cTn>
                                        <p:tgtEl>
                                          <p:spTgt spid="64"/>
                                        </p:tgtEl>
                                        <p:attrNameLst>
                                          <p:attrName>style.visibility</p:attrName>
                                        </p:attrNameLst>
                                      </p:cBhvr>
                                      <p:to>
                                        <p:strVal val="hidden"/>
                                      </p:to>
                                    </p:set>
                                  </p:childTnLst>
                                </p:cTn>
                              </p:par>
                              <p:par>
                                <p:cTn id="142" presetID="10" presetClass="entr" presetSubtype="0" fill="hold" grpId="0" nodeType="withEffect">
                                  <p:stCondLst>
                                    <p:cond delay="2500"/>
                                  </p:stCondLst>
                                  <p:childTnLst>
                                    <p:set>
                                      <p:cBhvr>
                                        <p:cTn id="140" dur="1" fill="hold">
                                          <p:stCondLst>
                                            <p:cond delay="0"/>
                                          </p:stCondLst>
                                        </p:cTn>
                                        <p:tgtEl>
                                          <p:spTgt spid="56"/>
                                        </p:tgtEl>
                                        <p:attrNameLst>
                                          <p:attrName>style.visibility</p:attrName>
                                        </p:attrNameLst>
                                      </p:cBhvr>
                                      <p:to>
                                        <p:strVal val="visible"/>
                                      </p:to>
                                    </p:set>
                                    <p:animEffect transition="in" filter="fade">
                                      <p:cBhvr>
                                        <p:cTn id="141" dur="500"/>
                                        <p:tgtEl>
                                          <p:spTgt spid="56"/>
                                        </p:tgtEl>
                                      </p:cBhvr>
                                    </p:animEffect>
                                  </p:childTnLst>
                                </p:cTn>
                              </p:par>
                              <p:par>
                                <p:cTn id="145" presetID="10" presetClass="entr" presetSubtype="0" fill="hold" grpId="0" nodeType="withEffect">
                                  <p:stCondLst>
                                    <p:cond delay="2500"/>
                                  </p:stCondLst>
                                  <p:childTnLst>
                                    <p:set>
                                      <p:cBhvr>
                                        <p:cTn id="143" dur="1" fill="hold">
                                          <p:stCondLst>
                                            <p:cond delay="0"/>
                                          </p:stCondLst>
                                        </p:cTn>
                                        <p:tgtEl>
                                          <p:spTgt spid="37"/>
                                        </p:tgtEl>
                                        <p:attrNameLst>
                                          <p:attrName>style.visibility</p:attrName>
                                        </p:attrNameLst>
                                      </p:cBhvr>
                                      <p:to>
                                        <p:strVal val="visible"/>
                                      </p:to>
                                    </p:set>
                                    <p:animEffect transition="in" filter="fade">
                                      <p:cBhvr>
                                        <p:cTn id="144" dur="500"/>
                                        <p:tgtEl>
                                          <p:spTgt spid="37"/>
                                        </p:tgtEl>
                                      </p:cBhvr>
                                    </p:animEffect>
                                  </p:childTnLst>
                                </p:cTn>
                              </p:par>
                              <p:par>
                                <p:cTn id="148" presetID="10" presetClass="entr" presetSubtype="0" fill="hold" grpId="0" nodeType="withEffect">
                                  <p:stCondLst>
                                    <p:cond delay="2500"/>
                                  </p:stCondLst>
                                  <p:childTnLst>
                                    <p:set>
                                      <p:cBhvr>
                                        <p:cTn id="146" dur="1" fill="hold">
                                          <p:stCondLst>
                                            <p:cond delay="0"/>
                                          </p:stCondLst>
                                        </p:cTn>
                                        <p:tgtEl>
                                          <p:spTgt spid="65"/>
                                        </p:tgtEl>
                                        <p:attrNameLst>
                                          <p:attrName>style.visibility</p:attrName>
                                        </p:attrNameLst>
                                      </p:cBhvr>
                                      <p:to>
                                        <p:strVal val="visible"/>
                                      </p:to>
                                    </p:set>
                                    <p:animEffect transition="in" filter="fade">
                                      <p:cBhvr>
                                        <p:cTn id="147" dur="500"/>
                                        <p:tgtEl>
                                          <p:spTgt spid="65"/>
                                        </p:tgtEl>
                                      </p:cBhvr>
                                    </p:animEffect>
                                  </p:childTnLst>
                                </p:cTn>
                              </p:par>
                            </p:childTnLst>
                          </p:cTn>
                        </p:par>
                        <p:par>
                          <p:cTn id="149" fill="hold">
                            <p:stCondLst>
                              <p:cond delay="28600"/>
                            </p:stCondLst>
                            <p:childTnLst>
                              <p:par>
                                <p:cTn id="152" presetID="10" presetClass="exit" presetSubtype="0" fill="hold" grpId="0" nodeType="afterEffect">
                                  <p:stCondLst>
                                    <p:cond delay="3800"/>
                                  </p:stCondLst>
                                  <p:childTnLst>
                                    <p:animEffect transition="out" filter="fade">
                                      <p:cBhvr>
                                        <p:cTn id="150" dur="300"/>
                                        <p:tgtEl>
                                          <p:spTgt spid="65"/>
                                        </p:tgtEl>
                                      </p:cBhvr>
                                    </p:animEffect>
                                    <p:set>
                                      <p:cBhvr>
                                        <p:cTn id="151" dur="1" fill="hold">
                                          <p:stCondLst>
                                            <p:cond delay="299"/>
                                          </p:stCondLst>
                                        </p:cTn>
                                        <p:tgtEl>
                                          <p:spTgt spid="65"/>
                                        </p:tgtEl>
                                        <p:attrNameLst>
                                          <p:attrName>style.visibility</p:attrName>
                                        </p:attrNameLst>
                                      </p:cBhvr>
                                      <p:to>
                                        <p:strVal val="hidden"/>
                                      </p:to>
                                    </p:set>
                                  </p:childTnLst>
                                </p:cTn>
                              </p:par>
                              <p:par>
                                <p:cTn id="155" presetID="10" presetClass="exit" presetSubtype="0" fill="hold" grpId="0" nodeType="withEffect">
                                  <p:stCondLst>
                                    <p:cond delay="3800"/>
                                  </p:stCondLst>
                                  <p:childTnLst>
                                    <p:animEffect transition="out" filter="fade">
                                      <p:cBhvr>
                                        <p:cTn id="153" dur="300"/>
                                        <p:tgtEl>
                                          <p:spTgt spid="56"/>
                                        </p:tgtEl>
                                      </p:cBhvr>
                                    </p:animEffect>
                                    <p:set>
                                      <p:cBhvr>
                                        <p:cTn id="154" dur="1" fill="hold">
                                          <p:stCondLst>
                                            <p:cond delay="299"/>
                                          </p:stCondLst>
                                        </p:cTn>
                                        <p:tgtEl>
                                          <p:spTgt spid="56"/>
                                        </p:tgtEl>
                                        <p:attrNameLst>
                                          <p:attrName>style.visibility</p:attrName>
                                        </p:attrNameLst>
                                      </p:cBhvr>
                                      <p:to>
                                        <p:strVal val="hidden"/>
                                      </p:to>
                                    </p:set>
                                  </p:childTnLst>
                                </p:cTn>
                              </p:par>
                              <p:par>
                                <p:cTn id="158" presetID="10" presetClass="exit" presetSubtype="0" fill="hold" grpId="0" nodeType="withEffect">
                                  <p:stCondLst>
                                    <p:cond delay="3800"/>
                                  </p:stCondLst>
                                  <p:childTnLst>
                                    <p:animEffect transition="out" filter="fade">
                                      <p:cBhvr>
                                        <p:cTn id="156" dur="300"/>
                                        <p:tgtEl>
                                          <p:spTgt spid="37"/>
                                        </p:tgtEl>
                                      </p:cBhvr>
                                    </p:animEffect>
                                    <p:set>
                                      <p:cBhvr>
                                        <p:cTn id="157" dur="1" fill="hold">
                                          <p:stCondLst>
                                            <p:cond delay="299"/>
                                          </p:stCondLst>
                                        </p:cTn>
                                        <p:tgtEl>
                                          <p:spTgt spid="37"/>
                                        </p:tgtEl>
                                        <p:attrNameLst>
                                          <p:attrName>style.visibility</p:attrName>
                                        </p:attrNameLst>
                                      </p:cBhvr>
                                      <p:to>
                                        <p:strVal val="hidden"/>
                                      </p:to>
                                    </p:set>
                                  </p:childTnLst>
                                </p:cTn>
                              </p:par>
                              <p:par>
                                <p:cTn id="161" presetID="10" presetClass="entr" presetSubtype="0" fill="hold" grpId="0" nodeType="withEffect">
                                  <p:stCondLst>
                                    <p:cond delay="4200"/>
                                  </p:stCondLst>
                                  <p:childTnLst>
                                    <p:set>
                                      <p:cBhvr>
                                        <p:cTn id="159" dur="1" fill="hold">
                                          <p:stCondLst>
                                            <p:cond delay="0"/>
                                          </p:stCondLst>
                                        </p:cTn>
                                        <p:tgtEl>
                                          <p:spTgt spid="57"/>
                                        </p:tgtEl>
                                        <p:attrNameLst>
                                          <p:attrName>style.visibility</p:attrName>
                                        </p:attrNameLst>
                                      </p:cBhvr>
                                      <p:to>
                                        <p:strVal val="visible"/>
                                      </p:to>
                                    </p:set>
                                    <p:animEffect transition="in" filter="fade">
                                      <p:cBhvr>
                                        <p:cTn id="160" dur="500"/>
                                        <p:tgtEl>
                                          <p:spTgt spid="57"/>
                                        </p:tgtEl>
                                      </p:cBhvr>
                                    </p:animEffect>
                                  </p:childTnLst>
                                </p:cTn>
                              </p:par>
                              <p:par>
                                <p:cTn id="164" presetID="10" presetClass="entr" presetSubtype="0" fill="hold" grpId="0" nodeType="withEffect">
                                  <p:stCondLst>
                                    <p:cond delay="4200"/>
                                  </p:stCondLst>
                                  <p:childTnLst>
                                    <p:set>
                                      <p:cBhvr>
                                        <p:cTn id="162" dur="1" fill="hold">
                                          <p:stCondLst>
                                            <p:cond delay="0"/>
                                          </p:stCondLst>
                                        </p:cTn>
                                        <p:tgtEl>
                                          <p:spTgt spid="36"/>
                                        </p:tgtEl>
                                        <p:attrNameLst>
                                          <p:attrName>style.visibility</p:attrName>
                                        </p:attrNameLst>
                                      </p:cBhvr>
                                      <p:to>
                                        <p:strVal val="visible"/>
                                      </p:to>
                                    </p:set>
                                    <p:animEffect transition="in" filter="fade">
                                      <p:cBhvr>
                                        <p:cTn id="163" dur="500"/>
                                        <p:tgtEl>
                                          <p:spTgt spid="36"/>
                                        </p:tgtEl>
                                      </p:cBhvr>
                                    </p:animEffect>
                                  </p:childTnLst>
                                </p:cTn>
                              </p:par>
                              <p:par>
                                <p:cTn id="167" presetID="10" presetClass="exit" presetSubtype="0" fill="hold" grpId="0" nodeType="withEffect">
                                  <p:stCondLst>
                                    <p:cond delay="4200"/>
                                  </p:stCondLst>
                                  <p:childTnLst>
                                    <p:animEffect transition="out" filter="fade">
                                      <p:cBhvr>
                                        <p:cTn id="165" dur="300"/>
                                        <p:tgtEl>
                                          <p:spTgt spid="27"/>
                                        </p:tgtEl>
                                      </p:cBhvr>
                                    </p:animEffect>
                                    <p:set>
                                      <p:cBhvr>
                                        <p:cTn id="166" dur="1" fill="hold">
                                          <p:stCondLst>
                                            <p:cond delay="299"/>
                                          </p:stCondLst>
                                        </p:cTn>
                                        <p:tgtEl>
                                          <p:spTgt spid="27"/>
                                        </p:tgtEl>
                                        <p:attrNameLst>
                                          <p:attrName>style.visibility</p:attrName>
                                        </p:attrNameLst>
                                      </p:cBhvr>
                                      <p:to>
                                        <p:strVal val="hidden"/>
                                      </p:to>
                                    </p:set>
                                  </p:childTnLst>
                                </p:cTn>
                              </p:par>
                              <p:par>
                                <p:cTn id="170" presetID="10" presetClass="entr" presetSubtype="0" fill="hold" grpId="0" nodeType="withEffect">
                                  <p:stCondLst>
                                    <p:cond delay="4200"/>
                                  </p:stCondLst>
                                  <p:childTnLst>
                                    <p:set>
                                      <p:cBhvr>
                                        <p:cTn id="168" dur="1" fill="hold">
                                          <p:stCondLst>
                                            <p:cond delay="0"/>
                                          </p:stCondLst>
                                        </p:cTn>
                                        <p:tgtEl>
                                          <p:spTgt spid="66"/>
                                        </p:tgtEl>
                                        <p:attrNameLst>
                                          <p:attrName>style.visibility</p:attrName>
                                        </p:attrNameLst>
                                      </p:cBhvr>
                                      <p:to>
                                        <p:strVal val="visible"/>
                                      </p:to>
                                    </p:set>
                                    <p:animEffect transition="in" filter="fade">
                                      <p:cBhvr>
                                        <p:cTn id="169" dur="500"/>
                                        <p:tgtEl>
                                          <p:spTgt spid="66"/>
                                        </p:tgtEl>
                                      </p:cBhvr>
                                    </p:animEffect>
                                  </p:childTnLst>
                                </p:cTn>
                              </p:par>
                            </p:childTnLst>
                          </p:cTn>
                        </p:par>
                        <p:par>
                          <p:cTn id="171" fill="hold">
                            <p:stCondLst>
                              <p:cond delay="33300"/>
                            </p:stCondLst>
                            <p:childTnLst>
                              <p:par>
                                <p:cTn id="174" presetID="10" presetClass="exit" presetSubtype="0" fill="hold" grpId="0" nodeType="afterEffect">
                                  <p:stCondLst>
                                    <p:cond delay="3000"/>
                                  </p:stCondLst>
                                  <p:childTnLst>
                                    <p:animEffect transition="out" filter="fade">
                                      <p:cBhvr>
                                        <p:cTn id="172" dur="300"/>
                                        <p:tgtEl>
                                          <p:spTgt spid="66"/>
                                        </p:tgtEl>
                                      </p:cBhvr>
                                    </p:animEffect>
                                    <p:set>
                                      <p:cBhvr>
                                        <p:cTn id="173" dur="1" fill="hold">
                                          <p:stCondLst>
                                            <p:cond delay="299"/>
                                          </p:stCondLst>
                                        </p:cTn>
                                        <p:tgtEl>
                                          <p:spTgt spid="66"/>
                                        </p:tgtEl>
                                        <p:attrNameLst>
                                          <p:attrName>style.visibility</p:attrName>
                                        </p:attrNameLst>
                                      </p:cBhvr>
                                      <p:to>
                                        <p:strVal val="hidden"/>
                                      </p:to>
                                    </p:set>
                                  </p:childTnLst>
                                </p:cTn>
                              </p:par>
                              <p:par>
                                <p:cTn id="177" presetID="22" presetClass="entr" presetSubtype="2" fill="hold" nodeType="withEffect">
                                  <p:stCondLst>
                                    <p:cond delay="3300"/>
                                  </p:stCondLst>
                                  <p:childTnLst>
                                    <p:set>
                                      <p:cBhvr>
                                        <p:cTn id="175" dur="1" fill="hold">
                                          <p:stCondLst>
                                            <p:cond delay="0"/>
                                          </p:stCondLst>
                                        </p:cTn>
                                        <p:tgtEl>
                                          <p:spTgt spid="51"/>
                                        </p:tgtEl>
                                        <p:attrNameLst>
                                          <p:attrName>style.visibility</p:attrName>
                                        </p:attrNameLst>
                                      </p:cBhvr>
                                      <p:to>
                                        <p:strVal val="visible"/>
                                      </p:to>
                                    </p:set>
                                    <p:animEffect transition="in" filter="wipe(right)">
                                      <p:cBhvr>
                                        <p:cTn id="176" dur="600"/>
                                        <p:tgtEl>
                                          <p:spTgt spid="51"/>
                                        </p:tgtEl>
                                      </p:cBhvr>
                                    </p:animEffect>
                                  </p:childTnLst>
                                </p:cTn>
                              </p:par>
                              <p:par>
                                <p:cTn id="180" presetID="10" presetClass="entr" presetSubtype="0" fill="hold" grpId="0" nodeType="withEffect">
                                  <p:stCondLst>
                                    <p:cond delay="3800"/>
                                  </p:stCondLst>
                                  <p:childTnLst>
                                    <p:set>
                                      <p:cBhvr>
                                        <p:cTn id="178" dur="1" fill="hold">
                                          <p:stCondLst>
                                            <p:cond delay="0"/>
                                          </p:stCondLst>
                                        </p:cTn>
                                        <p:tgtEl>
                                          <p:spTgt spid="15"/>
                                        </p:tgtEl>
                                        <p:attrNameLst>
                                          <p:attrName>style.visibility</p:attrName>
                                        </p:attrNameLst>
                                      </p:cBhvr>
                                      <p:to>
                                        <p:strVal val="visible"/>
                                      </p:to>
                                    </p:set>
                                    <p:animEffect transition="in" filter="fade">
                                      <p:cBhvr>
                                        <p:cTn id="179" dur="500"/>
                                        <p:tgtEl>
                                          <p:spTgt spid="15"/>
                                        </p:tgtEl>
                                      </p:cBhvr>
                                    </p:animEffect>
                                  </p:childTnLst>
                                </p:cTn>
                              </p:par>
                              <p:par>
                                <p:cTn id="183" presetID="10" presetClass="entr" presetSubtype="0" fill="hold" nodeType="withEffect">
                                  <p:stCondLst>
                                    <p:cond delay="3800"/>
                                  </p:stCondLst>
                                  <p:childTnLst>
                                    <p:set>
                                      <p:cBhvr>
                                        <p:cTn id="181" dur="1" fill="hold">
                                          <p:stCondLst>
                                            <p:cond delay="0"/>
                                          </p:stCondLst>
                                        </p:cTn>
                                        <p:tgtEl>
                                          <p:spTgt spid="16"/>
                                        </p:tgtEl>
                                        <p:attrNameLst>
                                          <p:attrName>style.visibility</p:attrName>
                                        </p:attrNameLst>
                                      </p:cBhvr>
                                      <p:to>
                                        <p:strVal val="visible"/>
                                      </p:to>
                                    </p:set>
                                    <p:animEffect transition="in" filter="fade">
                                      <p:cBhvr>
                                        <p:cTn id="182" dur="500"/>
                                        <p:tgtEl>
                                          <p:spTgt spid="16"/>
                                        </p:tgtEl>
                                      </p:cBhvr>
                                    </p:animEffect>
                                  </p:childTnLst>
                                </p:cTn>
                              </p:par>
                              <p:par>
                                <p:cTn id="186" presetID="10" presetClass="entr" presetSubtype="0" fill="hold" grpId="0" nodeType="withEffect">
                                  <p:stCondLst>
                                    <p:cond delay="4000"/>
                                  </p:stCondLst>
                                  <p:childTnLst>
                                    <p:set>
                                      <p:cBhvr>
                                        <p:cTn id="184" dur="1" fill="hold">
                                          <p:stCondLst>
                                            <p:cond delay="0"/>
                                          </p:stCondLst>
                                        </p:cTn>
                                        <p:tgtEl>
                                          <p:spTgt spid="17"/>
                                        </p:tgtEl>
                                        <p:attrNameLst>
                                          <p:attrName>style.visibility</p:attrName>
                                        </p:attrNameLst>
                                      </p:cBhvr>
                                      <p:to>
                                        <p:strVal val="visible"/>
                                      </p:to>
                                    </p:set>
                                    <p:animEffect transition="in" filter="fade">
                                      <p:cBhvr>
                                        <p:cTn id="185" dur="500"/>
                                        <p:tgtEl>
                                          <p:spTgt spid="17"/>
                                        </p:tgtEl>
                                      </p:cBhvr>
                                    </p:animEffect>
                                  </p:childTnLst>
                                </p:cTn>
                              </p:par>
                              <p:par>
                                <p:cTn id="189" presetID="10" presetClass="entr" presetSubtype="0" fill="hold" grpId="0" nodeType="withEffect">
                                  <p:stCondLst>
                                    <p:cond delay="4500"/>
                                  </p:stCondLst>
                                  <p:childTnLst>
                                    <p:set>
                                      <p:cBhvr>
                                        <p:cTn id="187" dur="1" fill="hold">
                                          <p:stCondLst>
                                            <p:cond delay="0"/>
                                          </p:stCondLst>
                                        </p:cTn>
                                        <p:tgtEl>
                                          <p:spTgt spid="18"/>
                                        </p:tgtEl>
                                        <p:attrNameLst>
                                          <p:attrName>style.visibility</p:attrName>
                                        </p:attrNameLst>
                                      </p:cBhvr>
                                      <p:to>
                                        <p:strVal val="visible"/>
                                      </p:to>
                                    </p:set>
                                    <p:animEffect transition="in" filter="fade">
                                      <p:cBhvr>
                                        <p:cTn id="188" dur="500"/>
                                        <p:tgtEl>
                                          <p:spTgt spid="18"/>
                                        </p:tgtEl>
                                      </p:cBhvr>
                                    </p:animEffect>
                                  </p:childTnLst>
                                </p:cTn>
                              </p:par>
                              <p:par>
                                <p:cTn id="192" presetID="10" presetClass="entr" presetSubtype="0" fill="hold" grpId="0" nodeType="withEffect">
                                  <p:stCondLst>
                                    <p:cond delay="3300"/>
                                  </p:stCondLst>
                                  <p:childTnLst>
                                    <p:set>
                                      <p:cBhvr>
                                        <p:cTn id="190" dur="1" fill="hold">
                                          <p:stCondLst>
                                            <p:cond delay="0"/>
                                          </p:stCondLst>
                                        </p:cTn>
                                        <p:tgtEl>
                                          <p:spTgt spid="67"/>
                                        </p:tgtEl>
                                        <p:attrNameLst>
                                          <p:attrName>style.visibility</p:attrName>
                                        </p:attrNameLst>
                                      </p:cBhvr>
                                      <p:to>
                                        <p:strVal val="visible"/>
                                      </p:to>
                                    </p:set>
                                    <p:animEffect transition="in" filter="fade">
                                      <p:cBhvr>
                                        <p:cTn id="191" dur="500"/>
                                        <p:tgtEl>
                                          <p:spTgt spid="67"/>
                                        </p:tgtEl>
                                      </p:cBhvr>
                                    </p:animEffect>
                                  </p:childTnLst>
                                </p:cTn>
                              </p:par>
                            </p:childTnLst>
                          </p:cTn>
                        </p:par>
                        <p:par>
                          <p:cTn id="193" fill="hold">
                            <p:stCondLst>
                              <p:cond delay="38300"/>
                            </p:stCondLst>
                            <p:childTnLst>
                              <p:par>
                                <p:cTn id="196" presetID="10" presetClass="exit" presetSubtype="0" fill="hold" grpId="0" nodeType="afterEffect">
                                  <p:stCondLst>
                                    <p:cond delay="2500"/>
                                  </p:stCondLst>
                                  <p:childTnLst>
                                    <p:animEffect transition="out" filter="fade">
                                      <p:cBhvr>
                                        <p:cTn id="194" dur="300"/>
                                        <p:tgtEl>
                                          <p:spTgt spid="67"/>
                                        </p:tgtEl>
                                      </p:cBhvr>
                                    </p:animEffect>
                                    <p:set>
                                      <p:cBhvr>
                                        <p:cTn id="195" dur="1" fill="hold">
                                          <p:stCondLst>
                                            <p:cond delay="299"/>
                                          </p:stCondLst>
                                        </p:cTn>
                                        <p:tgtEl>
                                          <p:spTgt spid="67"/>
                                        </p:tgtEl>
                                        <p:attrNameLst>
                                          <p:attrName>style.visibility</p:attrName>
                                        </p:attrNameLst>
                                      </p:cBhvr>
                                      <p:to>
                                        <p:strVal val="hidden"/>
                                      </p:to>
                                    </p:set>
                                  </p:childTnLst>
                                </p:cTn>
                              </p:par>
                              <p:par>
                                <p:cTn id="199" presetID="22" presetClass="entr" presetSubtype="2" fill="hold" nodeType="withEffect">
                                  <p:stCondLst>
                                    <p:cond delay="2800"/>
                                  </p:stCondLst>
                                  <p:childTnLst>
                                    <p:set>
                                      <p:cBhvr>
                                        <p:cTn id="197" dur="1" fill="hold">
                                          <p:stCondLst>
                                            <p:cond delay="0"/>
                                          </p:stCondLst>
                                        </p:cTn>
                                        <p:tgtEl>
                                          <p:spTgt spid="53"/>
                                        </p:tgtEl>
                                        <p:attrNameLst>
                                          <p:attrName>style.visibility</p:attrName>
                                        </p:attrNameLst>
                                      </p:cBhvr>
                                      <p:to>
                                        <p:strVal val="visible"/>
                                      </p:to>
                                    </p:set>
                                    <p:animEffect transition="in" filter="wipe(right)">
                                      <p:cBhvr>
                                        <p:cTn id="198" dur="250"/>
                                        <p:tgtEl>
                                          <p:spTgt spid="53"/>
                                        </p:tgtEl>
                                      </p:cBhvr>
                                    </p:animEffect>
                                  </p:childTnLst>
                                </p:cTn>
                              </p:par>
                              <p:par>
                                <p:cTn id="202" presetID="22" presetClass="entr" presetSubtype="4" fill="hold" nodeType="withEffect">
                                  <p:stCondLst>
                                    <p:cond delay="3050"/>
                                  </p:stCondLst>
                                  <p:childTnLst>
                                    <p:set>
                                      <p:cBhvr>
                                        <p:cTn id="200" dur="1" fill="hold">
                                          <p:stCondLst>
                                            <p:cond delay="0"/>
                                          </p:stCondLst>
                                        </p:cTn>
                                        <p:tgtEl>
                                          <p:spTgt spid="54"/>
                                        </p:tgtEl>
                                        <p:attrNameLst>
                                          <p:attrName>style.visibility</p:attrName>
                                        </p:attrNameLst>
                                      </p:cBhvr>
                                      <p:to>
                                        <p:strVal val="visible"/>
                                      </p:to>
                                    </p:set>
                                    <p:animEffect transition="in" filter="wipe(down)">
                                      <p:cBhvr>
                                        <p:cTn id="201" dur="700"/>
                                        <p:tgtEl>
                                          <p:spTgt spid="54"/>
                                        </p:tgtEl>
                                      </p:cBhvr>
                                    </p:animEffect>
                                  </p:childTnLst>
                                </p:cTn>
                              </p:par>
                              <p:par>
                                <p:cTn id="205" presetID="22" presetClass="entr" presetSubtype="8" fill="hold" nodeType="withEffect">
                                  <p:stCondLst>
                                    <p:cond delay="3750"/>
                                  </p:stCondLst>
                                  <p:childTnLst>
                                    <p:set>
                                      <p:cBhvr>
                                        <p:cTn id="203" dur="1" fill="hold">
                                          <p:stCondLst>
                                            <p:cond delay="0"/>
                                          </p:stCondLst>
                                        </p:cTn>
                                        <p:tgtEl>
                                          <p:spTgt spid="55"/>
                                        </p:tgtEl>
                                        <p:attrNameLst>
                                          <p:attrName>style.visibility</p:attrName>
                                        </p:attrNameLst>
                                      </p:cBhvr>
                                      <p:to>
                                        <p:strVal val="visible"/>
                                      </p:to>
                                    </p:set>
                                    <p:animEffect transition="in" filter="wipe(left)">
                                      <p:cBhvr>
                                        <p:cTn id="204" dur="250"/>
                                        <p:tgtEl>
                                          <p:spTgt spid="55"/>
                                        </p:tgtEl>
                                      </p:cBhvr>
                                    </p:animEffect>
                                  </p:childTnLst>
                                </p:cTn>
                              </p:par>
                              <p:par>
                                <p:cTn id="208" presetID="10" presetClass="entr" presetSubtype="0" fill="hold" grpId="0" nodeType="withEffect">
                                  <p:stCondLst>
                                    <p:cond delay="4000"/>
                                  </p:stCondLst>
                                  <p:childTnLst>
                                    <p:set>
                                      <p:cBhvr>
                                        <p:cTn id="206" dur="1" fill="hold">
                                          <p:stCondLst>
                                            <p:cond delay="0"/>
                                          </p:stCondLst>
                                        </p:cTn>
                                        <p:tgtEl>
                                          <p:spTgt spid="12"/>
                                        </p:tgtEl>
                                        <p:attrNameLst>
                                          <p:attrName>style.visibility</p:attrName>
                                        </p:attrNameLst>
                                      </p:cBhvr>
                                      <p:to>
                                        <p:strVal val="visible"/>
                                      </p:to>
                                    </p:set>
                                    <p:animEffect transition="in" filter="fade">
                                      <p:cBhvr>
                                        <p:cTn id="207" dur="500"/>
                                        <p:tgtEl>
                                          <p:spTgt spid="12"/>
                                        </p:tgtEl>
                                      </p:cBhvr>
                                    </p:animEffect>
                                  </p:childTnLst>
                                </p:cTn>
                              </p:par>
                              <p:par>
                                <p:cTn id="211" presetID="10" presetClass="exit" presetSubtype="0" fill="hold" grpId="0" nodeType="withEffect">
                                  <p:stCondLst>
                                    <p:cond delay="4000"/>
                                  </p:stCondLst>
                                  <p:childTnLst>
                                    <p:animEffect transition="out" filter="fade">
                                      <p:cBhvr>
                                        <p:cTn id="209" dur="300"/>
                                        <p:tgtEl>
                                          <p:spTgt spid="17"/>
                                        </p:tgtEl>
                                      </p:cBhvr>
                                    </p:animEffect>
                                    <p:set>
                                      <p:cBhvr>
                                        <p:cTn id="210" dur="1" fill="hold">
                                          <p:stCondLst>
                                            <p:cond delay="299"/>
                                          </p:stCondLst>
                                        </p:cTn>
                                        <p:tgtEl>
                                          <p:spTgt spid="17"/>
                                        </p:tgtEl>
                                        <p:attrNameLst>
                                          <p:attrName>style.visibility</p:attrName>
                                        </p:attrNameLst>
                                      </p:cBhvr>
                                      <p:to>
                                        <p:strVal val="hidden"/>
                                      </p:to>
                                    </p:set>
                                  </p:childTnLst>
                                </p:cTn>
                              </p:par>
                              <p:par>
                                <p:cTn id="214" presetID="10" presetClass="entr" presetSubtype="0" fill="hold" grpId="0" nodeType="withEffect">
                                  <p:stCondLst>
                                    <p:cond delay="2800"/>
                                  </p:stCondLst>
                                  <p:childTnLst>
                                    <p:set>
                                      <p:cBhvr>
                                        <p:cTn id="212" dur="1" fill="hold">
                                          <p:stCondLst>
                                            <p:cond delay="0"/>
                                          </p:stCondLst>
                                        </p:cTn>
                                        <p:tgtEl>
                                          <p:spTgt spid="68"/>
                                        </p:tgtEl>
                                        <p:attrNameLst>
                                          <p:attrName>style.visibility</p:attrName>
                                        </p:attrNameLst>
                                      </p:cBhvr>
                                      <p:to>
                                        <p:strVal val="visible"/>
                                      </p:to>
                                    </p:set>
                                    <p:animEffect transition="in" filter="fade">
                                      <p:cBhvr>
                                        <p:cTn id="213" dur="500"/>
                                        <p:tgtEl>
                                          <p:spTgt spid="68"/>
                                        </p:tgtEl>
                                      </p:cBhvr>
                                    </p:animEffect>
                                  </p:childTnLst>
                                </p:cTn>
                              </p:par>
                            </p:childTnLst>
                          </p:cTn>
                        </p:par>
                        <p:par>
                          <p:cTn id="215" fill="hold">
                            <p:stCondLst>
                              <p:cond delay="42800"/>
                            </p:stCondLst>
                            <p:childTnLst>
                              <p:par>
                                <p:cTn id="218" presetID="10" presetClass="exit" presetSubtype="0" fill="hold" grpId="0" nodeType="afterEffect">
                                  <p:stCondLst>
                                    <p:cond delay="3200"/>
                                  </p:stCondLst>
                                  <p:childTnLst>
                                    <p:animEffect transition="out" filter="fade">
                                      <p:cBhvr>
                                        <p:cTn id="216" dur="300"/>
                                        <p:tgtEl>
                                          <p:spTgt spid="68"/>
                                        </p:tgtEl>
                                      </p:cBhvr>
                                    </p:animEffect>
                                    <p:set>
                                      <p:cBhvr>
                                        <p:cTn id="217" dur="1" fill="hold">
                                          <p:stCondLst>
                                            <p:cond delay="299"/>
                                          </p:stCondLst>
                                        </p:cTn>
                                        <p:tgtEl>
                                          <p:spTgt spid="68"/>
                                        </p:tgtEl>
                                        <p:attrNameLst>
                                          <p:attrName>style.visibility</p:attrName>
                                        </p:attrNameLst>
                                      </p:cBhvr>
                                      <p:to>
                                        <p:strVal val="hidden"/>
                                      </p:to>
                                    </p:set>
                                  </p:childTnLst>
                                </p:cTn>
                              </p:par>
                              <p:par>
                                <p:cTn id="221" presetID="10" presetClass="exit" presetSubtype="0" fill="hold" grpId="0" nodeType="withEffect">
                                  <p:stCondLst>
                                    <p:cond delay="3200"/>
                                  </p:stCondLst>
                                  <p:childTnLst>
                                    <p:animEffect transition="out" filter="fade">
                                      <p:cBhvr>
                                        <p:cTn id="219" dur="300"/>
                                        <p:tgtEl>
                                          <p:spTgt spid="12"/>
                                        </p:tgtEl>
                                      </p:cBhvr>
                                    </p:animEffect>
                                    <p:set>
                                      <p:cBhvr>
                                        <p:cTn id="220" dur="1" fill="hold">
                                          <p:stCondLst>
                                            <p:cond delay="299"/>
                                          </p:stCondLst>
                                        </p:cTn>
                                        <p:tgtEl>
                                          <p:spTgt spid="12"/>
                                        </p:tgtEl>
                                        <p:attrNameLst>
                                          <p:attrName>style.visibility</p:attrName>
                                        </p:attrNameLst>
                                      </p:cBhvr>
                                      <p:to>
                                        <p:strVal val="hidden"/>
                                      </p:to>
                                    </p:set>
                                  </p:childTnLst>
                                </p:cTn>
                              </p:par>
                              <p:par>
                                <p:cTn id="224" presetID="10" presetClass="exit" presetSubtype="0" fill="hold" grpId="0" nodeType="withEffect">
                                  <p:stCondLst>
                                    <p:cond delay="3200"/>
                                  </p:stCondLst>
                                  <p:childTnLst>
                                    <p:animEffect transition="out" filter="fade">
                                      <p:cBhvr>
                                        <p:cTn id="222" dur="300"/>
                                        <p:tgtEl>
                                          <p:spTgt spid="23"/>
                                        </p:tgtEl>
                                      </p:cBhvr>
                                    </p:animEffect>
                                    <p:set>
                                      <p:cBhvr>
                                        <p:cTn id="223" dur="1" fill="hold">
                                          <p:stCondLst>
                                            <p:cond delay="299"/>
                                          </p:stCondLst>
                                        </p:cTn>
                                        <p:tgtEl>
                                          <p:spTgt spid="23"/>
                                        </p:tgtEl>
                                        <p:attrNameLst>
                                          <p:attrName>style.visibility</p:attrName>
                                        </p:attrNameLst>
                                      </p:cBhvr>
                                      <p:to>
                                        <p:strVal val="hidden"/>
                                      </p:to>
                                    </p:set>
                                  </p:childTnLst>
                                </p:cTn>
                              </p:par>
                              <p:par>
                                <p:cTn id="227" presetID="10" presetClass="entr" presetSubtype="0" fill="hold" grpId="0" nodeType="withEffect">
                                  <p:stCondLst>
                                    <p:cond delay="3700"/>
                                  </p:stCondLst>
                                  <p:childTnLst>
                                    <p:set>
                                      <p:cBhvr>
                                        <p:cTn id="225" dur="1" fill="hold">
                                          <p:stCondLst>
                                            <p:cond delay="0"/>
                                          </p:stCondLst>
                                        </p:cTn>
                                        <p:tgtEl>
                                          <p:spTgt spid="22"/>
                                        </p:tgtEl>
                                        <p:attrNameLst>
                                          <p:attrName>style.visibility</p:attrName>
                                        </p:attrNameLst>
                                      </p:cBhvr>
                                      <p:to>
                                        <p:strVal val="visible"/>
                                      </p:to>
                                    </p:set>
                                    <p:animEffect transition="in" filter="fade">
                                      <p:cBhvr>
                                        <p:cTn id="226" dur="500"/>
                                        <p:tgtEl>
                                          <p:spTgt spid="22"/>
                                        </p:tgtEl>
                                      </p:cBhvr>
                                    </p:animEffect>
                                  </p:childTnLst>
                                </p:cTn>
                              </p:par>
                              <p:par>
                                <p:cTn id="230" presetID="10" presetClass="entr" presetSubtype="0" fill="hold" grpId="0" nodeType="withEffect">
                                  <p:stCondLst>
                                    <p:cond delay="3900"/>
                                  </p:stCondLst>
                                  <p:childTnLst>
                                    <p:set>
                                      <p:cBhvr>
                                        <p:cTn id="228" dur="1" fill="hold">
                                          <p:stCondLst>
                                            <p:cond delay="0"/>
                                          </p:stCondLst>
                                        </p:cTn>
                                        <p:tgtEl>
                                          <p:spTgt spid="24"/>
                                        </p:tgtEl>
                                        <p:attrNameLst>
                                          <p:attrName>style.visibility</p:attrName>
                                        </p:attrNameLst>
                                      </p:cBhvr>
                                      <p:to>
                                        <p:strVal val="visible"/>
                                      </p:to>
                                    </p:set>
                                    <p:animEffect transition="in" filter="fade">
                                      <p:cBhvr>
                                        <p:cTn id="229" dur="500"/>
                                        <p:tgtEl>
                                          <p:spTgt spid="24"/>
                                        </p:tgtEl>
                                      </p:cBhvr>
                                    </p:animEffect>
                                  </p:childTnLst>
                                </p:cTn>
                              </p:par>
                              <p:par>
                                <p:cTn id="233" presetID="10" presetClass="entr" presetSubtype="0" fill="hold" grpId="0" nodeType="withEffect">
                                  <p:stCondLst>
                                    <p:cond delay="3600"/>
                                  </p:stCondLst>
                                  <p:childTnLst>
                                    <p:set>
                                      <p:cBhvr>
                                        <p:cTn id="231" dur="1" fill="hold">
                                          <p:stCondLst>
                                            <p:cond delay="0"/>
                                          </p:stCondLst>
                                        </p:cTn>
                                        <p:tgtEl>
                                          <p:spTgt spid="69"/>
                                        </p:tgtEl>
                                        <p:attrNameLst>
                                          <p:attrName>style.visibility</p:attrName>
                                        </p:attrNameLst>
                                      </p:cBhvr>
                                      <p:to>
                                        <p:strVal val="visible"/>
                                      </p:to>
                                    </p:set>
                                    <p:animEffect transition="in" filter="fade">
                                      <p:cBhvr>
                                        <p:cTn id="232" dur="500"/>
                                        <p:tgtEl>
                                          <p:spTgt spid="69"/>
                                        </p:tgtEl>
                                      </p:cBhvr>
                                    </p:animEffect>
                                  </p:childTnLst>
                                </p:cTn>
                              </p:par>
                            </p:childTnLst>
                          </p:cTn>
                        </p:par>
                        <p:par>
                          <p:cTn id="234" fill="hold">
                            <p:stCondLst>
                              <p:cond delay="47200"/>
                            </p:stCondLst>
                            <p:childTnLst>
                              <p:par>
                                <p:cTn id="237" presetID="10" presetClass="exit" presetSubtype="0" fill="hold" grpId="0" nodeType="afterEffect">
                                  <p:stCondLst>
                                    <p:cond delay="4000"/>
                                  </p:stCondLst>
                                  <p:childTnLst>
                                    <p:animEffect transition="out" filter="fade">
                                      <p:cBhvr>
                                        <p:cTn id="235" dur="300"/>
                                        <p:tgtEl>
                                          <p:spTgt spid="69"/>
                                        </p:tgtEl>
                                      </p:cBhvr>
                                    </p:animEffect>
                                    <p:set>
                                      <p:cBhvr>
                                        <p:cTn id="236" dur="1" fill="hold">
                                          <p:stCondLst>
                                            <p:cond delay="299"/>
                                          </p:stCondLst>
                                        </p:cTn>
                                        <p:tgtEl>
                                          <p:spTgt spid="69"/>
                                        </p:tgtEl>
                                        <p:attrNameLst>
                                          <p:attrName>style.visibility</p:attrName>
                                        </p:attrNameLst>
                                      </p:cBhvr>
                                      <p:to>
                                        <p:strVal val="hidden"/>
                                      </p:to>
                                    </p:set>
                                  </p:childTnLst>
                                </p:cTn>
                              </p:par>
                              <p:par>
                                <p:cTn id="240" presetID="10" presetClass="exit" presetSubtype="0" fill="hold" grpId="0" nodeType="withEffect">
                                  <p:stCondLst>
                                    <p:cond delay="4000"/>
                                  </p:stCondLst>
                                  <p:childTnLst>
                                    <p:animEffect transition="out" filter="fade">
                                      <p:cBhvr>
                                        <p:cTn id="238" dur="300"/>
                                        <p:tgtEl>
                                          <p:spTgt spid="57"/>
                                        </p:tgtEl>
                                      </p:cBhvr>
                                    </p:animEffect>
                                    <p:set>
                                      <p:cBhvr>
                                        <p:cTn id="239" dur="1" fill="hold">
                                          <p:stCondLst>
                                            <p:cond delay="299"/>
                                          </p:stCondLst>
                                        </p:cTn>
                                        <p:tgtEl>
                                          <p:spTgt spid="57"/>
                                        </p:tgtEl>
                                        <p:attrNameLst>
                                          <p:attrName>style.visibility</p:attrName>
                                        </p:attrNameLst>
                                      </p:cBhvr>
                                      <p:to>
                                        <p:strVal val="hidden"/>
                                      </p:to>
                                    </p:set>
                                  </p:childTnLst>
                                </p:cTn>
                              </p:par>
                              <p:par>
                                <p:cTn id="243" presetID="10" presetClass="exit" presetSubtype="0" fill="hold" grpId="0" nodeType="withEffect">
                                  <p:stCondLst>
                                    <p:cond delay="4000"/>
                                  </p:stCondLst>
                                  <p:childTnLst>
                                    <p:animEffect transition="out" filter="fade">
                                      <p:cBhvr>
                                        <p:cTn id="241" dur="300"/>
                                        <p:tgtEl>
                                          <p:spTgt spid="36"/>
                                        </p:tgtEl>
                                      </p:cBhvr>
                                    </p:animEffect>
                                    <p:set>
                                      <p:cBhvr>
                                        <p:cTn id="242" dur="1" fill="hold">
                                          <p:stCondLst>
                                            <p:cond delay="299"/>
                                          </p:stCondLst>
                                        </p:cTn>
                                        <p:tgtEl>
                                          <p:spTgt spid="36"/>
                                        </p:tgtEl>
                                        <p:attrNameLst>
                                          <p:attrName>style.visibility</p:attrName>
                                        </p:attrNameLst>
                                      </p:cBhvr>
                                      <p:to>
                                        <p:strVal val="hidden"/>
                                      </p:to>
                                    </p:set>
                                  </p:childTnLst>
                                </p:cTn>
                              </p:par>
                              <p:par>
                                <p:cTn id="246" presetID="10" presetClass="exit" presetSubtype="0" fill="hold" nodeType="withEffect">
                                  <p:stCondLst>
                                    <p:cond delay="4000"/>
                                  </p:stCondLst>
                                  <p:childTnLst>
                                    <p:animEffect transition="out" filter="fade">
                                      <p:cBhvr>
                                        <p:cTn id="244" dur="300"/>
                                        <p:tgtEl>
                                          <p:spTgt spid="51"/>
                                        </p:tgtEl>
                                      </p:cBhvr>
                                    </p:animEffect>
                                    <p:set>
                                      <p:cBhvr>
                                        <p:cTn id="245" dur="1" fill="hold">
                                          <p:stCondLst>
                                            <p:cond delay="299"/>
                                          </p:stCondLst>
                                        </p:cTn>
                                        <p:tgtEl>
                                          <p:spTgt spid="51"/>
                                        </p:tgtEl>
                                        <p:attrNameLst>
                                          <p:attrName>style.visibility</p:attrName>
                                        </p:attrNameLst>
                                      </p:cBhvr>
                                      <p:to>
                                        <p:strVal val="hidden"/>
                                      </p:to>
                                    </p:set>
                                  </p:childTnLst>
                                </p:cTn>
                              </p:par>
                              <p:par>
                                <p:cTn id="249" presetID="10" presetClass="exit" presetSubtype="0" fill="hold" grpId="0" nodeType="withEffect">
                                  <p:stCondLst>
                                    <p:cond delay="4000"/>
                                  </p:stCondLst>
                                  <p:childTnLst>
                                    <p:animEffect transition="out" filter="fade">
                                      <p:cBhvr>
                                        <p:cTn id="247" dur="300"/>
                                        <p:tgtEl>
                                          <p:spTgt spid="15"/>
                                        </p:tgtEl>
                                      </p:cBhvr>
                                    </p:animEffect>
                                    <p:set>
                                      <p:cBhvr>
                                        <p:cTn id="248" dur="1" fill="hold">
                                          <p:stCondLst>
                                            <p:cond delay="299"/>
                                          </p:stCondLst>
                                        </p:cTn>
                                        <p:tgtEl>
                                          <p:spTgt spid="15"/>
                                        </p:tgtEl>
                                        <p:attrNameLst>
                                          <p:attrName>style.visibility</p:attrName>
                                        </p:attrNameLst>
                                      </p:cBhvr>
                                      <p:to>
                                        <p:strVal val="hidden"/>
                                      </p:to>
                                    </p:set>
                                  </p:childTnLst>
                                </p:cTn>
                              </p:par>
                              <p:par>
                                <p:cTn id="252" presetID="10" presetClass="exit" presetSubtype="0" fill="hold" nodeType="withEffect">
                                  <p:stCondLst>
                                    <p:cond delay="4000"/>
                                  </p:stCondLst>
                                  <p:childTnLst>
                                    <p:animEffect transition="out" filter="fade">
                                      <p:cBhvr>
                                        <p:cTn id="250" dur="300"/>
                                        <p:tgtEl>
                                          <p:spTgt spid="16"/>
                                        </p:tgtEl>
                                      </p:cBhvr>
                                    </p:animEffect>
                                    <p:set>
                                      <p:cBhvr>
                                        <p:cTn id="251" dur="1" fill="hold">
                                          <p:stCondLst>
                                            <p:cond delay="299"/>
                                          </p:stCondLst>
                                        </p:cTn>
                                        <p:tgtEl>
                                          <p:spTgt spid="16"/>
                                        </p:tgtEl>
                                        <p:attrNameLst>
                                          <p:attrName>style.visibility</p:attrName>
                                        </p:attrNameLst>
                                      </p:cBhvr>
                                      <p:to>
                                        <p:strVal val="hidden"/>
                                      </p:to>
                                    </p:set>
                                  </p:childTnLst>
                                </p:cTn>
                              </p:par>
                              <p:par>
                                <p:cTn id="255" presetID="10" presetClass="exit" presetSubtype="0" fill="hold" grpId="0" nodeType="withEffect">
                                  <p:stCondLst>
                                    <p:cond delay="4000"/>
                                  </p:stCondLst>
                                  <p:childTnLst>
                                    <p:animEffect transition="out" filter="fade">
                                      <p:cBhvr>
                                        <p:cTn id="253" dur="300"/>
                                        <p:tgtEl>
                                          <p:spTgt spid="18"/>
                                        </p:tgtEl>
                                      </p:cBhvr>
                                    </p:animEffect>
                                    <p:set>
                                      <p:cBhvr>
                                        <p:cTn id="254" dur="1" fill="hold">
                                          <p:stCondLst>
                                            <p:cond delay="299"/>
                                          </p:stCondLst>
                                        </p:cTn>
                                        <p:tgtEl>
                                          <p:spTgt spid="18"/>
                                        </p:tgtEl>
                                        <p:attrNameLst>
                                          <p:attrName>style.visibility</p:attrName>
                                        </p:attrNameLst>
                                      </p:cBhvr>
                                      <p:to>
                                        <p:strVal val="hidden"/>
                                      </p:to>
                                    </p:set>
                                  </p:childTnLst>
                                </p:cTn>
                              </p:par>
                              <p:par>
                                <p:cTn id="258" presetID="10" presetClass="exit" presetSubtype="0" fill="hold" nodeType="withEffect">
                                  <p:stCondLst>
                                    <p:cond delay="4000"/>
                                  </p:stCondLst>
                                  <p:childTnLst>
                                    <p:animEffect transition="out" filter="fade">
                                      <p:cBhvr>
                                        <p:cTn id="256" dur="300"/>
                                        <p:tgtEl>
                                          <p:spTgt spid="53"/>
                                        </p:tgtEl>
                                      </p:cBhvr>
                                    </p:animEffect>
                                    <p:set>
                                      <p:cBhvr>
                                        <p:cTn id="257" dur="1" fill="hold">
                                          <p:stCondLst>
                                            <p:cond delay="299"/>
                                          </p:stCondLst>
                                        </p:cTn>
                                        <p:tgtEl>
                                          <p:spTgt spid="53"/>
                                        </p:tgtEl>
                                        <p:attrNameLst>
                                          <p:attrName>style.visibility</p:attrName>
                                        </p:attrNameLst>
                                      </p:cBhvr>
                                      <p:to>
                                        <p:strVal val="hidden"/>
                                      </p:to>
                                    </p:set>
                                  </p:childTnLst>
                                </p:cTn>
                              </p:par>
                              <p:par>
                                <p:cTn id="261" presetID="10" presetClass="exit" presetSubtype="0" fill="hold" nodeType="withEffect">
                                  <p:stCondLst>
                                    <p:cond delay="4000"/>
                                  </p:stCondLst>
                                  <p:childTnLst>
                                    <p:animEffect transition="out" filter="fade">
                                      <p:cBhvr>
                                        <p:cTn id="259" dur="300"/>
                                        <p:tgtEl>
                                          <p:spTgt spid="54"/>
                                        </p:tgtEl>
                                      </p:cBhvr>
                                    </p:animEffect>
                                    <p:set>
                                      <p:cBhvr>
                                        <p:cTn id="260" dur="1" fill="hold">
                                          <p:stCondLst>
                                            <p:cond delay="299"/>
                                          </p:stCondLst>
                                        </p:cTn>
                                        <p:tgtEl>
                                          <p:spTgt spid="54"/>
                                        </p:tgtEl>
                                        <p:attrNameLst>
                                          <p:attrName>style.visibility</p:attrName>
                                        </p:attrNameLst>
                                      </p:cBhvr>
                                      <p:to>
                                        <p:strVal val="hidden"/>
                                      </p:to>
                                    </p:set>
                                  </p:childTnLst>
                                </p:cTn>
                              </p:par>
                              <p:par>
                                <p:cTn id="264" presetID="10" presetClass="exit" presetSubtype="0" fill="hold" nodeType="withEffect">
                                  <p:stCondLst>
                                    <p:cond delay="4000"/>
                                  </p:stCondLst>
                                  <p:childTnLst>
                                    <p:animEffect transition="out" filter="fade">
                                      <p:cBhvr>
                                        <p:cTn id="262" dur="300"/>
                                        <p:tgtEl>
                                          <p:spTgt spid="55"/>
                                        </p:tgtEl>
                                      </p:cBhvr>
                                    </p:animEffect>
                                    <p:set>
                                      <p:cBhvr>
                                        <p:cTn id="263" dur="1" fill="hold">
                                          <p:stCondLst>
                                            <p:cond delay="299"/>
                                          </p:stCondLst>
                                        </p:cTn>
                                        <p:tgtEl>
                                          <p:spTgt spid="55"/>
                                        </p:tgtEl>
                                        <p:attrNameLst>
                                          <p:attrName>style.visibility</p:attrName>
                                        </p:attrNameLst>
                                      </p:cBhvr>
                                      <p:to>
                                        <p:strVal val="hidden"/>
                                      </p:to>
                                    </p:set>
                                  </p:childTnLst>
                                </p:cTn>
                              </p:par>
                              <p:par>
                                <p:cTn id="267" presetID="10" presetClass="exit" presetSubtype="0" fill="hold" grpId="0" nodeType="withEffect">
                                  <p:stCondLst>
                                    <p:cond delay="4000"/>
                                  </p:stCondLst>
                                  <p:childTnLst>
                                    <p:animEffect transition="out" filter="fade">
                                      <p:cBhvr>
                                        <p:cTn id="265" dur="300"/>
                                        <p:tgtEl>
                                          <p:spTgt spid="22"/>
                                        </p:tgtEl>
                                      </p:cBhvr>
                                    </p:animEffect>
                                    <p:set>
                                      <p:cBhvr>
                                        <p:cTn id="266" dur="1" fill="hold">
                                          <p:stCondLst>
                                            <p:cond delay="299"/>
                                          </p:stCondLst>
                                        </p:cTn>
                                        <p:tgtEl>
                                          <p:spTgt spid="22"/>
                                        </p:tgtEl>
                                        <p:attrNameLst>
                                          <p:attrName>style.visibility</p:attrName>
                                        </p:attrNameLst>
                                      </p:cBhvr>
                                      <p:to>
                                        <p:strVal val="hidden"/>
                                      </p:to>
                                    </p:set>
                                  </p:childTnLst>
                                </p:cTn>
                              </p:par>
                              <p:par>
                                <p:cTn id="270" presetID="10" presetClass="exit" presetSubtype="0" fill="hold" grpId="0" nodeType="withEffect">
                                  <p:stCondLst>
                                    <p:cond delay="4000"/>
                                  </p:stCondLst>
                                  <p:childTnLst>
                                    <p:animEffect transition="out" filter="fade">
                                      <p:cBhvr>
                                        <p:cTn id="268" dur="300"/>
                                        <p:tgtEl>
                                          <p:spTgt spid="24"/>
                                        </p:tgtEl>
                                      </p:cBhvr>
                                    </p:animEffect>
                                    <p:set>
                                      <p:cBhvr>
                                        <p:cTn id="269" dur="1" fill="hold">
                                          <p:stCondLst>
                                            <p:cond delay="299"/>
                                          </p:stCondLst>
                                        </p:cTn>
                                        <p:tgtEl>
                                          <p:spTgt spid="24"/>
                                        </p:tgtEl>
                                        <p:attrNameLst>
                                          <p:attrName>style.visibility</p:attrName>
                                        </p:attrNameLst>
                                      </p:cBhvr>
                                      <p:to>
                                        <p:strVal val="hidden"/>
                                      </p:to>
                                    </p:set>
                                  </p:childTnLst>
                                </p:cTn>
                              </p:par>
                              <p:par>
                                <p:cTn id="273" presetID="10" presetClass="entr" presetSubtype="0" fill="hold" grpId="0" nodeType="withEffect">
                                  <p:stCondLst>
                                    <p:cond delay="4500"/>
                                  </p:stCondLst>
                                  <p:childTnLst>
                                    <p:set>
                                      <p:cBhvr>
                                        <p:cTn id="271" dur="1" fill="hold">
                                          <p:stCondLst>
                                            <p:cond delay="0"/>
                                          </p:stCondLst>
                                        </p:cTn>
                                        <p:tgtEl>
                                          <p:spTgt spid="58"/>
                                        </p:tgtEl>
                                        <p:attrNameLst>
                                          <p:attrName>style.visibility</p:attrName>
                                        </p:attrNameLst>
                                      </p:cBhvr>
                                      <p:to>
                                        <p:strVal val="visible"/>
                                      </p:to>
                                    </p:set>
                                    <p:animEffect transition="in" filter="fade">
                                      <p:cBhvr>
                                        <p:cTn id="272" dur="500"/>
                                        <p:tgtEl>
                                          <p:spTgt spid="58"/>
                                        </p:tgtEl>
                                      </p:cBhvr>
                                    </p:animEffect>
                                  </p:childTnLst>
                                </p:cTn>
                              </p:par>
                              <p:par>
                                <p:cTn id="276" presetID="10" presetClass="entr" presetSubtype="0" fill="hold" grpId="0" nodeType="withEffect">
                                  <p:stCondLst>
                                    <p:cond delay="4500"/>
                                  </p:stCondLst>
                                  <p:childTnLst>
                                    <p:set>
                                      <p:cBhvr>
                                        <p:cTn id="274" dur="1" fill="hold">
                                          <p:stCondLst>
                                            <p:cond delay="0"/>
                                          </p:stCondLst>
                                        </p:cTn>
                                        <p:tgtEl>
                                          <p:spTgt spid="38"/>
                                        </p:tgtEl>
                                        <p:attrNameLst>
                                          <p:attrName>style.visibility</p:attrName>
                                        </p:attrNameLst>
                                      </p:cBhvr>
                                      <p:to>
                                        <p:strVal val="visible"/>
                                      </p:to>
                                    </p:set>
                                    <p:animEffect transition="in" filter="fade">
                                      <p:cBhvr>
                                        <p:cTn id="275" dur="500"/>
                                        <p:tgtEl>
                                          <p:spTgt spid="38"/>
                                        </p:tgtEl>
                                      </p:cBhvr>
                                    </p:animEffect>
                                  </p:childTnLst>
                                </p:cTn>
                              </p:par>
                              <p:par>
                                <p:cTn id="279" presetID="10" presetClass="entr" presetSubtype="0" fill="hold" grpId="0" nodeType="withEffect">
                                  <p:stCondLst>
                                    <p:cond delay="4500"/>
                                  </p:stCondLst>
                                  <p:childTnLst>
                                    <p:set>
                                      <p:cBhvr>
                                        <p:cTn id="277" dur="1" fill="hold">
                                          <p:stCondLst>
                                            <p:cond delay="0"/>
                                          </p:stCondLst>
                                        </p:cTn>
                                        <p:tgtEl>
                                          <p:spTgt spid="70"/>
                                        </p:tgtEl>
                                        <p:attrNameLst>
                                          <p:attrName>style.visibility</p:attrName>
                                        </p:attrNameLst>
                                      </p:cBhvr>
                                      <p:to>
                                        <p:strVal val="visible"/>
                                      </p:to>
                                    </p:set>
                                    <p:animEffect transition="in" filter="fade">
                                      <p:cBhvr>
                                        <p:cTn id="278" dur="500"/>
                                        <p:tgtEl>
                                          <p:spTgt spid="70"/>
                                        </p:tgtEl>
                                      </p:cBhvr>
                                    </p:animEffect>
                                  </p:childTnLst>
                                </p:cTn>
                              </p:par>
                            </p:childTnLst>
                          </p:cTn>
                        </p:par>
                        <p:par>
                          <p:cTn id="280" fill="hold">
                            <p:stCondLst>
                              <p:cond delay="52200"/>
                            </p:stCondLst>
                            <p:childTnLst>
                              <p:par>
                                <p:cTn id="283" presetID="10" presetClass="exit" presetSubtype="0" fill="hold" grpId="0" nodeType="afterEffect">
                                  <p:stCondLst>
                                    <p:cond delay="3200"/>
                                  </p:stCondLst>
                                  <p:childTnLst>
                                    <p:animEffect transition="out" filter="fade">
                                      <p:cBhvr>
                                        <p:cTn id="281" dur="300"/>
                                        <p:tgtEl>
                                          <p:spTgt spid="70"/>
                                        </p:tgtEl>
                                      </p:cBhvr>
                                    </p:animEffect>
                                    <p:set>
                                      <p:cBhvr>
                                        <p:cTn id="282" dur="1" fill="hold">
                                          <p:stCondLst>
                                            <p:cond delay="299"/>
                                          </p:stCondLst>
                                        </p:cTn>
                                        <p:tgtEl>
                                          <p:spTgt spid="70"/>
                                        </p:tgtEl>
                                        <p:attrNameLst>
                                          <p:attrName>style.visibility</p:attrName>
                                        </p:attrNameLst>
                                      </p:cBhvr>
                                      <p:to>
                                        <p:strVal val="hidden"/>
                                      </p:to>
                                    </p:set>
                                  </p:childTnLst>
                                </p:cTn>
                              </p:par>
                              <p:par>
                                <p:cTn id="286" presetID="22" presetClass="entr" presetSubtype="1" fill="hold" nodeType="withEffect">
                                  <p:stCondLst>
                                    <p:cond delay="3500"/>
                                  </p:stCondLst>
                                  <p:childTnLst>
                                    <p:set>
                                      <p:cBhvr>
                                        <p:cTn id="284" dur="1" fill="hold">
                                          <p:stCondLst>
                                            <p:cond delay="0"/>
                                          </p:stCondLst>
                                        </p:cTn>
                                        <p:tgtEl>
                                          <p:spTgt spid="52"/>
                                        </p:tgtEl>
                                        <p:attrNameLst>
                                          <p:attrName>style.visibility</p:attrName>
                                        </p:attrNameLst>
                                      </p:cBhvr>
                                      <p:to>
                                        <p:strVal val="visible"/>
                                      </p:to>
                                    </p:set>
                                    <p:animEffect transition="in" filter="wipe(up)">
                                      <p:cBhvr>
                                        <p:cTn id="285" dur="400"/>
                                        <p:tgtEl>
                                          <p:spTgt spid="52"/>
                                        </p:tgtEl>
                                      </p:cBhvr>
                                    </p:animEffect>
                                  </p:childTnLst>
                                </p:cTn>
                              </p:par>
                              <p:par>
                                <p:cTn id="289" presetID="10" presetClass="entr" presetSubtype="0" fill="hold" grpId="0" nodeType="withEffect">
                                  <p:stCondLst>
                                    <p:cond delay="3900"/>
                                  </p:stCondLst>
                                  <p:childTnLst>
                                    <p:set>
                                      <p:cBhvr>
                                        <p:cTn id="287" dur="1" fill="hold">
                                          <p:stCondLst>
                                            <p:cond delay="0"/>
                                          </p:stCondLst>
                                        </p:cTn>
                                        <p:tgtEl>
                                          <p:spTgt spid="39"/>
                                        </p:tgtEl>
                                        <p:attrNameLst>
                                          <p:attrName>style.visibility</p:attrName>
                                        </p:attrNameLst>
                                      </p:cBhvr>
                                      <p:to>
                                        <p:strVal val="visible"/>
                                      </p:to>
                                    </p:set>
                                    <p:animEffect transition="in" filter="fade">
                                      <p:cBhvr>
                                        <p:cTn id="288" dur="500"/>
                                        <p:tgtEl>
                                          <p:spTgt spid="39"/>
                                        </p:tgtEl>
                                      </p:cBhvr>
                                    </p:animEffect>
                                  </p:childTnLst>
                                </p:cTn>
                              </p:par>
                              <p:par>
                                <p:cTn id="292" presetID="10" presetClass="entr" presetSubtype="0" fill="hold" nodeType="withEffect">
                                  <p:stCondLst>
                                    <p:cond delay="3900"/>
                                  </p:stCondLst>
                                  <p:childTnLst>
                                    <p:set>
                                      <p:cBhvr>
                                        <p:cTn id="290" dur="1" fill="hold">
                                          <p:stCondLst>
                                            <p:cond delay="0"/>
                                          </p:stCondLst>
                                        </p:cTn>
                                        <p:tgtEl>
                                          <p:spTgt spid="40"/>
                                        </p:tgtEl>
                                        <p:attrNameLst>
                                          <p:attrName>style.visibility</p:attrName>
                                        </p:attrNameLst>
                                      </p:cBhvr>
                                      <p:to>
                                        <p:strVal val="visible"/>
                                      </p:to>
                                    </p:set>
                                    <p:animEffect transition="in" filter="fade">
                                      <p:cBhvr>
                                        <p:cTn id="291" dur="500"/>
                                        <p:tgtEl>
                                          <p:spTgt spid="40"/>
                                        </p:tgtEl>
                                      </p:cBhvr>
                                    </p:animEffect>
                                  </p:childTnLst>
                                </p:cTn>
                              </p:par>
                              <p:par>
                                <p:cTn id="295" presetID="10" presetClass="entr" presetSubtype="0" fill="hold" grpId="0" nodeType="withEffect">
                                  <p:stCondLst>
                                    <p:cond delay="4700"/>
                                  </p:stCondLst>
                                  <p:childTnLst>
                                    <p:set>
                                      <p:cBhvr>
                                        <p:cTn id="293" dur="1" fill="hold">
                                          <p:stCondLst>
                                            <p:cond delay="0"/>
                                          </p:stCondLst>
                                        </p:cTn>
                                        <p:tgtEl>
                                          <p:spTgt spid="41"/>
                                        </p:tgtEl>
                                        <p:attrNameLst>
                                          <p:attrName>style.visibility</p:attrName>
                                        </p:attrNameLst>
                                      </p:cBhvr>
                                      <p:to>
                                        <p:strVal val="visible"/>
                                      </p:to>
                                    </p:set>
                                    <p:animEffect transition="in" filter="fade">
                                      <p:cBhvr>
                                        <p:cTn id="294" dur="500"/>
                                        <p:tgtEl>
                                          <p:spTgt spid="41"/>
                                        </p:tgtEl>
                                      </p:cBhvr>
                                    </p:animEffect>
                                  </p:childTnLst>
                                </p:cTn>
                              </p:par>
                              <p:par>
                                <p:cTn id="298" presetID="10" presetClass="entr" presetSubtype="0" fill="hold" grpId="0" nodeType="withEffect">
                                  <p:stCondLst>
                                    <p:cond delay="3500"/>
                                  </p:stCondLst>
                                  <p:childTnLst>
                                    <p:set>
                                      <p:cBhvr>
                                        <p:cTn id="296" dur="1" fill="hold">
                                          <p:stCondLst>
                                            <p:cond delay="0"/>
                                          </p:stCondLst>
                                        </p:cTn>
                                        <p:tgtEl>
                                          <p:spTgt spid="71"/>
                                        </p:tgtEl>
                                        <p:attrNameLst>
                                          <p:attrName>style.visibility</p:attrName>
                                        </p:attrNameLst>
                                      </p:cBhvr>
                                      <p:to>
                                        <p:strVal val="visible"/>
                                      </p:to>
                                    </p:set>
                                    <p:animEffect transition="in" filter="fade">
                                      <p:cBhvr>
                                        <p:cTn id="297" dur="500"/>
                                        <p:tgtEl>
                                          <p:spTgt spid="71"/>
                                        </p:tgtEl>
                                      </p:cBhvr>
                                    </p:animEffect>
                                  </p:childTnLst>
                                </p:cTn>
                              </p:par>
                            </p:childTnLst>
                          </p:cTn>
                        </p:par>
                        <p:par>
                          <p:cTn id="299" fill="hold">
                            <p:stCondLst>
                              <p:cond delay="57400"/>
                            </p:stCondLst>
                            <p:childTnLst>
                              <p:par>
                                <p:cTn id="302" presetID="10" presetClass="exit" presetSubtype="0" fill="hold" grpId="0" nodeType="afterEffect">
                                  <p:stCondLst>
                                    <p:cond delay="4500"/>
                                  </p:stCondLst>
                                  <p:childTnLst>
                                    <p:animEffect transition="out" filter="fade">
                                      <p:cBhvr>
                                        <p:cTn id="300" dur="300"/>
                                        <p:tgtEl>
                                          <p:spTgt spid="71"/>
                                        </p:tgtEl>
                                      </p:cBhvr>
                                    </p:animEffect>
                                    <p:set>
                                      <p:cBhvr>
                                        <p:cTn id="301" dur="1" fill="hold">
                                          <p:stCondLst>
                                            <p:cond delay="299"/>
                                          </p:stCondLst>
                                        </p:cTn>
                                        <p:tgtEl>
                                          <p:spTgt spid="71"/>
                                        </p:tgtEl>
                                        <p:attrNameLst>
                                          <p:attrName>style.visibility</p:attrName>
                                        </p:attrNameLst>
                                      </p:cBhvr>
                                      <p:to>
                                        <p:strVal val="hidden"/>
                                      </p:to>
                                    </p:set>
                                  </p:childTnLst>
                                </p:cTn>
                              </p:par>
                              <p:par>
                                <p:cTn id="305" presetID="10" presetClass="exit" presetSubtype="0" fill="hold" grpId="0" nodeType="withEffect">
                                  <p:stCondLst>
                                    <p:cond delay="4500"/>
                                  </p:stCondLst>
                                  <p:childTnLst>
                                    <p:animEffect transition="out" filter="fade">
                                      <p:cBhvr>
                                        <p:cTn id="303" dur="300"/>
                                        <p:tgtEl>
                                          <p:spTgt spid="58"/>
                                        </p:tgtEl>
                                      </p:cBhvr>
                                    </p:animEffect>
                                    <p:set>
                                      <p:cBhvr>
                                        <p:cTn id="304" dur="1" fill="hold">
                                          <p:stCondLst>
                                            <p:cond delay="299"/>
                                          </p:stCondLst>
                                        </p:cTn>
                                        <p:tgtEl>
                                          <p:spTgt spid="58"/>
                                        </p:tgtEl>
                                        <p:attrNameLst>
                                          <p:attrName>style.visibility</p:attrName>
                                        </p:attrNameLst>
                                      </p:cBhvr>
                                      <p:to>
                                        <p:strVal val="hidden"/>
                                      </p:to>
                                    </p:set>
                                  </p:childTnLst>
                                </p:cTn>
                              </p:par>
                              <p:par>
                                <p:cTn id="308" presetID="10" presetClass="exit" presetSubtype="0" fill="hold" grpId="0" nodeType="withEffect">
                                  <p:stCondLst>
                                    <p:cond delay="4500"/>
                                  </p:stCondLst>
                                  <p:childTnLst>
                                    <p:animEffect transition="out" filter="fade">
                                      <p:cBhvr>
                                        <p:cTn id="306" dur="300"/>
                                        <p:tgtEl>
                                          <p:spTgt spid="38"/>
                                        </p:tgtEl>
                                      </p:cBhvr>
                                    </p:animEffect>
                                    <p:set>
                                      <p:cBhvr>
                                        <p:cTn id="307" dur="1" fill="hold">
                                          <p:stCondLst>
                                            <p:cond delay="299"/>
                                          </p:stCondLst>
                                        </p:cTn>
                                        <p:tgtEl>
                                          <p:spTgt spid="38"/>
                                        </p:tgtEl>
                                        <p:attrNameLst>
                                          <p:attrName>style.visibility</p:attrName>
                                        </p:attrNameLst>
                                      </p:cBhvr>
                                      <p:to>
                                        <p:strVal val="hidden"/>
                                      </p:to>
                                    </p:set>
                                  </p:childTnLst>
                                </p:cTn>
                              </p:par>
                              <p:par>
                                <p:cTn id="311" presetID="10" presetClass="entr" presetSubtype="0" fill="hold" grpId="0" nodeType="withEffect">
                                  <p:stCondLst>
                                    <p:cond delay="4900"/>
                                  </p:stCondLst>
                                  <p:childTnLst>
                                    <p:set>
                                      <p:cBhvr>
                                        <p:cTn id="309" dur="1" fill="hold">
                                          <p:stCondLst>
                                            <p:cond delay="0"/>
                                          </p:stCondLst>
                                        </p:cTn>
                                        <p:tgtEl>
                                          <p:spTgt spid="72"/>
                                        </p:tgtEl>
                                        <p:attrNameLst>
                                          <p:attrName>style.visibility</p:attrName>
                                        </p:attrNameLst>
                                      </p:cBhvr>
                                      <p:to>
                                        <p:strVal val="visible"/>
                                      </p:to>
                                    </p:set>
                                    <p:animEffect transition="in" filter="fade">
                                      <p:cBhvr>
                                        <p:cTn id="310"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1" grpId="0" animBg="1"/>
      <p:bldP spid="59" grpId="0"/>
      <p:bldP spid="44" grpId="0"/>
      <p:bldP spid="60" grpId="0"/>
      <p:bldP spid="19" grpId="0" animBg="1"/>
      <p:bldP spid="21" grpId="0" animBg="1"/>
      <p:bldP spid="61" grpId="0"/>
      <p:bldP spid="23" grpId="0" animBg="1"/>
      <p:bldP spid="25" grpId="0" animBg="1"/>
      <p:bldP spid="27" grpId="0" animBg="1"/>
      <p:bldP spid="62" grpId="0"/>
      <p:bldP spid="28" grpId="0"/>
      <p:bldP spid="29" grpId="0" animBg="1"/>
      <p:bldP spid="30" grpId="0" animBg="1"/>
      <p:bldP spid="31" grpId="0" animBg="1"/>
      <p:bldP spid="32" grpId="0" animBg="1"/>
      <p:bldP spid="63" grpId="0"/>
      <p:bldP spid="33" grpId="0" animBg="1"/>
      <p:bldP spid="34" grpId="0" animBg="1"/>
      <p:bldP spid="35" grpId="0" animBg="1"/>
      <p:bldP spid="64" grpId="0"/>
      <p:bldP spid="56" grpId="0"/>
      <p:bldP spid="37" grpId="0" animBg="1"/>
      <p:bldP spid="65" grpId="0"/>
      <p:bldP spid="57" grpId="0"/>
      <p:bldP spid="36" grpId="0" animBg="1"/>
      <p:bldP spid="66" grpId="0"/>
      <p:bldP spid="15" grpId="0" animBg="1"/>
      <p:bldP spid="17" grpId="0" animBg="1"/>
      <p:bldP spid="18" grpId="0" animBg="1"/>
      <p:bldP spid="67" grpId="0"/>
      <p:bldP spid="12" grpId="0" animBg="1"/>
      <p:bldP spid="68" grpId="0"/>
      <p:bldP spid="22" grpId="0" animBg="1"/>
      <p:bldP spid="24" grpId="0" animBg="1"/>
      <p:bldP spid="69" grpId="0"/>
      <p:bldP spid="58" grpId="0"/>
      <p:bldP spid="38" grpId="0" animBg="1"/>
      <p:bldP spid="70" grpId="0"/>
      <p:bldP spid="39" grpId="0" animBg="1"/>
      <p:bldP spid="41" grpId="0" animBg="1"/>
      <p:bldP spid="71" grpId="0"/>
      <p:bldP spid="7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a prior authorization moves today (animated)</dc:title>
  <dc:subject>PptxGenJS Presentation</dc:subject>
  <dc:creator>Nisha Mishra</dc:creator>
  <cp:lastModifiedBy>Nisha Mishra</cp:lastModifiedBy>
  <cp:revision>1</cp:revision>
  <dcterms:created xsi:type="dcterms:W3CDTF">2026-10-04T01:16:47Z</dcterms:created>
  <dcterms:modified xsi:type="dcterms:W3CDTF">2026-10-04T01:16:47Z</dcterms:modified>
</cp:coreProperties>
</file>