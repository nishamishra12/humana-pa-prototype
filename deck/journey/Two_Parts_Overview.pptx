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The solution has two parts. Part one is the library, and it is the biggest piece of real work. It happens before go-live. We pass in the policies for the procedures we want to cover, along with their billing codes. The ETL step with AI inside reads them, and the AI drafts the key facts to check for each procedure. A policy owner approves every rule. The human in the loop in part one is the policy owner.
Click 2: The link between the two is simple. Part two only ever uses what part one approved. The rules the nurse sees are never made up when a case arrives.
Click 3: Part two is the daily work. When a packet arrives, the intake coordinator checks it and assigns it to a nurse. The ETL step reads it, and the AI compares it with the key facts from the library for this procedure. It suggests approve, pend with an exact question, or escalate. The nurse confirms, and the director decides the hard cases. The humans in the loop in part two are the intake coordinator, the nurse and the director.
Click 4: The point to land: a person is in the loop in both parts. In part one, the policy owner approves every rule. In part two, a nurse confirms every recommendation and a director decides the hard cases. The AI never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SOLUTION</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The solution has two parts.</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A person is in the loop in both</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The AI drafts, reads and cites. A person approves, confirms and decides. The AI never denies.</a:t>
            </a:r>
            <a:endParaRPr lang="en-US" sz="900" dirty="0"/>
          </a:p>
        </p:txBody>
      </p:sp>
      <p:sp>
        <p:nvSpPr>
          <p:cNvPr id="6" name="P0"/>
          <p:cNvSpPr/>
          <p:nvPr/>
        </p:nvSpPr>
        <p:spPr>
          <a:xfrm>
            <a:off x="457200" y="1371600"/>
            <a:ext cx="11274552" cy="1828800"/>
          </a:xfrm>
          <a:prstGeom prst="roundRect">
            <a:avLst>
              <a:gd name="adj" fmla="val 5000"/>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PL0"/>
          <p:cNvSpPr txBox="1"/>
          <p:nvPr/>
        </p:nvSpPr>
        <p:spPr>
          <a:xfrm>
            <a:off x="685800" y="1600200"/>
            <a:ext cx="22860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PART 1</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Before go-live. The biggest piece of work.</a:t>
            </a:r>
            <a:endParaRPr lang="en-US" sz="1100" dirty="0"/>
          </a:p>
        </p:txBody>
      </p:sp>
      <p:sp>
        <p:nvSpPr>
          <p:cNvPr id="8" name="PT0"/>
          <p:cNvSpPr txBox="1"/>
          <p:nvPr/>
        </p:nvSpPr>
        <p:spPr>
          <a:xfrm>
            <a:off x="685800" y="2240280"/>
            <a:ext cx="2194560" cy="822960"/>
          </a:xfrm>
          <a:prstGeom prst="rect">
            <a:avLst/>
          </a:prstGeom>
          <a:noFill/>
          <a:ln/>
        </p:spPr>
        <p:txBody>
          <a:bodyPr wrap="square" lIns="0" tIns="0" rIns="0" bIns="0" rtlCol="0" anchor="t"/>
          <a:lstStyle/>
          <a:p>
            <a:pPr algn="l" indent="0" marL="0">
              <a:buNone/>
            </a:pPr>
            <a:r>
              <a:rPr lang="en-US" sz="1100" i="1" dirty="0">
                <a:solidFill>
                  <a:srgbClr val="5C6B66"/>
                </a:solidFill>
                <a:latin typeface="Calibri" pitchFamily="34" charset="0"/>
                <a:ea typeface="Calibri" pitchFamily="34" charset="-122"/>
                <a:cs typeface="Calibri" pitchFamily="34" charset="-120"/>
              </a:rPr>
              <a:t>A person in the loop: the policy owner approves every rule.</a:t>
            </a:r>
            <a:endParaRPr lang="en-US" sz="1100" dirty="0"/>
          </a:p>
        </p:txBody>
      </p:sp>
      <p:sp>
        <p:nvSpPr>
          <p:cNvPr id="9" name="R0S0"/>
          <p:cNvSpPr/>
          <p:nvPr/>
        </p:nvSpPr>
        <p:spPr>
          <a:xfrm>
            <a:off x="3063240" y="1645920"/>
            <a:ext cx="1530706" cy="1280160"/>
          </a:xfrm>
          <a:prstGeom prst="roundRect">
            <a:avLst>
              <a:gd name="adj" fmla="val 7143"/>
            </a:avLst>
          </a:prstGeom>
          <a:solidFill>
            <a:srgbClr val="FFFFFF"/>
          </a:solidFill>
          <a:ln w="15875">
            <a:solidFill>
              <a:srgbClr val="CBD5D1"/>
            </a:solidFill>
          </a:ln>
        </p:spPr>
        <p:txBody>
          <a:bodyPr wrap="square" lIns="91440" tIns="201168" rIns="91440" bIns="45720" rtlCol="0" anchor="t"/>
          <a:lstStyle/>
          <a:p>
            <a:pPr algn="l" indent="0" marL="0">
              <a:buNone/>
            </a:pPr>
            <a:r>
              <a:rPr lang="en-US" sz="850" b="1" spc="150" kern="0" dirty="0">
                <a:solidFill>
                  <a:srgbClr val="5C6B66"/>
                </a:solidFill>
                <a:latin typeface="Calibri" pitchFamily="34" charset="0"/>
                <a:ea typeface="Calibri" pitchFamily="34" charset="-122"/>
                <a:cs typeface="Calibri" pitchFamily="34" charset="-120"/>
              </a:rPr>
              <a:t>INPUT</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Policies and billing codes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The procedures we cover</a:t>
            </a:r>
            <a:endParaRPr lang="en-US" sz="850" dirty="0"/>
          </a:p>
        </p:txBody>
      </p:sp>
      <p:sp>
        <p:nvSpPr>
          <p:cNvPr id="10" name="R0S1"/>
          <p:cNvSpPr/>
          <p:nvPr/>
        </p:nvSpPr>
        <p:spPr>
          <a:xfrm>
            <a:off x="4795114" y="1645920"/>
            <a:ext cx="1530706" cy="1280160"/>
          </a:xfrm>
          <a:prstGeom prst="roundRect">
            <a:avLst>
              <a:gd name="adj" fmla="val 7143"/>
            </a:avLst>
          </a:prstGeom>
          <a:solidFill>
            <a:srgbClr val="FBE9E4"/>
          </a:solidFill>
          <a:ln w="15875">
            <a:solidFill>
              <a:srgbClr val="B8452F"/>
            </a:solidFill>
          </a:ln>
        </p:spPr>
        <p:txBody>
          <a:bodyPr wrap="square" lIns="91440" tIns="201168" rIns="91440" bIns="45720" rtlCol="0" anchor="t"/>
          <a:lstStyle/>
          <a:p>
            <a:pPr algn="l" indent="0" marL="0">
              <a:buNone/>
            </a:pPr>
            <a:r>
              <a:rPr lang="en-US" sz="850" b="1" spc="150" kern="0" dirty="0">
                <a:solidFill>
                  <a:srgbClr val="B8452F"/>
                </a:solidFill>
                <a:latin typeface="Calibri" pitchFamily="34" charset="0"/>
                <a:ea typeface="Calibri" pitchFamily="34" charset="-122"/>
                <a:cs typeface="Calibri" pitchFamily="34" charset="-120"/>
              </a:rPr>
              <a:t>ETL + 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ETL + AI reads them</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Keeps the structure</a:t>
            </a:r>
            <a:endParaRPr lang="en-US" sz="850" dirty="0"/>
          </a:p>
        </p:txBody>
      </p:sp>
      <p:sp>
        <p:nvSpPr>
          <p:cNvPr id="11" name="R0A1"/>
          <p:cNvSpPr/>
          <p:nvPr/>
        </p:nvSpPr>
        <p:spPr>
          <a:xfrm>
            <a:off x="4612234" y="2286000"/>
            <a:ext cx="164592" cy="0"/>
          </a:xfrm>
          <a:prstGeom prst="line">
            <a:avLst/>
          </a:prstGeom>
          <a:noFill/>
          <a:ln w="22225">
            <a:solidFill>
              <a:srgbClr val="5C6B66"/>
            </a:solidFill>
            <a:prstDash val="solid"/>
            <a:tailEnd type="triangle"/>
          </a:ln>
        </p:spPr>
      </p:sp>
      <p:sp>
        <p:nvSpPr>
          <p:cNvPr id="12" name="R0S2"/>
          <p:cNvSpPr/>
          <p:nvPr/>
        </p:nvSpPr>
        <p:spPr>
          <a:xfrm>
            <a:off x="6526987" y="1645920"/>
            <a:ext cx="1530706" cy="1280160"/>
          </a:xfrm>
          <a:prstGeom prst="roundRect">
            <a:avLst>
              <a:gd name="adj" fmla="val 7143"/>
            </a:avLst>
          </a:prstGeom>
          <a:solidFill>
            <a:srgbClr val="EBE2F8"/>
          </a:solidFill>
          <a:ln w="15875">
            <a:solidFill>
              <a:srgbClr val="5F3AA8"/>
            </a:solidFill>
          </a:ln>
        </p:spPr>
        <p:txBody>
          <a:bodyPr wrap="square" lIns="91440" tIns="201168" rIns="91440" bIns="45720" rtlCol="0" anchor="t"/>
          <a:lstStyle/>
          <a:p>
            <a:pPr algn="l" indent="0" marL="0">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AI drafts the key facts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And a rule for each</a:t>
            </a:r>
            <a:endParaRPr lang="en-US" sz="850" dirty="0"/>
          </a:p>
        </p:txBody>
      </p:sp>
      <p:sp>
        <p:nvSpPr>
          <p:cNvPr id="13" name="R0A2"/>
          <p:cNvSpPr/>
          <p:nvPr/>
        </p:nvSpPr>
        <p:spPr>
          <a:xfrm>
            <a:off x="6344107" y="2286000"/>
            <a:ext cx="164592" cy="0"/>
          </a:xfrm>
          <a:prstGeom prst="line">
            <a:avLst/>
          </a:prstGeom>
          <a:noFill/>
          <a:ln w="22225">
            <a:solidFill>
              <a:srgbClr val="5C6B66"/>
            </a:solidFill>
            <a:prstDash val="solid"/>
            <a:tailEnd type="triangle"/>
          </a:ln>
        </p:spPr>
      </p:sp>
      <p:sp>
        <p:nvSpPr>
          <p:cNvPr id="14" name="R0S3"/>
          <p:cNvSpPr/>
          <p:nvPr/>
        </p:nvSpPr>
        <p:spPr>
          <a:xfrm>
            <a:off x="8258861" y="1645920"/>
            <a:ext cx="1530706" cy="1280160"/>
          </a:xfrm>
          <a:prstGeom prst="roundRect">
            <a:avLst>
              <a:gd name="adj" fmla="val 7143"/>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Policy owner approves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Every rule. A person signs.</a:t>
            </a:r>
            <a:endParaRPr lang="en-US" sz="850" dirty="0"/>
          </a:p>
        </p:txBody>
      </p:sp>
      <p:sp>
        <p:nvSpPr>
          <p:cNvPr id="15" name="R0A3"/>
          <p:cNvSpPr/>
          <p:nvPr/>
        </p:nvSpPr>
        <p:spPr>
          <a:xfrm>
            <a:off x="8075981" y="2286000"/>
            <a:ext cx="164592" cy="0"/>
          </a:xfrm>
          <a:prstGeom prst="line">
            <a:avLst/>
          </a:prstGeom>
          <a:noFill/>
          <a:ln w="22225">
            <a:solidFill>
              <a:srgbClr val="5C6B66"/>
            </a:solidFill>
            <a:prstDash val="solid"/>
            <a:tailEnd type="triangle"/>
          </a:ln>
        </p:spPr>
      </p:sp>
      <p:sp>
        <p:nvSpPr>
          <p:cNvPr id="16" name="R0S4"/>
          <p:cNvSpPr/>
          <p:nvPr/>
        </p:nvSpPr>
        <p:spPr>
          <a:xfrm>
            <a:off x="9990734" y="1645920"/>
            <a:ext cx="1530706" cy="1280160"/>
          </a:xfrm>
          <a:prstGeom prst="roundRect">
            <a:avLst>
              <a:gd name="adj" fmla="val 7143"/>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 + DATA</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The library</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Versioned. Linked to a service.</a:t>
            </a:r>
            <a:endParaRPr lang="en-US" sz="850" dirty="0"/>
          </a:p>
        </p:txBody>
      </p:sp>
      <p:sp>
        <p:nvSpPr>
          <p:cNvPr id="17" name="R0A4"/>
          <p:cNvSpPr/>
          <p:nvPr/>
        </p:nvSpPr>
        <p:spPr>
          <a:xfrm>
            <a:off x="9807854" y="2286000"/>
            <a:ext cx="164592" cy="0"/>
          </a:xfrm>
          <a:prstGeom prst="line">
            <a:avLst/>
          </a:prstGeom>
          <a:noFill/>
          <a:ln w="22225">
            <a:solidFill>
              <a:srgbClr val="5C6B66"/>
            </a:solidFill>
            <a:prstDash val="solid"/>
            <a:tailEnd type="triangle"/>
          </a:ln>
        </p:spPr>
      </p:sp>
      <p:sp>
        <p:nvSpPr>
          <p:cNvPr id="18" name="RC0"/>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Part one builds the library: the policies and billing codes we cover, and the key facts to check for each. The policy owner approves every rule.</a:t>
            </a:r>
            <a:endParaRPr lang="en-US" sz="1600" dirty="0"/>
          </a:p>
        </p:txBody>
      </p:sp>
      <p:sp>
        <p:nvSpPr>
          <p:cNvPr id="19" name="Link"/>
          <p:cNvSpPr/>
          <p:nvPr/>
        </p:nvSpPr>
        <p:spPr>
          <a:xfrm>
            <a:off x="6099048" y="3200400"/>
            <a:ext cx="0" cy="530352"/>
          </a:xfrm>
          <a:prstGeom prst="line">
            <a:avLst/>
          </a:prstGeom>
          <a:noFill/>
          <a:ln w="22225">
            <a:solidFill>
              <a:srgbClr val="5C6B66"/>
            </a:solidFill>
            <a:prstDash val="solid"/>
            <a:tailEnd type="triangle"/>
          </a:ln>
        </p:spPr>
      </p:sp>
      <p:sp>
        <p:nvSpPr>
          <p:cNvPr id="20" name="LinkLb"/>
          <p:cNvSpPr txBox="1"/>
          <p:nvPr/>
        </p:nvSpPr>
        <p:spPr>
          <a:xfrm>
            <a:off x="6355080" y="3273552"/>
            <a:ext cx="5029200" cy="365760"/>
          </a:xfrm>
          <a:prstGeom prst="rect">
            <a:avLst/>
          </a:prstGeom>
          <a:noFill/>
          <a:ln/>
        </p:spPr>
        <p:txBody>
          <a:bodyPr wrap="square" lIns="0" tIns="0" rIns="0" bIns="0" rtlCol="0" anchor="ctr"/>
          <a:lstStyle/>
          <a:p>
            <a:pPr algn="l" indent="0" marL="0">
              <a:buNone/>
            </a:pPr>
            <a:r>
              <a:rPr lang="en-US" sz="1200" b="1" dirty="0">
                <a:solidFill>
                  <a:srgbClr val="1F6F5C"/>
                </a:solidFill>
                <a:latin typeface="Calibri" pitchFamily="34" charset="0"/>
                <a:ea typeface="Calibri" pitchFamily="34" charset="-122"/>
                <a:cs typeface="Calibri" pitchFamily="34" charset="-120"/>
              </a:rPr>
              <a:t>Part 2 only uses what Part 1 approved</a:t>
            </a:r>
            <a:endParaRPr lang="en-US" sz="1200" dirty="0"/>
          </a:p>
        </p:txBody>
      </p:sp>
      <p:sp>
        <p:nvSpPr>
          <p:cNvPr id="21" name="RCL"/>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link between them is simple. Part two only uses what part one approved.</a:t>
            </a:r>
            <a:endParaRPr lang="en-US" sz="1600" dirty="0"/>
          </a:p>
        </p:txBody>
      </p:sp>
      <p:sp>
        <p:nvSpPr>
          <p:cNvPr id="22" name="P1"/>
          <p:cNvSpPr/>
          <p:nvPr/>
        </p:nvSpPr>
        <p:spPr>
          <a:xfrm>
            <a:off x="457200" y="3749040"/>
            <a:ext cx="11274552" cy="1828800"/>
          </a:xfrm>
          <a:prstGeom prst="roundRect">
            <a:avLst>
              <a:gd name="adj" fmla="val 5000"/>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23" name="PL1"/>
          <p:cNvSpPr txBox="1"/>
          <p:nvPr/>
        </p:nvSpPr>
        <p:spPr>
          <a:xfrm>
            <a:off x="685800" y="3977640"/>
            <a:ext cx="22860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PART 2</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Every packet.</a:t>
            </a:r>
            <a:endParaRPr lang="en-US" sz="1100" dirty="0"/>
          </a:p>
        </p:txBody>
      </p:sp>
      <p:sp>
        <p:nvSpPr>
          <p:cNvPr id="24" name="PT1"/>
          <p:cNvSpPr txBox="1"/>
          <p:nvPr/>
        </p:nvSpPr>
        <p:spPr>
          <a:xfrm>
            <a:off x="685800" y="4617720"/>
            <a:ext cx="2194560" cy="822960"/>
          </a:xfrm>
          <a:prstGeom prst="rect">
            <a:avLst/>
          </a:prstGeom>
          <a:noFill/>
          <a:ln/>
        </p:spPr>
        <p:txBody>
          <a:bodyPr wrap="square" lIns="0" tIns="0" rIns="0" bIns="0" rtlCol="0" anchor="t"/>
          <a:lstStyle/>
          <a:p>
            <a:pPr algn="l" indent="0" marL="0">
              <a:buNone/>
            </a:pPr>
            <a:r>
              <a:rPr lang="en-US" sz="1100" i="1" dirty="0">
                <a:solidFill>
                  <a:srgbClr val="5C6B66"/>
                </a:solidFill>
                <a:latin typeface="Calibri" pitchFamily="34" charset="0"/>
                <a:ea typeface="Calibri" pitchFamily="34" charset="-122"/>
                <a:cs typeface="Calibri" pitchFamily="34" charset="-120"/>
              </a:rPr>
              <a:t>People in the loop: intake assigns, the nurse confirms, the director decides.</a:t>
            </a:r>
            <a:endParaRPr lang="en-US" sz="1100" dirty="0"/>
          </a:p>
        </p:txBody>
      </p:sp>
      <p:sp>
        <p:nvSpPr>
          <p:cNvPr id="25" name="R1S0"/>
          <p:cNvSpPr/>
          <p:nvPr/>
        </p:nvSpPr>
        <p:spPr>
          <a:xfrm>
            <a:off x="3063240" y="4023360"/>
            <a:ext cx="1530706" cy="1280160"/>
          </a:xfrm>
          <a:prstGeom prst="roundRect">
            <a:avLst>
              <a:gd name="adj" fmla="val 7143"/>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Intake coordinator</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Checks the packet. Assigns a nurse.</a:t>
            </a:r>
            <a:endParaRPr lang="en-US" sz="850" dirty="0"/>
          </a:p>
        </p:txBody>
      </p:sp>
      <p:sp>
        <p:nvSpPr>
          <p:cNvPr id="26" name="R1S1"/>
          <p:cNvSpPr/>
          <p:nvPr/>
        </p:nvSpPr>
        <p:spPr>
          <a:xfrm>
            <a:off x="4795114" y="4023360"/>
            <a:ext cx="1530706" cy="1280160"/>
          </a:xfrm>
          <a:prstGeom prst="roundRect">
            <a:avLst>
              <a:gd name="adj" fmla="val 7143"/>
            </a:avLst>
          </a:prstGeom>
          <a:solidFill>
            <a:srgbClr val="FBE9E4"/>
          </a:solidFill>
          <a:ln w="15875">
            <a:solidFill>
              <a:srgbClr val="B8452F"/>
            </a:solidFill>
          </a:ln>
        </p:spPr>
        <p:txBody>
          <a:bodyPr wrap="square" lIns="91440" tIns="201168" rIns="91440" bIns="45720" rtlCol="0" anchor="t"/>
          <a:lstStyle/>
          <a:p>
            <a:pPr algn="l" indent="0" marL="0">
              <a:buNone/>
            </a:pPr>
            <a:r>
              <a:rPr lang="en-US" sz="850" b="1" spc="150" kern="0" dirty="0">
                <a:solidFill>
                  <a:srgbClr val="B8452F"/>
                </a:solidFill>
                <a:latin typeface="Calibri" pitchFamily="34" charset="0"/>
                <a:ea typeface="Calibri" pitchFamily="34" charset="-122"/>
                <a:cs typeface="Calibri" pitchFamily="34" charset="-120"/>
              </a:rPr>
              <a:t>ETL + 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ETL + AI reads it</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Typed pieces with positions</a:t>
            </a:r>
            <a:endParaRPr lang="en-US" sz="850" dirty="0"/>
          </a:p>
        </p:txBody>
      </p:sp>
      <p:sp>
        <p:nvSpPr>
          <p:cNvPr id="27" name="R1A1"/>
          <p:cNvSpPr/>
          <p:nvPr/>
        </p:nvSpPr>
        <p:spPr>
          <a:xfrm>
            <a:off x="4612234" y="4663440"/>
            <a:ext cx="164592" cy="0"/>
          </a:xfrm>
          <a:prstGeom prst="line">
            <a:avLst/>
          </a:prstGeom>
          <a:noFill/>
          <a:ln w="22225">
            <a:solidFill>
              <a:srgbClr val="5C6B66"/>
            </a:solidFill>
            <a:prstDash val="solid"/>
            <a:tailEnd type="triangle"/>
          </a:ln>
        </p:spPr>
      </p:sp>
      <p:sp>
        <p:nvSpPr>
          <p:cNvPr id="28" name="R1S2"/>
          <p:cNvSpPr/>
          <p:nvPr/>
        </p:nvSpPr>
        <p:spPr>
          <a:xfrm>
            <a:off x="6526987" y="4023360"/>
            <a:ext cx="1530706" cy="1280160"/>
          </a:xfrm>
          <a:prstGeom prst="roundRect">
            <a:avLst>
              <a:gd name="adj" fmla="val 7143"/>
            </a:avLst>
          </a:prstGeom>
          <a:solidFill>
            <a:srgbClr val="EBE2F8"/>
          </a:solidFill>
          <a:ln w="15875">
            <a:solidFill>
              <a:srgbClr val="5F3AA8"/>
            </a:solidFill>
          </a:ln>
        </p:spPr>
        <p:txBody>
          <a:bodyPr wrap="square" lIns="91440" tIns="201168" rIns="91440" bIns="45720" rtlCol="0" anchor="t"/>
          <a:lstStyle/>
          <a:p>
            <a:pPr algn="l" indent="0" marL="0">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AI compares it</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With the key facts, and recommends</a:t>
            </a:r>
            <a:endParaRPr lang="en-US" sz="850" dirty="0"/>
          </a:p>
        </p:txBody>
      </p:sp>
      <p:sp>
        <p:nvSpPr>
          <p:cNvPr id="29" name="R1A2"/>
          <p:cNvSpPr/>
          <p:nvPr/>
        </p:nvSpPr>
        <p:spPr>
          <a:xfrm>
            <a:off x="6344107" y="4663440"/>
            <a:ext cx="164592" cy="0"/>
          </a:xfrm>
          <a:prstGeom prst="line">
            <a:avLst/>
          </a:prstGeom>
          <a:noFill/>
          <a:ln w="22225">
            <a:solidFill>
              <a:srgbClr val="5C6B66"/>
            </a:solidFill>
            <a:prstDash val="solid"/>
            <a:tailEnd type="triangle"/>
          </a:ln>
        </p:spPr>
      </p:sp>
      <p:sp>
        <p:nvSpPr>
          <p:cNvPr id="30" name="R1S3"/>
          <p:cNvSpPr/>
          <p:nvPr/>
        </p:nvSpPr>
        <p:spPr>
          <a:xfrm>
            <a:off x="8258861" y="4023360"/>
            <a:ext cx="1530706" cy="1280160"/>
          </a:xfrm>
          <a:prstGeom prst="roundRect">
            <a:avLst>
              <a:gd name="adj" fmla="val 7143"/>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UM nurse confirms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Approve, pend with one question, or escalate</a:t>
            </a:r>
            <a:endParaRPr lang="en-US" sz="850" dirty="0"/>
          </a:p>
        </p:txBody>
      </p:sp>
      <p:sp>
        <p:nvSpPr>
          <p:cNvPr id="31" name="R1A3"/>
          <p:cNvSpPr/>
          <p:nvPr/>
        </p:nvSpPr>
        <p:spPr>
          <a:xfrm>
            <a:off x="8075981" y="4663440"/>
            <a:ext cx="164592" cy="0"/>
          </a:xfrm>
          <a:prstGeom prst="line">
            <a:avLst/>
          </a:prstGeom>
          <a:noFill/>
          <a:ln w="22225">
            <a:solidFill>
              <a:srgbClr val="5C6B66"/>
            </a:solidFill>
            <a:prstDash val="solid"/>
            <a:tailEnd type="triangle"/>
          </a:ln>
        </p:spPr>
      </p:sp>
      <p:sp>
        <p:nvSpPr>
          <p:cNvPr id="32" name="R1S4"/>
          <p:cNvSpPr/>
          <p:nvPr/>
        </p:nvSpPr>
        <p:spPr>
          <a:xfrm>
            <a:off x="9990734" y="4023360"/>
            <a:ext cx="1530706" cy="1280160"/>
          </a:xfrm>
          <a:prstGeom prst="roundRect">
            <a:avLst>
              <a:gd name="adj" fmla="val 7143"/>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Medical director</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Decides the hard cases. Only they can deny.</a:t>
            </a:r>
            <a:endParaRPr lang="en-US" sz="850" dirty="0"/>
          </a:p>
        </p:txBody>
      </p:sp>
      <p:sp>
        <p:nvSpPr>
          <p:cNvPr id="33" name="R1A4"/>
          <p:cNvSpPr/>
          <p:nvPr/>
        </p:nvSpPr>
        <p:spPr>
          <a:xfrm>
            <a:off x="9807854" y="4663440"/>
            <a:ext cx="164592" cy="0"/>
          </a:xfrm>
          <a:prstGeom prst="line">
            <a:avLst/>
          </a:prstGeom>
          <a:noFill/>
          <a:ln w="22225">
            <a:solidFill>
              <a:srgbClr val="5C6B66"/>
            </a:solidFill>
            <a:prstDash val="solid"/>
            <a:tailEnd type="triangle"/>
          </a:ln>
        </p:spPr>
      </p:sp>
      <p:sp>
        <p:nvSpPr>
          <p:cNvPr id="34" name="R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Part two reads every packet with that library. Intake assigns, the AI compares and recommends, the nurse confirms, and the director decides the hard cases.</a:t>
            </a:r>
            <a:endParaRPr lang="en-US" sz="1600" dirty="0"/>
          </a:p>
        </p:txBody>
      </p:sp>
      <p:sp>
        <p:nvSpPr>
          <p:cNvPr id="35" name="RCZ"/>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 person is in the loop in both parts. The AI never decides.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10" presetID="10" presetClass="entr" presetSubtype="0" fill="hold" grpId="0" nodeType="withEffect">
                                  <p:stCondLst>
                                    <p:cond delay="15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3" presetID="22" presetClass="entr" presetSubtype="8" fill="hold" nodeType="withEffect">
                                  <p:stCondLst>
                                    <p:cond delay="25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250"/>
                                        <p:tgtEl>
                                          <p:spTgt spid="11"/>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9" presetID="22" presetClass="entr" presetSubtype="8" fill="hold" nodeType="withEffect">
                                  <p:stCondLst>
                                    <p:cond delay="40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250"/>
                                        <p:tgtEl>
                                          <p:spTgt spid="13"/>
                                        </p:tgtEl>
                                      </p:cBhvr>
                                    </p:animEffect>
                                  </p:childTnLst>
                                </p:cTn>
                              </p:par>
                              <p:par>
                                <p:cTn id="22" presetID="10" presetClass="entr" presetSubtype="0" fill="hold" grpId="0" nodeType="withEffect">
                                  <p:stCondLst>
                                    <p:cond delay="45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5" presetID="22" presetClass="entr" presetSubtype="8" fill="hold" nodeType="withEffect">
                                  <p:stCondLst>
                                    <p:cond delay="55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250"/>
                                        <p:tgtEl>
                                          <p:spTgt spid="15"/>
                                        </p:tgtEl>
                                      </p:cBhvr>
                                    </p:animEffect>
                                  </p:childTnLst>
                                </p:cTn>
                              </p:par>
                              <p:par>
                                <p:cTn id="28" presetID="10" presetClass="entr" presetSubtype="0" fill="hold" grpId="0" nodeType="withEffect">
                                  <p:stCondLst>
                                    <p:cond delay="6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31" presetID="22" presetClass="entr" presetSubtype="8" fill="hold" nodeType="withEffect">
                                  <p:stCondLst>
                                    <p:cond delay="70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250"/>
                                        <p:tgtEl>
                                          <p:spTgt spid="17"/>
                                        </p:tgtEl>
                                      </p:cBhvr>
                                    </p:animEffect>
                                  </p:childTnLst>
                                </p:cTn>
                              </p:par>
                              <p:par>
                                <p:cTn id="34" presetID="10" presetClass="entr" presetSubtype="0" fill="hold" grpId="0" nodeType="withEffect">
                                  <p:stCondLst>
                                    <p:cond delay="30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9" presetID="10" presetClass="exit" presetSubtype="0" fill="hold" grpId="0" nodeType="clickEffect">
                                  <p:stCondLst>
                                    <p:cond delay="0"/>
                                  </p:stCondLst>
                                  <p:childTnLst>
                                    <p:animEffect transition="out" filter="fade">
                                      <p:cBhvr>
                                        <p:cTn id="37" dur="300"/>
                                        <p:tgtEl>
                                          <p:spTgt spid="18"/>
                                        </p:tgtEl>
                                      </p:cBhvr>
                                    </p:animEffect>
                                    <p:set>
                                      <p:cBhvr>
                                        <p:cTn id="38" dur="1" fill="hold">
                                          <p:stCondLst>
                                            <p:cond delay="299"/>
                                          </p:stCondLst>
                                        </p:cTn>
                                        <p:tgtEl>
                                          <p:spTgt spid="18"/>
                                        </p:tgtEl>
                                        <p:attrNameLst>
                                          <p:attrName>style.visibility</p:attrName>
                                        </p:attrNameLst>
                                      </p:cBhvr>
                                      <p:to>
                                        <p:strVal val="hidden"/>
                                      </p:to>
                                    </p:set>
                                  </p:childTnLst>
                                </p:cTn>
                              </p:par>
                              <p:par>
                                <p:cTn id="42" presetID="22" presetClass="entr" presetSubtype="1" fill="hold" nodeType="withEffect">
                                  <p:stCondLst>
                                    <p:cond delay="20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300"/>
                                        <p:tgtEl>
                                          <p:spTgt spid="19"/>
                                        </p:tgtEl>
                                      </p:cBhvr>
                                    </p:animEffect>
                                  </p:childTnLst>
                                </p:cTn>
                              </p:par>
                              <p:par>
                                <p:cTn id="45" presetID="10" presetClass="entr" presetSubtype="0" fill="hold" grpId="0" nodeType="withEffect">
                                  <p:stCondLst>
                                    <p:cond delay="40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8" presetID="10" presetClass="entr" presetSubtype="0" fill="hold" grpId="0" nodeType="withEffect">
                                  <p:stCondLst>
                                    <p:cond delay="30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3" presetID="10" presetClass="exit" presetSubtype="0" fill="hold" grpId="0" nodeType="clickEffect">
                                  <p:stCondLst>
                                    <p:cond delay="0"/>
                                  </p:stCondLst>
                                  <p:childTnLst>
                                    <p:animEffect transition="out" filter="fade">
                                      <p:cBhvr>
                                        <p:cTn id="51" dur="300"/>
                                        <p:tgtEl>
                                          <p:spTgt spid="21"/>
                                        </p:tgtEl>
                                      </p:cBhvr>
                                    </p:animEffect>
                                    <p:set>
                                      <p:cBhvr>
                                        <p:cTn id="52" dur="1" fill="hold">
                                          <p:stCondLst>
                                            <p:cond delay="299"/>
                                          </p:stCondLst>
                                        </p:cTn>
                                        <p:tgtEl>
                                          <p:spTgt spid="21"/>
                                        </p:tgtEl>
                                        <p:attrNameLst>
                                          <p:attrName>style.visibility</p:attrName>
                                        </p:attrNameLst>
                                      </p:cBhvr>
                                      <p:to>
                                        <p:strVal val="hidden"/>
                                      </p:to>
                                    </p:set>
                                  </p:childTnLst>
                                </p:cTn>
                              </p:par>
                              <p:par>
                                <p:cTn id="56"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9" presetID="10" presetClass="entr" presetSubtype="0" fill="hold" grpId="0" nodeType="withEffect">
                                  <p:stCondLst>
                                    <p:cond delay="15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62" presetID="22" presetClass="entr" presetSubtype="8" fill="hold" nodeType="withEffect">
                                  <p:stCondLst>
                                    <p:cond delay="250"/>
                                  </p:stCondLst>
                                  <p:childTnLst>
                                    <p:set>
                                      <p:cBhvr>
                                        <p:cTn id="60" dur="1" fill="hold">
                                          <p:stCondLst>
                                            <p:cond delay="0"/>
                                          </p:stCondLst>
                                        </p:cTn>
                                        <p:tgtEl>
                                          <p:spTgt spid="27"/>
                                        </p:tgtEl>
                                        <p:attrNameLst>
                                          <p:attrName>style.visibility</p:attrName>
                                        </p:attrNameLst>
                                      </p:cBhvr>
                                      <p:to>
                                        <p:strVal val="visible"/>
                                      </p:to>
                                    </p:set>
                                    <p:animEffect transition="in" filter="wipe(left)">
                                      <p:cBhvr>
                                        <p:cTn id="61" dur="250"/>
                                        <p:tgtEl>
                                          <p:spTgt spid="27"/>
                                        </p:tgtEl>
                                      </p:cBhvr>
                                    </p:animEffect>
                                  </p:childTnLst>
                                </p:cTn>
                              </p:par>
                              <p:par>
                                <p:cTn id="65" presetID="10" presetClass="entr" presetSubtype="0" fill="hold" grpId="0" nodeType="withEffect">
                                  <p:stCondLst>
                                    <p:cond delay="30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8" presetID="22" presetClass="entr" presetSubtype="8" fill="hold" nodeType="withEffect">
                                  <p:stCondLst>
                                    <p:cond delay="40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250"/>
                                        <p:tgtEl>
                                          <p:spTgt spid="29"/>
                                        </p:tgtEl>
                                      </p:cBhvr>
                                    </p:animEffect>
                                  </p:childTnLst>
                                </p:cTn>
                              </p:par>
                              <p:par>
                                <p:cTn id="71" presetID="10" presetClass="entr" presetSubtype="0" fill="hold" grpId="0" nodeType="withEffect">
                                  <p:stCondLst>
                                    <p:cond delay="45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par>
                                <p:cTn id="74" presetID="22" presetClass="entr" presetSubtype="8" fill="hold" nodeType="withEffect">
                                  <p:stCondLst>
                                    <p:cond delay="550"/>
                                  </p:stCondLst>
                                  <p:childTnLst>
                                    <p:set>
                                      <p:cBhvr>
                                        <p:cTn id="72" dur="1" fill="hold">
                                          <p:stCondLst>
                                            <p:cond delay="0"/>
                                          </p:stCondLst>
                                        </p:cTn>
                                        <p:tgtEl>
                                          <p:spTgt spid="31"/>
                                        </p:tgtEl>
                                        <p:attrNameLst>
                                          <p:attrName>style.visibility</p:attrName>
                                        </p:attrNameLst>
                                      </p:cBhvr>
                                      <p:to>
                                        <p:strVal val="visible"/>
                                      </p:to>
                                    </p:set>
                                    <p:animEffect transition="in" filter="wipe(left)">
                                      <p:cBhvr>
                                        <p:cTn id="73" dur="250"/>
                                        <p:tgtEl>
                                          <p:spTgt spid="31"/>
                                        </p:tgtEl>
                                      </p:cBhvr>
                                    </p:animEffect>
                                  </p:childTnLst>
                                </p:cTn>
                              </p:par>
                              <p:par>
                                <p:cTn id="77" presetID="10" presetClass="entr" presetSubtype="0" fill="hold" grpId="0" nodeType="withEffect">
                                  <p:stCondLst>
                                    <p:cond delay="60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500"/>
                                        <p:tgtEl>
                                          <p:spTgt spid="32"/>
                                        </p:tgtEl>
                                      </p:cBhvr>
                                    </p:animEffect>
                                  </p:childTnLst>
                                </p:cTn>
                              </p:par>
                              <p:par>
                                <p:cTn id="80" presetID="22" presetClass="entr" presetSubtype="8" fill="hold" nodeType="withEffect">
                                  <p:stCondLst>
                                    <p:cond delay="700"/>
                                  </p:stCondLst>
                                  <p:childTnLst>
                                    <p:set>
                                      <p:cBhvr>
                                        <p:cTn id="78" dur="1" fill="hold">
                                          <p:stCondLst>
                                            <p:cond delay="0"/>
                                          </p:stCondLst>
                                        </p:cTn>
                                        <p:tgtEl>
                                          <p:spTgt spid="33"/>
                                        </p:tgtEl>
                                        <p:attrNameLst>
                                          <p:attrName>style.visibility</p:attrName>
                                        </p:attrNameLst>
                                      </p:cBhvr>
                                      <p:to>
                                        <p:strVal val="visible"/>
                                      </p:to>
                                    </p:set>
                                    <p:animEffect transition="in" filter="wipe(left)">
                                      <p:cBhvr>
                                        <p:cTn id="79" dur="250"/>
                                        <p:tgtEl>
                                          <p:spTgt spid="33"/>
                                        </p:tgtEl>
                                      </p:cBhvr>
                                    </p:animEffect>
                                  </p:childTnLst>
                                </p:cTn>
                              </p:par>
                              <p:par>
                                <p:cTn id="83" presetID="10" presetClass="entr" presetSubtype="0" fill="hold" grpId="0" nodeType="withEffect">
                                  <p:stCondLst>
                                    <p:cond delay="30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500"/>
                                        <p:tgtEl>
                                          <p:spTgt spid="34"/>
                                        </p:tgtEl>
                                      </p:cBhvr>
                                    </p:animEffect>
                                  </p:childTnLst>
                                </p:cTn>
                              </p:par>
                            </p:childTnLst>
                          </p:cTn>
                        </p:par>
                      </p:childTnLst>
                    </p:cTn>
                  </p:par>
                  <p:par>
                    <p:cTn id="84" fill="hold">
                      <p:stCondLst>
                        <p:cond delay="indefinite"/>
                      </p:stCondLst>
                      <p:childTnLst>
                        <p:par>
                          <p:cTn id="85" fill="hold">
                            <p:stCondLst>
                              <p:cond delay="0"/>
                            </p:stCondLst>
                            <p:childTnLst>
                              <p:par>
                                <p:cTn id="88" presetID="10" presetClass="exit" presetSubtype="0" fill="hold" grpId="0" nodeType="clickEffect">
                                  <p:stCondLst>
                                    <p:cond delay="0"/>
                                  </p:stCondLst>
                                  <p:childTnLst>
                                    <p:animEffect transition="out" filter="fade">
                                      <p:cBhvr>
                                        <p:cTn id="86" dur="300"/>
                                        <p:tgtEl>
                                          <p:spTgt spid="34"/>
                                        </p:tgtEl>
                                      </p:cBhvr>
                                    </p:animEffect>
                                    <p:set>
                                      <p:cBhvr>
                                        <p:cTn id="87" dur="1" fill="hold">
                                          <p:stCondLst>
                                            <p:cond delay="299"/>
                                          </p:stCondLst>
                                        </p:cTn>
                                        <p:tgtEl>
                                          <p:spTgt spid="34"/>
                                        </p:tgtEl>
                                        <p:attrNameLst>
                                          <p:attrName>style.visibility</p:attrName>
                                        </p:attrNameLst>
                                      </p:cBhvr>
                                      <p:to>
                                        <p:strVal val="hidden"/>
                                      </p:to>
                                    </p:set>
                                  </p:childTnLst>
                                </p:cTn>
                              </p:par>
                              <p:par>
                                <p:cTn id="91" presetID="10" presetClass="entr" presetSubtype="0" fill="hold" grpId="0" nodeType="withEffect">
                                  <p:stCondLst>
                                    <p:cond delay="30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6" grpId="0" animBg="1"/>
      <p:bldP spid="18" grpId="0"/>
      <p:bldP spid="20" grpId="0"/>
      <p:bldP spid="21" grpId="0"/>
      <p:bldP spid="25" grpId="0" animBg="1"/>
      <p:bldP spid="26" grpId="0" animBg="1"/>
      <p:bldP spid="28" grpId="0" animBg="1"/>
      <p:bldP spid="30" grpId="0" animBg="1"/>
      <p:bldP spid="32" grpId="0" animBg="1"/>
      <p:bldP spid="34" grpId="0"/>
      <p:bldP spid="3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solution has two parts</dc:title>
  <dc:subject>PptxGenJS Presentation</dc:subject>
  <dc:creator>Nisha Mishra</dc:creator>
  <cp:lastModifiedBy>Nisha Mishra</cp:lastModifiedBy>
  <cp:revision>1</cp:revision>
  <dcterms:created xsi:type="dcterms:W3CDTF">2026-10-05T19:03:42Z</dcterms:created>
  <dcterms:modified xsi:type="dcterms:W3CDTF">2026-10-05T19:03:42Z</dcterms:modified>
</cp:coreProperties>
</file>