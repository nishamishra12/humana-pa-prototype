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A policy needs to be built only if it is new. The source can be a CMS national or local policy, a federal regulation from eCFR, or the plan's own PDF. For CMS and eCFR the system fetches the full text. For a PDF the owner uploads it.
Click 2: Step one is the ETL. Unstructured uses a partitioner to parse the document and extract elements: the title, the text, the page number. It gives the output as JSON. We keep that structure because a rule hangs on a section, and flat text would lose it. A real element looks like this: type Title, text NCD 30.3.3 Acupuncture for Chronic Lower Back Pain, page 1.
Click 3: The elements go to the language model, Claude Sonnet. It has a system prompt with 10 rules. For example: one condition per rule, copy the exact sentence the rule comes from, use a key fact we already know or propose a new one, and write the question to ask the provider if the fact is missing. It must answer through a fixed form, so the output is always structured. For each rule we get the rule in plain words, the exact quote, the key fact, the test, the question, and how confident the model is.
Click 4: The validator is code, with real algorithms. It never trusts the model's quote. It re-finds it. First it normalises both texts: lowercase, straight quotes, words split across lines rejoined. Then it searches for the quote on every page. If the exact text is not there, it tries a fuzzy match and needs at least 88 out of 100. A fuzzy match must carry the same numbers, or it is rejected, because a different number is a different rule. Then it checks that every number in the test appears in the quote, that the key fact exists, and it scans for requirement-sounding sentences that no rule covers. A rule that fails is shown to the owner. It is never dropped.
Click 5: Then the owner reviews. Each rule is shown beside the exact quote it came from, with its key fact and the question. They approve, edit or reject each one. Only approved rules are checked. If they reject the only rule that uses a key fact, that key fact is not checked and not asked for. The AI drafts. A person signs.
Click 6: The approved rules and key facts are saved on the policy, as a new version of the library. Every version is kept and can be rolled back, and every action is in the audit trail. A service shows the combined key facts of its policies. A policy approved once can be reused by any service that needs it.
Click 7: A key fact is one thing a nurse must find in a packet to apply a rule. For a heart device it could be the ejection fraction, how long the patient has been on medicine, or whether a shared decision visit happened. It has a name and a type, the exact policy sentence behind it, and the question to ask the provider if the packet does not have it. It matters for four reasons. It turns a long policy into a short list the nurse can check. It tells the AI reader exactly what to look for in every packet, and nothing more. It gives the nurse one precise question to send when something is missing. And it ties every check to the policy's own words, which is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PART 1  ·  FLOW 2</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From a policy to approved rules.</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Parse, draft, validate, approve</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Policies shown are public Medicare policies. The AI drafts. It never publishes. A person approves every rule.</a:t>
            </a:r>
            <a:endParaRPr lang="en-US" sz="900" dirty="0"/>
          </a:p>
        </p:txBody>
      </p:sp>
      <p:sp>
        <p:nvSpPr>
          <p:cNvPr id="6" name="Q1"/>
          <p:cNvSpPr/>
          <p:nvPr/>
        </p:nvSpPr>
        <p:spPr>
          <a:xfrm>
            <a:off x="457200" y="1325880"/>
            <a:ext cx="11274552" cy="1828800"/>
          </a:xfrm>
          <a:prstGeom prst="roundRect">
            <a:avLst>
              <a:gd name="adj" fmla="val 5000"/>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Q1L"/>
          <p:cNvSpPr txBox="1"/>
          <p:nvPr/>
        </p:nvSpPr>
        <p:spPr>
          <a:xfrm>
            <a:off x="640080" y="1353312"/>
            <a:ext cx="54864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READ AND DRAFT</a:t>
            </a:r>
            <a:endParaRPr lang="en-US" sz="1100" dirty="0"/>
          </a:p>
        </p:txBody>
      </p:sp>
      <p:sp>
        <p:nvSpPr>
          <p:cNvPr id="8" name="Q2"/>
          <p:cNvSpPr/>
          <p:nvPr/>
        </p:nvSpPr>
        <p:spPr>
          <a:xfrm>
            <a:off x="457200" y="3246120"/>
            <a:ext cx="11274552" cy="1828800"/>
          </a:xfrm>
          <a:prstGeom prst="roundRect">
            <a:avLst>
              <a:gd name="adj" fmla="val 5000"/>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9" name="Q2L"/>
          <p:cNvSpPr txBox="1"/>
          <p:nvPr/>
        </p:nvSpPr>
        <p:spPr>
          <a:xfrm>
            <a:off x="640080" y="3273552"/>
            <a:ext cx="54864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CHECK, APPROVE, SAVE</a:t>
            </a:r>
            <a:endParaRPr lang="en-US" sz="1100" dirty="0"/>
          </a:p>
        </p:txBody>
      </p:sp>
      <p:sp>
        <p:nvSpPr>
          <p:cNvPr id="10" name="T_src"/>
          <p:cNvSpPr/>
          <p:nvPr/>
        </p:nvSpPr>
        <p:spPr>
          <a:xfrm>
            <a:off x="731520" y="1691640"/>
            <a:ext cx="2286000" cy="822960"/>
          </a:xfrm>
          <a:prstGeom prst="roundRect">
            <a:avLst>
              <a:gd name="adj" fmla="val 11111"/>
            </a:avLst>
          </a:prstGeom>
          <a:solidFill>
            <a:srgbClr val="FFFFFF"/>
          </a:solidFill>
          <a:ln w="15875">
            <a:solidFill>
              <a:srgbClr val="CBD5D1"/>
            </a:solidFill>
          </a:ln>
        </p:spPr>
        <p:txBody>
          <a:bodyPr wrap="square" lIns="91440" tIns="201168" rIns="91440" bIns="45720" rtlCol="0" anchor="t"/>
          <a:lstStyle/>
          <a:p>
            <a:pPr algn="l" indent="0" marL="0">
              <a:buNone/>
            </a:pPr>
            <a:r>
              <a:rPr lang="en-US" sz="850" b="1" spc="150" kern="0" dirty="0">
                <a:solidFill>
                  <a:srgbClr val="5C6B66"/>
                </a:solidFill>
                <a:latin typeface="Calibri" pitchFamily="34" charset="0"/>
                <a:ea typeface="Calibri" pitchFamily="34" charset="-122"/>
                <a:cs typeface="Calibri" pitchFamily="34" charset="-120"/>
              </a:rPr>
              <a:t>INPUT</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Policy source</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CMS, eCFR or a PDF</a:t>
            </a:r>
            <a:endParaRPr lang="en-US" sz="850" dirty="0"/>
          </a:p>
        </p:txBody>
      </p:sp>
      <p:sp>
        <p:nvSpPr>
          <p:cNvPr id="11" name="B1"/>
          <p:cNvSpPr/>
          <p:nvPr/>
        </p:nvSpPr>
        <p:spPr>
          <a:xfrm>
            <a:off x="3017520" y="2103120"/>
            <a:ext cx="640080" cy="0"/>
          </a:xfrm>
          <a:prstGeom prst="line">
            <a:avLst/>
          </a:prstGeom>
          <a:noFill/>
          <a:ln w="22225">
            <a:solidFill>
              <a:srgbClr val="5C6B66"/>
            </a:solidFill>
            <a:prstDash val="solid"/>
            <a:tailEnd type="triangle"/>
          </a:ln>
        </p:spPr>
      </p:sp>
      <p:sp>
        <p:nvSpPr>
          <p:cNvPr id="12" name="T_unst"/>
          <p:cNvSpPr/>
          <p:nvPr/>
        </p:nvSpPr>
        <p:spPr>
          <a:xfrm>
            <a:off x="3657600" y="1691640"/>
            <a:ext cx="2468880" cy="822960"/>
          </a:xfrm>
          <a:prstGeom prst="roundRect">
            <a:avLst>
              <a:gd name="adj" fmla="val 11111"/>
            </a:avLst>
          </a:prstGeom>
          <a:solidFill>
            <a:srgbClr val="FBE9E4"/>
          </a:solidFill>
          <a:ln w="15875">
            <a:solidFill>
              <a:srgbClr val="B8452F"/>
            </a:solidFill>
          </a:ln>
        </p:spPr>
        <p:txBody>
          <a:bodyPr wrap="square" lIns="91440" tIns="201168" rIns="91440" bIns="45720" rtlCol="0" anchor="t"/>
          <a:lstStyle/>
          <a:p>
            <a:pPr algn="l" indent="0" marL="0">
              <a:buNone/>
            </a:pPr>
            <a:r>
              <a:rPr lang="en-US" sz="850" b="1" spc="150" kern="0" dirty="0">
                <a:solidFill>
                  <a:srgbClr val="B8452F"/>
                </a:solidFill>
                <a:latin typeface="Calibri" pitchFamily="34" charset="0"/>
                <a:ea typeface="Calibri" pitchFamily="34" charset="-122"/>
                <a:cs typeface="Calibri" pitchFamily="34" charset="-120"/>
              </a:rPr>
              <a:t>ETL + 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Unstructured API</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Partitions the document</a:t>
            </a:r>
            <a:endParaRPr lang="en-US" sz="850" dirty="0"/>
          </a:p>
        </p:txBody>
      </p:sp>
      <p:sp>
        <p:nvSpPr>
          <p:cNvPr id="13" name="D_unst"/>
          <p:cNvSpPr txBox="1"/>
          <p:nvPr/>
        </p:nvSpPr>
        <p:spPr>
          <a:xfrm>
            <a:off x="3657600" y="2560320"/>
            <a:ext cx="2468880" cy="566928"/>
          </a:xfrm>
          <a:prstGeom prst="rect">
            <a:avLst/>
          </a:prstGeom>
          <a:noFill/>
          <a:ln/>
        </p:spPr>
        <p:txBody>
          <a:bodyPr wrap="square" lIns="0" tIns="0" rIns="0" bIns="0" rtlCol="0" anchor="t"/>
          <a:lstStyle/>
          <a:p>
            <a:pPr algn="l" indent="0" marL="0">
              <a:buNone/>
            </a:pPr>
            <a:r>
              <a:rPr lang="en-US" sz="950" dirty="0">
                <a:solidFill>
                  <a:srgbClr val="5C6B66"/>
                </a:solidFill>
                <a:latin typeface="Calibri" pitchFamily="34" charset="0"/>
                <a:ea typeface="Calibri" pitchFamily="34" charset="-122"/>
                <a:cs typeface="Calibri" pitchFamily="34" charset="-120"/>
              </a:rPr>
              <a:t>Uses a partitioner to parse the document and extract elements: title, text, page number. Output is JSON.</a:t>
            </a:r>
            <a:endParaRPr lang="en-US" sz="950" dirty="0"/>
          </a:p>
        </p:txBody>
      </p:sp>
      <p:sp>
        <p:nvSpPr>
          <p:cNvPr id="14" name="B2"/>
          <p:cNvSpPr/>
          <p:nvPr/>
        </p:nvSpPr>
        <p:spPr>
          <a:xfrm>
            <a:off x="6126480" y="2103120"/>
            <a:ext cx="640080" cy="0"/>
          </a:xfrm>
          <a:prstGeom prst="line">
            <a:avLst/>
          </a:prstGeom>
          <a:noFill/>
          <a:ln w="22225">
            <a:solidFill>
              <a:srgbClr val="5C6B66"/>
            </a:solidFill>
            <a:prstDash val="solid"/>
            <a:tailEnd type="triangle"/>
          </a:ln>
        </p:spPr>
      </p:sp>
      <p:sp>
        <p:nvSpPr>
          <p:cNvPr id="15" name="T_llm"/>
          <p:cNvSpPr/>
          <p:nvPr/>
        </p:nvSpPr>
        <p:spPr>
          <a:xfrm>
            <a:off x="6766560" y="1691640"/>
            <a:ext cx="2468880" cy="822960"/>
          </a:xfrm>
          <a:prstGeom prst="roundRect">
            <a:avLst>
              <a:gd name="adj" fmla="val 11111"/>
            </a:avLst>
          </a:prstGeom>
          <a:solidFill>
            <a:srgbClr val="EBE2F8"/>
          </a:solidFill>
          <a:ln w="15875">
            <a:solidFill>
              <a:srgbClr val="5F3AA8"/>
            </a:solidFill>
          </a:ln>
        </p:spPr>
        <p:txBody>
          <a:bodyPr wrap="square" lIns="91440" tIns="201168" rIns="91440" bIns="45720" rtlCol="0" anchor="t"/>
          <a:lstStyle/>
          <a:p>
            <a:pPr algn="l" indent="0" marL="0">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Claude Sonnet</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Drafts the rules</a:t>
            </a:r>
            <a:endParaRPr lang="en-US" sz="850" dirty="0"/>
          </a:p>
        </p:txBody>
      </p:sp>
      <p:sp>
        <p:nvSpPr>
          <p:cNvPr id="16" name="D_llm"/>
          <p:cNvSpPr txBox="1"/>
          <p:nvPr/>
        </p:nvSpPr>
        <p:spPr>
          <a:xfrm>
            <a:off x="6766560" y="2560320"/>
            <a:ext cx="2468880" cy="566928"/>
          </a:xfrm>
          <a:prstGeom prst="rect">
            <a:avLst/>
          </a:prstGeom>
          <a:noFill/>
          <a:ln/>
        </p:spPr>
        <p:txBody>
          <a:bodyPr wrap="square" lIns="0" tIns="0" rIns="0" bIns="0" rtlCol="0" anchor="t"/>
          <a:lstStyle/>
          <a:p>
            <a:pPr algn="l" indent="0" marL="0">
              <a:buNone/>
            </a:pPr>
            <a:r>
              <a:rPr lang="en-US" sz="950" dirty="0">
                <a:solidFill>
                  <a:srgbClr val="5C6B66"/>
                </a:solidFill>
                <a:latin typeface="Calibri" pitchFamily="34" charset="0"/>
                <a:ea typeface="Calibri" pitchFamily="34" charset="-122"/>
                <a:cs typeface="Calibri" pitchFamily="34" charset="-120"/>
              </a:rPr>
              <a:t>Prompt: 10 rules. Fixed output form. Each rule has its exact quote, key fact and question.</a:t>
            </a:r>
            <a:endParaRPr lang="en-US" sz="950" dirty="0"/>
          </a:p>
        </p:txBody>
      </p:sp>
      <p:sp>
        <p:nvSpPr>
          <p:cNvPr id="17" name="E3"/>
          <p:cNvSpPr txBox="1"/>
          <p:nvPr/>
        </p:nvSpPr>
        <p:spPr>
          <a:xfrm>
            <a:off x="9555480" y="1645920"/>
            <a:ext cx="2103120" cy="1417320"/>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API CALLS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Unstructured:</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client.parse.run, elements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Anthropic:</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messages.create, forced tool record_policy</a:t>
            </a:r>
            <a:endParaRPr lang="en-US" sz="900" dirty="0"/>
          </a:p>
        </p:txBody>
      </p:sp>
      <p:sp>
        <p:nvSpPr>
          <p:cNvPr id="18" name="P1"/>
          <p:cNvSpPr/>
          <p:nvPr/>
        </p:nvSpPr>
        <p:spPr>
          <a:xfrm>
            <a:off x="9235440" y="2103120"/>
            <a:ext cx="164592" cy="0"/>
          </a:xfrm>
          <a:prstGeom prst="line">
            <a:avLst/>
          </a:prstGeom>
          <a:noFill/>
          <a:ln w="22225">
            <a:solidFill>
              <a:srgbClr val="5C6B66"/>
            </a:solidFill>
            <a:prstDash val="solid"/>
          </a:ln>
        </p:spPr>
      </p:sp>
      <p:sp>
        <p:nvSpPr>
          <p:cNvPr id="19" name="P2"/>
          <p:cNvSpPr/>
          <p:nvPr/>
        </p:nvSpPr>
        <p:spPr>
          <a:xfrm>
            <a:off x="9400032" y="2103120"/>
            <a:ext cx="0" cy="1097280"/>
          </a:xfrm>
          <a:prstGeom prst="line">
            <a:avLst/>
          </a:prstGeom>
          <a:noFill/>
          <a:ln w="22225">
            <a:solidFill>
              <a:srgbClr val="5C6B66"/>
            </a:solidFill>
            <a:prstDash val="solid"/>
          </a:ln>
        </p:spPr>
      </p:sp>
      <p:sp>
        <p:nvSpPr>
          <p:cNvPr id="20" name="P3"/>
          <p:cNvSpPr/>
          <p:nvPr/>
        </p:nvSpPr>
        <p:spPr>
          <a:xfrm>
            <a:off x="2743200" y="3200400"/>
            <a:ext cx="6656832" cy="0"/>
          </a:xfrm>
          <a:prstGeom prst="line">
            <a:avLst/>
          </a:prstGeom>
          <a:noFill/>
          <a:ln w="22225">
            <a:solidFill>
              <a:srgbClr val="5C6B66"/>
            </a:solidFill>
            <a:prstDash val="solid"/>
          </a:ln>
        </p:spPr>
      </p:sp>
      <p:sp>
        <p:nvSpPr>
          <p:cNvPr id="21" name="P4"/>
          <p:cNvSpPr/>
          <p:nvPr/>
        </p:nvSpPr>
        <p:spPr>
          <a:xfrm>
            <a:off x="2743200" y="3200400"/>
            <a:ext cx="0" cy="411480"/>
          </a:xfrm>
          <a:prstGeom prst="line">
            <a:avLst/>
          </a:prstGeom>
          <a:noFill/>
          <a:ln w="22225">
            <a:solidFill>
              <a:srgbClr val="5C6B66"/>
            </a:solidFill>
            <a:prstDash val="solid"/>
            <a:tailEnd type="triangle"/>
          </a:ln>
        </p:spPr>
      </p:sp>
      <p:sp>
        <p:nvSpPr>
          <p:cNvPr id="22" name="T_val"/>
          <p:cNvSpPr/>
          <p:nvPr/>
        </p:nvSpPr>
        <p:spPr>
          <a:xfrm>
            <a:off x="731520" y="3611880"/>
            <a:ext cx="2286000" cy="822960"/>
          </a:xfrm>
          <a:prstGeom prst="roundRect">
            <a:avLst>
              <a:gd name="adj" fmla="val 11111"/>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Validator</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Text matching, rule checks</a:t>
            </a:r>
            <a:endParaRPr lang="en-US" sz="850" dirty="0"/>
          </a:p>
        </p:txBody>
      </p:sp>
      <p:sp>
        <p:nvSpPr>
          <p:cNvPr id="23" name="D_val"/>
          <p:cNvSpPr txBox="1"/>
          <p:nvPr/>
        </p:nvSpPr>
        <p:spPr>
          <a:xfrm>
            <a:off x="731520" y="4480560"/>
            <a:ext cx="2286000" cy="566928"/>
          </a:xfrm>
          <a:prstGeom prst="rect">
            <a:avLst/>
          </a:prstGeom>
          <a:noFill/>
          <a:ln/>
        </p:spPr>
        <p:txBody>
          <a:bodyPr wrap="square" lIns="0" tIns="0" rIns="0" bIns="0" rtlCol="0" anchor="t"/>
          <a:lstStyle/>
          <a:p>
            <a:pPr algn="l" indent="0" marL="0">
              <a:buNone/>
            </a:pPr>
            <a:r>
              <a:rPr lang="en-US" sz="950" dirty="0">
                <a:solidFill>
                  <a:srgbClr val="5C6B66"/>
                </a:solidFill>
                <a:latin typeface="Calibri" pitchFamily="34" charset="0"/>
                <a:ea typeface="Calibri" pitchFamily="34" charset="-122"/>
                <a:cs typeface="Calibri" pitchFamily="34" charset="-120"/>
              </a:rPr>
              <a:t>Finds the quote in the policy: exact, then fuzzy (88+) with the same numbers. Every number in a test is in its quote.</a:t>
            </a:r>
            <a:endParaRPr lang="en-US" sz="950" dirty="0"/>
          </a:p>
        </p:txBody>
      </p:sp>
      <p:sp>
        <p:nvSpPr>
          <p:cNvPr id="24" name="B3"/>
          <p:cNvSpPr/>
          <p:nvPr/>
        </p:nvSpPr>
        <p:spPr>
          <a:xfrm>
            <a:off x="3017520" y="4023360"/>
            <a:ext cx="640080" cy="0"/>
          </a:xfrm>
          <a:prstGeom prst="line">
            <a:avLst/>
          </a:prstGeom>
          <a:noFill/>
          <a:ln w="22225">
            <a:solidFill>
              <a:srgbClr val="5C6B66"/>
            </a:solidFill>
            <a:prstDash val="solid"/>
            <a:tailEnd type="triangle"/>
          </a:ln>
        </p:spPr>
      </p:sp>
      <p:sp>
        <p:nvSpPr>
          <p:cNvPr id="25" name="T_own"/>
          <p:cNvSpPr/>
          <p:nvPr/>
        </p:nvSpPr>
        <p:spPr>
          <a:xfrm>
            <a:off x="3657600" y="3611880"/>
            <a:ext cx="2468880" cy="822960"/>
          </a:xfrm>
          <a:prstGeom prst="roundRect">
            <a:avLst>
              <a:gd name="adj" fmla="val 11111"/>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Policy owner</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Approve, edit, reject</a:t>
            </a:r>
            <a:endParaRPr lang="en-US" sz="850" dirty="0"/>
          </a:p>
        </p:txBody>
      </p:sp>
      <p:sp>
        <p:nvSpPr>
          <p:cNvPr id="26" name="D_own"/>
          <p:cNvSpPr txBox="1"/>
          <p:nvPr/>
        </p:nvSpPr>
        <p:spPr>
          <a:xfrm>
            <a:off x="3657600" y="4480560"/>
            <a:ext cx="2468880" cy="566928"/>
          </a:xfrm>
          <a:prstGeom prst="rect">
            <a:avLst/>
          </a:prstGeom>
          <a:noFill/>
          <a:ln/>
        </p:spPr>
        <p:txBody>
          <a:bodyPr wrap="square" lIns="0" tIns="0" rIns="0" bIns="0" rtlCol="0" anchor="t"/>
          <a:lstStyle/>
          <a:p>
            <a:pPr algn="l" indent="0" marL="0">
              <a:buNone/>
            </a:pPr>
            <a:r>
              <a:rPr lang="en-US" sz="950" dirty="0">
                <a:solidFill>
                  <a:srgbClr val="5C6B66"/>
                </a:solidFill>
                <a:latin typeface="Calibri" pitchFamily="34" charset="0"/>
                <a:ea typeface="Calibri" pitchFamily="34" charset="-122"/>
                <a:cs typeface="Calibri" pitchFamily="34" charset="-120"/>
              </a:rPr>
              <a:t>Each rule beside its exact quote. Only approved rules are checked.</a:t>
            </a:r>
            <a:endParaRPr lang="en-US" sz="950" dirty="0"/>
          </a:p>
        </p:txBody>
      </p:sp>
      <p:sp>
        <p:nvSpPr>
          <p:cNvPr id="27" name="B4"/>
          <p:cNvSpPr/>
          <p:nvPr/>
        </p:nvSpPr>
        <p:spPr>
          <a:xfrm>
            <a:off x="6126480" y="4023360"/>
            <a:ext cx="640080" cy="0"/>
          </a:xfrm>
          <a:prstGeom prst="line">
            <a:avLst/>
          </a:prstGeom>
          <a:noFill/>
          <a:ln w="22225">
            <a:solidFill>
              <a:srgbClr val="5C6B66"/>
            </a:solidFill>
            <a:prstDash val="solid"/>
            <a:tailEnd type="triangle"/>
          </a:ln>
        </p:spPr>
      </p:sp>
      <p:pic>
        <p:nvPicPr>
          <p:cNvPr id="28" name="Lib" descr="preencoded.png">    </p:cNvPr>
          <p:cNvPicPr>
            <a:picLocks noChangeAspect="1"/>
          </p:cNvPicPr>
          <p:nvPr/>
        </p:nvPicPr>
        <p:blipFill>
          <a:blip r:embed="rId1"/>
          <a:stretch>
            <a:fillRect/>
          </a:stretch>
        </p:blipFill>
        <p:spPr>
          <a:xfrm>
            <a:off x="6766560" y="3429000"/>
            <a:ext cx="2286000" cy="1234440"/>
          </a:xfrm>
          <a:prstGeom prst="rect">
            <a:avLst/>
          </a:prstGeom>
        </p:spPr>
      </p:pic>
      <p:sp>
        <p:nvSpPr>
          <p:cNvPr id="29" name="LibT"/>
          <p:cNvSpPr txBox="1"/>
          <p:nvPr/>
        </p:nvSpPr>
        <p:spPr>
          <a:xfrm>
            <a:off x="6766560" y="3749040"/>
            <a:ext cx="2286000" cy="868680"/>
          </a:xfrm>
          <a:prstGeom prst="rect">
            <a:avLst/>
          </a:prstGeom>
          <a:noFill/>
          <a:ln/>
        </p:spPr>
        <p:txBody>
          <a:bodyPr wrap="square" lIns="0" tIns="0" rIns="0" bIns="0" rtlCol="0" anchor="ctr"/>
          <a:lstStyle/>
          <a:p>
            <a:pPr algn="ctr" indent="0" marL="0">
              <a:buNone/>
            </a:pPr>
            <a:r>
              <a:rPr lang="en-US" sz="1000" b="1" dirty="0">
                <a:solidFill>
                  <a:srgbClr val="16211E"/>
                </a:solidFill>
                <a:latin typeface="Calibri" pitchFamily="34" charset="0"/>
                <a:ea typeface="Calibri" pitchFamily="34" charset="-122"/>
                <a:cs typeface="Calibri" pitchFamily="34" charset="-120"/>
              </a:rPr>
              <a:t>Policy library</a:t>
            </a:r>
            <a:endParaRPr lang="en-US" sz="1000" dirty="0"/>
          </a:p>
          <a:p>
            <a:pPr algn="ctr" indent="0" marL="0">
              <a:buNone/>
            </a:pPr>
            <a:r>
              <a:rPr lang="en-US" sz="1000" dirty="0">
                <a:solidFill>
                  <a:srgbClr val="16211E"/>
                </a:solidFill>
                <a:latin typeface="Calibri" pitchFamily="34" charset="0"/>
                <a:ea typeface="Calibri" pitchFamily="34" charset="-122"/>
                <a:cs typeface="Calibri" pitchFamily="34" charset="-120"/>
              </a:rPr>
              <a:t>Rules and key facts</a:t>
            </a:r>
            <a:endParaRPr lang="en-US" sz="1000" dirty="0"/>
          </a:p>
          <a:p>
            <a:pPr algn="ctr" indent="0" marL="0">
              <a:buNone/>
            </a:pPr>
            <a:r>
              <a:rPr lang="en-US" sz="1000" dirty="0">
                <a:solidFill>
                  <a:srgbClr val="16211E"/>
                </a:solidFill>
                <a:latin typeface="Calibri" pitchFamily="34" charset="0"/>
                <a:ea typeface="Calibri" pitchFamily="34" charset="-122"/>
                <a:cs typeface="Calibri" pitchFamily="34" charset="-120"/>
              </a:rPr>
              <a:t>Versions, audit trail</a:t>
            </a:r>
            <a:endParaRPr lang="en-US" sz="1000" dirty="0"/>
          </a:p>
        </p:txBody>
      </p:sp>
      <p:sp>
        <p:nvSpPr>
          <p:cNvPr id="30" name="E4"/>
          <p:cNvSpPr txBox="1"/>
          <p:nvPr/>
        </p:nvSpPr>
        <p:spPr>
          <a:xfrm>
            <a:off x="9555480" y="3566160"/>
            <a:ext cx="2103120" cy="1371600"/>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APP ENDPOINTS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POST /builds</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GET /builds/{id}</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POST /builds/{id}/criteria/{cid}</a:t>
            </a:r>
            <a:endParaRPr lang="en-US" sz="900" dirty="0"/>
          </a:p>
          <a:p>
            <a:pPr algn="l" indent="0" marL="0">
              <a:buNone/>
            </a:pPr>
            <a:r>
              <a:rPr lang="en-US" sz="900" dirty="0">
                <a:solidFill>
                  <a:srgbClr val="5C6B66"/>
                </a:solidFill>
                <a:latin typeface="Calibri" pitchFamily="34" charset="0"/>
                <a:ea typeface="Calibri" pitchFamily="34" charset="-122"/>
                <a:cs typeface="Calibri" pitchFamily="34" charset="-120"/>
              </a:rPr>
              <a:t>POST /builds/{id}/publish</a:t>
            </a:r>
            <a:endParaRPr lang="en-US" sz="900" dirty="0"/>
          </a:p>
        </p:txBody>
      </p:sp>
      <p:sp>
        <p:nvSpPr>
          <p:cNvPr id="31" name="KF"/>
          <p:cNvSpPr/>
          <p:nvPr/>
        </p:nvSpPr>
        <p:spPr>
          <a:xfrm>
            <a:off x="457200" y="5193792"/>
            <a:ext cx="11274552" cy="621792"/>
          </a:xfrm>
          <a:prstGeom prst="roundRect">
            <a:avLst>
              <a:gd name="adj" fmla="val 11765"/>
            </a:avLst>
          </a:prstGeom>
          <a:solidFill>
            <a:srgbClr val="E3F0EB"/>
          </a:solidFill>
          <a:ln w="15875">
            <a:solidFill>
              <a:srgbClr val="1F6F5C"/>
            </a:solidFill>
          </a:ln>
        </p:spPr>
        <p:txBody>
          <a:bodyPr wrap="square" lIns="164592" tIns="45720" rIns="164592" bIns="45720" rtlCol="0" anchor="ctr"/>
          <a:lstStyle/>
          <a:p>
            <a:pPr algn="l" indent="0" marL="0">
              <a:buNone/>
            </a:pPr>
            <a:r>
              <a:rPr lang="en-US" sz="1100" b="1" spc="200" kern="0" dirty="0">
                <a:solidFill>
                  <a:srgbClr val="1F6F5C"/>
                </a:solidFill>
                <a:latin typeface="Calibri" pitchFamily="34" charset="0"/>
                <a:ea typeface="Calibri" pitchFamily="34" charset="-122"/>
                <a:cs typeface="Calibri" pitchFamily="34" charset="-120"/>
              </a:rPr>
              <a:t>KEY FACT   </a:t>
            </a:r>
            <a:pPr algn="l" indent="0" marL="0">
              <a:buNone/>
            </a:pPr>
            <a:r>
              <a:rPr lang="en-US" sz="1250" dirty="0">
                <a:solidFill>
                  <a:srgbClr val="16211E"/>
                </a:solidFill>
                <a:latin typeface="Calibri" pitchFamily="34" charset="0"/>
                <a:ea typeface="Calibri" pitchFamily="34" charset="-122"/>
                <a:cs typeface="Calibri" pitchFamily="34" charset="-120"/>
              </a:rPr>
              <a:t>One thing a nurse must find in a packet to apply a rule: a name and type, the exact policy sentence, and the question to ask the provider if it is missing.</a:t>
            </a:r>
            <a:endParaRPr lang="en-US" sz="1100" dirty="0"/>
          </a:p>
        </p:txBody>
      </p:sp>
      <p:sp>
        <p:nvSpPr>
          <p:cNvPr id="32"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owner picks a policy: from CMS, eCFR, or a PDF.</a:t>
            </a:r>
            <a:endParaRPr lang="en-US" sz="1600" dirty="0"/>
          </a:p>
        </p:txBody>
      </p:sp>
      <p:sp>
        <p:nvSpPr>
          <p:cNvPr id="33"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Unstructured parses it into elements, as JSON.</a:t>
            </a:r>
            <a:endParaRPr lang="en-US" sz="1600" dirty="0"/>
          </a:p>
        </p:txBody>
      </p:sp>
      <p:sp>
        <p:nvSpPr>
          <p:cNvPr id="34"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Claude Sonnet drafts the rules, exact quotes, key facts and questions.</a:t>
            </a:r>
            <a:endParaRPr lang="en-US" sz="1600" dirty="0"/>
          </a:p>
        </p:txBody>
      </p:sp>
      <p:sp>
        <p:nvSpPr>
          <p:cNvPr id="35"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Code checks every quote and number against the policy.</a:t>
            </a:r>
            <a:endParaRPr lang="en-US" sz="1600" dirty="0"/>
          </a:p>
        </p:txBody>
      </p:sp>
      <p:sp>
        <p:nvSpPr>
          <p:cNvPr id="36"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owner approves, edits or rejects each rule.</a:t>
            </a:r>
            <a:endParaRPr lang="en-US" sz="1600" dirty="0"/>
          </a:p>
        </p:txBody>
      </p:sp>
      <p:sp>
        <p:nvSpPr>
          <p:cNvPr id="37"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Approved rules and key facts are saved as a new version.</a:t>
            </a:r>
            <a:endParaRPr lang="en-US" sz="1600" dirty="0"/>
          </a:p>
        </p:txBody>
      </p:sp>
      <p:sp>
        <p:nvSpPr>
          <p:cNvPr id="38" name="c7"/>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 key fact is what a nurse must find in a packet.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00"/>
                                        <p:tgtEl>
                                          <p:spTgt spid="10"/>
                                        </p:tgtEl>
                                      </p:cBhvr>
                                    </p:animEffect>
                                  </p:childTnLst>
                                </p:cTn>
                              </p:par>
                              <p:par>
                                <p:cTn id="10" presetID="10" presetClass="entr" presetSubtype="0" fill="hold" grpId="0" nodeType="withEffect">
                                  <p:stCondLst>
                                    <p:cond delay="300"/>
                                  </p:stCondLst>
                                  <p:childTnLst>
                                    <p:set>
                                      <p:cBhvr>
                                        <p:cTn id="8" dur="1" fill="hold">
                                          <p:stCondLst>
                                            <p:cond delay="0"/>
                                          </p:stCondLst>
                                        </p:cTn>
                                        <p:tgtEl>
                                          <p:spTgt spid="32"/>
                                        </p:tgtEl>
                                        <p:attrNameLst>
                                          <p:attrName>style.visibility</p:attrName>
                                        </p:attrNameLst>
                                      </p:cBhvr>
                                      <p:to>
                                        <p:strVal val="visible"/>
                                      </p:to>
                                    </p:set>
                                    <p:animEffect transition="in" filter="fade">
                                      <p:cBhvr>
                                        <p:cTn id="9"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5" presetID="10" presetClass="exit" presetSubtype="0" fill="hold" grpId="0" nodeType="clickEffect">
                                  <p:stCondLst>
                                    <p:cond delay="0"/>
                                  </p:stCondLst>
                                  <p:childTnLst>
                                    <p:animEffect transition="out" filter="fade">
                                      <p:cBhvr>
                                        <p:cTn id="13" dur="300"/>
                                        <p:tgtEl>
                                          <p:spTgt spid="32"/>
                                        </p:tgtEl>
                                      </p:cBhvr>
                                    </p:animEffect>
                                    <p:set>
                                      <p:cBhvr>
                                        <p:cTn id="14" dur="1" fill="hold">
                                          <p:stCondLst>
                                            <p:cond delay="299"/>
                                          </p:stCondLst>
                                        </p:cTn>
                                        <p:tgtEl>
                                          <p:spTgt spid="32"/>
                                        </p:tgtEl>
                                        <p:attrNameLst>
                                          <p:attrName>style.visibility</p:attrName>
                                        </p:attrNameLst>
                                      </p:cBhvr>
                                      <p:to>
                                        <p:strVal val="hidden"/>
                                      </p:to>
                                    </p:set>
                                  </p:childTnLst>
                                </p:cTn>
                              </p:par>
                              <p:par>
                                <p:cTn id="18" presetID="22" presetClass="entr" presetSubtype="8" fill="hold" nodeType="withEffect">
                                  <p:stCondLst>
                                    <p:cond delay="10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250"/>
                                        <p:tgtEl>
                                          <p:spTgt spid="11"/>
                                        </p:tgtEl>
                                      </p:cBhvr>
                                    </p:animEffect>
                                  </p:childTnLst>
                                </p:cTn>
                              </p:par>
                              <p:par>
                                <p:cTn id="21" presetID="10" presetClass="entr" presetSubtype="0" fill="hold" grpId="0" nodeType="withEffect">
                                  <p:stCondLst>
                                    <p:cond delay="30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4" presetID="10" presetClass="entr" presetSubtype="0" fill="hold" grpId="0" nodeType="withEffect">
                                  <p:stCondLst>
                                    <p:cond delay="7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7" presetID="10" presetClass="entr" presetSubtype="0" fill="hold" grpId="0" nodeType="withEffect">
                                  <p:stCondLst>
                                    <p:cond delay="30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2" presetID="10" presetClass="exit" presetSubtype="0" fill="hold" grpId="0" nodeType="clickEffect">
                                  <p:stCondLst>
                                    <p:cond delay="0"/>
                                  </p:stCondLst>
                                  <p:childTnLst>
                                    <p:animEffect transition="out" filter="fade">
                                      <p:cBhvr>
                                        <p:cTn id="30" dur="300"/>
                                        <p:tgtEl>
                                          <p:spTgt spid="33"/>
                                        </p:tgtEl>
                                      </p:cBhvr>
                                    </p:animEffect>
                                    <p:set>
                                      <p:cBhvr>
                                        <p:cTn id="31" dur="1" fill="hold">
                                          <p:stCondLst>
                                            <p:cond delay="299"/>
                                          </p:stCondLst>
                                        </p:cTn>
                                        <p:tgtEl>
                                          <p:spTgt spid="33"/>
                                        </p:tgtEl>
                                        <p:attrNameLst>
                                          <p:attrName>style.visibility</p:attrName>
                                        </p:attrNameLst>
                                      </p:cBhvr>
                                      <p:to>
                                        <p:strVal val="hidden"/>
                                      </p:to>
                                    </p:set>
                                  </p:childTnLst>
                                </p:cTn>
                              </p:par>
                              <p:par>
                                <p:cTn id="35" presetID="22" presetClass="entr" presetSubtype="8" fill="hold" nodeType="withEffect">
                                  <p:stCondLst>
                                    <p:cond delay="10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250"/>
                                        <p:tgtEl>
                                          <p:spTgt spid="14"/>
                                        </p:tgtEl>
                                      </p:cBhvr>
                                    </p:animEffect>
                                  </p:childTnLst>
                                </p:cTn>
                              </p:par>
                              <p:par>
                                <p:cTn id="38" presetID="10" presetClass="entr" presetSubtype="0" fill="hold" grpId="0" nodeType="withEffect">
                                  <p:stCondLst>
                                    <p:cond delay="3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41" presetID="10" presetClass="entr" presetSubtype="0" fill="hold" grpId="0" nodeType="withEffect">
                                  <p:stCondLst>
                                    <p:cond delay="7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4" presetID="10" presetClass="entr" presetSubtype="0" fill="hold" grpId="0" nodeType="withEffect">
                                  <p:stCondLst>
                                    <p:cond delay="7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7" presetID="10" presetClass="entr" presetSubtype="0" fill="hold" grpId="0" nodeType="withEffect">
                                  <p:stCondLst>
                                    <p:cond delay="30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2" presetID="10" presetClass="exit" presetSubtype="0" fill="hold" grpId="0" nodeType="clickEffect">
                                  <p:stCondLst>
                                    <p:cond delay="0"/>
                                  </p:stCondLst>
                                  <p:childTnLst>
                                    <p:animEffect transition="out" filter="fade">
                                      <p:cBhvr>
                                        <p:cTn id="50" dur="300"/>
                                        <p:tgtEl>
                                          <p:spTgt spid="34"/>
                                        </p:tgtEl>
                                      </p:cBhvr>
                                    </p:animEffect>
                                    <p:set>
                                      <p:cBhvr>
                                        <p:cTn id="51" dur="1" fill="hold">
                                          <p:stCondLst>
                                            <p:cond delay="299"/>
                                          </p:stCondLst>
                                        </p:cTn>
                                        <p:tgtEl>
                                          <p:spTgt spid="34"/>
                                        </p:tgtEl>
                                        <p:attrNameLst>
                                          <p:attrName>style.visibility</p:attrName>
                                        </p:attrNameLst>
                                      </p:cBhvr>
                                      <p:to>
                                        <p:strVal val="hidden"/>
                                      </p:to>
                                    </p:set>
                                  </p:childTnLst>
                                </p:cTn>
                              </p:par>
                              <p:par>
                                <p:cTn id="55" presetID="22" presetClass="entr" presetSubtype="8"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150"/>
                                        <p:tgtEl>
                                          <p:spTgt spid="18"/>
                                        </p:tgtEl>
                                      </p:cBhvr>
                                    </p:animEffect>
                                  </p:childTnLst>
                                </p:cTn>
                              </p:par>
                              <p:par>
                                <p:cTn id="58" presetID="22" presetClass="entr" presetSubtype="1" fill="hold" nodeType="withEffect">
                                  <p:stCondLst>
                                    <p:cond delay="100"/>
                                  </p:stCondLst>
                                  <p:childTnLst>
                                    <p:set>
                                      <p:cBhvr>
                                        <p:cTn id="56" dur="1" fill="hold">
                                          <p:stCondLst>
                                            <p:cond delay="0"/>
                                          </p:stCondLst>
                                        </p:cTn>
                                        <p:tgtEl>
                                          <p:spTgt spid="19"/>
                                        </p:tgtEl>
                                        <p:attrNameLst>
                                          <p:attrName>style.visibility</p:attrName>
                                        </p:attrNameLst>
                                      </p:cBhvr>
                                      <p:to>
                                        <p:strVal val="visible"/>
                                      </p:to>
                                    </p:set>
                                    <p:animEffect transition="in" filter="wipe(up)">
                                      <p:cBhvr>
                                        <p:cTn id="57" dur="300"/>
                                        <p:tgtEl>
                                          <p:spTgt spid="19"/>
                                        </p:tgtEl>
                                      </p:cBhvr>
                                    </p:animEffect>
                                  </p:childTnLst>
                                </p:cTn>
                              </p:par>
                              <p:par>
                                <p:cTn id="61" presetID="22" presetClass="entr" presetSubtype="2" fill="hold" nodeType="withEffect">
                                  <p:stCondLst>
                                    <p:cond delay="350"/>
                                  </p:stCondLst>
                                  <p:childTnLst>
                                    <p:set>
                                      <p:cBhvr>
                                        <p:cTn id="59" dur="1" fill="hold">
                                          <p:stCondLst>
                                            <p:cond delay="0"/>
                                          </p:stCondLst>
                                        </p:cTn>
                                        <p:tgtEl>
                                          <p:spTgt spid="20"/>
                                        </p:tgtEl>
                                        <p:attrNameLst>
                                          <p:attrName>style.visibility</p:attrName>
                                        </p:attrNameLst>
                                      </p:cBhvr>
                                      <p:to>
                                        <p:strVal val="visible"/>
                                      </p:to>
                                    </p:set>
                                    <p:animEffect transition="in" filter="wipe(right)">
                                      <p:cBhvr>
                                        <p:cTn id="60" dur="600"/>
                                        <p:tgtEl>
                                          <p:spTgt spid="20"/>
                                        </p:tgtEl>
                                      </p:cBhvr>
                                    </p:animEffect>
                                  </p:childTnLst>
                                </p:cTn>
                              </p:par>
                              <p:par>
                                <p:cTn id="64" presetID="22" presetClass="entr" presetSubtype="1" fill="hold" nodeType="withEffect">
                                  <p:stCondLst>
                                    <p:cond delay="950"/>
                                  </p:stCondLst>
                                  <p:childTnLst>
                                    <p:set>
                                      <p:cBhvr>
                                        <p:cTn id="62" dur="1" fill="hold">
                                          <p:stCondLst>
                                            <p:cond delay="0"/>
                                          </p:stCondLst>
                                        </p:cTn>
                                        <p:tgtEl>
                                          <p:spTgt spid="21"/>
                                        </p:tgtEl>
                                        <p:attrNameLst>
                                          <p:attrName>style.visibility</p:attrName>
                                        </p:attrNameLst>
                                      </p:cBhvr>
                                      <p:to>
                                        <p:strVal val="visible"/>
                                      </p:to>
                                    </p:set>
                                    <p:animEffect transition="in" filter="wipe(up)">
                                      <p:cBhvr>
                                        <p:cTn id="63" dur="250"/>
                                        <p:tgtEl>
                                          <p:spTgt spid="21"/>
                                        </p:tgtEl>
                                      </p:cBhvr>
                                    </p:animEffect>
                                  </p:childTnLst>
                                </p:cTn>
                              </p:par>
                              <p:par>
                                <p:cTn id="67" presetID="10" presetClass="entr" presetSubtype="0" fill="hold" grpId="0" nodeType="withEffect">
                                  <p:stCondLst>
                                    <p:cond delay="110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70" presetID="10" presetClass="entr" presetSubtype="0" fill="hold" grpId="0" nodeType="withEffect">
                                  <p:stCondLst>
                                    <p:cond delay="130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3" presetID="10" presetClass="entr" presetSubtype="0" fill="hold" grpId="0" nodeType="withEffect">
                                  <p:stCondLst>
                                    <p:cond delay="30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childTnLst>
                          </p:cTn>
                        </p:par>
                      </p:childTnLst>
                    </p:cTn>
                  </p:par>
                  <p:par>
                    <p:cTn id="74" fill="hold">
                      <p:stCondLst>
                        <p:cond delay="indefinite"/>
                      </p:stCondLst>
                      <p:childTnLst>
                        <p:par>
                          <p:cTn id="75" fill="hold">
                            <p:stCondLst>
                              <p:cond delay="0"/>
                            </p:stCondLst>
                            <p:childTnLst>
                              <p:par>
                                <p:cTn id="78" presetID="10" presetClass="exit" presetSubtype="0" fill="hold" grpId="0" nodeType="clickEffect">
                                  <p:stCondLst>
                                    <p:cond delay="0"/>
                                  </p:stCondLst>
                                  <p:childTnLst>
                                    <p:animEffect transition="out" filter="fade">
                                      <p:cBhvr>
                                        <p:cTn id="76" dur="300"/>
                                        <p:tgtEl>
                                          <p:spTgt spid="35"/>
                                        </p:tgtEl>
                                      </p:cBhvr>
                                    </p:animEffect>
                                    <p:set>
                                      <p:cBhvr>
                                        <p:cTn id="77" dur="1" fill="hold">
                                          <p:stCondLst>
                                            <p:cond delay="299"/>
                                          </p:stCondLst>
                                        </p:cTn>
                                        <p:tgtEl>
                                          <p:spTgt spid="35"/>
                                        </p:tgtEl>
                                        <p:attrNameLst>
                                          <p:attrName>style.visibility</p:attrName>
                                        </p:attrNameLst>
                                      </p:cBhvr>
                                      <p:to>
                                        <p:strVal val="hidden"/>
                                      </p:to>
                                    </p:set>
                                  </p:childTnLst>
                                </p:cTn>
                              </p:par>
                              <p:par>
                                <p:cTn id="81" presetID="22" presetClass="entr" presetSubtype="8" fill="hold" nodeType="withEffect">
                                  <p:stCondLst>
                                    <p:cond delay="100"/>
                                  </p:stCondLst>
                                  <p:childTnLst>
                                    <p:set>
                                      <p:cBhvr>
                                        <p:cTn id="79" dur="1" fill="hold">
                                          <p:stCondLst>
                                            <p:cond delay="0"/>
                                          </p:stCondLst>
                                        </p:cTn>
                                        <p:tgtEl>
                                          <p:spTgt spid="24"/>
                                        </p:tgtEl>
                                        <p:attrNameLst>
                                          <p:attrName>style.visibility</p:attrName>
                                        </p:attrNameLst>
                                      </p:cBhvr>
                                      <p:to>
                                        <p:strVal val="visible"/>
                                      </p:to>
                                    </p:set>
                                    <p:animEffect transition="in" filter="wipe(left)">
                                      <p:cBhvr>
                                        <p:cTn id="80" dur="250"/>
                                        <p:tgtEl>
                                          <p:spTgt spid="24"/>
                                        </p:tgtEl>
                                      </p:cBhvr>
                                    </p:animEffect>
                                  </p:childTnLst>
                                </p:cTn>
                              </p:par>
                              <p:par>
                                <p:cTn id="84" presetID="10" presetClass="entr" presetSubtype="0" fill="hold" grpId="0" nodeType="withEffect">
                                  <p:stCondLst>
                                    <p:cond delay="30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par>
                                <p:cTn id="87" presetID="10" presetClass="entr" presetSubtype="0" fill="hold" grpId="0" nodeType="withEffect">
                                  <p:stCondLst>
                                    <p:cond delay="70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500"/>
                                        <p:tgtEl>
                                          <p:spTgt spid="26"/>
                                        </p:tgtEl>
                                      </p:cBhvr>
                                    </p:animEffect>
                                  </p:childTnLst>
                                </p:cTn>
                              </p:par>
                              <p:par>
                                <p:cTn id="90" presetID="10" presetClass="entr" presetSubtype="0" fill="hold" grpId="0" nodeType="withEffect">
                                  <p:stCondLst>
                                    <p:cond delay="30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500"/>
                                        <p:tgtEl>
                                          <p:spTgt spid="36"/>
                                        </p:tgtEl>
                                      </p:cBhvr>
                                    </p:animEffect>
                                  </p:childTnLst>
                                </p:cTn>
                              </p:par>
                            </p:childTnLst>
                          </p:cTn>
                        </p:par>
                      </p:childTnLst>
                    </p:cTn>
                  </p:par>
                  <p:par>
                    <p:cTn id="91" fill="hold">
                      <p:stCondLst>
                        <p:cond delay="indefinite"/>
                      </p:stCondLst>
                      <p:childTnLst>
                        <p:par>
                          <p:cTn id="92" fill="hold">
                            <p:stCondLst>
                              <p:cond delay="0"/>
                            </p:stCondLst>
                            <p:childTnLst>
                              <p:par>
                                <p:cTn id="95" presetID="10" presetClass="exit" presetSubtype="0" fill="hold" grpId="0" nodeType="clickEffect">
                                  <p:stCondLst>
                                    <p:cond delay="0"/>
                                  </p:stCondLst>
                                  <p:childTnLst>
                                    <p:animEffect transition="out" filter="fade">
                                      <p:cBhvr>
                                        <p:cTn id="93" dur="300"/>
                                        <p:tgtEl>
                                          <p:spTgt spid="36"/>
                                        </p:tgtEl>
                                      </p:cBhvr>
                                    </p:animEffect>
                                    <p:set>
                                      <p:cBhvr>
                                        <p:cTn id="94" dur="1" fill="hold">
                                          <p:stCondLst>
                                            <p:cond delay="299"/>
                                          </p:stCondLst>
                                        </p:cTn>
                                        <p:tgtEl>
                                          <p:spTgt spid="36"/>
                                        </p:tgtEl>
                                        <p:attrNameLst>
                                          <p:attrName>style.visibility</p:attrName>
                                        </p:attrNameLst>
                                      </p:cBhvr>
                                      <p:to>
                                        <p:strVal val="hidden"/>
                                      </p:to>
                                    </p:set>
                                  </p:childTnLst>
                                </p:cTn>
                              </p:par>
                              <p:par>
                                <p:cTn id="98" presetID="22" presetClass="entr" presetSubtype="8" fill="hold" nodeType="withEffect">
                                  <p:stCondLst>
                                    <p:cond delay="100"/>
                                  </p:stCondLst>
                                  <p:childTnLst>
                                    <p:set>
                                      <p:cBhvr>
                                        <p:cTn id="96" dur="1" fill="hold">
                                          <p:stCondLst>
                                            <p:cond delay="0"/>
                                          </p:stCondLst>
                                        </p:cTn>
                                        <p:tgtEl>
                                          <p:spTgt spid="27"/>
                                        </p:tgtEl>
                                        <p:attrNameLst>
                                          <p:attrName>style.visibility</p:attrName>
                                        </p:attrNameLst>
                                      </p:cBhvr>
                                      <p:to>
                                        <p:strVal val="visible"/>
                                      </p:to>
                                    </p:set>
                                    <p:animEffect transition="in" filter="wipe(left)">
                                      <p:cBhvr>
                                        <p:cTn id="97" dur="250"/>
                                        <p:tgtEl>
                                          <p:spTgt spid="27"/>
                                        </p:tgtEl>
                                      </p:cBhvr>
                                    </p:animEffect>
                                  </p:childTnLst>
                                </p:cTn>
                              </p:par>
                              <p:par>
                                <p:cTn id="101" presetID="10" presetClass="entr" presetSubtype="0" fill="hold" nodeType="withEffect">
                                  <p:stCondLst>
                                    <p:cond delay="30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0" dur="500"/>
                                        <p:tgtEl>
                                          <p:spTgt spid="28"/>
                                        </p:tgtEl>
                                      </p:cBhvr>
                                    </p:animEffect>
                                  </p:childTnLst>
                                </p:cTn>
                              </p:par>
                              <p:par>
                                <p:cTn id="104" presetID="10" presetClass="entr" presetSubtype="0" fill="hold" grpId="0" nodeType="withEffect">
                                  <p:stCondLst>
                                    <p:cond delay="3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7" presetID="10" presetClass="entr" presetSubtype="0" fill="hold" grpId="0" nodeType="withEffect">
                                  <p:stCondLst>
                                    <p:cond delay="60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500"/>
                                        <p:tgtEl>
                                          <p:spTgt spid="30"/>
                                        </p:tgtEl>
                                      </p:cBhvr>
                                    </p:animEffect>
                                  </p:childTnLst>
                                </p:cTn>
                              </p:par>
                              <p:par>
                                <p:cTn id="110" presetID="10" presetClass="entr" presetSubtype="0" fill="hold" grpId="0" nodeType="withEffect">
                                  <p:stCondLst>
                                    <p:cond delay="30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childTnLst>
                          </p:cTn>
                        </p:par>
                      </p:childTnLst>
                    </p:cTn>
                  </p:par>
                  <p:par>
                    <p:cTn id="111" fill="hold">
                      <p:stCondLst>
                        <p:cond delay="indefinite"/>
                      </p:stCondLst>
                      <p:childTnLst>
                        <p:par>
                          <p:cTn id="112" fill="hold">
                            <p:stCondLst>
                              <p:cond delay="0"/>
                            </p:stCondLst>
                            <p:childTnLst>
                              <p:par>
                                <p:cTn id="115" presetID="10" presetClass="exit" presetSubtype="0" fill="hold" grpId="0" nodeType="clickEffect">
                                  <p:stCondLst>
                                    <p:cond delay="0"/>
                                  </p:stCondLst>
                                  <p:childTnLst>
                                    <p:animEffect transition="out" filter="fade">
                                      <p:cBhvr>
                                        <p:cTn id="113" dur="300"/>
                                        <p:tgtEl>
                                          <p:spTgt spid="37"/>
                                        </p:tgtEl>
                                      </p:cBhvr>
                                    </p:animEffect>
                                    <p:set>
                                      <p:cBhvr>
                                        <p:cTn id="114" dur="1" fill="hold">
                                          <p:stCondLst>
                                            <p:cond delay="299"/>
                                          </p:stCondLst>
                                        </p:cTn>
                                        <p:tgtEl>
                                          <p:spTgt spid="37"/>
                                        </p:tgtEl>
                                        <p:attrNameLst>
                                          <p:attrName>style.visibility</p:attrName>
                                        </p:attrNameLst>
                                      </p:cBhvr>
                                      <p:to>
                                        <p:strVal val="hidden"/>
                                      </p:to>
                                    </p:set>
                                  </p:childTnLst>
                                </p:cTn>
                              </p:par>
                              <p:par>
                                <p:cTn id="118" presetID="10" presetClass="entr" presetSubtype="0" fill="hold" grpId="0" nodeType="with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21" presetID="10" presetClass="entr" presetSubtype="0" fill="hold" grpId="0" nodeType="withEffect">
                                  <p:stCondLst>
                                    <p:cond delay="30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2" grpId="0"/>
      <p:bldP spid="12" grpId="0" animBg="1"/>
      <p:bldP spid="13" grpId="0"/>
      <p:bldP spid="33" grpId="0"/>
      <p:bldP spid="15" grpId="0" animBg="1"/>
      <p:bldP spid="16" grpId="0"/>
      <p:bldP spid="17" grpId="0"/>
      <p:bldP spid="34" grpId="0"/>
      <p:bldP spid="22" grpId="0" animBg="1"/>
      <p:bldP spid="23" grpId="0"/>
      <p:bldP spid="35" grpId="0"/>
      <p:bldP spid="25" grpId="0" animBg="1"/>
      <p:bldP spid="26" grpId="0"/>
      <p:bldP spid="36" grpId="0"/>
      <p:bldP spid="29" grpId="0"/>
      <p:bldP spid="30" grpId="0"/>
      <p:bldP spid="37" grpId="0"/>
      <p:bldP spid="31" grpId="0" animBg="1"/>
      <p:bldP spid="3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policy to approved rules</dc:title>
  <dc:subject>PptxGenJS Presentation</dc:subject>
  <dc:creator>Nisha Mishra</dc:creator>
  <cp:lastModifiedBy>Nisha Mishra</cp:lastModifiedBy>
  <cp:revision>1</cp:revision>
  <dcterms:created xsi:type="dcterms:W3CDTF">2026-10-06T01:51:33Z</dcterms:created>
  <dcterms:modified xsi:type="dcterms:W3CDTF">2026-10-06T01:51:33Z</dcterms:modified>
</cp:coreProperties>
</file>