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roadmap. Three phases, about a year. The months are illustrative. The order is what matters. Each phase earns the next one.
We start with Phase 1. It has one goal: get each request right the first time, with a person still deciding. My north star here is the right-first-time rate. Out of every 100 requests, how many are right the first time, with no back and forth?
Phase 1 has two milestones.
Milestone 1 is building the rulebook. Here we onboard a new service. We attach every policy that applies to it. Then we turn each policy into a checklist. The checklist says what the policy wants to see in a request. This is the foundation that the AI in milestone 2 uses.
Milestone 2 is the recommendation. The AI checks every request against the rulebook we created in milestone 1. It recommends what to do, with the evidence from the packet, and gives it to the nurse. The nurse stops hunting. The provider stops re-sending. And the request gets decided faster.
Phase 2 is scale, plus a few more features. We onboard more services, ranked by Humana's own request history. And we handle a few edge cases. One is where every clinical rule is met, but the procedure isn't covered. The system will suggest the usual next step, like a covered alternative. The other is checking the provider and the facility, for the things a fax can't tell us.
Phase 3 is member status. The member sees where a request stands. It comes last because a status is only as good as the record behind it.
So: prove it's right, then widen it, then show it to the member. And a person decides in every phase.
Now let me walk you through our personas in Phase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eyebrow"/>
          <p:cNvSpPr txBox="1"/>
          <p:nvPr/>
        </p:nvSpPr>
        <p:spPr>
          <a:xfrm>
            <a:off x="457200" y="274320"/>
            <a:ext cx="6400800" cy="256032"/>
          </a:xfrm>
          <a:prstGeom prst="rect">
            <a:avLst/>
          </a:prstGeom>
          <a:noFill/>
          <a:ln/>
        </p:spPr>
        <p:txBody>
          <a:bodyPr wrap="square" lIns="0" tIns="0" rIns="0" bIns="0" rtlCol="0" anchor="t"/>
          <a:lstStyle/>
          <a:p>
            <a:pPr algn="l" indent="0" marL="0">
              <a:buNone/>
            </a:pPr>
            <a:r>
              <a:rPr lang="en-US" sz="1100" b="1" spc="300" kern="0" dirty="0">
                <a:solidFill>
                  <a:srgbClr val="1F6F5C"/>
                </a:solidFill>
                <a:latin typeface="Calibri" pitchFamily="34" charset="0"/>
                <a:ea typeface="Calibri" pitchFamily="34" charset="-122"/>
                <a:cs typeface="Calibri" pitchFamily="34" charset="-120"/>
              </a:rPr>
              <a:t>THE ROADMAP</a:t>
            </a:r>
            <a:endParaRPr lang="en-US" sz="1100" dirty="0"/>
          </a:p>
        </p:txBody>
      </p:sp>
      <p:sp>
        <p:nvSpPr>
          <p:cNvPr id="3" name="title"/>
          <p:cNvSpPr txBox="1"/>
          <p:nvPr/>
        </p:nvSpPr>
        <p:spPr>
          <a:xfrm>
            <a:off x="457200" y="502920"/>
            <a:ext cx="8046720" cy="685800"/>
          </a:xfrm>
          <a:prstGeom prst="rect">
            <a:avLst/>
          </a:prstGeom>
          <a:noFill/>
          <a:ln/>
        </p:spPr>
        <p:txBody>
          <a:bodyPr wrap="square" lIns="0" tIns="0" rIns="0" bIns="0" rtlCol="0" anchor="ctr"/>
          <a:lstStyle/>
          <a:p>
            <a:pPr algn="l" indent="0" marL="0">
              <a:buNone/>
            </a:pPr>
            <a:r>
              <a:rPr lang="en-US" sz="2600" dirty="0">
                <a:solidFill>
                  <a:srgbClr val="16211E"/>
                </a:solidFill>
                <a:latin typeface="Cambria" pitchFamily="34" charset="0"/>
                <a:ea typeface="Cambria" pitchFamily="34" charset="-122"/>
                <a:cs typeface="Cambria" pitchFamily="34" charset="-120"/>
              </a:rPr>
              <a:t>Three phases over a year.</a:t>
            </a:r>
            <a:endParaRPr lang="en-US" sz="2600" dirty="0"/>
          </a:p>
        </p:txBody>
      </p:sp>
      <p:sp>
        <p:nvSpPr>
          <p:cNvPr id="4" name="sub"/>
          <p:cNvSpPr txBox="1"/>
          <p:nvPr/>
        </p:nvSpPr>
        <p:spPr>
          <a:xfrm>
            <a:off x="8412480" y="502920"/>
            <a:ext cx="3319272" cy="685800"/>
          </a:xfrm>
          <a:prstGeom prst="rect">
            <a:avLst/>
          </a:prstGeom>
          <a:noFill/>
          <a:ln/>
        </p:spPr>
        <p:txBody>
          <a:bodyPr wrap="square" lIns="0" tIns="0" rIns="0" bIns="0" rtlCol="0" anchor="ctr"/>
          <a:lstStyle/>
          <a:p>
            <a:pPr algn="r" indent="0" marL="0">
              <a:buNone/>
            </a:pPr>
            <a:r>
              <a:rPr lang="en-US" sz="1400" dirty="0">
                <a:solidFill>
                  <a:srgbClr val="5C6B66"/>
                </a:solidFill>
                <a:latin typeface="Calibri" pitchFamily="34" charset="0"/>
                <a:ea typeface="Calibri" pitchFamily="34" charset="-122"/>
                <a:cs typeface="Calibri" pitchFamily="34" charset="-120"/>
              </a:rPr>
              <a:t>Each phase earns the next one</a:t>
            </a:r>
            <a:endParaRPr lang="en-US" sz="1400" dirty="0"/>
          </a:p>
        </p:txBody>
      </p:sp>
      <p:sp>
        <p:nvSpPr>
          <p:cNvPr id="5" name="footer"/>
          <p:cNvSpPr txBox="1"/>
          <p:nvPr/>
        </p:nvSpPr>
        <p:spPr>
          <a:xfrm>
            <a:off x="457200" y="6492240"/>
            <a:ext cx="11274552" cy="228600"/>
          </a:xfrm>
          <a:prstGeom prst="rect">
            <a:avLst/>
          </a:prstGeom>
          <a:noFill/>
          <a:ln/>
        </p:spPr>
        <p:txBody>
          <a:bodyPr wrap="square" lIns="0" tIns="0" rIns="0" bIns="0" rtlCol="0" anchor="t"/>
          <a:lstStyle/>
          <a:p>
            <a:pPr algn="l" indent="0" marL="0">
              <a:buNone/>
            </a:pPr>
            <a:r>
              <a:rPr lang="en-US" sz="900" dirty="0">
                <a:solidFill>
                  <a:srgbClr val="5C6B66"/>
                </a:solidFill>
                <a:latin typeface="Calibri" pitchFamily="34" charset="0"/>
                <a:ea typeface="Calibri" pitchFamily="34" charset="-122"/>
                <a:cs typeface="Calibri" pitchFamily="34" charset="-120"/>
              </a:rPr>
              <a:t>The months are illustrative. The order is the point.</a:t>
            </a:r>
            <a:endParaRPr lang="en-US" sz="900" dirty="0"/>
          </a:p>
        </p:txBody>
      </p:sp>
      <p:sp>
        <p:nvSpPr>
          <p:cNvPr id="6" name="Ph1"/>
          <p:cNvSpPr/>
          <p:nvPr/>
        </p:nvSpPr>
        <p:spPr>
          <a:xfrm>
            <a:off x="457200" y="1325880"/>
            <a:ext cx="5440680" cy="3840480"/>
          </a:xfrm>
          <a:prstGeom prst="roundRect">
            <a:avLst>
              <a:gd name="adj" fmla="val 2381"/>
            </a:avLst>
          </a:prstGeom>
          <a:ln w="15875">
            <a:solidFill>
              <a:srgbClr val="1F6F5C"/>
            </a:solidFill>
            <a:prstDash val="dash"/>
          </a:ln>
        </p:spPr>
      </p:sp>
      <p:sp>
        <p:nvSpPr>
          <p:cNvPr id="7" name="H1"/>
          <p:cNvSpPr txBox="1"/>
          <p:nvPr/>
        </p:nvSpPr>
        <p:spPr>
          <a:xfrm>
            <a:off x="685800" y="1481328"/>
            <a:ext cx="4983480" cy="228600"/>
          </a:xfrm>
          <a:prstGeom prst="rect">
            <a:avLst/>
          </a:prstGeom>
          <a:noFill/>
          <a:ln/>
        </p:spPr>
        <p:txBody>
          <a:bodyPr wrap="square" lIns="0" tIns="0" rIns="0" bIns="0" rtlCol="0" anchor="t"/>
          <a:lstStyle/>
          <a:p>
            <a:pPr algn="l" indent="0" marL="0">
              <a:buNone/>
            </a:pPr>
            <a:r>
              <a:rPr lang="en-US" sz="1050" b="1" dirty="0">
                <a:solidFill>
                  <a:srgbClr val="1F6F5C"/>
                </a:solidFill>
                <a:latin typeface="Calibri" pitchFamily="34" charset="0"/>
                <a:ea typeface="Calibri" pitchFamily="34" charset="-122"/>
                <a:cs typeface="Calibri" pitchFamily="34" charset="-120"/>
              </a:rPr>
              <a:t>PHASE 1   ·   MONTHS 1 TO 4</a:t>
            </a:r>
            <a:endParaRPr lang="en-US" sz="1050" dirty="0"/>
          </a:p>
        </p:txBody>
      </p:sp>
      <p:sp>
        <p:nvSpPr>
          <p:cNvPr id="8" name="T1"/>
          <p:cNvSpPr txBox="1"/>
          <p:nvPr/>
        </p:nvSpPr>
        <p:spPr>
          <a:xfrm>
            <a:off x="685800" y="1755648"/>
            <a:ext cx="4983480" cy="411480"/>
          </a:xfrm>
          <a:prstGeom prst="rect">
            <a:avLst/>
          </a:prstGeom>
          <a:noFill/>
          <a:ln/>
        </p:spPr>
        <p:txBody>
          <a:bodyPr wrap="square" lIns="0" tIns="0" rIns="0" bIns="0" rtlCol="0" anchor="t"/>
          <a:lstStyle/>
          <a:p>
            <a:pPr algn="l" indent="0" marL="0">
              <a:buNone/>
            </a:pPr>
            <a:r>
              <a:rPr lang="en-US" sz="2000" dirty="0">
                <a:solidFill>
                  <a:srgbClr val="16211E"/>
                </a:solidFill>
                <a:latin typeface="Calibri" pitchFamily="34" charset="0"/>
                <a:ea typeface="Calibri" pitchFamily="34" charset="-122"/>
                <a:cs typeface="Calibri" pitchFamily="34" charset="-120"/>
              </a:rPr>
              <a:t>Right first time. A person decides.</a:t>
            </a:r>
            <a:endParaRPr lang="en-US" sz="2000" dirty="0"/>
          </a:p>
        </p:txBody>
      </p:sp>
      <p:sp>
        <p:nvSpPr>
          <p:cNvPr id="9" name="S1"/>
          <p:cNvSpPr txBox="1"/>
          <p:nvPr/>
        </p:nvSpPr>
        <p:spPr>
          <a:xfrm>
            <a:off x="685800" y="2157984"/>
            <a:ext cx="4983480" cy="256032"/>
          </a:xfrm>
          <a:prstGeom prst="rect">
            <a:avLst/>
          </a:prstGeom>
          <a:noFill/>
          <a:ln/>
        </p:spPr>
        <p:txBody>
          <a:bodyPr wrap="square" lIns="0" tIns="0" rIns="0" bIns="0" rtlCol="0" anchor="t"/>
          <a:lstStyle/>
          <a:p>
            <a:pPr algn="l" indent="0" marL="0">
              <a:buNone/>
            </a:pPr>
            <a:r>
              <a:rPr lang="en-US" sz="1150" b="1" dirty="0">
                <a:solidFill>
                  <a:srgbClr val="5C6B66"/>
                </a:solidFill>
                <a:latin typeface="Calibri" pitchFamily="34" charset="0"/>
                <a:ea typeface="Calibri" pitchFamily="34" charset="-122"/>
                <a:cs typeface="Calibri" pitchFamily="34" charset="-120"/>
              </a:rPr>
              <a:t>North star: right-first-time rate. Two milestones ladder up to it.</a:t>
            </a:r>
            <a:endParaRPr lang="en-US" sz="1150" dirty="0"/>
          </a:p>
        </p:txBody>
      </p:sp>
      <p:sp>
        <p:nvSpPr>
          <p:cNvPr id="10" name="W1"/>
          <p:cNvSpPr txBox="1"/>
          <p:nvPr/>
        </p:nvSpPr>
        <p:spPr>
          <a:xfrm>
            <a:off x="685800" y="4069080"/>
            <a:ext cx="4983480" cy="274320"/>
          </a:xfrm>
          <a:prstGeom prst="rect">
            <a:avLst/>
          </a:prstGeom>
          <a:noFill/>
          <a:ln/>
        </p:spPr>
        <p:txBody>
          <a:bodyPr wrap="square" lIns="0" tIns="0" rIns="0" bIns="0" rtlCol="0" anchor="t"/>
          <a:lstStyle/>
          <a:p>
            <a:pPr algn="l" indent="0" marL="0">
              <a:buNone/>
            </a:pPr>
            <a:r>
              <a:rPr lang="en-US" sz="1100" b="1" dirty="0">
                <a:solidFill>
                  <a:srgbClr val="16211E"/>
                </a:solidFill>
                <a:latin typeface="Calibri" pitchFamily="34" charset="0"/>
                <a:ea typeface="Calibri" pitchFamily="34" charset="-122"/>
                <a:cs typeface="Calibri" pitchFamily="34" charset="-120"/>
              </a:rPr>
              <a:t>FOR   Nurse, provider, member, plan</a:t>
            </a:r>
            <a:endParaRPr lang="en-US" sz="1100" dirty="0"/>
          </a:p>
        </p:txBody>
      </p:sp>
      <p:sp>
        <p:nvSpPr>
          <p:cNvPr id="11" name="G1"/>
          <p:cNvSpPr/>
          <p:nvPr/>
        </p:nvSpPr>
        <p:spPr>
          <a:xfrm>
            <a:off x="640080" y="4434840"/>
            <a:ext cx="5074920" cy="594360"/>
          </a:xfrm>
          <a:prstGeom prst="roundRect">
            <a:avLst>
              <a:gd name="adj" fmla="val 9231"/>
            </a:avLst>
          </a:prstGeom>
          <a:solidFill>
            <a:srgbClr val="E3F0EB"/>
          </a:solidFill>
          <a:ln w="12700">
            <a:solidFill>
              <a:srgbClr val="1F6F5C"/>
            </a:solidFill>
          </a:ln>
        </p:spPr>
        <p:txBody>
          <a:bodyPr wrap="square" lIns="109728" tIns="27432" rIns="109728" bIns="27432" rtlCol="0" anchor="ctr"/>
          <a:lstStyle/>
          <a:p>
            <a:pPr algn="l" indent="0" marL="0">
              <a:buNone/>
            </a:pPr>
            <a:r>
              <a:rPr lang="en-US" sz="950" b="1" spc="150" kern="0" dirty="0">
                <a:solidFill>
                  <a:srgbClr val="1F6F5C"/>
                </a:solidFill>
                <a:latin typeface="Calibri" pitchFamily="34" charset="0"/>
                <a:ea typeface="Calibri" pitchFamily="34" charset="-122"/>
                <a:cs typeface="Calibri" pitchFamily="34" charset="-120"/>
              </a:rPr>
              <a:t>GATE   </a:t>
            </a:r>
            <a:pPr algn="l" indent="0" marL="0">
              <a:buNone/>
            </a:pPr>
            <a:r>
              <a:rPr lang="en-US" sz="1100" dirty="0">
                <a:solidFill>
                  <a:srgbClr val="16211E"/>
                </a:solidFill>
                <a:latin typeface="Calibri" pitchFamily="34" charset="0"/>
                <a:ea typeface="Calibri" pitchFamily="34" charset="-122"/>
                <a:cs typeface="Calibri" pitchFamily="34" charset="-120"/>
              </a:rPr>
              <a:t>A tested rulebook. Evals on real cases. Zero wrong approvals.</a:t>
            </a:r>
            <a:endParaRPr lang="en-US" sz="950" dirty="0"/>
          </a:p>
        </p:txBody>
      </p:sp>
      <p:sp>
        <p:nvSpPr>
          <p:cNvPr id="12" name="M1"/>
          <p:cNvSpPr/>
          <p:nvPr/>
        </p:nvSpPr>
        <p:spPr>
          <a:xfrm>
            <a:off x="685800" y="2514600"/>
            <a:ext cx="2377440" cy="1417320"/>
          </a:xfrm>
          <a:prstGeom prst="roundRect">
            <a:avLst>
              <a:gd name="adj" fmla="val 5161"/>
            </a:avLst>
          </a:prstGeom>
          <a:solidFill>
            <a:srgbClr val="FFFFFF"/>
          </a:solidFill>
          <a:ln w="15875">
            <a:solidFill>
              <a:srgbClr val="1F6F5C"/>
            </a:solidFill>
          </a:ln>
        </p:spPr>
        <p:txBody>
          <a:bodyPr wrap="square" lIns="109728" tIns="91440" rIns="109728" bIns="45720" rtlCol="0" anchor="t"/>
          <a:lstStyle/>
          <a:p>
            <a:pPr algn="l" indent="0" marL="0">
              <a:buNone/>
            </a:pPr>
            <a:r>
              <a:rPr lang="en-US" sz="900" b="1" spc="150" kern="0" dirty="0">
                <a:solidFill>
                  <a:srgbClr val="1F6F5C"/>
                </a:solidFill>
                <a:latin typeface="Calibri" pitchFamily="34" charset="0"/>
                <a:ea typeface="Calibri" pitchFamily="34" charset="-122"/>
                <a:cs typeface="Calibri" pitchFamily="34" charset="-120"/>
              </a:rPr>
              <a:t>MILESTONE 1</a:t>
            </a:r>
            <a:endParaRPr lang="en-US" sz="900" dirty="0"/>
          </a:p>
          <a:p>
            <a:pPr algn="l" indent="0" marL="0">
              <a:buNone/>
            </a:pPr>
            <a:r>
              <a:rPr lang="en-US" sz="1400" b="1" dirty="0">
                <a:solidFill>
                  <a:srgbClr val="16211E"/>
                </a:solidFill>
                <a:latin typeface="Calibri" pitchFamily="34" charset="0"/>
                <a:ea typeface="Calibri" pitchFamily="34" charset="-122"/>
                <a:cs typeface="Calibri" pitchFamily="34" charset="-120"/>
              </a:rPr>
              <a:t>Build the rulebook</a:t>
            </a:r>
            <a:endParaRPr lang="en-US" sz="900" dirty="0"/>
          </a:p>
          <a:p>
            <a:pPr algn="l" indent="0" marL="0">
              <a:buNone/>
            </a:pPr>
            <a:r>
              <a:rPr lang="en-US" sz="1150" dirty="0">
                <a:solidFill>
                  <a:srgbClr val="5C6B66"/>
                </a:solidFill>
                <a:latin typeface="Calibri" pitchFamily="34" charset="0"/>
                <a:ea typeface="Calibri" pitchFamily="34" charset="-122"/>
                <a:cs typeface="Calibri" pitchFamily="34" charset="-120"/>
              </a:rPr>
              <a:t>Onboard a service. Attach its policies. Turn each policy into a checklist of what it wants to see.</a:t>
            </a:r>
            <a:endParaRPr lang="en-US" sz="900" dirty="0"/>
          </a:p>
        </p:txBody>
      </p:sp>
      <p:sp>
        <p:nvSpPr>
          <p:cNvPr id="13" name="M2"/>
          <p:cNvSpPr/>
          <p:nvPr/>
        </p:nvSpPr>
        <p:spPr>
          <a:xfrm>
            <a:off x="3246120" y="2514600"/>
            <a:ext cx="2377440" cy="1417320"/>
          </a:xfrm>
          <a:prstGeom prst="roundRect">
            <a:avLst>
              <a:gd name="adj" fmla="val 5161"/>
            </a:avLst>
          </a:prstGeom>
          <a:solidFill>
            <a:srgbClr val="FFFFFF"/>
          </a:solidFill>
          <a:ln w="15875">
            <a:solidFill>
              <a:srgbClr val="1F6F5C"/>
            </a:solidFill>
          </a:ln>
        </p:spPr>
        <p:txBody>
          <a:bodyPr wrap="square" lIns="109728" tIns="91440" rIns="109728" bIns="45720" rtlCol="0" anchor="t"/>
          <a:lstStyle/>
          <a:p>
            <a:pPr algn="l" indent="0" marL="0">
              <a:buNone/>
            </a:pPr>
            <a:r>
              <a:rPr lang="en-US" sz="900" b="1" spc="150" kern="0" dirty="0">
                <a:solidFill>
                  <a:srgbClr val="1F6F5C"/>
                </a:solidFill>
                <a:latin typeface="Calibri" pitchFamily="34" charset="0"/>
                <a:ea typeface="Calibri" pitchFamily="34" charset="-122"/>
                <a:cs typeface="Calibri" pitchFamily="34" charset="-120"/>
              </a:rPr>
              <a:t>MILESTONE 2</a:t>
            </a:r>
            <a:endParaRPr lang="en-US" sz="900" dirty="0"/>
          </a:p>
          <a:p>
            <a:pPr algn="l" indent="0" marL="0">
              <a:buNone/>
            </a:pPr>
            <a:r>
              <a:rPr lang="en-US" sz="1400" b="1" dirty="0">
                <a:solidFill>
                  <a:srgbClr val="16211E"/>
                </a:solidFill>
                <a:latin typeface="Calibri" pitchFamily="34" charset="0"/>
                <a:ea typeface="Calibri" pitchFamily="34" charset="-122"/>
                <a:cs typeface="Calibri" pitchFamily="34" charset="-120"/>
              </a:rPr>
              <a:t>Recommend on every request</a:t>
            </a:r>
            <a:endParaRPr lang="en-US" sz="900" dirty="0"/>
          </a:p>
          <a:p>
            <a:pPr algn="l" indent="0" marL="0">
              <a:buNone/>
            </a:pPr>
            <a:r>
              <a:rPr lang="en-US" sz="1150" dirty="0">
                <a:solidFill>
                  <a:srgbClr val="5C6B66"/>
                </a:solidFill>
                <a:latin typeface="Calibri" pitchFamily="34" charset="0"/>
                <a:ea typeface="Calibri" pitchFamily="34" charset="-122"/>
                <a:cs typeface="Calibri" pitchFamily="34" charset="-120"/>
              </a:rPr>
              <a:t>The AI checks each request against the rulebook, with evidence. The nurse confirms.</a:t>
            </a:r>
            <a:endParaRPr lang="en-US" sz="900" dirty="0"/>
          </a:p>
        </p:txBody>
      </p:sp>
      <p:sp>
        <p:nvSpPr>
          <p:cNvPr id="14" name="mA"/>
          <p:cNvSpPr/>
          <p:nvPr/>
        </p:nvSpPr>
        <p:spPr>
          <a:xfrm>
            <a:off x="3063240" y="3200400"/>
            <a:ext cx="182880" cy="0"/>
          </a:xfrm>
          <a:prstGeom prst="line">
            <a:avLst/>
          </a:prstGeom>
          <a:noFill/>
          <a:ln w="19050">
            <a:solidFill>
              <a:srgbClr val="16211E"/>
            </a:solidFill>
            <a:prstDash val="solid"/>
            <a:tailEnd type="triangle"/>
          </a:ln>
        </p:spPr>
      </p:sp>
      <p:sp>
        <p:nvSpPr>
          <p:cNvPr id="15" name="Ph2"/>
          <p:cNvSpPr/>
          <p:nvPr/>
        </p:nvSpPr>
        <p:spPr>
          <a:xfrm>
            <a:off x="6172200" y="1325880"/>
            <a:ext cx="2788920" cy="3840480"/>
          </a:xfrm>
          <a:prstGeom prst="roundRect">
            <a:avLst>
              <a:gd name="adj" fmla="val 3279"/>
            </a:avLst>
          </a:prstGeom>
          <a:ln w="15875">
            <a:solidFill>
              <a:srgbClr val="5F3AA8"/>
            </a:solidFill>
            <a:prstDash val="dash"/>
          </a:ln>
        </p:spPr>
      </p:sp>
      <p:sp>
        <p:nvSpPr>
          <p:cNvPr id="16" name="H2"/>
          <p:cNvSpPr txBox="1"/>
          <p:nvPr/>
        </p:nvSpPr>
        <p:spPr>
          <a:xfrm>
            <a:off x="6400800" y="1481328"/>
            <a:ext cx="2331720" cy="228600"/>
          </a:xfrm>
          <a:prstGeom prst="rect">
            <a:avLst/>
          </a:prstGeom>
          <a:noFill/>
          <a:ln/>
        </p:spPr>
        <p:txBody>
          <a:bodyPr wrap="square" lIns="0" tIns="0" rIns="0" bIns="0" rtlCol="0" anchor="t"/>
          <a:lstStyle/>
          <a:p>
            <a:pPr algn="l" indent="0" marL="0">
              <a:buNone/>
            </a:pPr>
            <a:r>
              <a:rPr lang="en-US" sz="1050" b="1" dirty="0">
                <a:solidFill>
                  <a:srgbClr val="5F3AA8"/>
                </a:solidFill>
                <a:latin typeface="Calibri" pitchFamily="34" charset="0"/>
                <a:ea typeface="Calibri" pitchFamily="34" charset="-122"/>
                <a:cs typeface="Calibri" pitchFamily="34" charset="-120"/>
              </a:rPr>
              <a:t>PHASE 2   ·   MONTHS 5 TO 9</a:t>
            </a:r>
            <a:endParaRPr lang="en-US" sz="1050" dirty="0"/>
          </a:p>
        </p:txBody>
      </p:sp>
      <p:sp>
        <p:nvSpPr>
          <p:cNvPr id="17" name="T2"/>
          <p:cNvSpPr txBox="1"/>
          <p:nvPr/>
        </p:nvSpPr>
        <p:spPr>
          <a:xfrm>
            <a:off x="6400800" y="1755648"/>
            <a:ext cx="2331720" cy="411480"/>
          </a:xfrm>
          <a:prstGeom prst="rect">
            <a:avLst/>
          </a:prstGeom>
          <a:noFill/>
          <a:ln/>
        </p:spPr>
        <p:txBody>
          <a:bodyPr wrap="square" lIns="0" tIns="0" rIns="0" bIns="0" rtlCol="0" anchor="t"/>
          <a:lstStyle/>
          <a:p>
            <a:pPr algn="l" indent="0" marL="0">
              <a:buNone/>
            </a:pPr>
            <a:r>
              <a:rPr lang="en-US" sz="2000" dirty="0">
                <a:solidFill>
                  <a:srgbClr val="16211E"/>
                </a:solidFill>
                <a:latin typeface="Calibri" pitchFamily="34" charset="0"/>
                <a:ea typeface="Calibri" pitchFamily="34" charset="-122"/>
                <a:cs typeface="Calibri" pitchFamily="34" charset="-120"/>
              </a:rPr>
              <a:t>Scale. Edge cases.</a:t>
            </a:r>
            <a:endParaRPr lang="en-US" sz="2000" dirty="0"/>
          </a:p>
        </p:txBody>
      </p:sp>
      <p:sp>
        <p:nvSpPr>
          <p:cNvPr id="18" name="B2"/>
          <p:cNvSpPr txBox="1"/>
          <p:nvPr/>
        </p:nvSpPr>
        <p:spPr>
          <a:xfrm>
            <a:off x="6400800" y="2487168"/>
            <a:ext cx="2331720" cy="1463040"/>
          </a:xfrm>
          <a:prstGeom prst="rect">
            <a:avLst/>
          </a:prstGeom>
          <a:noFill/>
          <a:ln/>
        </p:spPr>
        <p:txBody>
          <a:bodyPr wrap="square" lIns="0" tIns="0" rIns="0" bIns="0" rtlCol="0" anchor="t"/>
          <a:lstStyle/>
          <a:p>
            <a:pPr algn="l" indent="0" marL="0">
              <a:buNone/>
            </a:pPr>
            <a:r>
              <a:rPr lang="en-US" sz="1200" dirty="0">
                <a:solidFill>
                  <a:srgbClr val="16211E"/>
                </a:solidFill>
                <a:latin typeface="Calibri" pitchFamily="34" charset="0"/>
                <a:ea typeface="Calibri" pitchFamily="34" charset="-122"/>
                <a:cs typeface="Calibri" pitchFamily="34" charset="-120"/>
              </a:rPr>
              <a:t>More services, ranked by Humana's request history.</a:t>
            </a:r>
            <a:endParaRPr lang="en-US" sz="1200" dirty="0"/>
          </a:p>
          <a:p>
            <a:pPr algn="l" indent="0" marL="0">
              <a:buNone/>
            </a:pPr>
            <a:r>
              <a:rPr lang="en-US" sz="1200" dirty="0">
                <a:solidFill>
                  <a:srgbClr val="16211E"/>
                </a:solidFill>
                <a:latin typeface="Calibri" pitchFamily="34" charset="0"/>
                <a:ea typeface="Calibri" pitchFamily="34" charset="-122"/>
                <a:cs typeface="Calibri" pitchFamily="34" charset="-120"/>
              </a:rPr>
              <a:t> </a:t>
            </a:r>
            <a:endParaRPr lang="en-US" sz="1200" dirty="0"/>
          </a:p>
          <a:p>
            <a:pPr algn="l" indent="0" marL="0">
              <a:buNone/>
            </a:pPr>
            <a:r>
              <a:rPr lang="en-US" sz="1200" dirty="0">
                <a:solidFill>
                  <a:srgbClr val="16211E"/>
                </a:solidFill>
                <a:latin typeface="Calibri" pitchFamily="34" charset="0"/>
                <a:ea typeface="Calibri" pitchFamily="34" charset="-122"/>
                <a:cs typeface="Calibri" pitchFamily="34" charset="-120"/>
              </a:rPr>
              <a:t>Edge case: every rule met, but the procedure is not covered.</a:t>
            </a:r>
            <a:endParaRPr lang="en-US" sz="1200" dirty="0"/>
          </a:p>
          <a:p>
            <a:pPr algn="l" indent="0" marL="0">
              <a:buNone/>
            </a:pPr>
            <a:r>
              <a:rPr lang="en-US" sz="1200" dirty="0">
                <a:solidFill>
                  <a:srgbClr val="16211E"/>
                </a:solidFill>
                <a:latin typeface="Calibri" pitchFamily="34" charset="0"/>
                <a:ea typeface="Calibri" pitchFamily="34" charset="-122"/>
                <a:cs typeface="Calibri" pitchFamily="34" charset="-120"/>
              </a:rPr>
              <a:t> </a:t>
            </a:r>
            <a:endParaRPr lang="en-US" sz="1200" dirty="0"/>
          </a:p>
          <a:p>
            <a:pPr algn="l" indent="0" marL="0">
              <a:buNone/>
            </a:pPr>
            <a:r>
              <a:rPr lang="en-US" sz="1200" dirty="0">
                <a:solidFill>
                  <a:srgbClr val="16211E"/>
                </a:solidFill>
                <a:latin typeface="Calibri" pitchFamily="34" charset="0"/>
                <a:ea typeface="Calibri" pitchFamily="34" charset="-122"/>
                <a:cs typeface="Calibri" pitchFamily="34" charset="-120"/>
              </a:rPr>
              <a:t>Edge case: checking the provider and the facility.</a:t>
            </a:r>
            <a:endParaRPr lang="en-US" sz="1200" dirty="0"/>
          </a:p>
        </p:txBody>
      </p:sp>
      <p:sp>
        <p:nvSpPr>
          <p:cNvPr id="19" name="W2"/>
          <p:cNvSpPr txBox="1"/>
          <p:nvPr/>
        </p:nvSpPr>
        <p:spPr>
          <a:xfrm>
            <a:off x="6400800" y="4069080"/>
            <a:ext cx="2331720" cy="274320"/>
          </a:xfrm>
          <a:prstGeom prst="rect">
            <a:avLst/>
          </a:prstGeom>
          <a:noFill/>
          <a:ln/>
        </p:spPr>
        <p:txBody>
          <a:bodyPr wrap="square" lIns="0" tIns="0" rIns="0" bIns="0" rtlCol="0" anchor="t"/>
          <a:lstStyle/>
          <a:p>
            <a:pPr algn="l" indent="0" marL="0">
              <a:buNone/>
            </a:pPr>
            <a:r>
              <a:rPr lang="en-US" sz="1100" b="1" dirty="0">
                <a:solidFill>
                  <a:srgbClr val="16211E"/>
                </a:solidFill>
                <a:latin typeface="Calibri" pitchFamily="34" charset="0"/>
                <a:ea typeface="Calibri" pitchFamily="34" charset="-122"/>
                <a:cs typeface="Calibri" pitchFamily="34" charset="-120"/>
              </a:rPr>
              <a:t>FOR   The plan, the director</a:t>
            </a:r>
            <a:endParaRPr lang="en-US" sz="1100" dirty="0"/>
          </a:p>
        </p:txBody>
      </p:sp>
      <p:sp>
        <p:nvSpPr>
          <p:cNvPr id="20" name="G2"/>
          <p:cNvSpPr/>
          <p:nvPr/>
        </p:nvSpPr>
        <p:spPr>
          <a:xfrm>
            <a:off x="6355080" y="4434840"/>
            <a:ext cx="2423160" cy="594360"/>
          </a:xfrm>
          <a:prstGeom prst="roundRect">
            <a:avLst>
              <a:gd name="adj" fmla="val 9231"/>
            </a:avLst>
          </a:prstGeom>
          <a:solidFill>
            <a:srgbClr val="EBE2F8"/>
          </a:solidFill>
          <a:ln w="12700">
            <a:solidFill>
              <a:srgbClr val="5F3AA8"/>
            </a:solidFill>
          </a:ln>
        </p:spPr>
        <p:txBody>
          <a:bodyPr wrap="square" lIns="109728" tIns="27432" rIns="109728" bIns="27432" rtlCol="0" anchor="ctr"/>
          <a:lstStyle/>
          <a:p>
            <a:pPr algn="l" indent="0" marL="0">
              <a:buNone/>
            </a:pPr>
            <a:r>
              <a:rPr lang="en-US" sz="950" b="1" spc="150" kern="0" dirty="0">
                <a:solidFill>
                  <a:srgbClr val="5F3AA8"/>
                </a:solidFill>
                <a:latin typeface="Calibri" pitchFamily="34" charset="0"/>
                <a:ea typeface="Calibri" pitchFamily="34" charset="-122"/>
                <a:cs typeface="Calibri" pitchFamily="34" charset="-120"/>
              </a:rPr>
              <a:t>GATE   </a:t>
            </a:r>
            <a:pPr algn="l" indent="0" marL="0">
              <a:buNone/>
            </a:pPr>
            <a:r>
              <a:rPr lang="en-US" sz="1100" dirty="0">
                <a:solidFill>
                  <a:srgbClr val="16211E"/>
                </a:solidFill>
                <a:latin typeface="Calibri" pitchFamily="34" charset="0"/>
                <a:ea typeface="Calibri" pitchFamily="34" charset="-122"/>
                <a:cs typeface="Calibri" pitchFamily="34" charset="-120"/>
              </a:rPr>
              <a:t>Evals on real cases for each new service.</a:t>
            </a:r>
            <a:endParaRPr lang="en-US" sz="950" dirty="0"/>
          </a:p>
        </p:txBody>
      </p:sp>
      <p:sp>
        <p:nvSpPr>
          <p:cNvPr id="21" name="Ph3"/>
          <p:cNvSpPr/>
          <p:nvPr/>
        </p:nvSpPr>
        <p:spPr>
          <a:xfrm>
            <a:off x="9235440" y="1325880"/>
            <a:ext cx="2496312" cy="3840480"/>
          </a:xfrm>
          <a:prstGeom prst="roundRect">
            <a:avLst>
              <a:gd name="adj" fmla="val 3663"/>
            </a:avLst>
          </a:prstGeom>
          <a:ln w="15875">
            <a:solidFill>
              <a:srgbClr val="8A5A00"/>
            </a:solidFill>
            <a:prstDash val="dash"/>
          </a:ln>
        </p:spPr>
      </p:sp>
      <p:sp>
        <p:nvSpPr>
          <p:cNvPr id="22" name="H3"/>
          <p:cNvSpPr txBox="1"/>
          <p:nvPr/>
        </p:nvSpPr>
        <p:spPr>
          <a:xfrm>
            <a:off x="9464040" y="1481328"/>
            <a:ext cx="2039112" cy="228600"/>
          </a:xfrm>
          <a:prstGeom prst="rect">
            <a:avLst/>
          </a:prstGeom>
          <a:noFill/>
          <a:ln/>
        </p:spPr>
        <p:txBody>
          <a:bodyPr wrap="square" lIns="0" tIns="0" rIns="0" bIns="0" rtlCol="0" anchor="t"/>
          <a:lstStyle/>
          <a:p>
            <a:pPr algn="l" indent="0" marL="0">
              <a:buNone/>
            </a:pPr>
            <a:r>
              <a:rPr lang="en-US" sz="1050" b="1" dirty="0">
                <a:solidFill>
                  <a:srgbClr val="8A5A00"/>
                </a:solidFill>
                <a:latin typeface="Calibri" pitchFamily="34" charset="0"/>
                <a:ea typeface="Calibri" pitchFamily="34" charset="-122"/>
                <a:cs typeface="Calibri" pitchFamily="34" charset="-120"/>
              </a:rPr>
              <a:t>PHASE 3   ·   MONTHS 10 TO 12</a:t>
            </a:r>
            <a:endParaRPr lang="en-US" sz="1050" dirty="0"/>
          </a:p>
        </p:txBody>
      </p:sp>
      <p:sp>
        <p:nvSpPr>
          <p:cNvPr id="23" name="T3"/>
          <p:cNvSpPr txBox="1"/>
          <p:nvPr/>
        </p:nvSpPr>
        <p:spPr>
          <a:xfrm>
            <a:off x="9464040" y="1755648"/>
            <a:ext cx="2039112" cy="411480"/>
          </a:xfrm>
          <a:prstGeom prst="rect">
            <a:avLst/>
          </a:prstGeom>
          <a:noFill/>
          <a:ln/>
        </p:spPr>
        <p:txBody>
          <a:bodyPr wrap="square" lIns="0" tIns="0" rIns="0" bIns="0" rtlCol="0" anchor="t"/>
          <a:lstStyle/>
          <a:p>
            <a:pPr algn="l" indent="0" marL="0">
              <a:buNone/>
            </a:pPr>
            <a:r>
              <a:rPr lang="en-US" sz="2000" dirty="0">
                <a:solidFill>
                  <a:srgbClr val="16211E"/>
                </a:solidFill>
                <a:latin typeface="Calibri" pitchFamily="34" charset="0"/>
                <a:ea typeface="Calibri" pitchFamily="34" charset="-122"/>
                <a:cs typeface="Calibri" pitchFamily="34" charset="-120"/>
              </a:rPr>
              <a:t>Member status.</a:t>
            </a:r>
            <a:endParaRPr lang="en-US" sz="2000" dirty="0"/>
          </a:p>
        </p:txBody>
      </p:sp>
      <p:sp>
        <p:nvSpPr>
          <p:cNvPr id="24" name="B3"/>
          <p:cNvSpPr txBox="1"/>
          <p:nvPr/>
        </p:nvSpPr>
        <p:spPr>
          <a:xfrm>
            <a:off x="9464040" y="2514600"/>
            <a:ext cx="2039112" cy="1371600"/>
          </a:xfrm>
          <a:prstGeom prst="rect">
            <a:avLst/>
          </a:prstGeom>
          <a:noFill/>
          <a:ln/>
        </p:spPr>
        <p:txBody>
          <a:bodyPr wrap="square" lIns="0" tIns="0" rIns="0" bIns="0" rtlCol="0" anchor="t"/>
          <a:lstStyle/>
          <a:p>
            <a:pPr algn="l" indent="0" marL="0">
              <a:buNone/>
            </a:pPr>
            <a:r>
              <a:rPr lang="en-US" sz="1300" dirty="0">
                <a:solidFill>
                  <a:srgbClr val="16211E"/>
                </a:solidFill>
                <a:latin typeface="Calibri" pitchFamily="34" charset="0"/>
                <a:ea typeface="Calibri" pitchFamily="34" charset="-122"/>
                <a:cs typeface="Calibri" pitchFamily="34" charset="-120"/>
              </a:rPr>
              <a:t>The member sees where a request stands. It reads the trusted record.</a:t>
            </a:r>
            <a:endParaRPr lang="en-US" sz="1300" dirty="0"/>
          </a:p>
        </p:txBody>
      </p:sp>
      <p:sp>
        <p:nvSpPr>
          <p:cNvPr id="25" name="W3"/>
          <p:cNvSpPr txBox="1"/>
          <p:nvPr/>
        </p:nvSpPr>
        <p:spPr>
          <a:xfrm>
            <a:off x="9464040" y="4069080"/>
            <a:ext cx="2039112" cy="274320"/>
          </a:xfrm>
          <a:prstGeom prst="rect">
            <a:avLst/>
          </a:prstGeom>
          <a:noFill/>
          <a:ln/>
        </p:spPr>
        <p:txBody>
          <a:bodyPr wrap="square" lIns="0" tIns="0" rIns="0" bIns="0" rtlCol="0" anchor="t"/>
          <a:lstStyle/>
          <a:p>
            <a:pPr algn="l" indent="0" marL="0">
              <a:buNone/>
            </a:pPr>
            <a:r>
              <a:rPr lang="en-US" sz="1100" b="1" dirty="0">
                <a:solidFill>
                  <a:srgbClr val="16211E"/>
                </a:solidFill>
                <a:latin typeface="Calibri" pitchFamily="34" charset="0"/>
                <a:ea typeface="Calibri" pitchFamily="34" charset="-122"/>
                <a:cs typeface="Calibri" pitchFamily="34" charset="-120"/>
              </a:rPr>
              <a:t>FOR   The member</a:t>
            </a:r>
            <a:endParaRPr lang="en-US" sz="1100" dirty="0"/>
          </a:p>
        </p:txBody>
      </p:sp>
      <p:sp>
        <p:nvSpPr>
          <p:cNvPr id="26" name="G3"/>
          <p:cNvSpPr/>
          <p:nvPr/>
        </p:nvSpPr>
        <p:spPr>
          <a:xfrm>
            <a:off x="9418320" y="4434840"/>
            <a:ext cx="2130552" cy="594360"/>
          </a:xfrm>
          <a:prstGeom prst="roundRect">
            <a:avLst>
              <a:gd name="adj" fmla="val 9231"/>
            </a:avLst>
          </a:prstGeom>
          <a:solidFill>
            <a:srgbClr val="FCEFD0"/>
          </a:solidFill>
          <a:ln w="12700">
            <a:solidFill>
              <a:srgbClr val="8A5A00"/>
            </a:solidFill>
          </a:ln>
        </p:spPr>
        <p:txBody>
          <a:bodyPr wrap="square" lIns="109728" tIns="27432" rIns="109728" bIns="27432" rtlCol="0" anchor="ctr"/>
          <a:lstStyle/>
          <a:p>
            <a:pPr algn="l" indent="0" marL="0">
              <a:buNone/>
            </a:pPr>
            <a:r>
              <a:rPr lang="en-US" sz="950" b="1" spc="150" kern="0" dirty="0">
                <a:solidFill>
                  <a:srgbClr val="8A5A00"/>
                </a:solidFill>
                <a:latin typeface="Calibri" pitchFamily="34" charset="0"/>
                <a:ea typeface="Calibri" pitchFamily="34" charset="-122"/>
                <a:cs typeface="Calibri" pitchFamily="34" charset="-120"/>
              </a:rPr>
              <a:t>GATE   </a:t>
            </a:r>
            <a:pPr algn="l" indent="0" marL="0">
              <a:buNone/>
            </a:pPr>
            <a:r>
              <a:rPr lang="en-US" sz="1100" dirty="0">
                <a:solidFill>
                  <a:srgbClr val="16211E"/>
                </a:solidFill>
                <a:latin typeface="Calibri" pitchFamily="34" charset="0"/>
                <a:ea typeface="Calibri" pitchFamily="34" charset="-122"/>
                <a:cs typeface="Calibri" pitchFamily="34" charset="-120"/>
              </a:rPr>
              <a:t>A compliance review.</a:t>
            </a:r>
            <a:endParaRPr lang="en-US" sz="950" dirty="0"/>
          </a:p>
        </p:txBody>
      </p:sp>
      <p:sp>
        <p:nvSpPr>
          <p:cNvPr id="27" name="pA"/>
          <p:cNvSpPr/>
          <p:nvPr/>
        </p:nvSpPr>
        <p:spPr>
          <a:xfrm>
            <a:off x="5916168" y="3200400"/>
            <a:ext cx="237744" cy="0"/>
          </a:xfrm>
          <a:prstGeom prst="line">
            <a:avLst/>
          </a:prstGeom>
          <a:noFill/>
          <a:ln w="19050">
            <a:solidFill>
              <a:srgbClr val="16211E"/>
            </a:solidFill>
            <a:prstDash val="solid"/>
            <a:tailEnd type="triangle"/>
          </a:ln>
        </p:spPr>
      </p:sp>
      <p:sp>
        <p:nvSpPr>
          <p:cNvPr id="28" name="pB"/>
          <p:cNvSpPr/>
          <p:nvPr/>
        </p:nvSpPr>
        <p:spPr>
          <a:xfrm>
            <a:off x="8979408" y="3200400"/>
            <a:ext cx="237744" cy="0"/>
          </a:xfrm>
          <a:prstGeom prst="line">
            <a:avLst/>
          </a:prstGeom>
          <a:noFill/>
          <a:ln w="19050">
            <a:solidFill>
              <a:srgbClr val="16211E"/>
            </a:solidFill>
            <a:prstDash val="solid"/>
            <a:tailEnd type="triangle"/>
          </a:ln>
        </p:spPr>
      </p:sp>
      <p:sp>
        <p:nvSpPr>
          <p:cNvPr id="29" name="Band"/>
          <p:cNvSpPr/>
          <p:nvPr/>
        </p:nvSpPr>
        <p:spPr>
          <a:xfrm>
            <a:off x="457200" y="5376672"/>
            <a:ext cx="11274552" cy="457200"/>
          </a:xfrm>
          <a:prstGeom prst="roundRect">
            <a:avLst>
              <a:gd name="adj" fmla="val 16000"/>
            </a:avLst>
          </a:prstGeom>
          <a:solidFill>
            <a:srgbClr val="1F6F5C"/>
          </a:solidFill>
          <a:ln w="12700">
            <a:solidFill>
              <a:srgbClr val="1F6F5C"/>
            </a:solidFill>
          </a:ln>
        </p:spPr>
        <p:txBody>
          <a:bodyPr wrap="square" lIns="137160" tIns="18288" rIns="137160" bIns="1828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 person decides in every phase. The AI never denies.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roadmap</dc:title>
  <dc:subject>PptxGenJS Presentation</dc:subject>
  <dc:creator>Nisha Mishra</dc:creator>
  <cp:lastModifiedBy>Nisha Mishra</cp:lastModifiedBy>
  <cp:revision>1</cp:revision>
  <dcterms:created xsi:type="dcterms:W3CDTF">2026-10-07T01:59:02Z</dcterms:created>
  <dcterms:modified xsi:type="dcterms:W3CDTF">2026-10-07T01:59:02Z</dcterms:modified>
</cp:coreProperties>
</file>