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Three phases, about a year. The months are illustrative. The order is what matters. My rule is simple: each phase earns the next one.
Phase 1 has one goal. Get each request decided right the first time, with a person still deciding. The measure, my north star, is the right-first-time rate. Out of every 100 requests, how many are right the first time, with no back and forth.
Two milestones ladder up to that goal.
Milestone 1 is to build the library. Think of it as the rulebook. One central place with every policy we cover, written as a checklist of what each one wants to see in a request. Every item traces back to the policy's own words. It is the foundation, so I measure it by how fast we can add a service.
Milestone 2 is to decide every packet. The AI checks each request against that checklist and gives the nurse a recommendation, with the evidence. The nurse confirms. This is where the north star moves. The nurse stops hunting. The provider stops re-sending. The member gets a decision sooner.
Why start here? That is where the delay lives. It is the safest place, because a person decides every case. And it builds the record that everything else needs.
Why the library first? The AI only uses what a person approved. So I get that right, then run in shadow beside the nurses before any nurse sees a recommendation. The gate to leave Phase 1 is a tested library, and zero wrong approvals on real labeled cases.
Phase 2 is scale. I add services one at a time, ranked by Humana's own request history. Only after Phase 1 is proven.
Phase 3 is member status. The member sees where a request stands. It comes last because a status is only as good as the record behind it, and it needs a compliance review. From January 2027, plans must offer a Patient Access API. This lands after that, so I'm not claiming it meets the mandate. It builds on the record.
Prove it is right. Then widen it. Then show it to the member. A person decides in every phase, and the AI never denies.
Now let me walk you through what Phase 1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64008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THE ROADMAP</a:t>
            </a:r>
            <a:endParaRPr lang="en-US" sz="1100" dirty="0"/>
          </a:p>
        </p:txBody>
      </p:sp>
      <p:sp>
        <p:nvSpPr>
          <p:cNvPr id="3" name="title"/>
          <p:cNvSpPr txBox="1"/>
          <p:nvPr/>
        </p:nvSpPr>
        <p:spPr>
          <a:xfrm>
            <a:off x="457200" y="502920"/>
            <a:ext cx="804672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Three phases over a year.</a:t>
            </a:r>
            <a:endParaRPr lang="en-US" sz="2600" dirty="0"/>
          </a:p>
        </p:txBody>
      </p:sp>
      <p:sp>
        <p:nvSpPr>
          <p:cNvPr id="4" name="sub"/>
          <p:cNvSpPr txBox="1"/>
          <p:nvPr/>
        </p:nvSpPr>
        <p:spPr>
          <a:xfrm>
            <a:off x="8412480" y="502920"/>
            <a:ext cx="3319272" cy="685800"/>
          </a:xfrm>
          <a:prstGeom prst="rect">
            <a:avLst/>
          </a:prstGeom>
          <a:noFill/>
          <a:ln/>
        </p:spPr>
        <p:txBody>
          <a:bodyPr wrap="square" lIns="0" tIns="0" rIns="0" bIns="0" rtlCol="0" anchor="ctr"/>
          <a:lstStyle/>
          <a:p>
            <a:pPr algn="r" indent="0" marL="0">
              <a:buNone/>
            </a:pPr>
            <a:r>
              <a:rPr lang="en-US" sz="1400" dirty="0">
                <a:solidFill>
                  <a:srgbClr val="5C6B66"/>
                </a:solidFill>
                <a:latin typeface="Calibri" pitchFamily="34" charset="0"/>
                <a:ea typeface="Calibri" pitchFamily="34" charset="-122"/>
                <a:cs typeface="Calibri" pitchFamily="34" charset="-120"/>
              </a:rPr>
              <a:t>Each phase earns the next one</a:t>
            </a:r>
            <a:endParaRPr lang="en-US" sz="1400" dirty="0"/>
          </a:p>
        </p:txBody>
      </p:sp>
      <p:sp>
        <p:nvSpPr>
          <p:cNvPr id="5"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The months are illustrative. The order is the point.</a:t>
            </a:r>
            <a:endParaRPr lang="en-US" sz="900" dirty="0"/>
          </a:p>
        </p:txBody>
      </p:sp>
      <p:sp>
        <p:nvSpPr>
          <p:cNvPr id="6" name="Ph1"/>
          <p:cNvSpPr/>
          <p:nvPr/>
        </p:nvSpPr>
        <p:spPr>
          <a:xfrm>
            <a:off x="457200" y="1325880"/>
            <a:ext cx="5440680" cy="3840480"/>
          </a:xfrm>
          <a:prstGeom prst="roundRect">
            <a:avLst>
              <a:gd name="adj" fmla="val 2381"/>
            </a:avLst>
          </a:prstGeom>
          <a:ln w="15875">
            <a:solidFill>
              <a:srgbClr val="1F6F5C"/>
            </a:solidFill>
            <a:prstDash val="dash"/>
          </a:ln>
        </p:spPr>
      </p:sp>
      <p:sp>
        <p:nvSpPr>
          <p:cNvPr id="7" name="H1"/>
          <p:cNvSpPr txBox="1"/>
          <p:nvPr/>
        </p:nvSpPr>
        <p:spPr>
          <a:xfrm>
            <a:off x="685800" y="1481328"/>
            <a:ext cx="4983480" cy="228600"/>
          </a:xfrm>
          <a:prstGeom prst="rect">
            <a:avLst/>
          </a:prstGeom>
          <a:noFill/>
          <a:ln/>
        </p:spPr>
        <p:txBody>
          <a:bodyPr wrap="square" lIns="0" tIns="0" rIns="0" bIns="0" rtlCol="0" anchor="t"/>
          <a:lstStyle/>
          <a:p>
            <a:pPr algn="l" indent="0" marL="0">
              <a:buNone/>
            </a:pPr>
            <a:r>
              <a:rPr lang="en-US" sz="1050" b="1" dirty="0">
                <a:solidFill>
                  <a:srgbClr val="1F6F5C"/>
                </a:solidFill>
                <a:latin typeface="Calibri" pitchFamily="34" charset="0"/>
                <a:ea typeface="Calibri" pitchFamily="34" charset="-122"/>
                <a:cs typeface="Calibri" pitchFamily="34" charset="-120"/>
              </a:rPr>
              <a:t>PHASE 1   ·   MONTHS 1 TO 4</a:t>
            </a:r>
            <a:endParaRPr lang="en-US" sz="1050" dirty="0"/>
          </a:p>
        </p:txBody>
      </p:sp>
      <p:sp>
        <p:nvSpPr>
          <p:cNvPr id="8" name="T1"/>
          <p:cNvSpPr txBox="1"/>
          <p:nvPr/>
        </p:nvSpPr>
        <p:spPr>
          <a:xfrm>
            <a:off x="685800" y="1755648"/>
            <a:ext cx="4983480" cy="411480"/>
          </a:xfrm>
          <a:prstGeom prst="rect">
            <a:avLst/>
          </a:prstGeom>
          <a:noFill/>
          <a:ln/>
        </p:spPr>
        <p:txBody>
          <a:bodyPr wrap="square" lIns="0" tIns="0" rIns="0" bIns="0" rtlCol="0" anchor="t"/>
          <a:lstStyle/>
          <a:p>
            <a:pPr algn="l" indent="0" marL="0">
              <a:buNone/>
            </a:pPr>
            <a:r>
              <a:rPr lang="en-US" sz="2000" dirty="0">
                <a:solidFill>
                  <a:srgbClr val="16211E"/>
                </a:solidFill>
                <a:latin typeface="Calibri" pitchFamily="34" charset="0"/>
                <a:ea typeface="Calibri" pitchFamily="34" charset="-122"/>
                <a:cs typeface="Calibri" pitchFamily="34" charset="-120"/>
              </a:rPr>
              <a:t>Right first time. A person decides.</a:t>
            </a:r>
            <a:endParaRPr lang="en-US" sz="2000" dirty="0"/>
          </a:p>
        </p:txBody>
      </p:sp>
      <p:sp>
        <p:nvSpPr>
          <p:cNvPr id="9" name="S1"/>
          <p:cNvSpPr txBox="1"/>
          <p:nvPr/>
        </p:nvSpPr>
        <p:spPr>
          <a:xfrm>
            <a:off x="685800" y="2157984"/>
            <a:ext cx="4983480" cy="256032"/>
          </a:xfrm>
          <a:prstGeom prst="rect">
            <a:avLst/>
          </a:prstGeom>
          <a:noFill/>
          <a:ln/>
        </p:spPr>
        <p:txBody>
          <a:bodyPr wrap="square" lIns="0" tIns="0" rIns="0" bIns="0" rtlCol="0" anchor="t"/>
          <a:lstStyle/>
          <a:p>
            <a:pPr algn="l" indent="0" marL="0">
              <a:buNone/>
            </a:pPr>
            <a:r>
              <a:rPr lang="en-US" sz="1150" b="1" dirty="0">
                <a:solidFill>
                  <a:srgbClr val="5C6B66"/>
                </a:solidFill>
                <a:latin typeface="Calibri" pitchFamily="34" charset="0"/>
                <a:ea typeface="Calibri" pitchFamily="34" charset="-122"/>
                <a:cs typeface="Calibri" pitchFamily="34" charset="-120"/>
              </a:rPr>
              <a:t>North star: right-first-time rate. Two milestones ladder up to it.</a:t>
            </a:r>
            <a:endParaRPr lang="en-US" sz="1150" dirty="0"/>
          </a:p>
        </p:txBody>
      </p:sp>
      <p:sp>
        <p:nvSpPr>
          <p:cNvPr id="10" name="W1"/>
          <p:cNvSpPr txBox="1"/>
          <p:nvPr/>
        </p:nvSpPr>
        <p:spPr>
          <a:xfrm>
            <a:off x="685800" y="4069080"/>
            <a:ext cx="4983480" cy="274320"/>
          </a:xfrm>
          <a:prstGeom prst="rect">
            <a:avLst/>
          </a:prstGeom>
          <a:noFill/>
          <a:ln/>
        </p:spPr>
        <p:txBody>
          <a:bodyPr wrap="square" lIns="0" tIns="0" rIns="0" bIns="0" rtlCol="0" anchor="t"/>
          <a:lstStyle/>
          <a:p>
            <a:pPr algn="l" indent="0" marL="0">
              <a:buNone/>
            </a:pPr>
            <a:r>
              <a:rPr lang="en-US" sz="1100" b="1" dirty="0">
                <a:solidFill>
                  <a:srgbClr val="16211E"/>
                </a:solidFill>
                <a:latin typeface="Calibri" pitchFamily="34" charset="0"/>
                <a:ea typeface="Calibri" pitchFamily="34" charset="-122"/>
                <a:cs typeface="Calibri" pitchFamily="34" charset="-120"/>
              </a:rPr>
              <a:t>FOR   Nurse, provider, member, plan</a:t>
            </a:r>
            <a:endParaRPr lang="en-US" sz="1100" dirty="0"/>
          </a:p>
        </p:txBody>
      </p:sp>
      <p:sp>
        <p:nvSpPr>
          <p:cNvPr id="11" name="G1"/>
          <p:cNvSpPr/>
          <p:nvPr/>
        </p:nvSpPr>
        <p:spPr>
          <a:xfrm>
            <a:off x="640080" y="4434840"/>
            <a:ext cx="5074920" cy="594360"/>
          </a:xfrm>
          <a:prstGeom prst="roundRect">
            <a:avLst>
              <a:gd name="adj" fmla="val 9231"/>
            </a:avLst>
          </a:prstGeom>
          <a:solidFill>
            <a:srgbClr val="E3F0EB"/>
          </a:solidFill>
          <a:ln w="12700">
            <a:solidFill>
              <a:srgbClr val="1F6F5C"/>
            </a:solidFill>
          </a:ln>
        </p:spPr>
        <p:txBody>
          <a:bodyPr wrap="square" lIns="109728" tIns="27432" rIns="109728" bIns="27432" rtlCol="0" anchor="ctr"/>
          <a:lstStyle/>
          <a:p>
            <a:pPr algn="l" indent="0" marL="0">
              <a:buNone/>
            </a:pPr>
            <a:r>
              <a:rPr lang="en-US" sz="950" b="1" spc="150" kern="0" dirty="0">
                <a:solidFill>
                  <a:srgbClr val="1F6F5C"/>
                </a:solidFill>
                <a:latin typeface="Calibri" pitchFamily="34" charset="0"/>
                <a:ea typeface="Calibri" pitchFamily="34" charset="-122"/>
                <a:cs typeface="Calibri" pitchFamily="34" charset="-120"/>
              </a:rPr>
              <a:t>GATE   </a:t>
            </a:r>
            <a:pPr algn="l" indent="0" marL="0">
              <a:buNone/>
            </a:pPr>
            <a:r>
              <a:rPr lang="en-US" sz="1100" dirty="0">
                <a:solidFill>
                  <a:srgbClr val="16211E"/>
                </a:solidFill>
                <a:latin typeface="Calibri" pitchFamily="34" charset="0"/>
                <a:ea typeface="Calibri" pitchFamily="34" charset="-122"/>
                <a:cs typeface="Calibri" pitchFamily="34" charset="-120"/>
              </a:rPr>
              <a:t>A tested library. Evals on real cases. Zero wrong approvals.</a:t>
            </a:r>
            <a:endParaRPr lang="en-US" sz="950" dirty="0"/>
          </a:p>
        </p:txBody>
      </p:sp>
      <p:sp>
        <p:nvSpPr>
          <p:cNvPr id="12" name="M1"/>
          <p:cNvSpPr/>
          <p:nvPr/>
        </p:nvSpPr>
        <p:spPr>
          <a:xfrm>
            <a:off x="685800" y="2514600"/>
            <a:ext cx="2377440" cy="1417320"/>
          </a:xfrm>
          <a:prstGeom prst="roundRect">
            <a:avLst>
              <a:gd name="adj" fmla="val 5161"/>
            </a:avLst>
          </a:prstGeom>
          <a:solidFill>
            <a:srgbClr val="FFFFFF"/>
          </a:solidFill>
          <a:ln w="15875">
            <a:solidFill>
              <a:srgbClr val="1F6F5C"/>
            </a:solidFill>
          </a:ln>
        </p:spPr>
        <p:txBody>
          <a:bodyPr wrap="square" lIns="109728" tIns="91440" rIns="109728" bIns="45720" rtlCol="0" anchor="t"/>
          <a:lstStyle/>
          <a:p>
            <a:pPr algn="l" indent="0" marL="0">
              <a:buNone/>
            </a:pPr>
            <a:r>
              <a:rPr lang="en-US" sz="900" b="1" spc="150" kern="0" dirty="0">
                <a:solidFill>
                  <a:srgbClr val="1F6F5C"/>
                </a:solidFill>
                <a:latin typeface="Calibri" pitchFamily="34" charset="0"/>
                <a:ea typeface="Calibri" pitchFamily="34" charset="-122"/>
                <a:cs typeface="Calibri" pitchFamily="34" charset="-120"/>
              </a:rPr>
              <a:t>MILESTONE 1</a:t>
            </a:r>
            <a:endParaRPr lang="en-US" sz="900" dirty="0"/>
          </a:p>
          <a:p>
            <a:pPr algn="l" indent="0" marL="0">
              <a:buNone/>
            </a:pPr>
            <a:r>
              <a:rPr lang="en-US" sz="1400" b="1" dirty="0">
                <a:solidFill>
                  <a:srgbClr val="16211E"/>
                </a:solidFill>
                <a:latin typeface="Calibri" pitchFamily="34" charset="0"/>
                <a:ea typeface="Calibri" pitchFamily="34" charset="-122"/>
                <a:cs typeface="Calibri" pitchFamily="34" charset="-120"/>
              </a:rPr>
              <a:t>Build the library</a:t>
            </a:r>
            <a:endParaRPr lang="en-US" sz="900" dirty="0"/>
          </a:p>
          <a:p>
            <a:pPr algn="l" indent="0" marL="0">
              <a:buNone/>
            </a:pPr>
            <a:r>
              <a:rPr lang="en-US" sz="1150" dirty="0">
                <a:solidFill>
                  <a:srgbClr val="5C6B66"/>
                </a:solidFill>
                <a:latin typeface="Calibri" pitchFamily="34" charset="0"/>
                <a:ea typeface="Calibri" pitchFamily="34" charset="-122"/>
                <a:cs typeface="Calibri" pitchFamily="34" charset="-120"/>
              </a:rPr>
              <a:t>One central place for every policy and what it checks. Every rule traces to the policy's own words.</a:t>
            </a:r>
            <a:endParaRPr lang="en-US" sz="900" dirty="0"/>
          </a:p>
        </p:txBody>
      </p:sp>
      <p:sp>
        <p:nvSpPr>
          <p:cNvPr id="13" name="M2"/>
          <p:cNvSpPr/>
          <p:nvPr/>
        </p:nvSpPr>
        <p:spPr>
          <a:xfrm>
            <a:off x="3246120" y="2514600"/>
            <a:ext cx="2377440" cy="1417320"/>
          </a:xfrm>
          <a:prstGeom prst="roundRect">
            <a:avLst>
              <a:gd name="adj" fmla="val 5161"/>
            </a:avLst>
          </a:prstGeom>
          <a:solidFill>
            <a:srgbClr val="FFFFFF"/>
          </a:solidFill>
          <a:ln w="15875">
            <a:solidFill>
              <a:srgbClr val="1F6F5C"/>
            </a:solidFill>
          </a:ln>
        </p:spPr>
        <p:txBody>
          <a:bodyPr wrap="square" lIns="109728" tIns="91440" rIns="109728" bIns="45720" rtlCol="0" anchor="t"/>
          <a:lstStyle/>
          <a:p>
            <a:pPr algn="l" indent="0" marL="0">
              <a:buNone/>
            </a:pPr>
            <a:r>
              <a:rPr lang="en-US" sz="900" b="1" spc="150" kern="0" dirty="0">
                <a:solidFill>
                  <a:srgbClr val="1F6F5C"/>
                </a:solidFill>
                <a:latin typeface="Calibri" pitchFamily="34" charset="0"/>
                <a:ea typeface="Calibri" pitchFamily="34" charset="-122"/>
                <a:cs typeface="Calibri" pitchFamily="34" charset="-120"/>
              </a:rPr>
              <a:t>MILESTONE 2</a:t>
            </a:r>
            <a:endParaRPr lang="en-US" sz="900" dirty="0"/>
          </a:p>
          <a:p>
            <a:pPr algn="l" indent="0" marL="0">
              <a:buNone/>
            </a:pPr>
            <a:r>
              <a:rPr lang="en-US" sz="1400" b="1" dirty="0">
                <a:solidFill>
                  <a:srgbClr val="16211E"/>
                </a:solidFill>
                <a:latin typeface="Calibri" pitchFamily="34" charset="0"/>
                <a:ea typeface="Calibri" pitchFamily="34" charset="-122"/>
                <a:cs typeface="Calibri" pitchFamily="34" charset="-120"/>
              </a:rPr>
              <a:t>Decide every packet</a:t>
            </a:r>
            <a:endParaRPr lang="en-US" sz="900" dirty="0"/>
          </a:p>
          <a:p>
            <a:pPr algn="l" indent="0" marL="0">
              <a:buNone/>
            </a:pPr>
            <a:r>
              <a:rPr lang="en-US" sz="1150" dirty="0">
                <a:solidFill>
                  <a:srgbClr val="5C6B66"/>
                </a:solidFill>
                <a:latin typeface="Calibri" pitchFamily="34" charset="0"/>
                <a:ea typeface="Calibri" pitchFamily="34" charset="-122"/>
                <a:cs typeface="Calibri" pitchFamily="34" charset="-120"/>
              </a:rPr>
              <a:t>Fewer pends. The right answer the first time. A sooner decision for the member.</a:t>
            </a:r>
            <a:endParaRPr lang="en-US" sz="900" dirty="0"/>
          </a:p>
        </p:txBody>
      </p:sp>
      <p:sp>
        <p:nvSpPr>
          <p:cNvPr id="14" name="mA"/>
          <p:cNvSpPr/>
          <p:nvPr/>
        </p:nvSpPr>
        <p:spPr>
          <a:xfrm>
            <a:off x="3063240" y="3200400"/>
            <a:ext cx="182880" cy="0"/>
          </a:xfrm>
          <a:prstGeom prst="line">
            <a:avLst/>
          </a:prstGeom>
          <a:noFill/>
          <a:ln w="19050">
            <a:solidFill>
              <a:srgbClr val="16211E"/>
            </a:solidFill>
            <a:prstDash val="solid"/>
            <a:tailEnd type="triangle"/>
          </a:ln>
        </p:spPr>
      </p:sp>
      <p:sp>
        <p:nvSpPr>
          <p:cNvPr id="15" name="Ph2"/>
          <p:cNvSpPr/>
          <p:nvPr/>
        </p:nvSpPr>
        <p:spPr>
          <a:xfrm>
            <a:off x="6172200" y="1325880"/>
            <a:ext cx="2788920" cy="3840480"/>
          </a:xfrm>
          <a:prstGeom prst="roundRect">
            <a:avLst>
              <a:gd name="adj" fmla="val 3279"/>
            </a:avLst>
          </a:prstGeom>
          <a:ln w="15875">
            <a:solidFill>
              <a:srgbClr val="5F3AA8"/>
            </a:solidFill>
            <a:prstDash val="dash"/>
          </a:ln>
        </p:spPr>
      </p:sp>
      <p:sp>
        <p:nvSpPr>
          <p:cNvPr id="16" name="H2"/>
          <p:cNvSpPr txBox="1"/>
          <p:nvPr/>
        </p:nvSpPr>
        <p:spPr>
          <a:xfrm>
            <a:off x="6400800" y="1481328"/>
            <a:ext cx="2331720" cy="228600"/>
          </a:xfrm>
          <a:prstGeom prst="rect">
            <a:avLst/>
          </a:prstGeom>
          <a:noFill/>
          <a:ln/>
        </p:spPr>
        <p:txBody>
          <a:bodyPr wrap="square" lIns="0" tIns="0" rIns="0" bIns="0" rtlCol="0" anchor="t"/>
          <a:lstStyle/>
          <a:p>
            <a:pPr algn="l" indent="0" marL="0">
              <a:buNone/>
            </a:pPr>
            <a:r>
              <a:rPr lang="en-US" sz="1050" b="1" dirty="0">
                <a:solidFill>
                  <a:srgbClr val="5F3AA8"/>
                </a:solidFill>
                <a:latin typeface="Calibri" pitchFamily="34" charset="0"/>
                <a:ea typeface="Calibri" pitchFamily="34" charset="-122"/>
                <a:cs typeface="Calibri" pitchFamily="34" charset="-120"/>
              </a:rPr>
              <a:t>PHASE 2   ·   MONTHS 5 TO 9</a:t>
            </a:r>
            <a:endParaRPr lang="en-US" sz="1050" dirty="0"/>
          </a:p>
        </p:txBody>
      </p:sp>
      <p:sp>
        <p:nvSpPr>
          <p:cNvPr id="17" name="T2"/>
          <p:cNvSpPr txBox="1"/>
          <p:nvPr/>
        </p:nvSpPr>
        <p:spPr>
          <a:xfrm>
            <a:off x="6400800" y="1755648"/>
            <a:ext cx="2331720" cy="411480"/>
          </a:xfrm>
          <a:prstGeom prst="rect">
            <a:avLst/>
          </a:prstGeom>
          <a:noFill/>
          <a:ln/>
        </p:spPr>
        <p:txBody>
          <a:bodyPr wrap="square" lIns="0" tIns="0" rIns="0" bIns="0" rtlCol="0" anchor="t"/>
          <a:lstStyle/>
          <a:p>
            <a:pPr algn="l" indent="0" marL="0">
              <a:buNone/>
            </a:pPr>
            <a:r>
              <a:rPr lang="en-US" sz="2000" dirty="0">
                <a:solidFill>
                  <a:srgbClr val="16211E"/>
                </a:solidFill>
                <a:latin typeface="Calibri" pitchFamily="34" charset="0"/>
                <a:ea typeface="Calibri" pitchFamily="34" charset="-122"/>
                <a:cs typeface="Calibri" pitchFamily="34" charset="-120"/>
              </a:rPr>
              <a:t>Scale.</a:t>
            </a:r>
            <a:endParaRPr lang="en-US" sz="2000" dirty="0"/>
          </a:p>
        </p:txBody>
      </p:sp>
      <p:sp>
        <p:nvSpPr>
          <p:cNvPr id="18" name="B2"/>
          <p:cNvSpPr txBox="1"/>
          <p:nvPr/>
        </p:nvSpPr>
        <p:spPr>
          <a:xfrm>
            <a:off x="6400800" y="2514600"/>
            <a:ext cx="2331720" cy="1371600"/>
          </a:xfrm>
          <a:prstGeom prst="rect">
            <a:avLst/>
          </a:prstGeom>
          <a:noFill/>
          <a:ln/>
        </p:spPr>
        <p:txBody>
          <a:bodyPr wrap="square" lIns="0" tIns="0" rIns="0" bIns="0" rtlCol="0" anchor="t"/>
          <a:lstStyle/>
          <a:p>
            <a:pPr algn="l" indent="0" marL="0">
              <a:buNone/>
            </a:pPr>
            <a:r>
              <a:rPr lang="en-US" sz="1300" dirty="0">
                <a:solidFill>
                  <a:srgbClr val="16211E"/>
                </a:solidFill>
                <a:latin typeface="Calibri" pitchFamily="34" charset="0"/>
                <a:ea typeface="Calibri" pitchFamily="34" charset="-122"/>
                <a:cs typeface="Calibri" pitchFamily="34" charset="-120"/>
              </a:rPr>
              <a:t>More services, one at a time, ranked by Humana's own request history.</a:t>
            </a:r>
            <a:endParaRPr lang="en-US" sz="1300" dirty="0"/>
          </a:p>
        </p:txBody>
      </p:sp>
      <p:sp>
        <p:nvSpPr>
          <p:cNvPr id="19" name="W2"/>
          <p:cNvSpPr txBox="1"/>
          <p:nvPr/>
        </p:nvSpPr>
        <p:spPr>
          <a:xfrm>
            <a:off x="6400800" y="4069080"/>
            <a:ext cx="2331720" cy="274320"/>
          </a:xfrm>
          <a:prstGeom prst="rect">
            <a:avLst/>
          </a:prstGeom>
          <a:noFill/>
          <a:ln/>
        </p:spPr>
        <p:txBody>
          <a:bodyPr wrap="square" lIns="0" tIns="0" rIns="0" bIns="0" rtlCol="0" anchor="t"/>
          <a:lstStyle/>
          <a:p>
            <a:pPr algn="l" indent="0" marL="0">
              <a:buNone/>
            </a:pPr>
            <a:r>
              <a:rPr lang="en-US" sz="1100" b="1" dirty="0">
                <a:solidFill>
                  <a:srgbClr val="16211E"/>
                </a:solidFill>
                <a:latin typeface="Calibri" pitchFamily="34" charset="0"/>
                <a:ea typeface="Calibri" pitchFamily="34" charset="-122"/>
                <a:cs typeface="Calibri" pitchFamily="34" charset="-120"/>
              </a:rPr>
              <a:t>FOR   The plan</a:t>
            </a:r>
            <a:endParaRPr lang="en-US" sz="1100" dirty="0"/>
          </a:p>
        </p:txBody>
      </p:sp>
      <p:sp>
        <p:nvSpPr>
          <p:cNvPr id="20" name="G2"/>
          <p:cNvSpPr/>
          <p:nvPr/>
        </p:nvSpPr>
        <p:spPr>
          <a:xfrm>
            <a:off x="6355080" y="4434840"/>
            <a:ext cx="2423160" cy="594360"/>
          </a:xfrm>
          <a:prstGeom prst="roundRect">
            <a:avLst>
              <a:gd name="adj" fmla="val 9231"/>
            </a:avLst>
          </a:prstGeom>
          <a:solidFill>
            <a:srgbClr val="EBE2F8"/>
          </a:solidFill>
          <a:ln w="12700">
            <a:solidFill>
              <a:srgbClr val="5F3AA8"/>
            </a:solidFill>
          </a:ln>
        </p:spPr>
        <p:txBody>
          <a:bodyPr wrap="square" lIns="109728" tIns="27432" rIns="109728" bIns="27432" rtlCol="0" anchor="ctr"/>
          <a:lstStyle/>
          <a:p>
            <a:pPr algn="l" indent="0" marL="0">
              <a:buNone/>
            </a:pPr>
            <a:r>
              <a:rPr lang="en-US" sz="950" b="1" spc="150" kern="0" dirty="0">
                <a:solidFill>
                  <a:srgbClr val="5F3AA8"/>
                </a:solidFill>
                <a:latin typeface="Calibri" pitchFamily="34" charset="0"/>
                <a:ea typeface="Calibri" pitchFamily="34" charset="-122"/>
                <a:cs typeface="Calibri" pitchFamily="34" charset="-120"/>
              </a:rPr>
              <a:t>GATE   </a:t>
            </a:r>
            <a:pPr algn="l" indent="0" marL="0">
              <a:buNone/>
            </a:pPr>
            <a:r>
              <a:rPr lang="en-US" sz="1100" dirty="0">
                <a:solidFill>
                  <a:srgbClr val="16211E"/>
                </a:solidFill>
                <a:latin typeface="Calibri" pitchFamily="34" charset="0"/>
                <a:ea typeface="Calibri" pitchFamily="34" charset="-122"/>
                <a:cs typeface="Calibri" pitchFamily="34" charset="-120"/>
              </a:rPr>
              <a:t>Evals on real cases for each new service.</a:t>
            </a:r>
            <a:endParaRPr lang="en-US" sz="950" dirty="0"/>
          </a:p>
        </p:txBody>
      </p:sp>
      <p:sp>
        <p:nvSpPr>
          <p:cNvPr id="21" name="Ph3"/>
          <p:cNvSpPr/>
          <p:nvPr/>
        </p:nvSpPr>
        <p:spPr>
          <a:xfrm>
            <a:off x="9235440" y="1325880"/>
            <a:ext cx="2496312" cy="3840480"/>
          </a:xfrm>
          <a:prstGeom prst="roundRect">
            <a:avLst>
              <a:gd name="adj" fmla="val 3663"/>
            </a:avLst>
          </a:prstGeom>
          <a:ln w="15875">
            <a:solidFill>
              <a:srgbClr val="8A5A00"/>
            </a:solidFill>
            <a:prstDash val="dash"/>
          </a:ln>
        </p:spPr>
      </p:sp>
      <p:sp>
        <p:nvSpPr>
          <p:cNvPr id="22" name="H3"/>
          <p:cNvSpPr txBox="1"/>
          <p:nvPr/>
        </p:nvSpPr>
        <p:spPr>
          <a:xfrm>
            <a:off x="9464040" y="1481328"/>
            <a:ext cx="2039112" cy="228600"/>
          </a:xfrm>
          <a:prstGeom prst="rect">
            <a:avLst/>
          </a:prstGeom>
          <a:noFill/>
          <a:ln/>
        </p:spPr>
        <p:txBody>
          <a:bodyPr wrap="square" lIns="0" tIns="0" rIns="0" bIns="0" rtlCol="0" anchor="t"/>
          <a:lstStyle/>
          <a:p>
            <a:pPr algn="l" indent="0" marL="0">
              <a:buNone/>
            </a:pPr>
            <a:r>
              <a:rPr lang="en-US" sz="1050" b="1" dirty="0">
                <a:solidFill>
                  <a:srgbClr val="8A5A00"/>
                </a:solidFill>
                <a:latin typeface="Calibri" pitchFamily="34" charset="0"/>
                <a:ea typeface="Calibri" pitchFamily="34" charset="-122"/>
                <a:cs typeface="Calibri" pitchFamily="34" charset="-120"/>
              </a:rPr>
              <a:t>PHASE 3   ·   MONTHS 10 TO 12</a:t>
            </a:r>
            <a:endParaRPr lang="en-US" sz="1050" dirty="0"/>
          </a:p>
        </p:txBody>
      </p:sp>
      <p:sp>
        <p:nvSpPr>
          <p:cNvPr id="23" name="T3"/>
          <p:cNvSpPr txBox="1"/>
          <p:nvPr/>
        </p:nvSpPr>
        <p:spPr>
          <a:xfrm>
            <a:off x="9464040" y="1755648"/>
            <a:ext cx="2039112" cy="411480"/>
          </a:xfrm>
          <a:prstGeom prst="rect">
            <a:avLst/>
          </a:prstGeom>
          <a:noFill/>
          <a:ln/>
        </p:spPr>
        <p:txBody>
          <a:bodyPr wrap="square" lIns="0" tIns="0" rIns="0" bIns="0" rtlCol="0" anchor="t"/>
          <a:lstStyle/>
          <a:p>
            <a:pPr algn="l" indent="0" marL="0">
              <a:buNone/>
            </a:pPr>
            <a:r>
              <a:rPr lang="en-US" sz="2000" dirty="0">
                <a:solidFill>
                  <a:srgbClr val="16211E"/>
                </a:solidFill>
                <a:latin typeface="Calibri" pitchFamily="34" charset="0"/>
                <a:ea typeface="Calibri" pitchFamily="34" charset="-122"/>
                <a:cs typeface="Calibri" pitchFamily="34" charset="-120"/>
              </a:rPr>
              <a:t>Member status.</a:t>
            </a:r>
            <a:endParaRPr lang="en-US" sz="2000" dirty="0"/>
          </a:p>
        </p:txBody>
      </p:sp>
      <p:sp>
        <p:nvSpPr>
          <p:cNvPr id="24" name="B3"/>
          <p:cNvSpPr txBox="1"/>
          <p:nvPr/>
        </p:nvSpPr>
        <p:spPr>
          <a:xfrm>
            <a:off x="9464040" y="2514600"/>
            <a:ext cx="2039112" cy="1371600"/>
          </a:xfrm>
          <a:prstGeom prst="rect">
            <a:avLst/>
          </a:prstGeom>
          <a:noFill/>
          <a:ln/>
        </p:spPr>
        <p:txBody>
          <a:bodyPr wrap="square" lIns="0" tIns="0" rIns="0" bIns="0" rtlCol="0" anchor="t"/>
          <a:lstStyle/>
          <a:p>
            <a:pPr algn="l" indent="0" marL="0">
              <a:buNone/>
            </a:pPr>
            <a:r>
              <a:rPr lang="en-US" sz="1300" dirty="0">
                <a:solidFill>
                  <a:srgbClr val="16211E"/>
                </a:solidFill>
                <a:latin typeface="Calibri" pitchFamily="34" charset="0"/>
                <a:ea typeface="Calibri" pitchFamily="34" charset="-122"/>
                <a:cs typeface="Calibri" pitchFamily="34" charset="-120"/>
              </a:rPr>
              <a:t>The member sees where a request stands. It reads the trusted record.</a:t>
            </a:r>
            <a:endParaRPr lang="en-US" sz="1300" dirty="0"/>
          </a:p>
        </p:txBody>
      </p:sp>
      <p:sp>
        <p:nvSpPr>
          <p:cNvPr id="25" name="W3"/>
          <p:cNvSpPr txBox="1"/>
          <p:nvPr/>
        </p:nvSpPr>
        <p:spPr>
          <a:xfrm>
            <a:off x="9464040" y="4069080"/>
            <a:ext cx="2039112" cy="274320"/>
          </a:xfrm>
          <a:prstGeom prst="rect">
            <a:avLst/>
          </a:prstGeom>
          <a:noFill/>
          <a:ln/>
        </p:spPr>
        <p:txBody>
          <a:bodyPr wrap="square" lIns="0" tIns="0" rIns="0" bIns="0" rtlCol="0" anchor="t"/>
          <a:lstStyle/>
          <a:p>
            <a:pPr algn="l" indent="0" marL="0">
              <a:buNone/>
            </a:pPr>
            <a:r>
              <a:rPr lang="en-US" sz="1100" b="1" dirty="0">
                <a:solidFill>
                  <a:srgbClr val="16211E"/>
                </a:solidFill>
                <a:latin typeface="Calibri" pitchFamily="34" charset="0"/>
                <a:ea typeface="Calibri" pitchFamily="34" charset="-122"/>
                <a:cs typeface="Calibri" pitchFamily="34" charset="-120"/>
              </a:rPr>
              <a:t>FOR   The member</a:t>
            </a:r>
            <a:endParaRPr lang="en-US" sz="1100" dirty="0"/>
          </a:p>
        </p:txBody>
      </p:sp>
      <p:sp>
        <p:nvSpPr>
          <p:cNvPr id="26" name="G3"/>
          <p:cNvSpPr/>
          <p:nvPr/>
        </p:nvSpPr>
        <p:spPr>
          <a:xfrm>
            <a:off x="9418320" y="4434840"/>
            <a:ext cx="2130552" cy="594360"/>
          </a:xfrm>
          <a:prstGeom prst="roundRect">
            <a:avLst>
              <a:gd name="adj" fmla="val 9231"/>
            </a:avLst>
          </a:prstGeom>
          <a:solidFill>
            <a:srgbClr val="FCEFD0"/>
          </a:solidFill>
          <a:ln w="12700">
            <a:solidFill>
              <a:srgbClr val="8A5A00"/>
            </a:solidFill>
          </a:ln>
        </p:spPr>
        <p:txBody>
          <a:bodyPr wrap="square" lIns="109728" tIns="27432" rIns="109728" bIns="27432" rtlCol="0" anchor="ctr"/>
          <a:lstStyle/>
          <a:p>
            <a:pPr algn="l" indent="0" marL="0">
              <a:buNone/>
            </a:pPr>
            <a:r>
              <a:rPr lang="en-US" sz="950" b="1" spc="150" kern="0" dirty="0">
                <a:solidFill>
                  <a:srgbClr val="8A5A00"/>
                </a:solidFill>
                <a:latin typeface="Calibri" pitchFamily="34" charset="0"/>
                <a:ea typeface="Calibri" pitchFamily="34" charset="-122"/>
                <a:cs typeface="Calibri" pitchFamily="34" charset="-120"/>
              </a:rPr>
              <a:t>GATE   </a:t>
            </a:r>
            <a:pPr algn="l" indent="0" marL="0">
              <a:buNone/>
            </a:pPr>
            <a:r>
              <a:rPr lang="en-US" sz="1100" dirty="0">
                <a:solidFill>
                  <a:srgbClr val="16211E"/>
                </a:solidFill>
                <a:latin typeface="Calibri" pitchFamily="34" charset="0"/>
                <a:ea typeface="Calibri" pitchFamily="34" charset="-122"/>
                <a:cs typeface="Calibri" pitchFamily="34" charset="-120"/>
              </a:rPr>
              <a:t>A compliance review.</a:t>
            </a:r>
            <a:endParaRPr lang="en-US" sz="950" dirty="0"/>
          </a:p>
        </p:txBody>
      </p:sp>
      <p:sp>
        <p:nvSpPr>
          <p:cNvPr id="27" name="pA"/>
          <p:cNvSpPr/>
          <p:nvPr/>
        </p:nvSpPr>
        <p:spPr>
          <a:xfrm>
            <a:off x="5916168" y="3200400"/>
            <a:ext cx="237744" cy="0"/>
          </a:xfrm>
          <a:prstGeom prst="line">
            <a:avLst/>
          </a:prstGeom>
          <a:noFill/>
          <a:ln w="19050">
            <a:solidFill>
              <a:srgbClr val="16211E"/>
            </a:solidFill>
            <a:prstDash val="solid"/>
            <a:tailEnd type="triangle"/>
          </a:ln>
        </p:spPr>
      </p:sp>
      <p:sp>
        <p:nvSpPr>
          <p:cNvPr id="28" name="pB"/>
          <p:cNvSpPr/>
          <p:nvPr/>
        </p:nvSpPr>
        <p:spPr>
          <a:xfrm>
            <a:off x="8979408" y="3200400"/>
            <a:ext cx="237744" cy="0"/>
          </a:xfrm>
          <a:prstGeom prst="line">
            <a:avLst/>
          </a:prstGeom>
          <a:noFill/>
          <a:ln w="19050">
            <a:solidFill>
              <a:srgbClr val="16211E"/>
            </a:solidFill>
            <a:prstDash val="solid"/>
            <a:tailEnd type="triangle"/>
          </a:ln>
        </p:spPr>
      </p:sp>
      <p:sp>
        <p:nvSpPr>
          <p:cNvPr id="29" name="Band"/>
          <p:cNvSpPr/>
          <p:nvPr/>
        </p:nvSpPr>
        <p:spPr>
          <a:xfrm>
            <a:off x="457200" y="5376672"/>
            <a:ext cx="11274552" cy="457200"/>
          </a:xfrm>
          <a:prstGeom prst="roundRect">
            <a:avLst>
              <a:gd name="adj" fmla="val 16000"/>
            </a:avLst>
          </a:prstGeom>
          <a:solidFill>
            <a:srgbClr val="1F6F5C"/>
          </a:solidFill>
          <a:ln w="12700">
            <a:solidFill>
              <a:srgbClr val="1F6F5C"/>
            </a:solidFill>
          </a:ln>
        </p:spPr>
        <p:txBody>
          <a:bodyPr wrap="square" lIns="137160" tIns="18288" rIns="137160" bIns="1828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 person decides in every phase. The AI never denies.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roadmap</dc:title>
  <dc:subject>PptxGenJS Presentation</dc:subject>
  <dc:creator>Nisha Mishra</dc:creator>
  <cp:lastModifiedBy>Nisha Mishra</cp:lastModifiedBy>
  <cp:revision>1</cp:revision>
  <dcterms:created xsi:type="dcterms:W3CDTF">2026-10-06T04:07:42Z</dcterms:created>
  <dcterms:modified xsi:type="dcterms:W3CDTF">2026-10-06T04:07:42Z</dcterms:modified>
</cp:coreProperties>
</file>