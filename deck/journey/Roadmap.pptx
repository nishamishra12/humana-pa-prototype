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Three phases, about a year. The months are illustrative. What I want you to take away is the order, and why.
My rule is simple. Each phase earns the next one. I don't build the next layer on something I haven't proven.
Let me start with Phase 1, because it is the heart of this.
Phase 1 has one goal. Get each request decided right the first time, with a person still making the decision. The measure is the right-first-time rate. That is my north star. Out of every 100 requests, how many get the right answer the first time, with no back and forth.
To get there, Phase 1 has two milestones. They ladder up to that goal, and the first makes the second possible.
Milestone 1 is to build the library. Think of it as the rulebook. It is one central place with every policy we cover, written as a checklist of exactly what each one wants to see in a request. Today that knowledge lives in documents and in people's heads. In the library, every item traces back to the policy's own words. Every change is versioned and audited. And once a policy is in, the next service reuses it. This milestone doesn't move the north star by itself. It is the foundation. So I measure it by how fast we can add a service, and whether every item traces to an exact quote.
Milestone 2 is to decide every packet. When a request comes in, the AI checks it against that checklist and gives the nurse a recommendation, with the evidence. The nurse confirms. This is where the north star moves. It helps everyone. The nurse stops hunting through the packet. The provider stops re-sending. The member gets a decision sooner. And the plan has fewer appeals and meets the CMS clock.
Why start here? Three reasons. First, this is where the delay lives. A pend doesn't stop the CMS clock, so every avoidable pend is a lost loop. Second, it is the safest place to start, because a person decides every case. The AI recommends, the nurse confirms, and only the director can deny. Third, it builds the record: every decision, with its evidence. Everything after this depends on that record.
And why the library before the packets? Because the AI only ever uses what a person approved. If the library is wrong, every packet is wrong. So I make the foundation solid first. Then I run it in shadow, beside the nurses, before any nurse sees a recommendation. The gate to leave Phase 1 is a tested library, and evals on real labeled cases with zero wrong approvals.
Phase 2 is scale. I add services one at a time, ranked by Humana's own request history. Why now and not earlier? How I add a service is already designed, and each new service reuses policies. But I only widen after Phase 1 is proven. Each new service has its own gate, and the ML team owns the test packets. The value goes to the plan: more of the volume covered.
Phase 3 is member status. The member sees where a request stands. Why last? A status is only as good as the record behind it. If I show a member a status I can't stand behind, I make things worse. So it reads the trusted record from the first two phases, and it needs a compliance review before a member sees anything.
I'll be honest about the date. From January 2027, plans must offer a Patient Access API with prior authorization information. A year-long plan lands after that. So I'm not saying this phase meets the requirement. I'm saying it builds on the record, next to whatever the plan builds for the mandate.
So the roadmap is a trust ladder. Prove it is right. Then widen it. Then show it to the member. A person decides in every phase, and the AI never denies.
Now let me show you what Phase 1 looks like,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ROADMAP</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Three phases over a year.</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Each phase earns the next one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The months are illustrative. The order is the point.</a:t>
            </a:r>
            <a:endParaRPr lang="en-US" sz="900" dirty="0"/>
          </a:p>
        </p:txBody>
      </p:sp>
      <p:sp>
        <p:nvSpPr>
          <p:cNvPr id="6" name="Ph1"/>
          <p:cNvSpPr/>
          <p:nvPr/>
        </p:nvSpPr>
        <p:spPr>
          <a:xfrm>
            <a:off x="457200" y="1325880"/>
            <a:ext cx="5440680" cy="3840480"/>
          </a:xfrm>
          <a:prstGeom prst="roundRect">
            <a:avLst>
              <a:gd name="adj" fmla="val 2381"/>
            </a:avLst>
          </a:prstGeom>
          <a:ln w="15875">
            <a:solidFill>
              <a:srgbClr val="1F6F5C"/>
            </a:solidFill>
            <a:prstDash val="dash"/>
          </a:ln>
        </p:spPr>
      </p:sp>
      <p:sp>
        <p:nvSpPr>
          <p:cNvPr id="7" name="H1"/>
          <p:cNvSpPr txBox="1"/>
          <p:nvPr/>
        </p:nvSpPr>
        <p:spPr>
          <a:xfrm>
            <a:off x="685800" y="1481328"/>
            <a:ext cx="4983480" cy="228600"/>
          </a:xfrm>
          <a:prstGeom prst="rect">
            <a:avLst/>
          </a:prstGeom>
          <a:noFill/>
          <a:ln/>
        </p:spPr>
        <p:txBody>
          <a:bodyPr wrap="square" lIns="0" tIns="0" rIns="0" bIns="0" rtlCol="0" anchor="t"/>
          <a:lstStyle/>
          <a:p>
            <a:pPr algn="l" indent="0" marL="0">
              <a:buNone/>
            </a:pPr>
            <a:r>
              <a:rPr lang="en-US" sz="1050" b="1" dirty="0">
                <a:solidFill>
                  <a:srgbClr val="1F6F5C"/>
                </a:solidFill>
                <a:latin typeface="Calibri" pitchFamily="34" charset="0"/>
                <a:ea typeface="Calibri" pitchFamily="34" charset="-122"/>
                <a:cs typeface="Calibri" pitchFamily="34" charset="-120"/>
              </a:rPr>
              <a:t>PHASE 1   ·   MONTHS 1 TO 4</a:t>
            </a:r>
            <a:endParaRPr lang="en-US" sz="1050" dirty="0"/>
          </a:p>
        </p:txBody>
      </p:sp>
      <p:sp>
        <p:nvSpPr>
          <p:cNvPr id="8" name="T1"/>
          <p:cNvSpPr txBox="1"/>
          <p:nvPr/>
        </p:nvSpPr>
        <p:spPr>
          <a:xfrm>
            <a:off x="685800" y="1755648"/>
            <a:ext cx="4983480" cy="411480"/>
          </a:xfrm>
          <a:prstGeom prst="rect">
            <a:avLst/>
          </a:prstGeom>
          <a:noFill/>
          <a:ln/>
        </p:spPr>
        <p:txBody>
          <a:bodyPr wrap="square" lIns="0" tIns="0" rIns="0" bIns="0" rtlCol="0" anchor="t"/>
          <a:lstStyle/>
          <a:p>
            <a:pPr algn="l" indent="0" marL="0">
              <a:buNone/>
            </a:pPr>
            <a:r>
              <a:rPr lang="en-US" sz="2000" dirty="0">
                <a:solidFill>
                  <a:srgbClr val="16211E"/>
                </a:solidFill>
                <a:latin typeface="Calibri" pitchFamily="34" charset="0"/>
                <a:ea typeface="Calibri" pitchFamily="34" charset="-122"/>
                <a:cs typeface="Calibri" pitchFamily="34" charset="-120"/>
              </a:rPr>
              <a:t>Right first time. A person decides.</a:t>
            </a:r>
            <a:endParaRPr lang="en-US" sz="2000" dirty="0"/>
          </a:p>
        </p:txBody>
      </p:sp>
      <p:sp>
        <p:nvSpPr>
          <p:cNvPr id="9" name="S1"/>
          <p:cNvSpPr txBox="1"/>
          <p:nvPr/>
        </p:nvSpPr>
        <p:spPr>
          <a:xfrm>
            <a:off x="685800" y="2157984"/>
            <a:ext cx="4983480" cy="256032"/>
          </a:xfrm>
          <a:prstGeom prst="rect">
            <a:avLst/>
          </a:prstGeom>
          <a:noFill/>
          <a:ln/>
        </p:spPr>
        <p:txBody>
          <a:bodyPr wrap="square" lIns="0" tIns="0" rIns="0" bIns="0" rtlCol="0" anchor="t"/>
          <a:lstStyle/>
          <a:p>
            <a:pPr algn="l" indent="0" marL="0">
              <a:buNone/>
            </a:pPr>
            <a:r>
              <a:rPr lang="en-US" sz="1150" b="1" dirty="0">
                <a:solidFill>
                  <a:srgbClr val="5C6B66"/>
                </a:solidFill>
                <a:latin typeface="Calibri" pitchFamily="34" charset="0"/>
                <a:ea typeface="Calibri" pitchFamily="34" charset="-122"/>
                <a:cs typeface="Calibri" pitchFamily="34" charset="-120"/>
              </a:rPr>
              <a:t>North star: right-first-time rate. Two milestones ladder up to it.</a:t>
            </a:r>
            <a:endParaRPr lang="en-US" sz="1150" dirty="0"/>
          </a:p>
        </p:txBody>
      </p:sp>
      <p:sp>
        <p:nvSpPr>
          <p:cNvPr id="10" name="W1"/>
          <p:cNvSpPr txBox="1"/>
          <p:nvPr/>
        </p:nvSpPr>
        <p:spPr>
          <a:xfrm>
            <a:off x="685800" y="4069080"/>
            <a:ext cx="4983480" cy="274320"/>
          </a:xfrm>
          <a:prstGeom prst="rect">
            <a:avLst/>
          </a:prstGeom>
          <a:noFill/>
          <a:ln/>
        </p:spPr>
        <p:txBody>
          <a:bodyPr wrap="square" lIns="0" tIns="0" rIns="0" bIns="0" rtlCol="0" anchor="t"/>
          <a:lstStyle/>
          <a:p>
            <a:pPr algn="l" indent="0" marL="0">
              <a:buNone/>
            </a:pPr>
            <a:r>
              <a:rPr lang="en-US" sz="1100" b="1" dirty="0">
                <a:solidFill>
                  <a:srgbClr val="16211E"/>
                </a:solidFill>
                <a:latin typeface="Calibri" pitchFamily="34" charset="0"/>
                <a:ea typeface="Calibri" pitchFamily="34" charset="-122"/>
                <a:cs typeface="Calibri" pitchFamily="34" charset="-120"/>
              </a:rPr>
              <a:t>FOR   Nurse, provider, member, plan</a:t>
            </a:r>
            <a:endParaRPr lang="en-US" sz="1100" dirty="0"/>
          </a:p>
        </p:txBody>
      </p:sp>
      <p:sp>
        <p:nvSpPr>
          <p:cNvPr id="11" name="G1"/>
          <p:cNvSpPr/>
          <p:nvPr/>
        </p:nvSpPr>
        <p:spPr>
          <a:xfrm>
            <a:off x="640080" y="4434840"/>
            <a:ext cx="5074920" cy="594360"/>
          </a:xfrm>
          <a:prstGeom prst="roundRect">
            <a:avLst>
              <a:gd name="adj" fmla="val 9231"/>
            </a:avLst>
          </a:prstGeom>
          <a:solidFill>
            <a:srgbClr val="E3F0EB"/>
          </a:solidFill>
          <a:ln w="12700">
            <a:solidFill>
              <a:srgbClr val="1F6F5C"/>
            </a:solidFill>
          </a:ln>
        </p:spPr>
        <p:txBody>
          <a:bodyPr wrap="square" lIns="109728" tIns="27432" rIns="109728" bIns="27432" rtlCol="0" anchor="ctr"/>
          <a:lstStyle/>
          <a:p>
            <a:pPr algn="l" indent="0" marL="0">
              <a:buNone/>
            </a:pPr>
            <a:r>
              <a:rPr lang="en-US" sz="950" b="1" spc="150" kern="0" dirty="0">
                <a:solidFill>
                  <a:srgbClr val="1F6F5C"/>
                </a:solidFill>
                <a:latin typeface="Calibri" pitchFamily="34" charset="0"/>
                <a:ea typeface="Calibri" pitchFamily="34" charset="-122"/>
                <a:cs typeface="Calibri" pitchFamily="34" charset="-120"/>
              </a:rPr>
              <a:t>GATE   </a:t>
            </a:r>
            <a:pPr algn="l" indent="0" marL="0">
              <a:buNone/>
            </a:pPr>
            <a:r>
              <a:rPr lang="en-US" sz="1100" dirty="0">
                <a:solidFill>
                  <a:srgbClr val="16211E"/>
                </a:solidFill>
                <a:latin typeface="Calibri" pitchFamily="34" charset="0"/>
                <a:ea typeface="Calibri" pitchFamily="34" charset="-122"/>
                <a:cs typeface="Calibri" pitchFamily="34" charset="-120"/>
              </a:rPr>
              <a:t>A tested library. Evals on real cases. Zero wrong approvals.</a:t>
            </a:r>
            <a:endParaRPr lang="en-US" sz="950" dirty="0"/>
          </a:p>
        </p:txBody>
      </p:sp>
      <p:sp>
        <p:nvSpPr>
          <p:cNvPr id="12" name="M1"/>
          <p:cNvSpPr/>
          <p:nvPr/>
        </p:nvSpPr>
        <p:spPr>
          <a:xfrm>
            <a:off x="685800" y="2514600"/>
            <a:ext cx="2377440" cy="1417320"/>
          </a:xfrm>
          <a:prstGeom prst="roundRect">
            <a:avLst>
              <a:gd name="adj" fmla="val 5161"/>
            </a:avLst>
          </a:prstGeom>
          <a:solidFill>
            <a:srgbClr val="FFFFFF"/>
          </a:solidFill>
          <a:ln w="15875">
            <a:solidFill>
              <a:srgbClr val="1F6F5C"/>
            </a:solidFill>
          </a:ln>
        </p:spPr>
        <p:txBody>
          <a:bodyPr wrap="square" lIns="109728" tIns="91440" rIns="109728" bIns="45720" rtlCol="0" anchor="t"/>
          <a:lstStyle/>
          <a:p>
            <a:pPr algn="l" indent="0" marL="0">
              <a:buNone/>
            </a:pPr>
            <a:r>
              <a:rPr lang="en-US" sz="900" b="1" spc="150" kern="0" dirty="0">
                <a:solidFill>
                  <a:srgbClr val="1F6F5C"/>
                </a:solidFill>
                <a:latin typeface="Calibri" pitchFamily="34" charset="0"/>
                <a:ea typeface="Calibri" pitchFamily="34" charset="-122"/>
                <a:cs typeface="Calibri" pitchFamily="34" charset="-120"/>
              </a:rPr>
              <a:t>MILESTONE 1</a:t>
            </a:r>
            <a:endParaRPr lang="en-US" sz="900" dirty="0"/>
          </a:p>
          <a:p>
            <a:pPr algn="l" indent="0" marL="0">
              <a:buNone/>
            </a:pPr>
            <a:r>
              <a:rPr lang="en-US" sz="1400" b="1" dirty="0">
                <a:solidFill>
                  <a:srgbClr val="16211E"/>
                </a:solidFill>
                <a:latin typeface="Calibri" pitchFamily="34" charset="0"/>
                <a:ea typeface="Calibri" pitchFamily="34" charset="-122"/>
                <a:cs typeface="Calibri" pitchFamily="34" charset="-120"/>
              </a:rPr>
              <a:t>Build the library</a:t>
            </a:r>
            <a:endParaRPr lang="en-US" sz="900" dirty="0"/>
          </a:p>
          <a:p>
            <a:pPr algn="l" indent="0" marL="0">
              <a:buNone/>
            </a:pPr>
            <a:r>
              <a:rPr lang="en-US" sz="1150" dirty="0">
                <a:solidFill>
                  <a:srgbClr val="5C6B66"/>
                </a:solidFill>
                <a:latin typeface="Calibri" pitchFamily="34" charset="0"/>
                <a:ea typeface="Calibri" pitchFamily="34" charset="-122"/>
                <a:cs typeface="Calibri" pitchFamily="34" charset="-120"/>
              </a:rPr>
              <a:t>One central place for every policy and what it checks. Every rule traces to the policy's own words.</a:t>
            </a:r>
            <a:endParaRPr lang="en-US" sz="900" dirty="0"/>
          </a:p>
        </p:txBody>
      </p:sp>
      <p:sp>
        <p:nvSpPr>
          <p:cNvPr id="13" name="M2"/>
          <p:cNvSpPr/>
          <p:nvPr/>
        </p:nvSpPr>
        <p:spPr>
          <a:xfrm>
            <a:off x="3246120" y="2514600"/>
            <a:ext cx="2377440" cy="1417320"/>
          </a:xfrm>
          <a:prstGeom prst="roundRect">
            <a:avLst>
              <a:gd name="adj" fmla="val 5161"/>
            </a:avLst>
          </a:prstGeom>
          <a:solidFill>
            <a:srgbClr val="FFFFFF"/>
          </a:solidFill>
          <a:ln w="15875">
            <a:solidFill>
              <a:srgbClr val="1F6F5C"/>
            </a:solidFill>
          </a:ln>
        </p:spPr>
        <p:txBody>
          <a:bodyPr wrap="square" lIns="109728" tIns="91440" rIns="109728" bIns="45720" rtlCol="0" anchor="t"/>
          <a:lstStyle/>
          <a:p>
            <a:pPr algn="l" indent="0" marL="0">
              <a:buNone/>
            </a:pPr>
            <a:r>
              <a:rPr lang="en-US" sz="900" b="1" spc="150" kern="0" dirty="0">
                <a:solidFill>
                  <a:srgbClr val="1F6F5C"/>
                </a:solidFill>
                <a:latin typeface="Calibri" pitchFamily="34" charset="0"/>
                <a:ea typeface="Calibri" pitchFamily="34" charset="-122"/>
                <a:cs typeface="Calibri" pitchFamily="34" charset="-120"/>
              </a:rPr>
              <a:t>MILESTONE 2</a:t>
            </a:r>
            <a:endParaRPr lang="en-US" sz="900" dirty="0"/>
          </a:p>
          <a:p>
            <a:pPr algn="l" indent="0" marL="0">
              <a:buNone/>
            </a:pPr>
            <a:r>
              <a:rPr lang="en-US" sz="1400" b="1" dirty="0">
                <a:solidFill>
                  <a:srgbClr val="16211E"/>
                </a:solidFill>
                <a:latin typeface="Calibri" pitchFamily="34" charset="0"/>
                <a:ea typeface="Calibri" pitchFamily="34" charset="-122"/>
                <a:cs typeface="Calibri" pitchFamily="34" charset="-120"/>
              </a:rPr>
              <a:t>Decide every packet</a:t>
            </a:r>
            <a:endParaRPr lang="en-US" sz="900" dirty="0"/>
          </a:p>
          <a:p>
            <a:pPr algn="l" indent="0" marL="0">
              <a:buNone/>
            </a:pPr>
            <a:r>
              <a:rPr lang="en-US" sz="1150" dirty="0">
                <a:solidFill>
                  <a:srgbClr val="5C6B66"/>
                </a:solidFill>
                <a:latin typeface="Calibri" pitchFamily="34" charset="0"/>
                <a:ea typeface="Calibri" pitchFamily="34" charset="-122"/>
                <a:cs typeface="Calibri" pitchFamily="34" charset="-120"/>
              </a:rPr>
              <a:t>Fewer pends. The right answer the first time. A sooner decision for the member.</a:t>
            </a:r>
            <a:endParaRPr lang="en-US" sz="900" dirty="0"/>
          </a:p>
        </p:txBody>
      </p:sp>
      <p:sp>
        <p:nvSpPr>
          <p:cNvPr id="14" name="mA"/>
          <p:cNvSpPr/>
          <p:nvPr/>
        </p:nvSpPr>
        <p:spPr>
          <a:xfrm>
            <a:off x="3063240" y="3200400"/>
            <a:ext cx="182880" cy="0"/>
          </a:xfrm>
          <a:prstGeom prst="line">
            <a:avLst/>
          </a:prstGeom>
          <a:noFill/>
          <a:ln w="19050">
            <a:solidFill>
              <a:srgbClr val="16211E"/>
            </a:solidFill>
            <a:prstDash val="solid"/>
            <a:tailEnd type="triangle"/>
          </a:ln>
        </p:spPr>
      </p:sp>
      <p:sp>
        <p:nvSpPr>
          <p:cNvPr id="15" name="Ph2"/>
          <p:cNvSpPr/>
          <p:nvPr/>
        </p:nvSpPr>
        <p:spPr>
          <a:xfrm>
            <a:off x="6172200" y="1325880"/>
            <a:ext cx="2788920" cy="3840480"/>
          </a:xfrm>
          <a:prstGeom prst="roundRect">
            <a:avLst>
              <a:gd name="adj" fmla="val 3279"/>
            </a:avLst>
          </a:prstGeom>
          <a:ln w="15875">
            <a:solidFill>
              <a:srgbClr val="5F3AA8"/>
            </a:solidFill>
            <a:prstDash val="dash"/>
          </a:ln>
        </p:spPr>
      </p:sp>
      <p:sp>
        <p:nvSpPr>
          <p:cNvPr id="16" name="H2"/>
          <p:cNvSpPr txBox="1"/>
          <p:nvPr/>
        </p:nvSpPr>
        <p:spPr>
          <a:xfrm>
            <a:off x="6400800" y="1481328"/>
            <a:ext cx="2331720" cy="228600"/>
          </a:xfrm>
          <a:prstGeom prst="rect">
            <a:avLst/>
          </a:prstGeom>
          <a:noFill/>
          <a:ln/>
        </p:spPr>
        <p:txBody>
          <a:bodyPr wrap="square" lIns="0" tIns="0" rIns="0" bIns="0" rtlCol="0" anchor="t"/>
          <a:lstStyle/>
          <a:p>
            <a:pPr algn="l" indent="0" marL="0">
              <a:buNone/>
            </a:pPr>
            <a:r>
              <a:rPr lang="en-US" sz="1050" b="1" dirty="0">
                <a:solidFill>
                  <a:srgbClr val="5F3AA8"/>
                </a:solidFill>
                <a:latin typeface="Calibri" pitchFamily="34" charset="0"/>
                <a:ea typeface="Calibri" pitchFamily="34" charset="-122"/>
                <a:cs typeface="Calibri" pitchFamily="34" charset="-120"/>
              </a:rPr>
              <a:t>PHASE 2   ·   MONTHS 5 TO 9</a:t>
            </a:r>
            <a:endParaRPr lang="en-US" sz="1050" dirty="0"/>
          </a:p>
        </p:txBody>
      </p:sp>
      <p:sp>
        <p:nvSpPr>
          <p:cNvPr id="17" name="T2"/>
          <p:cNvSpPr txBox="1"/>
          <p:nvPr/>
        </p:nvSpPr>
        <p:spPr>
          <a:xfrm>
            <a:off x="6400800" y="1755648"/>
            <a:ext cx="2331720" cy="411480"/>
          </a:xfrm>
          <a:prstGeom prst="rect">
            <a:avLst/>
          </a:prstGeom>
          <a:noFill/>
          <a:ln/>
        </p:spPr>
        <p:txBody>
          <a:bodyPr wrap="square" lIns="0" tIns="0" rIns="0" bIns="0" rtlCol="0" anchor="t"/>
          <a:lstStyle/>
          <a:p>
            <a:pPr algn="l" indent="0" marL="0">
              <a:buNone/>
            </a:pPr>
            <a:r>
              <a:rPr lang="en-US" sz="2000" dirty="0">
                <a:solidFill>
                  <a:srgbClr val="16211E"/>
                </a:solidFill>
                <a:latin typeface="Calibri" pitchFamily="34" charset="0"/>
                <a:ea typeface="Calibri" pitchFamily="34" charset="-122"/>
                <a:cs typeface="Calibri" pitchFamily="34" charset="-120"/>
              </a:rPr>
              <a:t>Scale.</a:t>
            </a:r>
            <a:endParaRPr lang="en-US" sz="2000" dirty="0"/>
          </a:p>
        </p:txBody>
      </p:sp>
      <p:sp>
        <p:nvSpPr>
          <p:cNvPr id="18" name="B2"/>
          <p:cNvSpPr txBox="1"/>
          <p:nvPr/>
        </p:nvSpPr>
        <p:spPr>
          <a:xfrm>
            <a:off x="6400800" y="2514600"/>
            <a:ext cx="2331720" cy="13716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More services, one at a time, ranked by Humana's own request history.</a:t>
            </a:r>
            <a:endParaRPr lang="en-US" sz="1300" dirty="0"/>
          </a:p>
        </p:txBody>
      </p:sp>
      <p:sp>
        <p:nvSpPr>
          <p:cNvPr id="19" name="W2"/>
          <p:cNvSpPr txBox="1"/>
          <p:nvPr/>
        </p:nvSpPr>
        <p:spPr>
          <a:xfrm>
            <a:off x="6400800" y="4069080"/>
            <a:ext cx="2331720" cy="274320"/>
          </a:xfrm>
          <a:prstGeom prst="rect">
            <a:avLst/>
          </a:prstGeom>
          <a:noFill/>
          <a:ln/>
        </p:spPr>
        <p:txBody>
          <a:bodyPr wrap="square" lIns="0" tIns="0" rIns="0" bIns="0" rtlCol="0" anchor="t"/>
          <a:lstStyle/>
          <a:p>
            <a:pPr algn="l" indent="0" marL="0">
              <a:buNone/>
            </a:pPr>
            <a:r>
              <a:rPr lang="en-US" sz="1100" b="1" dirty="0">
                <a:solidFill>
                  <a:srgbClr val="16211E"/>
                </a:solidFill>
                <a:latin typeface="Calibri" pitchFamily="34" charset="0"/>
                <a:ea typeface="Calibri" pitchFamily="34" charset="-122"/>
                <a:cs typeface="Calibri" pitchFamily="34" charset="-120"/>
              </a:rPr>
              <a:t>FOR   The plan</a:t>
            </a:r>
            <a:endParaRPr lang="en-US" sz="1100" dirty="0"/>
          </a:p>
        </p:txBody>
      </p:sp>
      <p:sp>
        <p:nvSpPr>
          <p:cNvPr id="20" name="G2"/>
          <p:cNvSpPr/>
          <p:nvPr/>
        </p:nvSpPr>
        <p:spPr>
          <a:xfrm>
            <a:off x="6355080" y="4434840"/>
            <a:ext cx="2423160" cy="594360"/>
          </a:xfrm>
          <a:prstGeom prst="roundRect">
            <a:avLst>
              <a:gd name="adj" fmla="val 9231"/>
            </a:avLst>
          </a:prstGeom>
          <a:solidFill>
            <a:srgbClr val="EBE2F8"/>
          </a:solidFill>
          <a:ln w="12700">
            <a:solidFill>
              <a:srgbClr val="5F3AA8"/>
            </a:solidFill>
          </a:ln>
        </p:spPr>
        <p:txBody>
          <a:bodyPr wrap="square" lIns="109728" tIns="27432" rIns="109728" bIns="27432" rtlCol="0" anchor="ctr"/>
          <a:lstStyle/>
          <a:p>
            <a:pPr algn="l" indent="0" marL="0">
              <a:buNone/>
            </a:pPr>
            <a:r>
              <a:rPr lang="en-US" sz="950" b="1" spc="150" kern="0" dirty="0">
                <a:solidFill>
                  <a:srgbClr val="5F3AA8"/>
                </a:solidFill>
                <a:latin typeface="Calibri" pitchFamily="34" charset="0"/>
                <a:ea typeface="Calibri" pitchFamily="34" charset="-122"/>
                <a:cs typeface="Calibri" pitchFamily="34" charset="-120"/>
              </a:rPr>
              <a:t>GATE   </a:t>
            </a:r>
            <a:pPr algn="l" indent="0" marL="0">
              <a:buNone/>
            </a:pPr>
            <a:r>
              <a:rPr lang="en-US" sz="1100" dirty="0">
                <a:solidFill>
                  <a:srgbClr val="16211E"/>
                </a:solidFill>
                <a:latin typeface="Calibri" pitchFamily="34" charset="0"/>
                <a:ea typeface="Calibri" pitchFamily="34" charset="-122"/>
                <a:cs typeface="Calibri" pitchFamily="34" charset="-120"/>
              </a:rPr>
              <a:t>Evals on real cases for each new service.</a:t>
            </a:r>
            <a:endParaRPr lang="en-US" sz="950" dirty="0"/>
          </a:p>
        </p:txBody>
      </p:sp>
      <p:sp>
        <p:nvSpPr>
          <p:cNvPr id="21" name="Ph3"/>
          <p:cNvSpPr/>
          <p:nvPr/>
        </p:nvSpPr>
        <p:spPr>
          <a:xfrm>
            <a:off x="9235440" y="1325880"/>
            <a:ext cx="2496312" cy="3840480"/>
          </a:xfrm>
          <a:prstGeom prst="roundRect">
            <a:avLst>
              <a:gd name="adj" fmla="val 3663"/>
            </a:avLst>
          </a:prstGeom>
          <a:ln w="15875">
            <a:solidFill>
              <a:srgbClr val="8A5A00"/>
            </a:solidFill>
            <a:prstDash val="dash"/>
          </a:ln>
        </p:spPr>
      </p:sp>
      <p:sp>
        <p:nvSpPr>
          <p:cNvPr id="22" name="H3"/>
          <p:cNvSpPr txBox="1"/>
          <p:nvPr/>
        </p:nvSpPr>
        <p:spPr>
          <a:xfrm>
            <a:off x="9464040" y="1481328"/>
            <a:ext cx="2039112" cy="228600"/>
          </a:xfrm>
          <a:prstGeom prst="rect">
            <a:avLst/>
          </a:prstGeom>
          <a:noFill/>
          <a:ln/>
        </p:spPr>
        <p:txBody>
          <a:bodyPr wrap="square" lIns="0" tIns="0" rIns="0" bIns="0" rtlCol="0" anchor="t"/>
          <a:lstStyle/>
          <a:p>
            <a:pPr algn="l" indent="0" marL="0">
              <a:buNone/>
            </a:pPr>
            <a:r>
              <a:rPr lang="en-US" sz="1050" b="1" dirty="0">
                <a:solidFill>
                  <a:srgbClr val="8A5A00"/>
                </a:solidFill>
                <a:latin typeface="Calibri" pitchFamily="34" charset="0"/>
                <a:ea typeface="Calibri" pitchFamily="34" charset="-122"/>
                <a:cs typeface="Calibri" pitchFamily="34" charset="-120"/>
              </a:rPr>
              <a:t>PHASE 3   ·   MONTHS 10 TO 12</a:t>
            </a:r>
            <a:endParaRPr lang="en-US" sz="1050" dirty="0"/>
          </a:p>
        </p:txBody>
      </p:sp>
      <p:sp>
        <p:nvSpPr>
          <p:cNvPr id="23" name="T3"/>
          <p:cNvSpPr txBox="1"/>
          <p:nvPr/>
        </p:nvSpPr>
        <p:spPr>
          <a:xfrm>
            <a:off x="9464040" y="1755648"/>
            <a:ext cx="2039112" cy="411480"/>
          </a:xfrm>
          <a:prstGeom prst="rect">
            <a:avLst/>
          </a:prstGeom>
          <a:noFill/>
          <a:ln/>
        </p:spPr>
        <p:txBody>
          <a:bodyPr wrap="square" lIns="0" tIns="0" rIns="0" bIns="0" rtlCol="0" anchor="t"/>
          <a:lstStyle/>
          <a:p>
            <a:pPr algn="l" indent="0" marL="0">
              <a:buNone/>
            </a:pPr>
            <a:r>
              <a:rPr lang="en-US" sz="2000" dirty="0">
                <a:solidFill>
                  <a:srgbClr val="16211E"/>
                </a:solidFill>
                <a:latin typeface="Calibri" pitchFamily="34" charset="0"/>
                <a:ea typeface="Calibri" pitchFamily="34" charset="-122"/>
                <a:cs typeface="Calibri" pitchFamily="34" charset="-120"/>
              </a:rPr>
              <a:t>Member status.</a:t>
            </a:r>
            <a:endParaRPr lang="en-US" sz="2000" dirty="0"/>
          </a:p>
        </p:txBody>
      </p:sp>
      <p:sp>
        <p:nvSpPr>
          <p:cNvPr id="24" name="B3"/>
          <p:cNvSpPr txBox="1"/>
          <p:nvPr/>
        </p:nvSpPr>
        <p:spPr>
          <a:xfrm>
            <a:off x="9464040" y="2514600"/>
            <a:ext cx="2039112" cy="13716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The member sees where a request stands. It reads the trusted record.</a:t>
            </a:r>
            <a:endParaRPr lang="en-US" sz="1300" dirty="0"/>
          </a:p>
        </p:txBody>
      </p:sp>
      <p:sp>
        <p:nvSpPr>
          <p:cNvPr id="25" name="W3"/>
          <p:cNvSpPr txBox="1"/>
          <p:nvPr/>
        </p:nvSpPr>
        <p:spPr>
          <a:xfrm>
            <a:off x="9464040" y="4069080"/>
            <a:ext cx="2039112" cy="274320"/>
          </a:xfrm>
          <a:prstGeom prst="rect">
            <a:avLst/>
          </a:prstGeom>
          <a:noFill/>
          <a:ln/>
        </p:spPr>
        <p:txBody>
          <a:bodyPr wrap="square" lIns="0" tIns="0" rIns="0" bIns="0" rtlCol="0" anchor="t"/>
          <a:lstStyle/>
          <a:p>
            <a:pPr algn="l" indent="0" marL="0">
              <a:buNone/>
            </a:pPr>
            <a:r>
              <a:rPr lang="en-US" sz="1100" b="1" dirty="0">
                <a:solidFill>
                  <a:srgbClr val="16211E"/>
                </a:solidFill>
                <a:latin typeface="Calibri" pitchFamily="34" charset="0"/>
                <a:ea typeface="Calibri" pitchFamily="34" charset="-122"/>
                <a:cs typeface="Calibri" pitchFamily="34" charset="-120"/>
              </a:rPr>
              <a:t>FOR   The member</a:t>
            </a:r>
            <a:endParaRPr lang="en-US" sz="1100" dirty="0"/>
          </a:p>
        </p:txBody>
      </p:sp>
      <p:sp>
        <p:nvSpPr>
          <p:cNvPr id="26" name="G3"/>
          <p:cNvSpPr/>
          <p:nvPr/>
        </p:nvSpPr>
        <p:spPr>
          <a:xfrm>
            <a:off x="9418320" y="4434840"/>
            <a:ext cx="2130552" cy="594360"/>
          </a:xfrm>
          <a:prstGeom prst="roundRect">
            <a:avLst>
              <a:gd name="adj" fmla="val 9231"/>
            </a:avLst>
          </a:prstGeom>
          <a:solidFill>
            <a:srgbClr val="FCEFD0"/>
          </a:solidFill>
          <a:ln w="12700">
            <a:solidFill>
              <a:srgbClr val="8A5A00"/>
            </a:solidFill>
          </a:ln>
        </p:spPr>
        <p:txBody>
          <a:bodyPr wrap="square" lIns="109728" tIns="27432" rIns="109728" bIns="27432" rtlCol="0" anchor="ctr"/>
          <a:lstStyle/>
          <a:p>
            <a:pPr algn="l" indent="0" marL="0">
              <a:buNone/>
            </a:pPr>
            <a:r>
              <a:rPr lang="en-US" sz="950" b="1" spc="150" kern="0" dirty="0">
                <a:solidFill>
                  <a:srgbClr val="8A5A00"/>
                </a:solidFill>
                <a:latin typeface="Calibri" pitchFamily="34" charset="0"/>
                <a:ea typeface="Calibri" pitchFamily="34" charset="-122"/>
                <a:cs typeface="Calibri" pitchFamily="34" charset="-120"/>
              </a:rPr>
              <a:t>GATE   </a:t>
            </a:r>
            <a:pPr algn="l" indent="0" marL="0">
              <a:buNone/>
            </a:pPr>
            <a:r>
              <a:rPr lang="en-US" sz="1100" dirty="0">
                <a:solidFill>
                  <a:srgbClr val="16211E"/>
                </a:solidFill>
                <a:latin typeface="Calibri" pitchFamily="34" charset="0"/>
                <a:ea typeface="Calibri" pitchFamily="34" charset="-122"/>
                <a:cs typeface="Calibri" pitchFamily="34" charset="-120"/>
              </a:rPr>
              <a:t>A compliance review.</a:t>
            </a:r>
            <a:endParaRPr lang="en-US" sz="950" dirty="0"/>
          </a:p>
        </p:txBody>
      </p:sp>
      <p:sp>
        <p:nvSpPr>
          <p:cNvPr id="27" name="pA"/>
          <p:cNvSpPr/>
          <p:nvPr/>
        </p:nvSpPr>
        <p:spPr>
          <a:xfrm>
            <a:off x="5916168" y="3200400"/>
            <a:ext cx="237744" cy="0"/>
          </a:xfrm>
          <a:prstGeom prst="line">
            <a:avLst/>
          </a:prstGeom>
          <a:noFill/>
          <a:ln w="19050">
            <a:solidFill>
              <a:srgbClr val="16211E"/>
            </a:solidFill>
            <a:prstDash val="solid"/>
            <a:tailEnd type="triangle"/>
          </a:ln>
        </p:spPr>
      </p:sp>
      <p:sp>
        <p:nvSpPr>
          <p:cNvPr id="28" name="pB"/>
          <p:cNvSpPr/>
          <p:nvPr/>
        </p:nvSpPr>
        <p:spPr>
          <a:xfrm>
            <a:off x="8979408" y="3200400"/>
            <a:ext cx="237744" cy="0"/>
          </a:xfrm>
          <a:prstGeom prst="line">
            <a:avLst/>
          </a:prstGeom>
          <a:noFill/>
          <a:ln w="19050">
            <a:solidFill>
              <a:srgbClr val="16211E"/>
            </a:solidFill>
            <a:prstDash val="solid"/>
            <a:tailEnd type="triangle"/>
          </a:ln>
        </p:spPr>
      </p:sp>
      <p:sp>
        <p:nvSpPr>
          <p:cNvPr id="29" name="Band"/>
          <p:cNvSpPr/>
          <p:nvPr/>
        </p:nvSpPr>
        <p:spPr>
          <a:xfrm>
            <a:off x="457200" y="5376672"/>
            <a:ext cx="11274552" cy="457200"/>
          </a:xfrm>
          <a:prstGeom prst="roundRect">
            <a:avLst>
              <a:gd name="adj" fmla="val 16000"/>
            </a:avLst>
          </a:prstGeom>
          <a:solidFill>
            <a:srgbClr val="1F6F5C"/>
          </a:solidFill>
          <a:ln w="12700">
            <a:solidFill>
              <a:srgbClr val="1F6F5C"/>
            </a:solidFill>
          </a:ln>
        </p:spPr>
        <p:txBody>
          <a:bodyPr wrap="square" lIns="137160" tIns="18288" rIns="137160" bIns="1828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person decides in every phase. The AI never denies.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roadmap</dc:title>
  <dc:subject>PptxGenJS Presentation</dc:subject>
  <dc:creator>Nisha Mishra</dc:creator>
  <cp:lastModifiedBy>Nisha Mishra</cp:lastModifiedBy>
  <cp:revision>1</cp:revision>
  <dcterms:created xsi:type="dcterms:W3CDTF">2026-10-06T03:29:39Z</dcterms:created>
  <dcterms:modified xsi:type="dcterms:W3CDTF">2026-10-06T03:29:39Z</dcterms:modified>
</cp:coreProperties>
</file>