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slide said fast is not the same as right. So what do we get if we get it right? I like to answer that two ways: value to the business, and value to the customer.
For Humana, three things. First, the work is growing. Humana added about a million members in one month, roughly twenty percent more. Each member makes about two prior authorization requests a year, so that is roughly twenty percent more requests. Nurses do not grow twenty percent in a month. Second, everything is public now. Results are posted every year and compared by name, so right the first time becomes a number anyone can check. Third, revenue. If Humana looks like the industry, about nine percent of members leave each year. That is about eight billion dollars of premium in play. Winning back just one in ninety of those leavers is about ninety million dollars. I want to be honest here: I do not know how much of that leaving comes from prior authorization. So this is the size of the prize, and a pilot is how we would measure it.
For the member and the provider, three things. Care starts on time, because a right first decision means no wait for a second look. Ninety-three percent of physicians say prior authorization can delay care. If something is missing, the provider gets one specific question, not a fax loop. And every recommendation shows the page behind it. Next, in phase two, members see where their request stands.
Both sides want the same thing: right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36576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VALUE</a:t>
            </a:r>
            <a:endParaRPr lang="en-US" sz="1100" dirty="0"/>
          </a:p>
        </p:txBody>
      </p:sp>
      <p:sp>
        <p:nvSpPr>
          <p:cNvPr id="3" name="title"/>
          <p:cNvSpPr txBox="1"/>
          <p:nvPr/>
        </p:nvSpPr>
        <p:spPr>
          <a:xfrm>
            <a:off x="457200" y="502920"/>
            <a:ext cx="841248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Right the first time pays off on both sides.</a:t>
            </a:r>
            <a:endParaRPr lang="en-US" sz="2600" dirty="0"/>
          </a:p>
        </p:txBody>
      </p:sp>
      <p:sp>
        <p:nvSpPr>
          <p:cNvPr id="4" name="sub"/>
          <p:cNvSpPr txBox="1"/>
          <p:nvPr/>
        </p:nvSpPr>
        <p:spPr>
          <a:xfrm>
            <a:off x="7589520" y="502920"/>
            <a:ext cx="4142232" cy="685800"/>
          </a:xfrm>
          <a:prstGeom prst="rect">
            <a:avLst/>
          </a:prstGeom>
          <a:noFill/>
          <a:ln/>
        </p:spPr>
        <p:txBody>
          <a:bodyPr wrap="square" lIns="0" tIns="0" rIns="0" bIns="0" rtlCol="0" anchor="ctr"/>
          <a:lstStyle/>
          <a:p>
            <a:pPr algn="r" indent="0" marL="0">
              <a:buNone/>
            </a:pPr>
            <a:r>
              <a:rPr lang="en-US" sz="1300" dirty="0">
                <a:solidFill>
                  <a:srgbClr val="5C6B66"/>
                </a:solidFill>
                <a:latin typeface="Calibri" pitchFamily="34" charset="0"/>
                <a:ea typeface="Calibri" pitchFamily="34" charset="-122"/>
                <a:cs typeface="Calibri" pitchFamily="34" charset="-120"/>
              </a:rPr>
              <a:t>What solving this gets us</a:t>
            </a:r>
            <a:endParaRPr lang="en-US" sz="1300" dirty="0"/>
          </a:p>
        </p:txBody>
      </p:sp>
      <p:sp>
        <p:nvSpPr>
          <p:cNvPr id="5" name="footer"/>
          <p:cNvSpPr txBox="1"/>
          <p:nvPr/>
        </p:nvSpPr>
        <p:spPr>
          <a:xfrm>
            <a:off x="457200" y="653796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Sources: Humana Q4 2025 financial tables (SEC). KFF. AMA 2025 survey. CMS-0057-F. Revenue figures are the size of the prize, not a forecast.</a:t>
            </a:r>
            <a:endParaRPr lang="en-US" sz="900" dirty="0"/>
          </a:p>
        </p:txBody>
      </p:sp>
      <p:sp>
        <p:nvSpPr>
          <p:cNvPr id="6" name="PanelB"/>
          <p:cNvSpPr/>
          <p:nvPr/>
        </p:nvSpPr>
        <p:spPr>
          <a:xfrm>
            <a:off x="457200" y="1371600"/>
            <a:ext cx="5559552" cy="4572000"/>
          </a:xfrm>
          <a:prstGeom prst="roundRect">
            <a:avLst>
              <a:gd name="adj" fmla="val 2000"/>
            </a:avLst>
          </a:prstGeom>
          <a:solidFill>
            <a:srgbClr val="E3F0EB"/>
          </a:solidFill>
          <a:ln w="15875">
            <a:solidFill>
              <a:srgbClr val="1F6F5C"/>
            </a:solidFill>
          </a:ln>
        </p:spPr>
        <p:txBody>
          <a:bodyPr wrap="square" lIns="109728" tIns="54864" rIns="109728" bIns="54864" rtlCol="0" anchor="ctr"/>
          <a:lstStyle/>
          <a:p>
            <a:pPr algn="l" indent="0" marL="0">
              <a:buNone/>
            </a:pPr>
            <a:r>
              <a:rPr lang="en-US" sz="800" dirty="0">
                <a:solidFill>
                  <a:srgbClr val="000000"/>
                </a:solidFill>
              </a:rPr>
              <a:t> </a:t>
            </a:r>
            <a:endParaRPr lang="en-US" sz="800" dirty="0"/>
          </a:p>
        </p:txBody>
      </p:sp>
      <p:sp>
        <p:nvSpPr>
          <p:cNvPr id="7" name="PanelBH"/>
          <p:cNvSpPr txBox="1"/>
          <p:nvPr/>
        </p:nvSpPr>
        <p:spPr>
          <a:xfrm>
            <a:off x="640080" y="1444752"/>
            <a:ext cx="5193792" cy="292608"/>
          </a:xfrm>
          <a:prstGeom prst="rect">
            <a:avLst/>
          </a:prstGeom>
          <a:noFill/>
          <a:ln/>
        </p:spPr>
        <p:txBody>
          <a:bodyPr wrap="square" lIns="0" tIns="0" rIns="0" bIns="0" rtlCol="0" anchor="ctr"/>
          <a:lstStyle/>
          <a:p>
            <a:pPr algn="l" indent="0" marL="0">
              <a:buNone/>
            </a:pPr>
            <a:r>
              <a:rPr lang="en-US" sz="1200" b="1" spc="200" kern="0" dirty="0">
                <a:solidFill>
                  <a:srgbClr val="1F6F5C"/>
                </a:solidFill>
                <a:latin typeface="Calibri" pitchFamily="34" charset="0"/>
                <a:ea typeface="Calibri" pitchFamily="34" charset="-122"/>
                <a:cs typeface="Calibri" pitchFamily="34" charset="-120"/>
              </a:rPr>
              <a:t>VALUE TO HUMANA</a:t>
            </a:r>
            <a:endParaRPr lang="en-US" sz="1200" dirty="0"/>
          </a:p>
        </p:txBody>
      </p:sp>
      <p:sp>
        <p:nvSpPr>
          <p:cNvPr id="8" name="B1"/>
          <p:cNvSpPr/>
          <p:nvPr/>
        </p:nvSpPr>
        <p:spPr>
          <a:xfrm>
            <a:off x="603504" y="1828800"/>
            <a:ext cx="5266944" cy="1280160"/>
          </a:xfrm>
          <a:prstGeom prst="roundRect">
            <a:avLst>
              <a:gd name="adj" fmla="val 5714"/>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1F6F5C"/>
                </a:solidFill>
                <a:latin typeface="Cambria" pitchFamily="34" charset="0"/>
                <a:ea typeface="Cambria" pitchFamily="34" charset="-122"/>
                <a:cs typeface="Cambria" pitchFamily="34" charset="-120"/>
              </a:rPr>
              <a:t>+20%</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more members in one month, so about 20% more requests to read.</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Humana, January 2026 against the end of 2025. Nurses do not grow that fast.</a:t>
            </a:r>
            <a:endParaRPr lang="en-US" sz="2200" dirty="0"/>
          </a:p>
        </p:txBody>
      </p:sp>
      <p:sp>
        <p:nvSpPr>
          <p:cNvPr id="9" name="B2"/>
          <p:cNvSpPr/>
          <p:nvPr/>
        </p:nvSpPr>
        <p:spPr>
          <a:xfrm>
            <a:off x="603504" y="3200400"/>
            <a:ext cx="5266944" cy="1280160"/>
          </a:xfrm>
          <a:prstGeom prst="roundRect">
            <a:avLst>
              <a:gd name="adj" fmla="val 5714"/>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1F6F5C"/>
                </a:solidFill>
                <a:latin typeface="Cambria" pitchFamily="34" charset="0"/>
                <a:ea typeface="Cambria" pitchFamily="34" charset="-122"/>
                <a:cs typeface="Cambria" pitchFamily="34" charset="-120"/>
              </a:rPr>
              <a:t>Public</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Prior authorization results are posted every year and compared by name.</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Right the first time becomes a number anyone can check.</a:t>
            </a:r>
            <a:endParaRPr lang="en-US" sz="2200" dirty="0"/>
          </a:p>
        </p:txBody>
      </p:sp>
      <p:sp>
        <p:nvSpPr>
          <p:cNvPr id="10" name="B3"/>
          <p:cNvSpPr/>
          <p:nvPr/>
        </p:nvSpPr>
        <p:spPr>
          <a:xfrm>
            <a:off x="603504" y="4572000"/>
            <a:ext cx="5266944" cy="1280160"/>
          </a:xfrm>
          <a:prstGeom prst="roundRect">
            <a:avLst>
              <a:gd name="adj" fmla="val 5714"/>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1F6F5C"/>
                </a:solidFill>
                <a:latin typeface="Cambria" pitchFamily="34" charset="0"/>
                <a:ea typeface="Cambria" pitchFamily="34" charset="-122"/>
                <a:cs typeface="Cambria" pitchFamily="34" charset="-120"/>
              </a:rPr>
              <a:t>$8 billion</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of yearly premium is in play as members choose to stay or leave.</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If Humana looks like the industry: 9% leave each year. Winning back 1 in 90 is about $90 million. A pilot would measure the link.</a:t>
            </a:r>
            <a:endParaRPr lang="en-US" sz="2200" dirty="0"/>
          </a:p>
        </p:txBody>
      </p:sp>
      <p:sp>
        <p:nvSpPr>
          <p:cNvPr id="11" name="PanelC"/>
          <p:cNvSpPr/>
          <p:nvPr/>
        </p:nvSpPr>
        <p:spPr>
          <a:xfrm>
            <a:off x="6172200" y="1371600"/>
            <a:ext cx="5559552" cy="4572000"/>
          </a:xfrm>
          <a:prstGeom prst="roundRect">
            <a:avLst>
              <a:gd name="adj" fmla="val 2000"/>
            </a:avLst>
          </a:prstGeom>
          <a:solidFill>
            <a:srgbClr val="EBE2F8"/>
          </a:solidFill>
          <a:ln w="15875">
            <a:solidFill>
              <a:srgbClr val="5F3AA8"/>
            </a:solidFill>
          </a:ln>
        </p:spPr>
        <p:txBody>
          <a:bodyPr wrap="square" lIns="109728" tIns="54864" rIns="109728" bIns="54864" rtlCol="0" anchor="ctr"/>
          <a:lstStyle/>
          <a:p>
            <a:pPr algn="l" indent="0" marL="0">
              <a:buNone/>
            </a:pPr>
            <a:r>
              <a:rPr lang="en-US" sz="800" dirty="0">
                <a:solidFill>
                  <a:srgbClr val="000000"/>
                </a:solidFill>
              </a:rPr>
              <a:t> </a:t>
            </a:r>
            <a:endParaRPr lang="en-US" sz="800" dirty="0"/>
          </a:p>
        </p:txBody>
      </p:sp>
      <p:sp>
        <p:nvSpPr>
          <p:cNvPr id="12" name="PanelCH"/>
          <p:cNvSpPr txBox="1"/>
          <p:nvPr/>
        </p:nvSpPr>
        <p:spPr>
          <a:xfrm>
            <a:off x="6355080" y="1444752"/>
            <a:ext cx="5193792" cy="292608"/>
          </a:xfrm>
          <a:prstGeom prst="rect">
            <a:avLst/>
          </a:prstGeom>
          <a:noFill/>
          <a:ln/>
        </p:spPr>
        <p:txBody>
          <a:bodyPr wrap="square" lIns="0" tIns="0" rIns="0" bIns="0" rtlCol="0" anchor="ctr"/>
          <a:lstStyle/>
          <a:p>
            <a:pPr algn="l" indent="0" marL="0">
              <a:buNone/>
            </a:pPr>
            <a:r>
              <a:rPr lang="en-US" sz="1200" b="1" spc="200" kern="0" dirty="0">
                <a:solidFill>
                  <a:srgbClr val="5F3AA8"/>
                </a:solidFill>
                <a:latin typeface="Calibri" pitchFamily="34" charset="0"/>
                <a:ea typeface="Calibri" pitchFamily="34" charset="-122"/>
                <a:cs typeface="Calibri" pitchFamily="34" charset="-120"/>
              </a:rPr>
              <a:t>VALUE TO THE MEMBER AND THE PROVIDER</a:t>
            </a:r>
            <a:endParaRPr lang="en-US" sz="1200" dirty="0"/>
          </a:p>
        </p:txBody>
      </p:sp>
      <p:sp>
        <p:nvSpPr>
          <p:cNvPr id="13" name="C1"/>
          <p:cNvSpPr/>
          <p:nvPr/>
        </p:nvSpPr>
        <p:spPr>
          <a:xfrm>
            <a:off x="6318504" y="1828800"/>
            <a:ext cx="5266944" cy="1280160"/>
          </a:xfrm>
          <a:prstGeom prst="roundRect">
            <a:avLst>
              <a:gd name="adj" fmla="val 5714"/>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5F3AA8"/>
                </a:solidFill>
                <a:latin typeface="Cambria" pitchFamily="34" charset="0"/>
                <a:ea typeface="Cambria" pitchFamily="34" charset="-122"/>
                <a:cs typeface="Cambria" pitchFamily="34" charset="-120"/>
              </a:rPr>
              <a:t>Care on time</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A right first decision means no wait for a second look.</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93% of physicians say prior authorization can delay care (AMA).</a:t>
            </a:r>
            <a:endParaRPr lang="en-US" sz="2200" dirty="0"/>
          </a:p>
        </p:txBody>
      </p:sp>
      <p:sp>
        <p:nvSpPr>
          <p:cNvPr id="14" name="C2"/>
          <p:cNvSpPr/>
          <p:nvPr/>
        </p:nvSpPr>
        <p:spPr>
          <a:xfrm>
            <a:off x="6318504" y="3200400"/>
            <a:ext cx="5266944" cy="1280160"/>
          </a:xfrm>
          <a:prstGeom prst="roundRect">
            <a:avLst>
              <a:gd name="adj" fmla="val 5714"/>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5F3AA8"/>
                </a:solidFill>
                <a:latin typeface="Cambria" pitchFamily="34" charset="0"/>
                <a:ea typeface="Cambria" pitchFamily="34" charset="-122"/>
                <a:cs typeface="Cambria" pitchFamily="34" charset="-120"/>
              </a:rPr>
              <a:t>One clear ask</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If something is missing, the provider gets one specific question, not a fax loop.</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Fewer rounds for the provider, and a shorter wait for the member.</a:t>
            </a:r>
            <a:endParaRPr lang="en-US" sz="2200" dirty="0"/>
          </a:p>
        </p:txBody>
      </p:sp>
      <p:sp>
        <p:nvSpPr>
          <p:cNvPr id="15" name="C3"/>
          <p:cNvSpPr/>
          <p:nvPr/>
        </p:nvSpPr>
        <p:spPr>
          <a:xfrm>
            <a:off x="6318504" y="4572000"/>
            <a:ext cx="5266944" cy="1280160"/>
          </a:xfrm>
          <a:prstGeom prst="roundRect">
            <a:avLst>
              <a:gd name="adj" fmla="val 5714"/>
            </a:avLst>
          </a:prstGeom>
          <a:solidFill>
            <a:srgbClr val="FFFFFF"/>
          </a:solidFill>
          <a:ln w="12700">
            <a:solidFill>
              <a:srgbClr val="CBD5D1"/>
            </a:solidFill>
          </a:ln>
        </p:spPr>
        <p:txBody>
          <a:bodyPr wrap="square" lIns="164592" tIns="91440" rIns="164592" bIns="73152" rtlCol="0" anchor="ctr"/>
          <a:lstStyle/>
          <a:p>
            <a:pPr algn="l" indent="0" marL="0">
              <a:buNone/>
            </a:pPr>
            <a:r>
              <a:rPr lang="en-US" sz="2200" dirty="0">
                <a:solidFill>
                  <a:srgbClr val="5F3AA8"/>
                </a:solidFill>
                <a:latin typeface="Cambria" pitchFamily="34" charset="0"/>
                <a:ea typeface="Cambria" pitchFamily="34" charset="-122"/>
                <a:cs typeface="Cambria" pitchFamily="34" charset="-120"/>
              </a:rPr>
              <a:t>A reason you can see</a:t>
            </a:r>
            <a:endParaRPr lang="en-US" sz="2200" dirty="0"/>
          </a:p>
          <a:p>
            <a:pPr algn="l" indent="0" marL="0">
              <a:spcAft>
                <a:spcPts val="300"/>
              </a:spcAft>
              <a:buNone/>
            </a:pPr>
            <a:r>
              <a:rPr lang="en-US" sz="1200" b="1" dirty="0">
                <a:solidFill>
                  <a:srgbClr val="16211E"/>
                </a:solidFill>
                <a:latin typeface="Calibri" pitchFamily="34" charset="0"/>
                <a:ea typeface="Calibri" pitchFamily="34" charset="-122"/>
                <a:cs typeface="Calibri" pitchFamily="34" charset="-120"/>
              </a:rPr>
              <a:t>Every recommendation shows the page behind it.</a:t>
            </a:r>
            <a:endParaRPr lang="en-US" sz="2200" dirty="0"/>
          </a:p>
          <a:p>
            <a:pPr algn="l" indent="0" marL="0">
              <a:buNone/>
            </a:pPr>
            <a:r>
              <a:rPr lang="en-US" sz="1000" dirty="0">
                <a:solidFill>
                  <a:srgbClr val="5C6B66"/>
                </a:solidFill>
                <a:latin typeface="Calibri" pitchFamily="34" charset="0"/>
                <a:ea typeface="Calibri" pitchFamily="34" charset="-122"/>
                <a:cs typeface="Calibri" pitchFamily="34" charset="-120"/>
              </a:rPr>
              <a:t>Next, members see where their request stands. That is phase 2 (CMS rule, January 2027).</a:t>
            </a:r>
            <a:endParaRPr lang="en-US" sz="2200" dirty="0"/>
          </a:p>
        </p:txBody>
      </p:sp>
      <p:sp>
        <p:nvSpPr>
          <p:cNvPr id="16" name="Point"/>
          <p:cNvSpPr/>
          <p:nvPr/>
        </p:nvSpPr>
        <p:spPr>
          <a:xfrm>
            <a:off x="457200" y="6035040"/>
            <a:ext cx="11274552" cy="457200"/>
          </a:xfrm>
          <a:prstGeom prst="roundRect">
            <a:avLst>
              <a:gd name="adj" fmla="val 16000"/>
            </a:avLst>
          </a:prstGeom>
          <a:solidFill>
            <a:srgbClr val="1F6F5C"/>
          </a:solidFill>
          <a:ln w="12700">
            <a:solidFill>
              <a:srgbClr val="1F6F5C"/>
            </a:solidFill>
          </a:ln>
        </p:spPr>
        <p:txBody>
          <a:bodyPr wrap="square" lIns="182880" tIns="36576" rIns="182880" bIns="36576"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Same goal on both sides: right the first time.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value</dc:title>
  <dc:subject>PptxGenJS Presentation</dc:subject>
  <dc:creator>Nisha Mishra</dc:creator>
  <cp:lastModifiedBy>Nisha Mishra</cp:lastModifiedBy>
  <cp:revision>1</cp:revision>
  <dcterms:created xsi:type="dcterms:W3CDTF">2026-10-04T03:33:01Z</dcterms:created>
  <dcterms:modified xsi:type="dcterms:W3CDTF">2026-10-04T03:33:01Z</dcterms:modified>
</cp:coreProperties>
</file>