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slide said fast is not the same as right. So what do we get if we get it right? I like to answer that two ways: value to the business, and value to the customer.
For Humana, three things. First, the work is growing. About a million members joined Humana in January, roughly twenty percent more, all at once. KFF found Humana averages about 2.2 prior authorization requests per member per year. That is an average, so most members make none and some make many. If the new members look like the current ones, a million new members is about 2.3 million more requests over the year, about 190,000 more every month, and a nurse reads every one individually. Hiring and training cannot match a twenty percent jump that arrived in January. Second, everything is public now. Results are posted every year and compared by name, so right the first time becomes a number anyone can check. Third, revenue. If Humana looks like the industry, about nine percent of members leave each year. That is about eight billion dollars of premium in play. Winning back just one in ninety of those leavers is about ninety million dollars. I want to be honest here: I do not know how much of that leaving comes from prior authorization. So this is the size of the prize, and a pilot is how we would measure it.
For the member and the provider, three things. Care starts on time, because a right first decision means no wait for a second look. Ninety-three percent of physicians say prior authorization can delay care. If something is missing, the provider gets one specific question, not a fax loop. And every recommendation shows the page behind it. Next, in phase two, members see where their request stands.
Both sides want the same thing: right the first time. And here is why this is not about denying more. Medicare pays Humana a fixed amount per member, and at least eighty-five percent has to go to care. So the room to save is in admin work, like re-reading and rework. It is not in paying for less care. (If asked: how utilization costs are classified under that rule varies, so I would not quote a dollar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VALUE</a:t>
            </a:r>
            <a:endParaRPr lang="en-US" sz="1100" dirty="0"/>
          </a:p>
        </p:txBody>
      </p:sp>
      <p:sp>
        <p:nvSpPr>
          <p:cNvPr id="3" name="title"/>
          <p:cNvSpPr txBox="1"/>
          <p:nvPr/>
        </p:nvSpPr>
        <p:spPr>
          <a:xfrm>
            <a:off x="457200" y="502920"/>
            <a:ext cx="841248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Right the first time pays off on both sides.</a:t>
            </a:r>
            <a:endParaRPr lang="en-US" sz="2600" dirty="0"/>
          </a:p>
        </p:txBody>
      </p:sp>
      <p:sp>
        <p:nvSpPr>
          <p:cNvPr id="4" name="sub"/>
          <p:cNvSpPr txBox="1"/>
          <p:nvPr/>
        </p:nvSpPr>
        <p:spPr>
          <a:xfrm>
            <a:off x="7589520" y="502920"/>
            <a:ext cx="4142232" cy="685800"/>
          </a:xfrm>
          <a:prstGeom prst="rect">
            <a:avLst/>
          </a:prstGeom>
          <a:noFill/>
          <a:ln/>
        </p:spPr>
        <p:txBody>
          <a:bodyPr wrap="square" lIns="0" tIns="0" rIns="0" bIns="0" rtlCol="0" anchor="ctr"/>
          <a:lstStyle/>
          <a:p>
            <a:pPr algn="r" indent="0" marL="0">
              <a:buNone/>
            </a:pPr>
            <a:r>
              <a:rPr lang="en-US" sz="1300" dirty="0">
                <a:solidFill>
                  <a:srgbClr val="5C6B66"/>
                </a:solidFill>
                <a:latin typeface="Calibri" pitchFamily="34" charset="0"/>
                <a:ea typeface="Calibri" pitchFamily="34" charset="-122"/>
                <a:cs typeface="Calibri" pitchFamily="34" charset="-120"/>
              </a:rPr>
              <a:t>What solving this gets us</a:t>
            </a:r>
            <a:endParaRPr lang="en-US" sz="1300" dirty="0"/>
          </a:p>
        </p:txBody>
      </p:sp>
      <p:sp>
        <p:nvSpPr>
          <p:cNvPr id="5" name="footer"/>
          <p:cNvSpPr txBox="1"/>
          <p:nvPr/>
        </p:nvSpPr>
        <p:spPr>
          <a:xfrm>
            <a:off x="457200" y="6601968"/>
            <a:ext cx="11274552" cy="201168"/>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Sources: Humana Q4 2025 financial tables (SEC). KFF. AMA 2025 survey. CMS-0057-F. 42 CFR 422.2410 (85% minimum medical loss ratio). Revenue figures are the size of the prize, not a forecast.</a:t>
            </a:r>
            <a:endParaRPr lang="en-US" sz="900" dirty="0"/>
          </a:p>
        </p:txBody>
      </p:sp>
      <p:sp>
        <p:nvSpPr>
          <p:cNvPr id="6" name="PanelB"/>
          <p:cNvSpPr/>
          <p:nvPr/>
        </p:nvSpPr>
        <p:spPr>
          <a:xfrm>
            <a:off x="457200" y="1325880"/>
            <a:ext cx="5559552" cy="4434840"/>
          </a:xfrm>
          <a:prstGeom prst="roundRect">
            <a:avLst>
              <a:gd name="adj" fmla="val 2062"/>
            </a:avLst>
          </a:prstGeom>
          <a:solidFill>
            <a:srgbClr val="E3F0EB"/>
          </a:solidFill>
          <a:ln w="15875">
            <a:solidFill>
              <a:srgbClr val="1F6F5C"/>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PanelBH"/>
          <p:cNvSpPr txBox="1"/>
          <p:nvPr/>
        </p:nvSpPr>
        <p:spPr>
          <a:xfrm>
            <a:off x="640080" y="1389888"/>
            <a:ext cx="5193792" cy="292608"/>
          </a:xfrm>
          <a:prstGeom prst="rect">
            <a:avLst/>
          </a:prstGeom>
          <a:noFill/>
          <a:ln/>
        </p:spPr>
        <p:txBody>
          <a:bodyPr wrap="square" lIns="0" tIns="0" rIns="0" bIns="0" rtlCol="0" anchor="ctr"/>
          <a:lstStyle/>
          <a:p>
            <a:pPr algn="l" indent="0" marL="0">
              <a:buNone/>
            </a:pPr>
            <a:r>
              <a:rPr lang="en-US" sz="1200" b="1" spc="200" kern="0" dirty="0">
                <a:solidFill>
                  <a:srgbClr val="1F6F5C"/>
                </a:solidFill>
                <a:latin typeface="Calibri" pitchFamily="34" charset="0"/>
                <a:ea typeface="Calibri" pitchFamily="34" charset="-122"/>
                <a:cs typeface="Calibri" pitchFamily="34" charset="-120"/>
              </a:rPr>
              <a:t>VALUE TO HUMANA</a:t>
            </a:r>
            <a:endParaRPr lang="en-US" sz="1200" dirty="0"/>
          </a:p>
        </p:txBody>
      </p:sp>
      <p:sp>
        <p:nvSpPr>
          <p:cNvPr id="8" name="B1"/>
          <p:cNvSpPr/>
          <p:nvPr/>
        </p:nvSpPr>
        <p:spPr>
          <a:xfrm>
            <a:off x="603504" y="1783080"/>
            <a:ext cx="5266944" cy="1261872"/>
          </a:xfrm>
          <a:prstGeom prst="roundRect">
            <a:avLst>
              <a:gd name="adj" fmla="val 5797"/>
            </a:avLst>
          </a:prstGeom>
          <a:solidFill>
            <a:srgbClr val="FFFFFF"/>
          </a:solidFill>
          <a:ln w="12700">
            <a:solidFill>
              <a:srgbClr val="CBD5D1"/>
            </a:solidFill>
          </a:ln>
        </p:spPr>
        <p:txBody>
          <a:bodyPr wrap="square" lIns="164592" tIns="91440" rIns="164592" bIns="73152" rtlCol="0" anchor="ctr"/>
          <a:lstStyle/>
          <a:p>
            <a:pPr algn="l" indent="0" marL="0">
              <a:buNone/>
            </a:pPr>
            <a:r>
              <a:rPr lang="en-US" sz="2200" dirty="0">
                <a:solidFill>
                  <a:srgbClr val="1F6F5C"/>
                </a:solidFill>
                <a:latin typeface="Cambria" pitchFamily="34" charset="0"/>
                <a:ea typeface="Cambria" pitchFamily="34" charset="-122"/>
                <a:cs typeface="Cambria" pitchFamily="34" charset="-120"/>
              </a:rPr>
              <a:t>+2.3 million</a:t>
            </a:r>
            <a:endParaRPr lang="en-US" sz="2200" dirty="0"/>
          </a:p>
          <a:p>
            <a:pPr algn="l" indent="0" marL="0">
              <a:spcAft>
                <a:spcPts val="300"/>
              </a:spcAft>
              <a:buNone/>
            </a:pPr>
            <a:r>
              <a:rPr lang="en-US" sz="1200" b="1" dirty="0">
                <a:solidFill>
                  <a:srgbClr val="16211E"/>
                </a:solidFill>
                <a:latin typeface="Calibri" pitchFamily="34" charset="0"/>
                <a:ea typeface="Calibri" pitchFamily="34" charset="-122"/>
                <a:cs typeface="Calibri" pitchFamily="34" charset="-120"/>
              </a:rPr>
              <a:t>more requests a year, and a nurse reads every one.</a:t>
            </a:r>
            <a:endParaRPr lang="en-US" sz="2200" dirty="0"/>
          </a:p>
          <a:p>
            <a:pPr algn="l" indent="0" marL="0">
              <a:buNone/>
            </a:pPr>
            <a:r>
              <a:rPr lang="en-US" sz="1000" dirty="0">
                <a:solidFill>
                  <a:srgbClr val="5C6B66"/>
                </a:solidFill>
                <a:latin typeface="Calibri" pitchFamily="34" charset="0"/>
                <a:ea typeface="Calibri" pitchFamily="34" charset="-122"/>
                <a:cs typeface="Calibri" pitchFamily="34" charset="-120"/>
              </a:rPr>
              <a:t>1.03 million members joined in January (+20%) × about 2.2 requests per member a year, on average (KFF 2024). About 190,000 more every month.</a:t>
            </a:r>
            <a:endParaRPr lang="en-US" sz="2200" dirty="0"/>
          </a:p>
        </p:txBody>
      </p:sp>
      <p:sp>
        <p:nvSpPr>
          <p:cNvPr id="9" name="B2"/>
          <p:cNvSpPr/>
          <p:nvPr/>
        </p:nvSpPr>
        <p:spPr>
          <a:xfrm>
            <a:off x="603504" y="3108960"/>
            <a:ext cx="5266944" cy="1261872"/>
          </a:xfrm>
          <a:prstGeom prst="roundRect">
            <a:avLst>
              <a:gd name="adj" fmla="val 5797"/>
            </a:avLst>
          </a:prstGeom>
          <a:solidFill>
            <a:srgbClr val="FFFFFF"/>
          </a:solidFill>
          <a:ln w="12700">
            <a:solidFill>
              <a:srgbClr val="CBD5D1"/>
            </a:solidFill>
          </a:ln>
        </p:spPr>
        <p:txBody>
          <a:bodyPr wrap="square" lIns="164592" tIns="91440" rIns="164592" bIns="73152" rtlCol="0" anchor="ctr"/>
          <a:lstStyle/>
          <a:p>
            <a:pPr algn="l" indent="0" marL="0">
              <a:buNone/>
            </a:pPr>
            <a:r>
              <a:rPr lang="en-US" sz="2200" dirty="0">
                <a:solidFill>
                  <a:srgbClr val="1F6F5C"/>
                </a:solidFill>
                <a:latin typeface="Cambria" pitchFamily="34" charset="0"/>
                <a:ea typeface="Cambria" pitchFamily="34" charset="-122"/>
                <a:cs typeface="Cambria" pitchFamily="34" charset="-120"/>
              </a:rPr>
              <a:t>Public</a:t>
            </a:r>
            <a:endParaRPr lang="en-US" sz="2200" dirty="0"/>
          </a:p>
          <a:p>
            <a:pPr algn="l" indent="0" marL="0">
              <a:spcAft>
                <a:spcPts val="300"/>
              </a:spcAft>
              <a:buNone/>
            </a:pPr>
            <a:r>
              <a:rPr lang="en-US" sz="1200" b="1" dirty="0">
                <a:solidFill>
                  <a:srgbClr val="16211E"/>
                </a:solidFill>
                <a:latin typeface="Calibri" pitchFamily="34" charset="0"/>
                <a:ea typeface="Calibri" pitchFamily="34" charset="-122"/>
                <a:cs typeface="Calibri" pitchFamily="34" charset="-120"/>
              </a:rPr>
              <a:t>Prior authorization results are posted every year and compared by name.</a:t>
            </a:r>
            <a:endParaRPr lang="en-US" sz="2200" dirty="0"/>
          </a:p>
          <a:p>
            <a:pPr algn="l" indent="0" marL="0">
              <a:buNone/>
            </a:pPr>
            <a:r>
              <a:rPr lang="en-US" sz="1000" dirty="0">
                <a:solidFill>
                  <a:srgbClr val="5C6B66"/>
                </a:solidFill>
                <a:latin typeface="Calibri" pitchFamily="34" charset="0"/>
                <a:ea typeface="Calibri" pitchFamily="34" charset="-122"/>
                <a:cs typeface="Calibri" pitchFamily="34" charset="-120"/>
              </a:rPr>
              <a:t>Right the first time becomes a number anyone can check.</a:t>
            </a:r>
            <a:endParaRPr lang="en-US" sz="2200" dirty="0"/>
          </a:p>
        </p:txBody>
      </p:sp>
      <p:sp>
        <p:nvSpPr>
          <p:cNvPr id="10" name="B3"/>
          <p:cNvSpPr/>
          <p:nvPr/>
        </p:nvSpPr>
        <p:spPr>
          <a:xfrm>
            <a:off x="603504" y="4434840"/>
            <a:ext cx="5266944" cy="1261872"/>
          </a:xfrm>
          <a:prstGeom prst="roundRect">
            <a:avLst>
              <a:gd name="adj" fmla="val 5797"/>
            </a:avLst>
          </a:prstGeom>
          <a:solidFill>
            <a:srgbClr val="FFFFFF"/>
          </a:solidFill>
          <a:ln w="12700">
            <a:solidFill>
              <a:srgbClr val="CBD5D1"/>
            </a:solidFill>
          </a:ln>
        </p:spPr>
        <p:txBody>
          <a:bodyPr wrap="square" lIns="164592" tIns="91440" rIns="164592" bIns="73152" rtlCol="0" anchor="ctr"/>
          <a:lstStyle/>
          <a:p>
            <a:pPr algn="l" indent="0" marL="0">
              <a:buNone/>
            </a:pPr>
            <a:r>
              <a:rPr lang="en-US" sz="2200" dirty="0">
                <a:solidFill>
                  <a:srgbClr val="1F6F5C"/>
                </a:solidFill>
                <a:latin typeface="Cambria" pitchFamily="34" charset="0"/>
                <a:ea typeface="Cambria" pitchFamily="34" charset="-122"/>
                <a:cs typeface="Cambria" pitchFamily="34" charset="-120"/>
              </a:rPr>
              <a:t>$8 billion</a:t>
            </a:r>
            <a:endParaRPr lang="en-US" sz="2200" dirty="0"/>
          </a:p>
          <a:p>
            <a:pPr algn="l" indent="0" marL="0">
              <a:spcAft>
                <a:spcPts val="300"/>
              </a:spcAft>
              <a:buNone/>
            </a:pPr>
            <a:r>
              <a:rPr lang="en-US" sz="1200" b="1" dirty="0">
                <a:solidFill>
                  <a:srgbClr val="16211E"/>
                </a:solidFill>
                <a:latin typeface="Calibri" pitchFamily="34" charset="0"/>
                <a:ea typeface="Calibri" pitchFamily="34" charset="-122"/>
                <a:cs typeface="Calibri" pitchFamily="34" charset="-120"/>
              </a:rPr>
              <a:t>of yearly premium is in play as members choose to stay or leave.</a:t>
            </a:r>
            <a:endParaRPr lang="en-US" sz="2200" dirty="0"/>
          </a:p>
          <a:p>
            <a:pPr algn="l" indent="0" marL="0">
              <a:buNone/>
            </a:pPr>
            <a:r>
              <a:rPr lang="en-US" sz="1000" dirty="0">
                <a:solidFill>
                  <a:srgbClr val="5C6B66"/>
                </a:solidFill>
                <a:latin typeface="Calibri" pitchFamily="34" charset="0"/>
                <a:ea typeface="Calibri" pitchFamily="34" charset="-122"/>
                <a:cs typeface="Calibri" pitchFamily="34" charset="-120"/>
              </a:rPr>
              <a:t>If Humana looks like the industry: 9% leave each year. Winning back 1 in 90 is about $90 million. A pilot would measure the link.</a:t>
            </a:r>
            <a:endParaRPr lang="en-US" sz="2200" dirty="0"/>
          </a:p>
        </p:txBody>
      </p:sp>
      <p:sp>
        <p:nvSpPr>
          <p:cNvPr id="11" name="PanelC"/>
          <p:cNvSpPr/>
          <p:nvPr/>
        </p:nvSpPr>
        <p:spPr>
          <a:xfrm>
            <a:off x="6172200" y="1325880"/>
            <a:ext cx="5559552" cy="4434840"/>
          </a:xfrm>
          <a:prstGeom prst="roundRect">
            <a:avLst>
              <a:gd name="adj" fmla="val 2062"/>
            </a:avLst>
          </a:prstGeom>
          <a:solidFill>
            <a:srgbClr val="EBE2F8"/>
          </a:solidFill>
          <a:ln w="15875">
            <a:solidFill>
              <a:srgbClr val="5F3AA8"/>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12" name="PanelCH"/>
          <p:cNvSpPr txBox="1"/>
          <p:nvPr/>
        </p:nvSpPr>
        <p:spPr>
          <a:xfrm>
            <a:off x="6355080" y="1389888"/>
            <a:ext cx="5193792" cy="292608"/>
          </a:xfrm>
          <a:prstGeom prst="rect">
            <a:avLst/>
          </a:prstGeom>
          <a:noFill/>
          <a:ln/>
        </p:spPr>
        <p:txBody>
          <a:bodyPr wrap="square" lIns="0" tIns="0" rIns="0" bIns="0" rtlCol="0" anchor="ctr"/>
          <a:lstStyle/>
          <a:p>
            <a:pPr algn="l" indent="0" marL="0">
              <a:buNone/>
            </a:pPr>
            <a:r>
              <a:rPr lang="en-US" sz="1200" b="1" spc="200" kern="0" dirty="0">
                <a:solidFill>
                  <a:srgbClr val="5F3AA8"/>
                </a:solidFill>
                <a:latin typeface="Calibri" pitchFamily="34" charset="0"/>
                <a:ea typeface="Calibri" pitchFamily="34" charset="-122"/>
                <a:cs typeface="Calibri" pitchFamily="34" charset="-120"/>
              </a:rPr>
              <a:t>VALUE TO THE MEMBER AND THE PROVIDER</a:t>
            </a:r>
            <a:endParaRPr lang="en-US" sz="1200" dirty="0"/>
          </a:p>
        </p:txBody>
      </p:sp>
      <p:sp>
        <p:nvSpPr>
          <p:cNvPr id="13" name="C1"/>
          <p:cNvSpPr/>
          <p:nvPr/>
        </p:nvSpPr>
        <p:spPr>
          <a:xfrm>
            <a:off x="6318504" y="1783080"/>
            <a:ext cx="5266944" cy="1261872"/>
          </a:xfrm>
          <a:prstGeom prst="roundRect">
            <a:avLst>
              <a:gd name="adj" fmla="val 5797"/>
            </a:avLst>
          </a:prstGeom>
          <a:solidFill>
            <a:srgbClr val="FFFFFF"/>
          </a:solidFill>
          <a:ln w="12700">
            <a:solidFill>
              <a:srgbClr val="CBD5D1"/>
            </a:solidFill>
          </a:ln>
        </p:spPr>
        <p:txBody>
          <a:bodyPr wrap="square" lIns="164592" tIns="91440" rIns="164592" bIns="73152" rtlCol="0" anchor="ctr"/>
          <a:lstStyle/>
          <a:p>
            <a:pPr algn="l" indent="0" marL="0">
              <a:buNone/>
            </a:pPr>
            <a:r>
              <a:rPr lang="en-US" sz="2200" dirty="0">
                <a:solidFill>
                  <a:srgbClr val="5F3AA8"/>
                </a:solidFill>
                <a:latin typeface="Cambria" pitchFamily="34" charset="0"/>
                <a:ea typeface="Cambria" pitchFamily="34" charset="-122"/>
                <a:cs typeface="Cambria" pitchFamily="34" charset="-120"/>
              </a:rPr>
              <a:t>Care on time</a:t>
            </a:r>
            <a:endParaRPr lang="en-US" sz="2200" dirty="0"/>
          </a:p>
          <a:p>
            <a:pPr algn="l" indent="0" marL="0">
              <a:spcAft>
                <a:spcPts val="300"/>
              </a:spcAft>
              <a:buNone/>
            </a:pPr>
            <a:r>
              <a:rPr lang="en-US" sz="1200" b="1" dirty="0">
                <a:solidFill>
                  <a:srgbClr val="16211E"/>
                </a:solidFill>
                <a:latin typeface="Calibri" pitchFamily="34" charset="0"/>
                <a:ea typeface="Calibri" pitchFamily="34" charset="-122"/>
                <a:cs typeface="Calibri" pitchFamily="34" charset="-120"/>
              </a:rPr>
              <a:t>A right first decision means no wait for a second look.</a:t>
            </a:r>
            <a:endParaRPr lang="en-US" sz="2200" dirty="0"/>
          </a:p>
          <a:p>
            <a:pPr algn="l" indent="0" marL="0">
              <a:buNone/>
            </a:pPr>
            <a:r>
              <a:rPr lang="en-US" sz="1000" dirty="0">
                <a:solidFill>
                  <a:srgbClr val="5C6B66"/>
                </a:solidFill>
                <a:latin typeface="Calibri" pitchFamily="34" charset="0"/>
                <a:ea typeface="Calibri" pitchFamily="34" charset="-122"/>
                <a:cs typeface="Calibri" pitchFamily="34" charset="-120"/>
              </a:rPr>
              <a:t>93% of physicians say prior authorization can delay care (AMA).</a:t>
            </a:r>
            <a:endParaRPr lang="en-US" sz="2200" dirty="0"/>
          </a:p>
        </p:txBody>
      </p:sp>
      <p:sp>
        <p:nvSpPr>
          <p:cNvPr id="14" name="C2"/>
          <p:cNvSpPr/>
          <p:nvPr/>
        </p:nvSpPr>
        <p:spPr>
          <a:xfrm>
            <a:off x="6318504" y="3108960"/>
            <a:ext cx="5266944" cy="1261872"/>
          </a:xfrm>
          <a:prstGeom prst="roundRect">
            <a:avLst>
              <a:gd name="adj" fmla="val 5797"/>
            </a:avLst>
          </a:prstGeom>
          <a:solidFill>
            <a:srgbClr val="FFFFFF"/>
          </a:solidFill>
          <a:ln w="12700">
            <a:solidFill>
              <a:srgbClr val="CBD5D1"/>
            </a:solidFill>
          </a:ln>
        </p:spPr>
        <p:txBody>
          <a:bodyPr wrap="square" lIns="164592" tIns="91440" rIns="164592" bIns="73152" rtlCol="0" anchor="ctr"/>
          <a:lstStyle/>
          <a:p>
            <a:pPr algn="l" indent="0" marL="0">
              <a:buNone/>
            </a:pPr>
            <a:r>
              <a:rPr lang="en-US" sz="2200" dirty="0">
                <a:solidFill>
                  <a:srgbClr val="5F3AA8"/>
                </a:solidFill>
                <a:latin typeface="Cambria" pitchFamily="34" charset="0"/>
                <a:ea typeface="Cambria" pitchFamily="34" charset="-122"/>
                <a:cs typeface="Cambria" pitchFamily="34" charset="-120"/>
              </a:rPr>
              <a:t>One clear ask</a:t>
            </a:r>
            <a:endParaRPr lang="en-US" sz="2200" dirty="0"/>
          </a:p>
          <a:p>
            <a:pPr algn="l" indent="0" marL="0">
              <a:spcAft>
                <a:spcPts val="300"/>
              </a:spcAft>
              <a:buNone/>
            </a:pPr>
            <a:r>
              <a:rPr lang="en-US" sz="1200" b="1" dirty="0">
                <a:solidFill>
                  <a:srgbClr val="16211E"/>
                </a:solidFill>
                <a:latin typeface="Calibri" pitchFamily="34" charset="0"/>
                <a:ea typeface="Calibri" pitchFamily="34" charset="-122"/>
                <a:cs typeface="Calibri" pitchFamily="34" charset="-120"/>
              </a:rPr>
              <a:t>If something is missing, the provider gets one specific question, not a fax loop.</a:t>
            </a:r>
            <a:endParaRPr lang="en-US" sz="2200" dirty="0"/>
          </a:p>
          <a:p>
            <a:pPr algn="l" indent="0" marL="0">
              <a:buNone/>
            </a:pPr>
            <a:r>
              <a:rPr lang="en-US" sz="1000" dirty="0">
                <a:solidFill>
                  <a:srgbClr val="5C6B66"/>
                </a:solidFill>
                <a:latin typeface="Calibri" pitchFamily="34" charset="0"/>
                <a:ea typeface="Calibri" pitchFamily="34" charset="-122"/>
                <a:cs typeface="Calibri" pitchFamily="34" charset="-120"/>
              </a:rPr>
              <a:t>Fewer rounds for the provider, and a shorter wait for the member.</a:t>
            </a:r>
            <a:endParaRPr lang="en-US" sz="2200" dirty="0"/>
          </a:p>
        </p:txBody>
      </p:sp>
      <p:sp>
        <p:nvSpPr>
          <p:cNvPr id="15" name="C3"/>
          <p:cNvSpPr/>
          <p:nvPr/>
        </p:nvSpPr>
        <p:spPr>
          <a:xfrm>
            <a:off x="6318504" y="4434840"/>
            <a:ext cx="5266944" cy="1261872"/>
          </a:xfrm>
          <a:prstGeom prst="roundRect">
            <a:avLst>
              <a:gd name="adj" fmla="val 5797"/>
            </a:avLst>
          </a:prstGeom>
          <a:solidFill>
            <a:srgbClr val="FFFFFF"/>
          </a:solidFill>
          <a:ln w="12700">
            <a:solidFill>
              <a:srgbClr val="CBD5D1"/>
            </a:solidFill>
          </a:ln>
        </p:spPr>
        <p:txBody>
          <a:bodyPr wrap="square" lIns="164592" tIns="91440" rIns="164592" bIns="73152" rtlCol="0" anchor="ctr"/>
          <a:lstStyle/>
          <a:p>
            <a:pPr algn="l" indent="0" marL="0">
              <a:buNone/>
            </a:pPr>
            <a:r>
              <a:rPr lang="en-US" sz="2200" dirty="0">
                <a:solidFill>
                  <a:srgbClr val="5F3AA8"/>
                </a:solidFill>
                <a:latin typeface="Cambria" pitchFamily="34" charset="0"/>
                <a:ea typeface="Cambria" pitchFamily="34" charset="-122"/>
                <a:cs typeface="Cambria" pitchFamily="34" charset="-120"/>
              </a:rPr>
              <a:t>A reason you can see</a:t>
            </a:r>
            <a:endParaRPr lang="en-US" sz="2200" dirty="0"/>
          </a:p>
          <a:p>
            <a:pPr algn="l" indent="0" marL="0">
              <a:spcAft>
                <a:spcPts val="300"/>
              </a:spcAft>
              <a:buNone/>
            </a:pPr>
            <a:r>
              <a:rPr lang="en-US" sz="1200" b="1" dirty="0">
                <a:solidFill>
                  <a:srgbClr val="16211E"/>
                </a:solidFill>
                <a:latin typeface="Calibri" pitchFamily="34" charset="0"/>
                <a:ea typeface="Calibri" pitchFamily="34" charset="-122"/>
                <a:cs typeface="Calibri" pitchFamily="34" charset="-120"/>
              </a:rPr>
              <a:t>Every recommendation shows the page behind it.</a:t>
            </a:r>
            <a:endParaRPr lang="en-US" sz="2200" dirty="0"/>
          </a:p>
          <a:p>
            <a:pPr algn="l" indent="0" marL="0">
              <a:buNone/>
            </a:pPr>
            <a:r>
              <a:rPr lang="en-US" sz="1000" dirty="0">
                <a:solidFill>
                  <a:srgbClr val="5C6B66"/>
                </a:solidFill>
                <a:latin typeface="Calibri" pitchFamily="34" charset="0"/>
                <a:ea typeface="Calibri" pitchFamily="34" charset="-122"/>
                <a:cs typeface="Calibri" pitchFamily="34" charset="-120"/>
              </a:rPr>
              <a:t>Next, members see where their request stands. That is phase 2 (CMS rule, January 2027).</a:t>
            </a:r>
            <a:endParaRPr lang="en-US" sz="2200" dirty="0"/>
          </a:p>
        </p:txBody>
      </p:sp>
      <p:sp>
        <p:nvSpPr>
          <p:cNvPr id="16" name="Point"/>
          <p:cNvSpPr/>
          <p:nvPr/>
        </p:nvSpPr>
        <p:spPr>
          <a:xfrm>
            <a:off x="457200" y="5852160"/>
            <a:ext cx="11274552" cy="713232"/>
          </a:xfrm>
          <a:prstGeom prst="roundRect">
            <a:avLst>
              <a:gd name="adj" fmla="val 10256"/>
            </a:avLst>
          </a:prstGeom>
          <a:solidFill>
            <a:srgbClr val="1F6F5C"/>
          </a:solidFill>
          <a:ln w="12700">
            <a:solidFill>
              <a:srgbClr val="1F6F5C"/>
            </a:solidFill>
          </a:ln>
        </p:spPr>
        <p:txBody>
          <a:bodyPr wrap="square" lIns="228600" tIns="45720" rIns="228600" bIns="45720" rtlCol="0" anchor="ctr"/>
          <a:lstStyle/>
          <a:p>
            <a:pPr algn="ctr" indent="0" marL="0">
              <a:spcAft>
                <a:spcPts val="200"/>
              </a:spcAft>
              <a:buNone/>
            </a:pPr>
            <a:r>
              <a:rPr lang="en-US" sz="1600" b="1" dirty="0">
                <a:solidFill>
                  <a:srgbClr val="FFFFFF"/>
                </a:solidFill>
                <a:latin typeface="Calibri" pitchFamily="34" charset="0"/>
                <a:ea typeface="Calibri" pitchFamily="34" charset="-122"/>
                <a:cs typeface="Calibri" pitchFamily="34" charset="-120"/>
              </a:rPr>
              <a:t>Same goal on both sides: right the first time.</a:t>
            </a:r>
            <a:endParaRPr lang="en-US" sz="1600" dirty="0"/>
          </a:p>
          <a:p>
            <a:pPr algn="ctr" indent="0" marL="0">
              <a:buNone/>
            </a:pPr>
            <a:r>
              <a:rPr lang="en-US" sz="1150" dirty="0">
                <a:solidFill>
                  <a:srgbClr val="D5EBE3"/>
                </a:solidFill>
                <a:latin typeface="Calibri" pitchFamily="34" charset="0"/>
                <a:ea typeface="Calibri" pitchFamily="34" charset="-122"/>
                <a:cs typeface="Calibri" pitchFamily="34" charset="-120"/>
              </a:rPr>
              <a:t>Medicare pays Humana per member, and at least 85% must go to care. So the room to save is in admin work like re-reading and rework, not in paying for less care.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value</dc:title>
  <dc:subject>PptxGenJS Presentation</dc:subject>
  <dc:creator>Nisha Mishra</dc:creator>
  <cp:lastModifiedBy>Nisha Mishra</cp:lastModifiedBy>
  <cp:revision>1</cp:revision>
  <dcterms:created xsi:type="dcterms:W3CDTF">2026-10-04T03:42:10Z</dcterms:created>
  <dcterms:modified xsi:type="dcterms:W3CDTF">2026-10-04T03:42:10Z</dcterms:modified>
</cp:coreProperties>
</file>