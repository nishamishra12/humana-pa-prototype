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Duplicate this slide once for each of the six steps.
On each copy, colour the box you are explaining, then paste the input screenshot on the left and the output screenshot on the right from architecture/inner_workings.html (steps 2 to 6; step 1 is the uploaded PDF).
Colours used on the other slides: coral for ETL + AI, purple for AI, green for plain code, amber for a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75488" y="228600"/>
            <a:ext cx="7315200" cy="256032"/>
          </a:xfrm>
          <a:prstGeom prst="rect">
            <a:avLst/>
          </a:prstGeom>
          <a:noFill/>
          <a:ln/>
        </p:spPr>
        <p:txBody>
          <a:bodyPr wrap="square" lIns="0" tIns="0" rIns="0" bIns="0" rtlCol="0" anchor="ctr"/>
          <a:lstStyle/>
          <a:p>
            <a:pPr indent="0" marL="0">
              <a:buNone/>
            </a:pPr>
            <a:r>
              <a:rPr lang="en-US" sz="1100" b="1" spc="300" kern="0" dirty="0">
                <a:solidFill>
                  <a:srgbClr val="1F6F5C"/>
                </a:solidFill>
                <a:latin typeface="Calibri" pitchFamily="34" charset="0"/>
                <a:ea typeface="Calibri" pitchFamily="34" charset="-122"/>
                <a:cs typeface="Calibri" pitchFamily="34" charset="-120"/>
              </a:rPr>
              <a:t>HOW THE AI DECIDED THE PACKET</a:t>
            </a:r>
            <a:endParaRPr lang="en-US" sz="1100" dirty="0"/>
          </a:p>
        </p:txBody>
      </p:sp>
      <p:sp>
        <p:nvSpPr>
          <p:cNvPr id="3" name="Step1"/>
          <p:cNvSpPr/>
          <p:nvPr/>
        </p:nvSpPr>
        <p:spPr>
          <a:xfrm>
            <a:off x="475488" y="594360"/>
            <a:ext cx="1783080" cy="868680"/>
          </a:xfrm>
          <a:prstGeom prst="roundRect">
            <a:avLst>
              <a:gd name="adj" fmla="val 8421"/>
            </a:avLst>
          </a:prstGeom>
          <a:solidFill>
            <a:srgbClr val="FFFFFF"/>
          </a:solidFill>
          <a:ln w="15875">
            <a:solidFill>
              <a:srgbClr val="B9C4C0"/>
            </a:solidFill>
          </a:ln>
        </p:spPr>
        <p:txBody>
          <a:bodyPr wrap="square" lIns="54864" tIns="128016" rIns="91440" bIns="54864" rtlCol="0" anchor="ctr"/>
          <a:lstStyle/>
          <a:p>
            <a:pPr algn="l" indent="0" marL="0">
              <a:buNone/>
            </a:pPr>
            <a:r>
              <a:rPr lang="en-US" sz="1300" b="1" dirty="0">
                <a:solidFill>
                  <a:srgbClr val="1F6F5C"/>
                </a:solidFill>
                <a:latin typeface="Calibri" pitchFamily="34" charset="0"/>
                <a:ea typeface="Calibri" pitchFamily="34" charset="-122"/>
                <a:cs typeface="Calibri" pitchFamily="34" charset="-120"/>
              </a:rPr>
              <a:t>1  </a:t>
            </a:r>
            <a:pPr algn="l" indent="0" marL="0">
              <a:buNone/>
            </a:pPr>
            <a:r>
              <a:rPr lang="en-US" sz="1300" b="1" dirty="0">
                <a:solidFill>
                  <a:srgbClr val="16211E"/>
                </a:solidFill>
                <a:latin typeface="Calibri" pitchFamily="34" charset="0"/>
                <a:ea typeface="Calibri" pitchFamily="34" charset="-122"/>
                <a:cs typeface="Calibri" pitchFamily="34" charset="-120"/>
              </a:rPr>
              <a:t>Intake uploads</a:t>
            </a:r>
            <a:endParaRPr lang="en-US" sz="1300" dirty="0"/>
          </a:p>
          <a:p>
            <a:pPr algn="l" indent="0" marL="0">
              <a:buNone/>
            </a:pPr>
            <a:r>
              <a:rPr lang="en-US" sz="1000" dirty="0">
                <a:solidFill>
                  <a:srgbClr val="5C6B66"/>
                </a:solidFill>
                <a:latin typeface="Calibri" pitchFamily="34" charset="0"/>
                <a:ea typeface="Calibri" pitchFamily="34" charset="-122"/>
                <a:cs typeface="Calibri" pitchFamily="34" charset="-120"/>
              </a:rPr>
              <a:t>One PDF in</a:t>
            </a:r>
            <a:endParaRPr lang="en-US" sz="1300" dirty="0"/>
          </a:p>
        </p:txBody>
      </p:sp>
      <p:sp>
        <p:nvSpPr>
          <p:cNvPr id="4" name="Step2"/>
          <p:cNvSpPr/>
          <p:nvPr/>
        </p:nvSpPr>
        <p:spPr>
          <a:xfrm>
            <a:off x="2368296" y="594360"/>
            <a:ext cx="1783080" cy="868680"/>
          </a:xfrm>
          <a:prstGeom prst="roundRect">
            <a:avLst>
              <a:gd name="adj" fmla="val 8421"/>
            </a:avLst>
          </a:prstGeom>
          <a:solidFill>
            <a:srgbClr val="FFFFFF"/>
          </a:solidFill>
          <a:ln w="15875">
            <a:solidFill>
              <a:srgbClr val="B9C4C0"/>
            </a:solidFill>
          </a:ln>
        </p:spPr>
        <p:txBody>
          <a:bodyPr wrap="square" lIns="54864" tIns="128016" rIns="91440" bIns="54864" rtlCol="0" anchor="ctr"/>
          <a:lstStyle/>
          <a:p>
            <a:pPr algn="l" indent="0" marL="0">
              <a:buNone/>
            </a:pPr>
            <a:r>
              <a:rPr lang="en-US" sz="1300" b="1" dirty="0">
                <a:solidFill>
                  <a:srgbClr val="1F6F5C"/>
                </a:solidFill>
                <a:latin typeface="Calibri" pitchFamily="34" charset="0"/>
                <a:ea typeface="Calibri" pitchFamily="34" charset="-122"/>
                <a:cs typeface="Calibri" pitchFamily="34" charset="-120"/>
              </a:rPr>
              <a:t>2  </a:t>
            </a:r>
            <a:pPr algn="l" indent="0" marL="0">
              <a:buNone/>
            </a:pPr>
            <a:r>
              <a:rPr lang="en-US" sz="1300" b="1" dirty="0">
                <a:solidFill>
                  <a:srgbClr val="16211E"/>
                </a:solidFill>
                <a:latin typeface="Calibri" pitchFamily="34" charset="0"/>
                <a:ea typeface="Calibri" pitchFamily="34" charset="-122"/>
                <a:cs typeface="Calibri" pitchFamily="34" charset="-120"/>
              </a:rPr>
              <a:t>ETL + AI reads the pages</a:t>
            </a:r>
            <a:endParaRPr lang="en-US" sz="1300" dirty="0"/>
          </a:p>
          <a:p>
            <a:pPr algn="l" indent="0" marL="0">
              <a:buNone/>
            </a:pPr>
            <a:r>
              <a:rPr lang="en-US" sz="1000" dirty="0">
                <a:solidFill>
                  <a:srgbClr val="5C6B66"/>
                </a:solidFill>
                <a:latin typeface="Calibri" pitchFamily="34" charset="0"/>
                <a:ea typeface="Calibri" pitchFamily="34" charset="-122"/>
                <a:cs typeface="Calibri" pitchFamily="34" charset="-120"/>
              </a:rPr>
              <a:t>Typed pieces with boxes</a:t>
            </a:r>
            <a:endParaRPr lang="en-US" sz="1300" dirty="0"/>
          </a:p>
        </p:txBody>
      </p:sp>
      <p:sp>
        <p:nvSpPr>
          <p:cNvPr id="5" name="Chevron2"/>
          <p:cNvSpPr txBox="1"/>
          <p:nvPr/>
        </p:nvSpPr>
        <p:spPr>
          <a:xfrm>
            <a:off x="2258568" y="868680"/>
            <a:ext cx="109728" cy="320040"/>
          </a:xfrm>
          <a:prstGeom prst="rect">
            <a:avLst/>
          </a:prstGeom>
          <a:noFill/>
          <a:ln/>
        </p:spPr>
        <p:txBody>
          <a:bodyPr wrap="square" lIns="0" tIns="0" rIns="0" bIns="0" rtlCol="0" anchor="ctr"/>
          <a:lstStyle/>
          <a:p>
            <a:pPr algn="ctr" indent="0" marL="0">
              <a:buNone/>
            </a:pPr>
            <a:r>
              <a:rPr lang="en-US" sz="1600" b="1" dirty="0">
                <a:solidFill>
                  <a:srgbClr val="9AA8A3"/>
                </a:solidFill>
                <a:latin typeface="Calibri" pitchFamily="34" charset="0"/>
                <a:ea typeface="Calibri" pitchFamily="34" charset="-122"/>
                <a:cs typeface="Calibri" pitchFamily="34" charset="-120"/>
              </a:rPr>
              <a:t>›</a:t>
            </a:r>
            <a:endParaRPr lang="en-US" sz="1600" dirty="0"/>
          </a:p>
        </p:txBody>
      </p:sp>
      <p:sp>
        <p:nvSpPr>
          <p:cNvPr id="6" name="Step3"/>
          <p:cNvSpPr/>
          <p:nvPr/>
        </p:nvSpPr>
        <p:spPr>
          <a:xfrm>
            <a:off x="4261104" y="594360"/>
            <a:ext cx="1783080" cy="868680"/>
          </a:xfrm>
          <a:prstGeom prst="roundRect">
            <a:avLst>
              <a:gd name="adj" fmla="val 8421"/>
            </a:avLst>
          </a:prstGeom>
          <a:solidFill>
            <a:srgbClr val="FFFFFF"/>
          </a:solidFill>
          <a:ln w="15875">
            <a:solidFill>
              <a:srgbClr val="B9C4C0"/>
            </a:solidFill>
          </a:ln>
        </p:spPr>
        <p:txBody>
          <a:bodyPr wrap="square" lIns="54864" tIns="128016" rIns="91440" bIns="54864" rtlCol="0" anchor="ctr"/>
          <a:lstStyle/>
          <a:p>
            <a:pPr algn="l" indent="0" marL="0">
              <a:buNone/>
            </a:pPr>
            <a:r>
              <a:rPr lang="en-US" sz="1300" b="1" dirty="0">
                <a:solidFill>
                  <a:srgbClr val="1F6F5C"/>
                </a:solidFill>
                <a:latin typeface="Calibri" pitchFamily="34" charset="0"/>
                <a:ea typeface="Calibri" pitchFamily="34" charset="-122"/>
                <a:cs typeface="Calibri" pitchFamily="34" charset="-120"/>
              </a:rPr>
              <a:t>3  </a:t>
            </a:r>
            <a:pPr algn="l" indent="0" marL="0">
              <a:buNone/>
            </a:pPr>
            <a:r>
              <a:rPr lang="en-US" sz="1300" b="1" dirty="0">
                <a:solidFill>
                  <a:srgbClr val="16211E"/>
                </a:solidFill>
                <a:latin typeface="Calibri" pitchFamily="34" charset="0"/>
                <a:ea typeface="Calibri" pitchFamily="34" charset="-122"/>
                <a:cs typeface="Calibri" pitchFamily="34" charset="-120"/>
              </a:rPr>
              <a:t>Find the service</a:t>
            </a:r>
            <a:endParaRPr lang="en-US" sz="1300" dirty="0"/>
          </a:p>
          <a:p>
            <a:pPr algn="l" indent="0" marL="0">
              <a:buNone/>
            </a:pPr>
            <a:r>
              <a:rPr lang="en-US" sz="1000" dirty="0">
                <a:solidFill>
                  <a:srgbClr val="5C6B66"/>
                </a:solidFill>
                <a:latin typeface="Calibri" pitchFamily="34" charset="0"/>
                <a:ea typeface="Calibri" pitchFamily="34" charset="-122"/>
                <a:cs typeface="Calibri" pitchFamily="34" charset="-120"/>
              </a:rPr>
              <a:t>The code picks it</a:t>
            </a:r>
            <a:endParaRPr lang="en-US" sz="1300" dirty="0"/>
          </a:p>
        </p:txBody>
      </p:sp>
      <p:sp>
        <p:nvSpPr>
          <p:cNvPr id="7" name="Chevron3"/>
          <p:cNvSpPr txBox="1"/>
          <p:nvPr/>
        </p:nvSpPr>
        <p:spPr>
          <a:xfrm>
            <a:off x="4151376" y="868680"/>
            <a:ext cx="109728" cy="320040"/>
          </a:xfrm>
          <a:prstGeom prst="rect">
            <a:avLst/>
          </a:prstGeom>
          <a:noFill/>
          <a:ln/>
        </p:spPr>
        <p:txBody>
          <a:bodyPr wrap="square" lIns="0" tIns="0" rIns="0" bIns="0" rtlCol="0" anchor="ctr"/>
          <a:lstStyle/>
          <a:p>
            <a:pPr algn="ctr" indent="0" marL="0">
              <a:buNone/>
            </a:pPr>
            <a:r>
              <a:rPr lang="en-US" sz="1600" b="1" dirty="0">
                <a:solidFill>
                  <a:srgbClr val="9AA8A3"/>
                </a:solidFill>
                <a:latin typeface="Calibri" pitchFamily="34" charset="0"/>
                <a:ea typeface="Calibri" pitchFamily="34" charset="-122"/>
                <a:cs typeface="Calibri" pitchFamily="34" charset="-120"/>
              </a:rPr>
              <a:t>›</a:t>
            </a:r>
            <a:endParaRPr lang="en-US" sz="1600" dirty="0"/>
          </a:p>
        </p:txBody>
      </p:sp>
      <p:sp>
        <p:nvSpPr>
          <p:cNvPr id="8" name="Step4"/>
          <p:cNvSpPr/>
          <p:nvPr/>
        </p:nvSpPr>
        <p:spPr>
          <a:xfrm>
            <a:off x="6153912" y="594360"/>
            <a:ext cx="1783080" cy="868680"/>
          </a:xfrm>
          <a:prstGeom prst="roundRect">
            <a:avLst>
              <a:gd name="adj" fmla="val 8421"/>
            </a:avLst>
          </a:prstGeom>
          <a:solidFill>
            <a:srgbClr val="FFFFFF"/>
          </a:solidFill>
          <a:ln w="15875">
            <a:solidFill>
              <a:srgbClr val="B9C4C0"/>
            </a:solidFill>
          </a:ln>
        </p:spPr>
        <p:txBody>
          <a:bodyPr wrap="square" lIns="54864" tIns="128016" rIns="91440" bIns="54864" rtlCol="0" anchor="ctr"/>
          <a:lstStyle/>
          <a:p>
            <a:pPr algn="l" indent="0" marL="0">
              <a:buNone/>
            </a:pPr>
            <a:r>
              <a:rPr lang="en-US" sz="1300" b="1" dirty="0">
                <a:solidFill>
                  <a:srgbClr val="1F6F5C"/>
                </a:solidFill>
                <a:latin typeface="Calibri" pitchFamily="34" charset="0"/>
                <a:ea typeface="Calibri" pitchFamily="34" charset="-122"/>
                <a:cs typeface="Calibri" pitchFamily="34" charset="-120"/>
              </a:rPr>
              <a:t>4  </a:t>
            </a:r>
            <a:pPr algn="l" indent="0" marL="0">
              <a:buNone/>
            </a:pPr>
            <a:r>
              <a:rPr lang="en-US" sz="1300" b="1" dirty="0">
                <a:solidFill>
                  <a:srgbClr val="16211E"/>
                </a:solidFill>
                <a:latin typeface="Calibri" pitchFamily="34" charset="0"/>
                <a:ea typeface="Calibri" pitchFamily="34" charset="-122"/>
                <a:cs typeface="Calibri" pitchFamily="34" charset="-120"/>
              </a:rPr>
              <a:t>Read the details</a:t>
            </a:r>
            <a:endParaRPr lang="en-US" sz="1300" dirty="0"/>
          </a:p>
          <a:p>
            <a:pPr algn="l" indent="0" marL="0">
              <a:buNone/>
            </a:pPr>
            <a:r>
              <a:rPr lang="en-US" sz="1000" dirty="0">
                <a:solidFill>
                  <a:srgbClr val="5C6B66"/>
                </a:solidFill>
                <a:latin typeface="Calibri" pitchFamily="34" charset="0"/>
                <a:ea typeface="Calibri" pitchFamily="34" charset="-122"/>
                <a:cs typeface="Calibri" pitchFamily="34" charset="-120"/>
              </a:rPr>
              <a:t>AI fills one form</a:t>
            </a:r>
            <a:endParaRPr lang="en-US" sz="1300" dirty="0"/>
          </a:p>
        </p:txBody>
      </p:sp>
      <p:sp>
        <p:nvSpPr>
          <p:cNvPr id="9" name="Chevron4"/>
          <p:cNvSpPr txBox="1"/>
          <p:nvPr/>
        </p:nvSpPr>
        <p:spPr>
          <a:xfrm>
            <a:off x="6044184" y="868680"/>
            <a:ext cx="109728" cy="320040"/>
          </a:xfrm>
          <a:prstGeom prst="rect">
            <a:avLst/>
          </a:prstGeom>
          <a:noFill/>
          <a:ln/>
        </p:spPr>
        <p:txBody>
          <a:bodyPr wrap="square" lIns="0" tIns="0" rIns="0" bIns="0" rtlCol="0" anchor="ctr"/>
          <a:lstStyle/>
          <a:p>
            <a:pPr algn="ctr" indent="0" marL="0">
              <a:buNone/>
            </a:pPr>
            <a:r>
              <a:rPr lang="en-US" sz="1600" b="1" dirty="0">
                <a:solidFill>
                  <a:srgbClr val="9AA8A3"/>
                </a:solidFill>
                <a:latin typeface="Calibri" pitchFamily="34" charset="0"/>
                <a:ea typeface="Calibri" pitchFamily="34" charset="-122"/>
                <a:cs typeface="Calibri" pitchFamily="34" charset="-120"/>
              </a:rPr>
              <a:t>›</a:t>
            </a:r>
            <a:endParaRPr lang="en-US" sz="1600" dirty="0"/>
          </a:p>
        </p:txBody>
      </p:sp>
      <p:sp>
        <p:nvSpPr>
          <p:cNvPr id="10" name="Step5"/>
          <p:cNvSpPr/>
          <p:nvPr/>
        </p:nvSpPr>
        <p:spPr>
          <a:xfrm>
            <a:off x="8046720" y="594360"/>
            <a:ext cx="1783080" cy="868680"/>
          </a:xfrm>
          <a:prstGeom prst="roundRect">
            <a:avLst>
              <a:gd name="adj" fmla="val 8421"/>
            </a:avLst>
          </a:prstGeom>
          <a:solidFill>
            <a:srgbClr val="FFFFFF"/>
          </a:solidFill>
          <a:ln w="15875">
            <a:solidFill>
              <a:srgbClr val="B9C4C0"/>
            </a:solidFill>
          </a:ln>
        </p:spPr>
        <p:txBody>
          <a:bodyPr wrap="square" lIns="54864" tIns="128016" rIns="91440" bIns="54864" rtlCol="0" anchor="ctr"/>
          <a:lstStyle/>
          <a:p>
            <a:pPr algn="l" indent="0" marL="0">
              <a:buNone/>
            </a:pPr>
            <a:r>
              <a:rPr lang="en-US" sz="1300" b="1" dirty="0">
                <a:solidFill>
                  <a:srgbClr val="1F6F5C"/>
                </a:solidFill>
                <a:latin typeface="Calibri" pitchFamily="34" charset="0"/>
                <a:ea typeface="Calibri" pitchFamily="34" charset="-122"/>
                <a:cs typeface="Calibri" pitchFamily="34" charset="-120"/>
              </a:rPr>
              <a:t>5  </a:t>
            </a:r>
            <a:pPr algn="l" indent="0" marL="0">
              <a:buNone/>
            </a:pPr>
            <a:r>
              <a:rPr lang="en-US" sz="1300" b="1" dirty="0">
                <a:solidFill>
                  <a:srgbClr val="16211E"/>
                </a:solidFill>
                <a:latin typeface="Calibri" pitchFamily="34" charset="0"/>
                <a:ea typeface="Calibri" pitchFamily="34" charset="-122"/>
                <a:cs typeface="Calibri" pitchFamily="34" charset="-120"/>
              </a:rPr>
              <a:t>Check the evidence</a:t>
            </a:r>
            <a:endParaRPr lang="en-US" sz="1300" dirty="0"/>
          </a:p>
          <a:p>
            <a:pPr algn="l" indent="0" marL="0">
              <a:buNone/>
            </a:pPr>
            <a:r>
              <a:rPr lang="en-US" sz="1000" dirty="0">
                <a:solidFill>
                  <a:srgbClr val="5C6B66"/>
                </a:solidFill>
                <a:latin typeface="Calibri" pitchFamily="34" charset="0"/>
                <a:ea typeface="Calibri" pitchFamily="34" charset="-122"/>
                <a:cs typeface="Calibri" pitchFamily="34" charset="-120"/>
              </a:rPr>
              <a:t>Quote on its page</a:t>
            </a:r>
            <a:endParaRPr lang="en-US" sz="1300" dirty="0"/>
          </a:p>
        </p:txBody>
      </p:sp>
      <p:sp>
        <p:nvSpPr>
          <p:cNvPr id="11" name="Chevron5"/>
          <p:cNvSpPr txBox="1"/>
          <p:nvPr/>
        </p:nvSpPr>
        <p:spPr>
          <a:xfrm>
            <a:off x="7936992" y="868680"/>
            <a:ext cx="109728" cy="320040"/>
          </a:xfrm>
          <a:prstGeom prst="rect">
            <a:avLst/>
          </a:prstGeom>
          <a:noFill/>
          <a:ln/>
        </p:spPr>
        <p:txBody>
          <a:bodyPr wrap="square" lIns="0" tIns="0" rIns="0" bIns="0" rtlCol="0" anchor="ctr"/>
          <a:lstStyle/>
          <a:p>
            <a:pPr algn="ctr" indent="0" marL="0">
              <a:buNone/>
            </a:pPr>
            <a:r>
              <a:rPr lang="en-US" sz="1600" b="1" dirty="0">
                <a:solidFill>
                  <a:srgbClr val="9AA8A3"/>
                </a:solidFill>
                <a:latin typeface="Calibri" pitchFamily="34" charset="0"/>
                <a:ea typeface="Calibri" pitchFamily="34" charset="-122"/>
                <a:cs typeface="Calibri" pitchFamily="34" charset="-120"/>
              </a:rPr>
              <a:t>›</a:t>
            </a:r>
            <a:endParaRPr lang="en-US" sz="1600" dirty="0"/>
          </a:p>
        </p:txBody>
      </p:sp>
      <p:sp>
        <p:nvSpPr>
          <p:cNvPr id="12" name="Step6"/>
          <p:cNvSpPr/>
          <p:nvPr/>
        </p:nvSpPr>
        <p:spPr>
          <a:xfrm>
            <a:off x="9939528" y="594360"/>
            <a:ext cx="1783080" cy="868680"/>
          </a:xfrm>
          <a:prstGeom prst="roundRect">
            <a:avLst>
              <a:gd name="adj" fmla="val 8421"/>
            </a:avLst>
          </a:prstGeom>
          <a:solidFill>
            <a:srgbClr val="FFFFFF"/>
          </a:solidFill>
          <a:ln w="15875">
            <a:solidFill>
              <a:srgbClr val="B9C4C0"/>
            </a:solidFill>
          </a:ln>
        </p:spPr>
        <p:txBody>
          <a:bodyPr wrap="square" lIns="54864" tIns="128016" rIns="91440" bIns="54864" rtlCol="0" anchor="ctr"/>
          <a:lstStyle/>
          <a:p>
            <a:pPr algn="l" indent="0" marL="0">
              <a:buNone/>
            </a:pPr>
            <a:r>
              <a:rPr lang="en-US" sz="1300" b="1" dirty="0">
                <a:solidFill>
                  <a:srgbClr val="1F6F5C"/>
                </a:solidFill>
                <a:latin typeface="Calibri" pitchFamily="34" charset="0"/>
                <a:ea typeface="Calibri" pitchFamily="34" charset="-122"/>
                <a:cs typeface="Calibri" pitchFamily="34" charset="-120"/>
              </a:rPr>
              <a:t>6  </a:t>
            </a:r>
            <a:pPr algn="l" indent="0" marL="0">
              <a:buNone/>
            </a:pPr>
            <a:r>
              <a:rPr lang="en-US" sz="1300" b="1" dirty="0">
                <a:solidFill>
                  <a:srgbClr val="16211E"/>
                </a:solidFill>
                <a:latin typeface="Calibri" pitchFamily="34" charset="0"/>
                <a:ea typeface="Calibri" pitchFamily="34" charset="-122"/>
                <a:cs typeface="Calibri" pitchFamily="34" charset="-120"/>
              </a:rPr>
              <a:t>Apply the rules</a:t>
            </a:r>
            <a:endParaRPr lang="en-US" sz="1300" dirty="0"/>
          </a:p>
          <a:p>
            <a:pPr algn="l" indent="0" marL="0">
              <a:buNone/>
            </a:pPr>
            <a:r>
              <a:rPr lang="en-US" sz="1000" dirty="0">
                <a:solidFill>
                  <a:srgbClr val="5C6B66"/>
                </a:solidFill>
                <a:latin typeface="Calibri" pitchFamily="34" charset="0"/>
                <a:ea typeface="Calibri" pitchFamily="34" charset="-122"/>
                <a:cs typeface="Calibri" pitchFamily="34" charset="-120"/>
              </a:rPr>
              <a:t>Plain code. No deny</a:t>
            </a:r>
            <a:endParaRPr lang="en-US" sz="1300" dirty="0"/>
          </a:p>
        </p:txBody>
      </p:sp>
      <p:sp>
        <p:nvSpPr>
          <p:cNvPr id="13" name="Chevron6"/>
          <p:cNvSpPr txBox="1"/>
          <p:nvPr/>
        </p:nvSpPr>
        <p:spPr>
          <a:xfrm>
            <a:off x="9829800" y="868680"/>
            <a:ext cx="109728" cy="320040"/>
          </a:xfrm>
          <a:prstGeom prst="rect">
            <a:avLst/>
          </a:prstGeom>
          <a:noFill/>
          <a:ln/>
        </p:spPr>
        <p:txBody>
          <a:bodyPr wrap="square" lIns="0" tIns="0" rIns="0" bIns="0" rtlCol="0" anchor="ctr"/>
          <a:lstStyle/>
          <a:p>
            <a:pPr algn="ctr" indent="0" marL="0">
              <a:buNone/>
            </a:pPr>
            <a:r>
              <a:rPr lang="en-US" sz="1600" b="1" dirty="0">
                <a:solidFill>
                  <a:srgbClr val="9AA8A3"/>
                </a:solidFill>
                <a:latin typeface="Calibri" pitchFamily="34" charset="0"/>
                <a:ea typeface="Calibri" pitchFamily="34" charset="-122"/>
                <a:cs typeface="Calibri" pitchFamily="34" charset="-120"/>
              </a:rPr>
              <a:t>›</a:t>
            </a:r>
            <a:endParaRPr lang="en-US" sz="1600" dirty="0"/>
          </a:p>
        </p:txBody>
      </p:sp>
      <p:sp>
        <p:nvSpPr>
          <p:cNvPr id="14" name="InputFrame"/>
          <p:cNvSpPr/>
          <p:nvPr/>
        </p:nvSpPr>
        <p:spPr>
          <a:xfrm>
            <a:off x="475488" y="1783080"/>
            <a:ext cx="5532120" cy="4526280"/>
          </a:xfrm>
          <a:prstGeom prst="roundRect">
            <a:avLst>
              <a:gd name="adj" fmla="val 1616"/>
            </a:avLst>
          </a:prstGeom>
          <a:solidFill>
            <a:srgbClr val="FFFFFF"/>
          </a:solidFill>
          <a:ln w="15875">
            <a:solidFill>
              <a:srgbClr val="9AA8A3"/>
            </a:solidFill>
            <a:prstDash val="dash"/>
          </a:ln>
        </p:spPr>
      </p:sp>
      <p:sp>
        <p:nvSpPr>
          <p:cNvPr id="15" name="InputFrameLabel"/>
          <p:cNvSpPr txBox="1"/>
          <p:nvPr/>
        </p:nvSpPr>
        <p:spPr>
          <a:xfrm>
            <a:off x="612648" y="1874520"/>
            <a:ext cx="2743200" cy="256032"/>
          </a:xfrm>
          <a:prstGeom prst="rect">
            <a:avLst/>
          </a:prstGeom>
          <a:noFill/>
          <a:ln/>
        </p:spPr>
        <p:txBody>
          <a:bodyPr wrap="square" lIns="0" tIns="0" rIns="0" bIns="0" rtlCol="0" anchor="ctr"/>
          <a:lstStyle/>
          <a:p>
            <a:pPr indent="0" marL="0">
              <a:buNone/>
            </a:pPr>
            <a:r>
              <a:rPr lang="en-US" sz="1100" b="1" spc="300" kern="0" dirty="0">
                <a:solidFill>
                  <a:srgbClr val="5C6B66"/>
                </a:solidFill>
                <a:latin typeface="Calibri" pitchFamily="34" charset="0"/>
                <a:ea typeface="Calibri" pitchFamily="34" charset="-122"/>
                <a:cs typeface="Calibri" pitchFamily="34" charset="-120"/>
              </a:rPr>
              <a:t>INPUT</a:t>
            </a:r>
            <a:endParaRPr lang="en-US" sz="1100" dirty="0"/>
          </a:p>
        </p:txBody>
      </p:sp>
      <p:sp>
        <p:nvSpPr>
          <p:cNvPr id="16" name="OutputFrame"/>
          <p:cNvSpPr/>
          <p:nvPr/>
        </p:nvSpPr>
        <p:spPr>
          <a:xfrm>
            <a:off x="6190488" y="1783080"/>
            <a:ext cx="5532120" cy="4526280"/>
          </a:xfrm>
          <a:prstGeom prst="roundRect">
            <a:avLst>
              <a:gd name="adj" fmla="val 1616"/>
            </a:avLst>
          </a:prstGeom>
          <a:solidFill>
            <a:srgbClr val="FFFFFF"/>
          </a:solidFill>
          <a:ln w="15875">
            <a:solidFill>
              <a:srgbClr val="9AA8A3"/>
            </a:solidFill>
            <a:prstDash val="dash"/>
          </a:ln>
        </p:spPr>
      </p:sp>
      <p:sp>
        <p:nvSpPr>
          <p:cNvPr id="17" name="OutputFrameLabel"/>
          <p:cNvSpPr txBox="1"/>
          <p:nvPr/>
        </p:nvSpPr>
        <p:spPr>
          <a:xfrm>
            <a:off x="6327648" y="1874520"/>
            <a:ext cx="2743200" cy="256032"/>
          </a:xfrm>
          <a:prstGeom prst="rect">
            <a:avLst/>
          </a:prstGeom>
          <a:noFill/>
          <a:ln/>
        </p:spPr>
        <p:txBody>
          <a:bodyPr wrap="square" lIns="0" tIns="0" rIns="0" bIns="0" rtlCol="0" anchor="ctr"/>
          <a:lstStyle/>
          <a:p>
            <a:pPr indent="0" marL="0">
              <a:buNone/>
            </a:pPr>
            <a:r>
              <a:rPr lang="en-US" sz="1100" b="1" spc="300" kern="0" dirty="0">
                <a:solidFill>
                  <a:srgbClr val="5C6B66"/>
                </a:solidFill>
                <a:latin typeface="Calibri" pitchFamily="34" charset="0"/>
                <a:ea typeface="Calibri" pitchFamily="34" charset="-122"/>
                <a:cs typeface="Calibri" pitchFamily="34" charset="-120"/>
              </a:rPr>
              <a:t>OUTPUT</a:t>
            </a:r>
            <a:endParaRPr lang="en-US" sz="1100" dirty="0"/>
          </a:p>
        </p:txBody>
      </p:sp>
      <p:sp>
        <p:nvSpPr>
          <p:cNvPr id="18" name="footer"/>
          <p:cNvSpPr txBox="1"/>
          <p:nvPr/>
        </p:nvSpPr>
        <p:spPr>
          <a:xfrm>
            <a:off x="475488" y="6473952"/>
            <a:ext cx="11247120" cy="228600"/>
          </a:xfrm>
          <a:prstGeom prst="rect">
            <a:avLst/>
          </a:prstGeom>
          <a:noFill/>
          <a:ln/>
        </p:spPr>
        <p:txBody>
          <a:bodyPr wrap="square" lIns="0" tIns="0" rIns="0" bIns="0" rtlCol="0" anchor="ctr"/>
          <a:lstStyle/>
          <a:p>
            <a:pPr indent="0" marL="0">
              <a:buNone/>
            </a:pPr>
            <a:r>
              <a:rPr lang="en-US" sz="900" dirty="0">
                <a:solidFill>
                  <a:srgbClr val="5C6B66"/>
                </a:solidFill>
                <a:latin typeface="Calibri" pitchFamily="34" charset="0"/>
                <a:ea typeface="Calibri" pitchFamily="34" charset="-122"/>
                <a:cs typeface="Calibri" pitchFamily="34" charset="-120"/>
              </a:rPr>
              <a:t>Frames and boxes are plain shapes. Delete the frames when you paste a screenshot.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the AI decided the packet</dc:title>
  <dc:subject>PptxGenJS Presentation</dc:subject>
  <dc:creator>Nisha Mishra</dc:creator>
  <cp:lastModifiedBy>Nisha Mishra</cp:lastModifiedBy>
  <cp:revision>1</cp:revision>
  <dcterms:created xsi:type="dcterms:W3CDTF">2026-10-04T23:05:52Z</dcterms:created>
  <dcterms:modified xsi:type="dcterms:W3CDTF">2026-10-04T23:05:52Z</dcterms:modified>
</cp:coreProperties>
</file>