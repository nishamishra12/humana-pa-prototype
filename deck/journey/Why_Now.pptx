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now? Three pressures at once.
The volume. About a million members joined Humana in January, roughly 20 percent more, all at once. KFF found Humana averages about 2.2 requests per member a year. That is an average: most members make none, and some make many. If the new members look like the current ones, that is roughly 2.3 million more requests a year, about 190,000 a month. A nurse reads every one.
The clock. Since January 2026, a decision is due in 72 hours for an expedited request and 7 calendar days for a standard one. That means an approval or a denial, not a pend. Every denial needs a specific reason. And plans publish their results every year. The first report was due March 31, 2026.
The rule on pending. A plan can add up to 14 calendar days, but only if it justifies the delay as in the member's interest and tells the member in writing. A pend does not stop the clock.
Coming January 2027, about three months away. Four data interfaces go live. The Patient Access API must show the member where a prior authorization stands.
So: more requests, a harder clock, and public results. That is why this matters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now?</a:t>
            </a:r>
            <a:endParaRPr lang="en-US" sz="2800" dirty="0"/>
          </a:p>
        </p:txBody>
      </p:sp>
      <p:sp>
        <p:nvSpPr>
          <p:cNvPr id="4" name="sub"/>
          <p:cNvSpPr txBox="1"/>
          <p:nvPr/>
        </p:nvSpPr>
        <p:spPr>
          <a:xfrm>
            <a:off x="6035040" y="502920"/>
            <a:ext cx="5696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Medicare Advantage plans, including Humana's.</a:t>
            </a:r>
            <a:endParaRPr lang="en-US" sz="1400" dirty="0"/>
          </a:p>
        </p:txBody>
      </p:sp>
      <p:sp>
        <p:nvSpPr>
          <p:cNvPr id="5" name="Card1"/>
          <p:cNvSpPr/>
          <p:nvPr/>
        </p:nvSpPr>
        <p:spPr>
          <a:xfrm>
            <a:off x="457200" y="1508760"/>
            <a:ext cx="2681478" cy="33832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25400">
            <a:solidFill>
              <a:srgbClr val="1F6F5C"/>
            </a:solidFill>
          </a:ln>
        </p:spPr>
        <p:txBody>
          <a:bodyPr wrap="square" lIns="274320" tIns="201168" rIns="201168" bIns="13716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50" b="1" spc="15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1F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members since January.</a:t>
            </a:r>
            <a:endParaRPr lang="en-US" sz="105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2.3 million more requests a year.</a:t>
            </a:r>
            <a:endParaRPr lang="en-US" sz="1050" dirty="0"/>
          </a:p>
        </p:txBody>
      </p:sp>
      <p:sp>
        <p:nvSpPr>
          <p:cNvPr id="6" name="Card2"/>
          <p:cNvSpPr/>
          <p:nvPr/>
        </p:nvSpPr>
        <p:spPr>
          <a:xfrm>
            <a:off x="3321558" y="1508760"/>
            <a:ext cx="2681478" cy="33832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25400">
            <a:solidFill>
              <a:srgbClr val="B8452F"/>
            </a:solidFill>
          </a:ln>
        </p:spPr>
        <p:txBody>
          <a:bodyPr wrap="square" lIns="274320" tIns="201168" rIns="201168" bIns="13716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50" b="1" spc="15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EFFECT SINCE JANUARY 2026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B8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hours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decide an expedited request.</a:t>
            </a:r>
            <a:endParaRPr lang="en-US" sz="105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7 days.</a:t>
            </a:r>
            <a:endParaRPr lang="en-US" sz="1050" dirty="0"/>
          </a:p>
        </p:txBody>
      </p:sp>
      <p:sp>
        <p:nvSpPr>
          <p:cNvPr id="7" name="Card3"/>
          <p:cNvSpPr/>
          <p:nvPr/>
        </p:nvSpPr>
        <p:spPr>
          <a:xfrm>
            <a:off x="6185916" y="1508760"/>
            <a:ext cx="2681478" cy="33832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25400">
            <a:solidFill>
              <a:srgbClr val="8A5A00"/>
            </a:solidFill>
          </a:ln>
        </p:spPr>
        <p:txBody>
          <a:bodyPr wrap="square" lIns="274320" tIns="201168" rIns="201168" bIns="13716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5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ON PENDING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 days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 pend can add.</a:t>
            </a:r>
            <a:endParaRPr lang="en-US" sz="105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pend does not stop the clock.</a:t>
            </a:r>
            <a:endParaRPr lang="en-US" sz="1050" dirty="0"/>
          </a:p>
        </p:txBody>
      </p:sp>
      <p:sp>
        <p:nvSpPr>
          <p:cNvPr id="8" name="Card4"/>
          <p:cNvSpPr/>
          <p:nvPr/>
        </p:nvSpPr>
        <p:spPr>
          <a:xfrm>
            <a:off x="9050274" y="1508760"/>
            <a:ext cx="2681478" cy="33832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 w="25400">
            <a:solidFill>
              <a:srgbClr val="5F3AA8"/>
            </a:solidFill>
          </a:ln>
        </p:spPr>
        <p:txBody>
          <a:bodyPr wrap="square" lIns="274320" tIns="201168" rIns="201168" bIns="13716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50" b="1" spc="150" kern="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JANUARY 2027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4000" dirty="0">
                <a:solidFill>
                  <a:srgbClr val="5F3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2027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 can see where a request stands.</a:t>
            </a:r>
            <a:endParaRPr lang="en-US" sz="1050" dirty="0"/>
          </a:p>
        </p:txBody>
      </p:sp>
      <p:sp>
        <p:nvSpPr>
          <p:cNvPr id="9" name="Bar"/>
          <p:cNvSpPr/>
          <p:nvPr/>
        </p:nvSpPr>
        <p:spPr>
          <a:xfrm>
            <a:off x="457200" y="51663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F6F5C"/>
          </a:solidFill>
          <a:ln w="12700">
            <a:solidFill>
              <a:srgbClr val="1F6F5C"/>
            </a:solidFill>
          </a:ln>
        </p:spPr>
        <p:txBody>
          <a:bodyPr wrap="square" lIns="45720" tIns="228600" rIns="228600" bIns="4572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requests. A harder clock. Public results.  </a:t>
            </a:r>
            <a:pPr algn="ctr" indent="0" marL="0">
              <a:buNone/>
            </a:pPr>
            <a:r>
              <a:rPr lang="en-US" sz="1600" dirty="0">
                <a:solidFill>
                  <a:srgbClr val="D5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this matters now.</a:t>
            </a:r>
            <a:endParaRPr lang="en-US" sz="2000" dirty="0"/>
          </a:p>
        </p:txBody>
      </p:sp>
      <p:sp>
        <p:nvSpPr>
          <p:cNvPr id="10" name="footer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CMS-0057-F final rule and fact sheet (cms.gov). 42 CFR 422.568(b). Humana member counts from its Q4 2025 financial tables (SEC). KFF, 2024: about 2.2 requests per Humana member a year, on average. The 2.3 million is an estimate.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now</dc:title>
  <dc:subject>PptxGenJS Presentation</dc:subject>
  <dc:creator>Nisha Mishra</dc:creator>
  <cp:lastModifiedBy>Nisha Mishra</cp:lastModifiedBy>
  <cp:revision>1</cp:revision>
  <dcterms:created xsi:type="dcterms:W3CDTF">2026-10-05T18:35:32Z</dcterms:created>
  <dcterms:modified xsi:type="dcterms:W3CDTF">2026-10-05T18:35:32Z</dcterms:modified>
</cp:coreProperties>
</file>