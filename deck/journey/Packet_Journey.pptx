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A provider sends the request packet by fax or portal. The intake coordinator uploads it as one PDF, up to fifteen megabytes. Nothing about the provider's side or intake changes. What changes is what happens next.
Click 2: The PDF goes through an ETL step that has AI inside, the Unstructured partitioner. It looks at the document and decides how to read each page: as typed text, or as a scan that needs optical character recognition. It partitions the page into pieces, works out where each piece sits, the bounding box, and labels each one: title, paragraph, table. The output is a list of typed pieces, each with its page and position. Everything after this works from that list.
Click 3: Next, the service. The procedure code on the request is matched to a service in the approved library. If no service uses that code, the packet is flagged 'No policy yet'. Nothing is guessed. The nurse decides, and the policy owner sees the demand on the requests-without-a-policy page.
Click 4: An AI reads the packet and fills one form, the details this service needs, for example the ejection fraction. It reads three times and the answers must agree. Where it counts dates, our code does the counting. If it cannot tell, it says so. It never guesses.
Click 5: Then we check the evidence. For every detail, plain code finds the quoted sentence on its page. A second AI call checks that the sentence really supports the claim. If not, the detail loses its tick and the nurse sees that.
Click 6: The rules engine is plain code. It compares the details with the approved rules. A missing detail means pend. An unclear one means verify. A rule that is not met means escalate. Everything met means approve. The same details always give the same answer. There is no deny in its vocabulary.
Click 7: The nurse sees a checklist with the evidence beside each item and a recommendation. There are three ways out. Approve, when everything is met. Pend, with one precise question to the provider. Or escalate, when a physician's judgment is needed.
Click 8: Hard cases go to a medical director, with the evidence already attached. Only a medical director can deny, and writes the reason.
Click 9: The point to land: the AI reads and cites. Code decides. A nurse confirms. A medical director alone can deny.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45720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 PART 2 OF 2</a:t>
            </a:r>
            <a:endParaRPr lang="en-US" sz="1100" dirty="0"/>
          </a:p>
        </p:txBody>
      </p:sp>
      <p:sp>
        <p:nvSpPr>
          <p:cNvPr id="3" name="title"/>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Then every packet is read with that library.</a:t>
            </a:r>
            <a:endParaRPr lang="en-US" sz="2600" dirty="0"/>
          </a:p>
        </p:txBody>
      </p:sp>
      <p:sp>
        <p:nvSpPr>
          <p:cNvPr id="4" name="sub"/>
          <p:cNvSpPr txBox="1"/>
          <p:nvPr/>
        </p:nvSpPr>
        <p:spPr>
          <a:xfrm>
            <a:off x="7863840" y="502920"/>
            <a:ext cx="386791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The AI reads and cites. Code decides.</a:t>
            </a:r>
            <a:endParaRPr lang="en-US" sz="1400" dirty="0"/>
          </a:p>
        </p:txBody>
      </p:sp>
      <p:sp>
        <p:nvSpPr>
          <p:cNvPr id="5" name="panelSrc"/>
          <p:cNvSpPr/>
          <p:nvPr/>
        </p:nvSpPr>
        <p:spPr>
          <a:xfrm>
            <a:off x="457200" y="1325880"/>
            <a:ext cx="3017520" cy="4434840"/>
          </a:xfrm>
          <a:prstGeom prst="roundRect">
            <a:avLst>
              <a:gd name="adj" fmla="val 3030"/>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6" name="panelApp"/>
          <p:cNvSpPr/>
          <p:nvPr/>
        </p:nvSpPr>
        <p:spPr>
          <a:xfrm>
            <a:off x="3794760" y="1325880"/>
            <a:ext cx="7936992" cy="4434840"/>
          </a:xfrm>
          <a:prstGeom prst="roundRect">
            <a:avLst>
              <a:gd name="adj" fmla="val 2062"/>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hdrSrc"/>
          <p:cNvSpPr txBox="1"/>
          <p:nvPr/>
        </p:nvSpPr>
        <p:spPr>
          <a:xfrm>
            <a:off x="640080" y="1389888"/>
            <a:ext cx="2651760" cy="502920"/>
          </a:xfrm>
          <a:prstGeom prst="rect">
            <a:avLst/>
          </a:prstGeom>
          <a:noFill/>
          <a:ln/>
        </p:spPr>
        <p:txBody>
          <a:bodyPr wrap="square" lIns="0" tIns="0" rIns="0" bIns="0" rtlCol="0" anchor="t"/>
          <a:lstStyle/>
          <a:p>
            <a:pPr algn="l" indent="0" marL="0">
              <a:buNone/>
            </a:pPr>
            <a:r>
              <a:rPr lang="en-US" sz="1100" b="1" spc="300" kern="0" dirty="0">
                <a:solidFill>
                  <a:srgbClr val="16211E"/>
                </a:solidFill>
                <a:latin typeface="Calibri" pitchFamily="34" charset="0"/>
                <a:ea typeface="Calibri" pitchFamily="34" charset="-122"/>
                <a:cs typeface="Calibri" pitchFamily="34" charset="-120"/>
              </a:rPr>
              <a:t>PROVIDER AND INTAKE</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Nothing changes here</a:t>
            </a:r>
            <a:endParaRPr lang="en-US" sz="1100" dirty="0"/>
          </a:p>
        </p:txBody>
      </p:sp>
      <p:sp>
        <p:nvSpPr>
          <p:cNvPr id="8" name="hdrApp"/>
          <p:cNvSpPr txBox="1"/>
          <p:nvPr/>
        </p:nvSpPr>
        <p:spPr>
          <a:xfrm>
            <a:off x="4023360" y="1389888"/>
            <a:ext cx="7498080" cy="502920"/>
          </a:xfrm>
          <a:prstGeom prst="rect">
            <a:avLst/>
          </a:prstGeom>
          <a:noFill/>
          <a:ln/>
        </p:spPr>
        <p:txBody>
          <a:bodyPr wrap="square" lIns="0" tIns="0" rIns="0" bIns="0" rtlCol="0" anchor="t"/>
          <a:lstStyle/>
          <a:p>
            <a:pPr algn="l" indent="0" marL="0">
              <a:buNone/>
            </a:pPr>
            <a:r>
              <a:rPr lang="en-US" sz="1100" b="1" spc="300" kern="0" dirty="0">
                <a:solidFill>
                  <a:srgbClr val="16211E"/>
                </a:solidFill>
                <a:latin typeface="Calibri" pitchFamily="34" charset="0"/>
                <a:ea typeface="Calibri" pitchFamily="34" charset="-122"/>
                <a:cs typeface="Calibri" pitchFamily="34" charset="-120"/>
              </a:rPr>
              <a:t>PA DESK</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Every packet is read with the approved library</a:t>
            </a:r>
            <a:endParaRPr lang="en-US" sz="1100" dirty="0"/>
          </a:p>
        </p:txBody>
      </p:sp>
      <p:sp>
        <p:nvSpPr>
          <p:cNvPr id="9"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All packets are made up. The reader and the evidence check use an AI model. The rules engine is plain code and cannot deny.</a:t>
            </a:r>
            <a:endParaRPr lang="en-US" sz="900" dirty="0"/>
          </a:p>
        </p:txBody>
      </p:sp>
      <p:sp>
        <p:nvSpPr>
          <p:cNvPr id="10" name="leftNote"/>
          <p:cNvSpPr txBox="1"/>
          <p:nvPr/>
        </p:nvSpPr>
        <p:spPr>
          <a:xfrm>
            <a:off x="640080" y="4663440"/>
            <a:ext cx="2651760" cy="914400"/>
          </a:xfrm>
          <a:prstGeom prst="rect">
            <a:avLst/>
          </a:prstGeom>
          <a:noFill/>
          <a:ln/>
        </p:spPr>
        <p:txBody>
          <a:bodyPr wrap="square" lIns="0" tIns="0" rIns="0" bIns="0" rtlCol="0" anchor="t"/>
          <a:lstStyle/>
          <a:p>
            <a:pPr algn="l" indent="0" marL="0">
              <a:buNone/>
            </a:pPr>
            <a:r>
              <a:rPr lang="en-US" sz="1150" i="1" dirty="0">
                <a:solidFill>
                  <a:srgbClr val="5C6B66"/>
                </a:solidFill>
                <a:latin typeface="Calibri" pitchFamily="34" charset="0"/>
                <a:ea typeface="Calibri" pitchFamily="34" charset="-122"/>
                <a:cs typeface="Calibri" pitchFamily="34" charset="-120"/>
              </a:rPr>
              <a:t>Nothing changes for the provider or for intake. What changes is what happens next.</a:t>
            </a:r>
            <a:endParaRPr lang="en-US" sz="1150" dirty="0"/>
          </a:p>
        </p:txBody>
      </p:sp>
      <p:sp>
        <p:nvSpPr>
          <p:cNvPr id="11" name="L1"/>
          <p:cNvSpPr/>
          <p:nvPr/>
        </p:nvSpPr>
        <p:spPr>
          <a:xfrm>
            <a:off x="640080" y="2011680"/>
            <a:ext cx="265176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Provider's office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Sends the request packet by fax or portal</a:t>
            </a:r>
            <a:endParaRPr lang="en-US" sz="1350" dirty="0"/>
          </a:p>
        </p:txBody>
      </p:sp>
      <p:pic>
        <p:nvPicPr>
          <p:cNvPr id="12" name="AvProv" descr="preencoded.png">    </p:cNvPr>
          <p:cNvPicPr>
            <a:picLocks noChangeAspect="1"/>
          </p:cNvPicPr>
          <p:nvPr/>
        </p:nvPicPr>
        <p:blipFill>
          <a:blip r:embed="rId1"/>
          <a:stretch>
            <a:fillRect/>
          </a:stretch>
        </p:blipFill>
        <p:spPr>
          <a:xfrm>
            <a:off x="749808" y="2212848"/>
            <a:ext cx="548640" cy="548640"/>
          </a:xfrm>
          <a:prstGeom prst="rect">
            <a:avLst/>
          </a:prstGeom>
        </p:spPr>
      </p:pic>
      <p:sp>
        <p:nvSpPr>
          <p:cNvPr id="13" name="L2"/>
          <p:cNvSpPr/>
          <p:nvPr/>
        </p:nvSpPr>
        <p:spPr>
          <a:xfrm>
            <a:off x="640080" y="3291840"/>
            <a:ext cx="265176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Intake coordinator</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Uploads one PDF, up to 15 MB</a:t>
            </a:r>
            <a:endParaRPr lang="en-US" sz="1350" dirty="0"/>
          </a:p>
        </p:txBody>
      </p:sp>
      <p:pic>
        <p:nvPicPr>
          <p:cNvPr id="14" name="AvIntake" descr="preencoded.png">    </p:cNvPr>
          <p:cNvPicPr>
            <a:picLocks noChangeAspect="1"/>
          </p:cNvPicPr>
          <p:nvPr/>
        </p:nvPicPr>
        <p:blipFill>
          <a:blip r:embed="rId2"/>
          <a:stretch>
            <a:fillRect/>
          </a:stretch>
        </p:blipFill>
        <p:spPr>
          <a:xfrm>
            <a:off x="749808" y="3493008"/>
            <a:ext cx="548640" cy="548640"/>
          </a:xfrm>
          <a:prstGeom prst="rect">
            <a:avLst/>
          </a:prstGeom>
        </p:spPr>
      </p:pic>
      <p:sp>
        <p:nvSpPr>
          <p:cNvPr id="15" name="P1"/>
          <p:cNvSpPr/>
          <p:nvPr/>
        </p:nvSpPr>
        <p:spPr>
          <a:xfrm>
            <a:off x="2286000" y="408736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000" b="1" dirty="0">
                <a:solidFill>
                  <a:srgbClr val="B8452F"/>
                </a:solidFill>
                <a:latin typeface="Calibri" pitchFamily="34" charset="0"/>
                <a:ea typeface="Calibri" pitchFamily="34" charset="-122"/>
                <a:cs typeface="Calibri" pitchFamily="34" charset="-120"/>
              </a:rPr>
              <a:t>14 pages</a:t>
            </a:r>
            <a:endParaRPr lang="en-US" sz="1000" dirty="0"/>
          </a:p>
        </p:txBody>
      </p:sp>
      <p:sp>
        <p:nvSpPr>
          <p:cNvPr id="16" name="AL"/>
          <p:cNvSpPr/>
          <p:nvPr/>
        </p:nvSpPr>
        <p:spPr>
          <a:xfrm>
            <a:off x="1965960" y="2971800"/>
            <a:ext cx="0" cy="320040"/>
          </a:xfrm>
          <a:prstGeom prst="line">
            <a:avLst/>
          </a:prstGeom>
          <a:noFill/>
          <a:ln w="22225">
            <a:solidFill>
              <a:srgbClr val="5C6B66"/>
            </a:solidFill>
            <a:prstDash val="solid"/>
            <a:tailEnd type="triangle"/>
          </a:ln>
        </p:spPr>
      </p:sp>
      <p:sp>
        <p:nvSpPr>
          <p:cNvPr id="17" name="Stub"/>
          <p:cNvSpPr/>
          <p:nvPr/>
        </p:nvSpPr>
        <p:spPr>
          <a:xfrm>
            <a:off x="3291840" y="3771900"/>
            <a:ext cx="320040" cy="0"/>
          </a:xfrm>
          <a:prstGeom prst="line">
            <a:avLst/>
          </a:prstGeom>
          <a:noFill/>
          <a:ln w="22225">
            <a:solidFill>
              <a:srgbClr val="5C6B66"/>
            </a:solidFill>
            <a:prstDash val="solid"/>
          </a:ln>
        </p:spPr>
      </p:sp>
      <p:sp>
        <p:nvSpPr>
          <p:cNvPr id="18" name="Up"/>
          <p:cNvSpPr/>
          <p:nvPr/>
        </p:nvSpPr>
        <p:spPr>
          <a:xfrm>
            <a:off x="3611880" y="2400300"/>
            <a:ext cx="0" cy="1371600"/>
          </a:xfrm>
          <a:prstGeom prst="line">
            <a:avLst/>
          </a:prstGeom>
          <a:noFill/>
          <a:ln w="22225">
            <a:solidFill>
              <a:srgbClr val="5C6B66"/>
            </a:solidFill>
            <a:prstDash val="solid"/>
          </a:ln>
        </p:spPr>
      </p:sp>
      <p:sp>
        <p:nvSpPr>
          <p:cNvPr id="19" name="ArrIn"/>
          <p:cNvSpPr/>
          <p:nvPr/>
        </p:nvSpPr>
        <p:spPr>
          <a:xfrm>
            <a:off x="3611880" y="2400300"/>
            <a:ext cx="411480" cy="0"/>
          </a:xfrm>
          <a:prstGeom prst="line">
            <a:avLst/>
          </a:prstGeom>
          <a:noFill/>
          <a:ln w="22225">
            <a:solidFill>
              <a:srgbClr val="5C6B66"/>
            </a:solidFill>
            <a:prstDash val="solid"/>
            <a:tailEnd type="triangle"/>
          </a:ln>
        </p:spPr>
      </p:sp>
      <p:sp>
        <p:nvSpPr>
          <p:cNvPr id="20" name="N1"/>
          <p:cNvSpPr/>
          <p:nvPr/>
        </p:nvSpPr>
        <p:spPr>
          <a:xfrm>
            <a:off x="4023360" y="19659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Read the pages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ETL + AI picks how to read each page and splits it into pieces</a:t>
            </a:r>
            <a:endParaRPr lang="en-US" sz="1350" dirty="0"/>
          </a:p>
        </p:txBody>
      </p:sp>
      <p:pic>
        <p:nvPicPr>
          <p:cNvPr id="21" name="IcRead" descr="preencoded.png">    </p:cNvPr>
          <p:cNvPicPr>
            <a:picLocks noChangeAspect="1"/>
          </p:cNvPicPr>
          <p:nvPr/>
        </p:nvPicPr>
        <p:blipFill>
          <a:blip r:embed="rId3"/>
          <a:stretch>
            <a:fillRect/>
          </a:stretch>
        </p:blipFill>
        <p:spPr>
          <a:xfrm>
            <a:off x="4133088" y="2121408"/>
            <a:ext cx="548640" cy="548640"/>
          </a:xfrm>
          <a:prstGeom prst="rect">
            <a:avLst/>
          </a:prstGeom>
        </p:spPr>
      </p:pic>
      <p:sp>
        <p:nvSpPr>
          <p:cNvPr id="22" name="N2"/>
          <p:cNvSpPr/>
          <p:nvPr/>
        </p:nvSpPr>
        <p:spPr>
          <a:xfrm>
            <a:off x="6629400" y="19659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Find the service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The procedure code on the request picks it</a:t>
            </a:r>
            <a:endParaRPr lang="en-US" sz="1350" dirty="0"/>
          </a:p>
        </p:txBody>
      </p:sp>
      <p:pic>
        <p:nvPicPr>
          <p:cNvPr id="23" name="IcFind" descr="preencoded.png">    </p:cNvPr>
          <p:cNvPicPr>
            <a:picLocks noChangeAspect="1"/>
          </p:cNvPicPr>
          <p:nvPr/>
        </p:nvPicPr>
        <p:blipFill>
          <a:blip r:embed="rId4"/>
          <a:stretch>
            <a:fillRect/>
          </a:stretch>
        </p:blipFill>
        <p:spPr>
          <a:xfrm>
            <a:off x="6739128" y="2121408"/>
            <a:ext cx="548640" cy="548640"/>
          </a:xfrm>
          <a:prstGeom prst="rect">
            <a:avLst/>
          </a:prstGeom>
        </p:spPr>
      </p:pic>
      <p:sp>
        <p:nvSpPr>
          <p:cNvPr id="24" name="N3"/>
          <p:cNvSpPr/>
          <p:nvPr/>
        </p:nvSpPr>
        <p:spPr>
          <a:xfrm>
            <a:off x="9235440" y="19659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Read the details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AI fills one form. Three reads must agree</a:t>
            </a:r>
            <a:endParaRPr lang="en-US" sz="1350" dirty="0"/>
          </a:p>
        </p:txBody>
      </p:sp>
      <p:pic>
        <p:nvPicPr>
          <p:cNvPr id="25" name="IcDetail" descr="preencoded.png">    </p:cNvPr>
          <p:cNvPicPr>
            <a:picLocks noChangeAspect="1"/>
          </p:cNvPicPr>
          <p:nvPr/>
        </p:nvPicPr>
        <p:blipFill>
          <a:blip r:embed="rId5"/>
          <a:stretch>
            <a:fillRect/>
          </a:stretch>
        </p:blipFill>
        <p:spPr>
          <a:xfrm>
            <a:off x="9345168" y="2121408"/>
            <a:ext cx="548640" cy="548640"/>
          </a:xfrm>
          <a:prstGeom prst="rect">
            <a:avLst/>
          </a:prstGeom>
        </p:spPr>
      </p:pic>
      <p:sp>
        <p:nvSpPr>
          <p:cNvPr id="26" name="A12"/>
          <p:cNvSpPr/>
          <p:nvPr/>
        </p:nvSpPr>
        <p:spPr>
          <a:xfrm>
            <a:off x="6327648" y="2400300"/>
            <a:ext cx="283464" cy="0"/>
          </a:xfrm>
          <a:prstGeom prst="line">
            <a:avLst/>
          </a:prstGeom>
          <a:noFill/>
          <a:ln w="22225">
            <a:solidFill>
              <a:srgbClr val="5C6B66"/>
            </a:solidFill>
            <a:prstDash val="solid"/>
            <a:tailEnd type="triangle"/>
          </a:ln>
        </p:spPr>
      </p:sp>
      <p:sp>
        <p:nvSpPr>
          <p:cNvPr id="27" name="A23"/>
          <p:cNvSpPr/>
          <p:nvPr/>
        </p:nvSpPr>
        <p:spPr>
          <a:xfrm>
            <a:off x="8933688" y="2400300"/>
            <a:ext cx="283464" cy="0"/>
          </a:xfrm>
          <a:prstGeom prst="line">
            <a:avLst/>
          </a:prstGeom>
          <a:noFill/>
          <a:ln w="22225">
            <a:solidFill>
              <a:srgbClr val="5C6B66"/>
            </a:solidFill>
            <a:prstDash val="solid"/>
            <a:tailEnd type="triangle"/>
          </a:ln>
        </p:spPr>
      </p:sp>
      <p:sp>
        <p:nvSpPr>
          <p:cNvPr id="28" name="C1"/>
          <p:cNvSpPr/>
          <p:nvPr/>
        </p:nvSpPr>
        <p:spPr>
          <a:xfrm>
            <a:off x="4069080" y="2907792"/>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Typed pieces</a:t>
            </a:r>
            <a:endParaRPr lang="en-US" sz="1000" dirty="0"/>
          </a:p>
        </p:txBody>
      </p:sp>
      <p:sp>
        <p:nvSpPr>
          <p:cNvPr id="29" name="C2"/>
          <p:cNvSpPr/>
          <p:nvPr/>
        </p:nvSpPr>
        <p:spPr>
          <a:xfrm>
            <a:off x="5212080" y="2907792"/>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Page and box</a:t>
            </a:r>
            <a:endParaRPr lang="en-US" sz="1000" dirty="0"/>
          </a:p>
        </p:txBody>
      </p:sp>
      <p:sp>
        <p:nvSpPr>
          <p:cNvPr id="30" name="T3"/>
          <p:cNvSpPr txBox="1"/>
          <p:nvPr/>
        </p:nvSpPr>
        <p:spPr>
          <a:xfrm>
            <a:off x="6629400" y="2880360"/>
            <a:ext cx="2286000" cy="384048"/>
          </a:xfrm>
          <a:prstGeom prst="rect">
            <a:avLst/>
          </a:prstGeom>
          <a:noFill/>
          <a:ln/>
        </p:spPr>
        <p:txBody>
          <a:bodyPr wrap="square" lIns="0" tIns="0" rIns="0" bIns="0" rtlCol="0" anchor="t"/>
          <a:lstStyle/>
          <a:p>
            <a:pPr algn="l" indent="0" marL="0">
              <a:buNone/>
            </a:pPr>
            <a:r>
              <a:rPr lang="en-US" sz="950" b="1" dirty="0">
                <a:solidFill>
                  <a:srgbClr val="B8452F"/>
                </a:solidFill>
                <a:latin typeface="Calibri" pitchFamily="34" charset="0"/>
                <a:ea typeface="Calibri" pitchFamily="34" charset="-122"/>
                <a:cs typeface="Calibri" pitchFamily="34" charset="-120"/>
              </a:rPr>
              <a:t>No service for the code? Flagged 'No policy yet'. Nothing is guessed.</a:t>
            </a:r>
            <a:endParaRPr lang="en-US" sz="950" dirty="0"/>
          </a:p>
        </p:txBody>
      </p:sp>
      <p:sp>
        <p:nvSpPr>
          <p:cNvPr id="31" name="C4"/>
          <p:cNvSpPr/>
          <p:nvPr/>
        </p:nvSpPr>
        <p:spPr>
          <a:xfrm>
            <a:off x="9281160" y="2907792"/>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Never guesses</a:t>
            </a:r>
            <a:endParaRPr lang="en-US" sz="1000" dirty="0"/>
          </a:p>
        </p:txBody>
      </p:sp>
      <p:sp>
        <p:nvSpPr>
          <p:cNvPr id="32" name="E1"/>
          <p:cNvSpPr/>
          <p:nvPr/>
        </p:nvSpPr>
        <p:spPr>
          <a:xfrm>
            <a:off x="10652760" y="2834640"/>
            <a:ext cx="0" cy="530352"/>
          </a:xfrm>
          <a:prstGeom prst="line">
            <a:avLst/>
          </a:prstGeom>
          <a:noFill/>
          <a:ln w="22225">
            <a:solidFill>
              <a:srgbClr val="5C6B66"/>
            </a:solidFill>
            <a:prstDash val="solid"/>
          </a:ln>
        </p:spPr>
      </p:sp>
      <p:sp>
        <p:nvSpPr>
          <p:cNvPr id="33" name="E2"/>
          <p:cNvSpPr/>
          <p:nvPr/>
        </p:nvSpPr>
        <p:spPr>
          <a:xfrm>
            <a:off x="5166360" y="3364992"/>
            <a:ext cx="5486400" cy="0"/>
          </a:xfrm>
          <a:prstGeom prst="line">
            <a:avLst/>
          </a:prstGeom>
          <a:noFill/>
          <a:ln w="22225">
            <a:solidFill>
              <a:srgbClr val="5C6B66"/>
            </a:solidFill>
            <a:prstDash val="solid"/>
          </a:ln>
        </p:spPr>
      </p:sp>
      <p:sp>
        <p:nvSpPr>
          <p:cNvPr id="34" name="E3"/>
          <p:cNvSpPr/>
          <p:nvPr/>
        </p:nvSpPr>
        <p:spPr>
          <a:xfrm>
            <a:off x="5166360" y="3364992"/>
            <a:ext cx="0" cy="201168"/>
          </a:xfrm>
          <a:prstGeom prst="line">
            <a:avLst/>
          </a:prstGeom>
          <a:noFill/>
          <a:ln w="22225">
            <a:solidFill>
              <a:srgbClr val="5C6B66"/>
            </a:solidFill>
            <a:prstDash val="solid"/>
            <a:tailEnd type="triangle"/>
          </a:ln>
        </p:spPr>
      </p:sp>
      <p:sp>
        <p:nvSpPr>
          <p:cNvPr id="35" name="N4"/>
          <p:cNvSpPr/>
          <p:nvPr/>
        </p:nvSpPr>
        <p:spPr>
          <a:xfrm>
            <a:off x="4023360" y="35661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Check the evidence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Code finds each quote on its page. A second AI checks it</a:t>
            </a:r>
            <a:endParaRPr lang="en-US" sz="1350" dirty="0"/>
          </a:p>
        </p:txBody>
      </p:sp>
      <p:pic>
        <p:nvPicPr>
          <p:cNvPr id="36" name="IcEvid" descr="preencoded.png">    </p:cNvPr>
          <p:cNvPicPr>
            <a:picLocks noChangeAspect="1"/>
          </p:cNvPicPr>
          <p:nvPr/>
        </p:nvPicPr>
        <p:blipFill>
          <a:blip r:embed="rId6"/>
          <a:stretch>
            <a:fillRect/>
          </a:stretch>
        </p:blipFill>
        <p:spPr>
          <a:xfrm>
            <a:off x="4133088" y="3721608"/>
            <a:ext cx="548640" cy="548640"/>
          </a:xfrm>
          <a:prstGeom prst="rect">
            <a:avLst/>
          </a:prstGeom>
        </p:spPr>
      </p:pic>
      <p:sp>
        <p:nvSpPr>
          <p:cNvPr id="37" name="N5"/>
          <p:cNvSpPr/>
          <p:nvPr/>
        </p:nvSpPr>
        <p:spPr>
          <a:xfrm>
            <a:off x="6629400" y="35661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Apply the rules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Plain code compares the details with the approved rules</a:t>
            </a:r>
            <a:endParaRPr lang="en-US" sz="1350" dirty="0"/>
          </a:p>
        </p:txBody>
      </p:sp>
      <p:pic>
        <p:nvPicPr>
          <p:cNvPr id="38" name="IcRules" descr="preencoded.png">    </p:cNvPr>
          <p:cNvPicPr>
            <a:picLocks noChangeAspect="1"/>
          </p:cNvPicPr>
          <p:nvPr/>
        </p:nvPicPr>
        <p:blipFill>
          <a:blip r:embed="rId7"/>
          <a:stretch>
            <a:fillRect/>
          </a:stretch>
        </p:blipFill>
        <p:spPr>
          <a:xfrm>
            <a:off x="6739128" y="3721608"/>
            <a:ext cx="548640" cy="548640"/>
          </a:xfrm>
          <a:prstGeom prst="rect">
            <a:avLst/>
          </a:prstGeom>
        </p:spPr>
      </p:pic>
      <p:sp>
        <p:nvSpPr>
          <p:cNvPr id="39" name="N6"/>
          <p:cNvSpPr/>
          <p:nvPr/>
        </p:nvSpPr>
        <p:spPr>
          <a:xfrm>
            <a:off x="9235440" y="3566160"/>
            <a:ext cx="2286000" cy="868680"/>
          </a:xfrm>
          <a:prstGeom prst="roundRect">
            <a:avLst>
              <a:gd name="adj" fmla="val 8421"/>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The nurse confirms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Sees a cited checklist and a recommendation</a:t>
            </a:r>
            <a:endParaRPr lang="en-US" sz="1350" dirty="0"/>
          </a:p>
        </p:txBody>
      </p:sp>
      <p:pic>
        <p:nvPicPr>
          <p:cNvPr id="40" name="AvNurse" descr="preencoded.png">    </p:cNvPr>
          <p:cNvPicPr>
            <a:picLocks noChangeAspect="1"/>
          </p:cNvPicPr>
          <p:nvPr/>
        </p:nvPicPr>
        <p:blipFill>
          <a:blip r:embed="rId8"/>
          <a:stretch>
            <a:fillRect/>
          </a:stretch>
        </p:blipFill>
        <p:spPr>
          <a:xfrm>
            <a:off x="9345168" y="3721608"/>
            <a:ext cx="548640" cy="548640"/>
          </a:xfrm>
          <a:prstGeom prst="rect">
            <a:avLst/>
          </a:prstGeom>
        </p:spPr>
      </p:pic>
      <p:sp>
        <p:nvSpPr>
          <p:cNvPr id="41" name="A45"/>
          <p:cNvSpPr/>
          <p:nvPr/>
        </p:nvSpPr>
        <p:spPr>
          <a:xfrm>
            <a:off x="6327648" y="4000500"/>
            <a:ext cx="283464" cy="0"/>
          </a:xfrm>
          <a:prstGeom prst="line">
            <a:avLst/>
          </a:prstGeom>
          <a:noFill/>
          <a:ln w="22225">
            <a:solidFill>
              <a:srgbClr val="5C6B66"/>
            </a:solidFill>
            <a:prstDash val="solid"/>
            <a:tailEnd type="triangle"/>
          </a:ln>
        </p:spPr>
      </p:sp>
      <p:sp>
        <p:nvSpPr>
          <p:cNvPr id="42" name="A56"/>
          <p:cNvSpPr/>
          <p:nvPr/>
        </p:nvSpPr>
        <p:spPr>
          <a:xfrm>
            <a:off x="8933688" y="4000500"/>
            <a:ext cx="283464" cy="0"/>
          </a:xfrm>
          <a:prstGeom prst="line">
            <a:avLst/>
          </a:prstGeom>
          <a:noFill/>
          <a:ln w="22225">
            <a:solidFill>
              <a:srgbClr val="5C6B66"/>
            </a:solidFill>
            <a:prstDash val="solid"/>
            <a:tailEnd type="triangle"/>
          </a:ln>
        </p:spPr>
      </p:sp>
      <p:sp>
        <p:nvSpPr>
          <p:cNvPr id="43" name="Fork1"/>
          <p:cNvSpPr/>
          <p:nvPr/>
        </p:nvSpPr>
        <p:spPr>
          <a:xfrm>
            <a:off x="10469880" y="4434840"/>
            <a:ext cx="0" cy="246888"/>
          </a:xfrm>
          <a:prstGeom prst="line">
            <a:avLst/>
          </a:prstGeom>
          <a:noFill/>
          <a:ln w="22225">
            <a:solidFill>
              <a:srgbClr val="5C6B66"/>
            </a:solidFill>
            <a:prstDash val="solid"/>
          </a:ln>
        </p:spPr>
      </p:sp>
      <p:sp>
        <p:nvSpPr>
          <p:cNvPr id="44" name="Fork2"/>
          <p:cNvSpPr/>
          <p:nvPr/>
        </p:nvSpPr>
        <p:spPr>
          <a:xfrm>
            <a:off x="4892040" y="4681728"/>
            <a:ext cx="5577840" cy="0"/>
          </a:xfrm>
          <a:prstGeom prst="line">
            <a:avLst/>
          </a:prstGeom>
          <a:noFill/>
          <a:ln w="22225">
            <a:solidFill>
              <a:srgbClr val="5C6B66"/>
            </a:solidFill>
            <a:prstDash val="solid"/>
          </a:ln>
        </p:spPr>
      </p:sp>
      <p:sp>
        <p:nvSpPr>
          <p:cNvPr id="45" name="Drop0"/>
          <p:cNvSpPr/>
          <p:nvPr/>
        </p:nvSpPr>
        <p:spPr>
          <a:xfrm>
            <a:off x="4892040" y="4681728"/>
            <a:ext cx="0" cy="274320"/>
          </a:xfrm>
          <a:prstGeom prst="line">
            <a:avLst/>
          </a:prstGeom>
          <a:noFill/>
          <a:ln w="22225">
            <a:solidFill>
              <a:srgbClr val="5C6B66"/>
            </a:solidFill>
            <a:prstDash val="solid"/>
            <a:tailEnd type="triangle"/>
          </a:ln>
        </p:spPr>
      </p:sp>
      <p:sp>
        <p:nvSpPr>
          <p:cNvPr id="46" name="Drop1"/>
          <p:cNvSpPr/>
          <p:nvPr/>
        </p:nvSpPr>
        <p:spPr>
          <a:xfrm>
            <a:off x="6720840" y="4681728"/>
            <a:ext cx="0" cy="274320"/>
          </a:xfrm>
          <a:prstGeom prst="line">
            <a:avLst/>
          </a:prstGeom>
          <a:noFill/>
          <a:ln w="22225">
            <a:solidFill>
              <a:srgbClr val="5C6B66"/>
            </a:solidFill>
            <a:prstDash val="solid"/>
            <a:tailEnd type="triangle"/>
          </a:ln>
        </p:spPr>
      </p:sp>
      <p:sp>
        <p:nvSpPr>
          <p:cNvPr id="47" name="Drop2"/>
          <p:cNvSpPr/>
          <p:nvPr/>
        </p:nvSpPr>
        <p:spPr>
          <a:xfrm>
            <a:off x="8595360" y="4681728"/>
            <a:ext cx="0" cy="274320"/>
          </a:xfrm>
          <a:prstGeom prst="line">
            <a:avLst/>
          </a:prstGeom>
          <a:noFill/>
          <a:ln w="22225">
            <a:solidFill>
              <a:srgbClr val="5C6B66"/>
            </a:solidFill>
            <a:prstDash val="solid"/>
            <a:tailEnd type="triangle"/>
          </a:ln>
        </p:spPr>
      </p:sp>
      <p:sp>
        <p:nvSpPr>
          <p:cNvPr id="48" name="OutApprove"/>
          <p:cNvSpPr/>
          <p:nvPr/>
        </p:nvSpPr>
        <p:spPr>
          <a:xfrm>
            <a:off x="4023360" y="4956048"/>
            <a:ext cx="1737360" cy="713232"/>
          </a:xfrm>
          <a:prstGeom prst="roundRect">
            <a:avLst>
              <a:gd name="adj" fmla="val 10256"/>
            </a:avLst>
          </a:prstGeom>
          <a:solidFill>
            <a:srgbClr val="DDF3E7"/>
          </a:solidFill>
          <a:ln w="12700">
            <a:solidFill>
              <a:srgbClr val="18764A"/>
            </a:solidFill>
          </a:ln>
        </p:spPr>
        <p:txBody>
          <a:bodyPr wrap="square" lIns="128016" tIns="36576" rIns="109728" bIns="36576" rtlCol="0" anchor="ctr"/>
          <a:lstStyle/>
          <a:p>
            <a:pPr algn="l" indent="0" marL="0">
              <a:buNone/>
            </a:pPr>
            <a:r>
              <a:rPr lang="en-US" sz="1300" b="1" dirty="0">
                <a:solidFill>
                  <a:srgbClr val="18764A"/>
                </a:solidFill>
                <a:latin typeface="Calibri" pitchFamily="34" charset="0"/>
                <a:ea typeface="Calibri" pitchFamily="34" charset="-122"/>
                <a:cs typeface="Calibri" pitchFamily="34" charset="-120"/>
              </a:rPr>
              <a:t>Approve</a:t>
            </a:r>
            <a:endParaRPr lang="en-US" sz="1300" dirty="0"/>
          </a:p>
          <a:p>
            <a:pPr algn="l" indent="0" marL="0">
              <a:buNone/>
            </a:pPr>
            <a:r>
              <a:rPr lang="en-US" sz="1000" dirty="0">
                <a:solidFill>
                  <a:srgbClr val="18764A"/>
                </a:solidFill>
                <a:latin typeface="Calibri" pitchFamily="34" charset="0"/>
                <a:ea typeface="Calibri" pitchFamily="34" charset="-122"/>
                <a:cs typeface="Calibri" pitchFamily="34" charset="-120"/>
              </a:rPr>
              <a:t>Every rule is met</a:t>
            </a:r>
            <a:endParaRPr lang="en-US" sz="1300" dirty="0"/>
          </a:p>
        </p:txBody>
      </p:sp>
      <p:sp>
        <p:nvSpPr>
          <p:cNvPr id="49" name="OutPend"/>
          <p:cNvSpPr/>
          <p:nvPr/>
        </p:nvSpPr>
        <p:spPr>
          <a:xfrm>
            <a:off x="5852160" y="4956048"/>
            <a:ext cx="1737360" cy="713232"/>
          </a:xfrm>
          <a:prstGeom prst="roundRect">
            <a:avLst>
              <a:gd name="adj" fmla="val 10256"/>
            </a:avLst>
          </a:prstGeom>
          <a:solidFill>
            <a:srgbClr val="FCEFD0"/>
          </a:solidFill>
          <a:ln w="12700">
            <a:solidFill>
              <a:srgbClr val="8A5A00"/>
            </a:solidFill>
          </a:ln>
        </p:spPr>
        <p:txBody>
          <a:bodyPr wrap="square" lIns="128016" tIns="36576" rIns="109728" bIns="36576" rtlCol="0" anchor="ctr"/>
          <a:lstStyle/>
          <a:p>
            <a:pPr algn="l" indent="0" marL="0">
              <a:buNone/>
            </a:pPr>
            <a:r>
              <a:rPr lang="en-US" sz="1300" b="1" dirty="0">
                <a:solidFill>
                  <a:srgbClr val="8A5A00"/>
                </a:solidFill>
                <a:latin typeface="Calibri" pitchFamily="34" charset="0"/>
                <a:ea typeface="Calibri" pitchFamily="34" charset="-122"/>
                <a:cs typeface="Calibri" pitchFamily="34" charset="-120"/>
              </a:rPr>
              <a:t>Pend</a:t>
            </a:r>
            <a:endParaRPr lang="en-US" sz="1300" dirty="0"/>
          </a:p>
          <a:p>
            <a:pPr algn="l" indent="0" marL="0">
              <a:buNone/>
            </a:pPr>
            <a:r>
              <a:rPr lang="en-US" sz="1000" dirty="0">
                <a:solidFill>
                  <a:srgbClr val="8A5A00"/>
                </a:solidFill>
                <a:latin typeface="Calibri" pitchFamily="34" charset="0"/>
                <a:ea typeface="Calibri" pitchFamily="34" charset="-122"/>
                <a:cs typeface="Calibri" pitchFamily="34" charset="-120"/>
              </a:rPr>
              <a:t>One question to the provider</a:t>
            </a:r>
            <a:endParaRPr lang="en-US" sz="1300" dirty="0"/>
          </a:p>
        </p:txBody>
      </p:sp>
      <p:sp>
        <p:nvSpPr>
          <p:cNvPr id="50" name="OutEsc"/>
          <p:cNvSpPr/>
          <p:nvPr/>
        </p:nvSpPr>
        <p:spPr>
          <a:xfrm>
            <a:off x="7726680" y="4956048"/>
            <a:ext cx="1737360" cy="713232"/>
          </a:xfrm>
          <a:prstGeom prst="roundRect">
            <a:avLst>
              <a:gd name="adj" fmla="val 10256"/>
            </a:avLst>
          </a:prstGeom>
          <a:solidFill>
            <a:srgbClr val="EBE2F8"/>
          </a:solidFill>
          <a:ln w="12700">
            <a:solidFill>
              <a:srgbClr val="5F3AA8"/>
            </a:solidFill>
          </a:ln>
        </p:spPr>
        <p:txBody>
          <a:bodyPr wrap="square" lIns="128016" tIns="36576" rIns="109728" bIns="36576" rtlCol="0" anchor="ctr"/>
          <a:lstStyle/>
          <a:p>
            <a:pPr algn="l" indent="0" marL="0">
              <a:buNone/>
            </a:pPr>
            <a:r>
              <a:rPr lang="en-US" sz="1300" b="1" dirty="0">
                <a:solidFill>
                  <a:srgbClr val="5F3AA8"/>
                </a:solidFill>
                <a:latin typeface="Calibri" pitchFamily="34" charset="0"/>
                <a:ea typeface="Calibri" pitchFamily="34" charset="-122"/>
                <a:cs typeface="Calibri" pitchFamily="34" charset="-120"/>
              </a:rPr>
              <a:t>Escalate</a:t>
            </a:r>
            <a:endParaRPr lang="en-US" sz="1300" dirty="0"/>
          </a:p>
          <a:p>
            <a:pPr algn="l" indent="0" marL="0">
              <a:buNone/>
            </a:pPr>
            <a:r>
              <a:rPr lang="en-US" sz="1000" dirty="0">
                <a:solidFill>
                  <a:srgbClr val="5F3AA8"/>
                </a:solidFill>
                <a:latin typeface="Calibri" pitchFamily="34" charset="0"/>
                <a:ea typeface="Calibri" pitchFamily="34" charset="-122"/>
                <a:cs typeface="Calibri" pitchFamily="34" charset="-120"/>
              </a:rPr>
              <a:t>Needs a physician</a:t>
            </a:r>
            <a:endParaRPr lang="en-US" sz="1300" dirty="0"/>
          </a:p>
        </p:txBody>
      </p:sp>
      <p:sp>
        <p:nvSpPr>
          <p:cNvPr id="51" name="ArrMD"/>
          <p:cNvSpPr/>
          <p:nvPr/>
        </p:nvSpPr>
        <p:spPr>
          <a:xfrm>
            <a:off x="9482328" y="5312664"/>
            <a:ext cx="210312" cy="0"/>
          </a:xfrm>
          <a:prstGeom prst="line">
            <a:avLst/>
          </a:prstGeom>
          <a:noFill/>
          <a:ln w="22225">
            <a:solidFill>
              <a:srgbClr val="5F3AA8"/>
            </a:solidFill>
            <a:prstDash val="solid"/>
            <a:tailEnd type="triangle"/>
          </a:ln>
        </p:spPr>
      </p:sp>
      <p:sp>
        <p:nvSpPr>
          <p:cNvPr id="52" name="MD"/>
          <p:cNvSpPr/>
          <p:nvPr/>
        </p:nvSpPr>
        <p:spPr>
          <a:xfrm>
            <a:off x="9692640" y="4956048"/>
            <a:ext cx="1828800" cy="713232"/>
          </a:xfrm>
          <a:prstGeom prst="roundRect">
            <a:avLst>
              <a:gd name="adj" fmla="val 10256"/>
            </a:avLst>
          </a:prstGeom>
          <a:solidFill>
            <a:srgbClr val="EBE2F8"/>
          </a:solidFill>
          <a:ln w="15875">
            <a:solidFill>
              <a:srgbClr val="5F3AA8"/>
            </a:solidFill>
          </a:ln>
        </p:spPr>
        <p:txBody>
          <a:bodyPr wrap="square" lIns="640080" tIns="27432" rIns="73152" bIns="27432" rtlCol="0" anchor="ctr"/>
          <a:lstStyle/>
          <a:p>
            <a:pPr algn="l" indent="0" marL="0">
              <a:buNone/>
            </a:pPr>
            <a:r>
              <a:rPr lang="en-US" sz="1250" b="1" dirty="0">
                <a:solidFill>
                  <a:srgbClr val="5F3AA8"/>
                </a:solidFill>
                <a:latin typeface="Calibri" pitchFamily="34" charset="0"/>
                <a:ea typeface="Calibri" pitchFamily="34" charset="-122"/>
                <a:cs typeface="Calibri" pitchFamily="34" charset="-120"/>
              </a:rPr>
              <a:t>Medical director</a:t>
            </a:r>
            <a:endParaRPr lang="en-US" sz="1250" dirty="0"/>
          </a:p>
          <a:p>
            <a:pPr algn="l" indent="0" marL="0">
              <a:buNone/>
            </a:pPr>
            <a:r>
              <a:rPr lang="en-US" sz="1000" dirty="0">
                <a:solidFill>
                  <a:srgbClr val="5C6B66"/>
                </a:solidFill>
                <a:latin typeface="Calibri" pitchFamily="34" charset="0"/>
                <a:ea typeface="Calibri" pitchFamily="34" charset="-122"/>
                <a:cs typeface="Calibri" pitchFamily="34" charset="-120"/>
              </a:rPr>
              <a:t>Only role that can deny</a:t>
            </a:r>
            <a:endParaRPr lang="en-US" sz="1250" dirty="0"/>
          </a:p>
        </p:txBody>
      </p:sp>
      <p:pic>
        <p:nvPicPr>
          <p:cNvPr id="53" name="AvMD" descr="preencoded.png">    </p:cNvPr>
          <p:cNvPicPr>
            <a:picLocks noChangeAspect="1"/>
          </p:cNvPicPr>
          <p:nvPr/>
        </p:nvPicPr>
        <p:blipFill>
          <a:blip r:embed="rId9"/>
          <a:stretch>
            <a:fillRect/>
          </a:stretch>
        </p:blipFill>
        <p:spPr>
          <a:xfrm>
            <a:off x="9765792" y="5084064"/>
            <a:ext cx="457200" cy="457200"/>
          </a:xfrm>
          <a:prstGeom prst="rect">
            <a:avLst/>
          </a:prstGeom>
        </p:spPr>
      </p:pic>
      <p:sp>
        <p:nvSpPr>
          <p:cNvPr id="54"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 provider sends the request packet by fax or portal. The intake coordinator uploads it as one PDF. Nothing changes here.</a:t>
            </a:r>
            <a:endParaRPr lang="en-US" sz="1600" dirty="0"/>
          </a:p>
        </p:txBody>
      </p:sp>
      <p:sp>
        <p:nvSpPr>
          <p:cNvPr id="55"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 ETL step with AI inside chooses how to read each page, typed text or scan, and splits it into typed pieces with their place on the page.</a:t>
            </a:r>
            <a:endParaRPr lang="en-US" sz="1600" dirty="0"/>
          </a:p>
        </p:txBody>
      </p:sp>
      <p:sp>
        <p:nvSpPr>
          <p:cNvPr id="56"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procedure code on the request picks the service. If no service uses it, the case is flagged 'No policy yet'. Nothing is guessed.</a:t>
            </a:r>
            <a:endParaRPr lang="en-US" sz="1600" dirty="0"/>
          </a:p>
        </p:txBody>
      </p:sp>
      <p:sp>
        <p:nvSpPr>
          <p:cNvPr id="57"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 AI fills one form, the details this service needs. It reads three times and the answers must agree. If it cannot tell, it says so.</a:t>
            </a:r>
            <a:endParaRPr lang="en-US" sz="1600" dirty="0"/>
          </a:p>
        </p:txBody>
      </p:sp>
      <p:sp>
        <p:nvSpPr>
          <p:cNvPr id="58"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Plain code finds each quoted sentence on its page. A second AI call checks that the sentence supports the claim.</a:t>
            </a:r>
            <a:endParaRPr lang="en-US" sz="1600" dirty="0"/>
          </a:p>
        </p:txBody>
      </p:sp>
      <p:sp>
        <p:nvSpPr>
          <p:cNvPr id="59"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rules engine is plain code. Missing: pend. Unsure: verify. A rule not met: escalate. All met: approve. There is no deny.</a:t>
            </a:r>
            <a:endParaRPr lang="en-US" sz="1600" dirty="0"/>
          </a:p>
        </p:txBody>
      </p:sp>
      <p:sp>
        <p:nvSpPr>
          <p:cNvPr id="60"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nurse sees a checklist with the evidence beside each item. There are three ways out.</a:t>
            </a:r>
            <a:endParaRPr lang="en-US" sz="1600" dirty="0"/>
          </a:p>
        </p:txBody>
      </p:sp>
      <p:sp>
        <p:nvSpPr>
          <p:cNvPr id="61" name="c8"/>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Hard cases go to a medical director. Only a medical director can deny, and writes the reason.</a:t>
            </a:r>
            <a:endParaRPr lang="en-US" sz="1600" dirty="0"/>
          </a:p>
        </p:txBody>
      </p:sp>
      <p:sp>
        <p:nvSpPr>
          <p:cNvPr id="62" name="c9"/>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AI reads and cites. Code decides. A nurse confirms. Only a medical director can deny.</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22" presetClass="entr" presetSubtype="1" fill="hold" nodeType="withEffect">
                                  <p:stCondLst>
                                    <p:cond delay="30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300"/>
                                        <p:tgtEl>
                                          <p:spTgt spid="16"/>
                                        </p:tgtEl>
                                      </p:cBhvr>
                                    </p:animEffect>
                                  </p:childTnLst>
                                </p:cTn>
                              </p:par>
                              <p:par>
                                <p:cTn id="16" presetID="10" presetClass="entr" presetSubtype="0"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9" presetID="10" presetClass="entr" presetSubtype="0" fill="hold" nodeType="withEffect">
                                  <p:stCondLst>
                                    <p:cond delay="5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22" presetID="10" presetClass="entr" presetSubtype="0" fill="hold" grpId="0" nodeType="withEffect">
                                  <p:stCondLst>
                                    <p:cond delay="9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5" presetID="22" presetClass="entr" presetSubtype="8" fill="hold" nodeType="withEffect">
                                  <p:stCondLst>
                                    <p:cond delay="110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250"/>
                                        <p:tgtEl>
                                          <p:spTgt spid="17"/>
                                        </p:tgtEl>
                                      </p:cBhvr>
                                    </p:animEffect>
                                  </p:childTnLst>
                                </p:cTn>
                              </p:par>
                              <p:par>
                                <p:cTn id="28" presetID="22" presetClass="entr" presetSubtype="4" fill="hold" nodeType="withEffect">
                                  <p:stCondLst>
                                    <p:cond delay="130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400"/>
                                        <p:tgtEl>
                                          <p:spTgt spid="18"/>
                                        </p:tgtEl>
                                      </p:cBhvr>
                                    </p:animEffect>
                                  </p:childTnLst>
                                </p:cTn>
                              </p:par>
                              <p:par>
                                <p:cTn id="31" presetID="22" presetClass="entr" presetSubtype="8" fill="hold" nodeType="withEffect">
                                  <p:stCondLst>
                                    <p:cond delay="170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300"/>
                                        <p:tgtEl>
                                          <p:spTgt spid="19"/>
                                        </p:tgtEl>
                                      </p:cBhvr>
                                    </p:animEffect>
                                  </p:childTnLst>
                                </p:cTn>
                              </p:par>
                              <p:par>
                                <p:cTn id="34" presetID="10" presetClass="entr" presetSubtype="0" fill="hold" grpId="0" nodeType="withEffect">
                                  <p:stCondLst>
                                    <p:cond delay="10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9" presetID="10" presetClass="exit" presetSubtype="0" fill="hold" grpId="0" nodeType="clickEffect">
                                  <p:stCondLst>
                                    <p:cond delay="0"/>
                                  </p:stCondLst>
                                  <p:childTnLst>
                                    <p:animEffect transition="out" filter="fade">
                                      <p:cBhvr>
                                        <p:cTn id="37" dur="300"/>
                                        <p:tgtEl>
                                          <p:spTgt spid="54"/>
                                        </p:tgtEl>
                                      </p:cBhvr>
                                    </p:animEffect>
                                    <p:set>
                                      <p:cBhvr>
                                        <p:cTn id="38" dur="1" fill="hold">
                                          <p:stCondLst>
                                            <p:cond delay="299"/>
                                          </p:stCondLst>
                                        </p:cTn>
                                        <p:tgtEl>
                                          <p:spTgt spid="54"/>
                                        </p:tgtEl>
                                        <p:attrNameLst>
                                          <p:attrName>style.visibility</p:attrName>
                                        </p:attrNameLst>
                                      </p:cBhvr>
                                      <p:to>
                                        <p:strVal val="hidden"/>
                                      </p:to>
                                    </p:set>
                                  </p:childTnLst>
                                </p:cTn>
                              </p:par>
                              <p:par>
                                <p:cTn id="42" presetID="10" presetClass="exit" presetSubtype="0" fill="hold" grpId="0" nodeType="withEffect">
                                  <p:stCondLst>
                                    <p:cond delay="200"/>
                                  </p:stCondLst>
                                  <p:childTnLst>
                                    <p:animEffect transition="out" filter="fade">
                                      <p:cBhvr>
                                        <p:cTn id="40" dur="300"/>
                                        <p:tgtEl>
                                          <p:spTgt spid="15"/>
                                        </p:tgtEl>
                                      </p:cBhvr>
                                    </p:animEffect>
                                    <p:set>
                                      <p:cBhvr>
                                        <p:cTn id="41" dur="1" fill="hold">
                                          <p:stCondLst>
                                            <p:cond delay="299"/>
                                          </p:stCondLst>
                                        </p:cTn>
                                        <p:tgtEl>
                                          <p:spTgt spid="15"/>
                                        </p:tgtEl>
                                        <p:attrNameLst>
                                          <p:attrName>style.visibility</p:attrName>
                                        </p:attrNameLst>
                                      </p:cBhvr>
                                      <p:to>
                                        <p:strVal val="hidden"/>
                                      </p:to>
                                    </p:set>
                                  </p:childTnLst>
                                </p:cTn>
                              </p:par>
                              <p:par>
                                <p:cTn id="45" presetID="10" presetClass="entr" presetSubtype="0" fill="hold" grpId="0" nodeType="withEffect">
                                  <p:stCondLst>
                                    <p:cond delay="40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8" presetID="10" presetClass="entr" presetSubtype="0" fill="hold" nodeType="withEffect">
                                  <p:stCondLst>
                                    <p:cond delay="40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51" presetID="10" presetClass="entr" presetSubtype="0" fill="hold" grpId="0" nodeType="withEffect">
                                  <p:stCondLst>
                                    <p:cond delay="100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4" presetID="10" presetClass="entr" presetSubtype="0" fill="hold" grpId="0" nodeType="withEffect">
                                  <p:stCondLst>
                                    <p:cond delay="120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7" presetID="10" presetClass="entr" presetSubtype="0" fill="hold" grpId="0" nodeType="withEffect">
                                  <p:stCondLst>
                                    <p:cond delay="300"/>
                                  </p:stCondLst>
                                  <p:childTnLst>
                                    <p:set>
                                      <p:cBhvr>
                                        <p:cTn id="55" dur="1" fill="hold">
                                          <p:stCondLst>
                                            <p:cond delay="0"/>
                                          </p:stCondLst>
                                        </p:cTn>
                                        <p:tgtEl>
                                          <p:spTgt spid="55"/>
                                        </p:tgtEl>
                                        <p:attrNameLst>
                                          <p:attrName>style.visibility</p:attrName>
                                        </p:attrNameLst>
                                      </p:cBhvr>
                                      <p:to>
                                        <p:strVal val="visible"/>
                                      </p:to>
                                    </p:set>
                                    <p:animEffect transition="in" filter="fade">
                                      <p:cBhvr>
                                        <p:cTn id="56" dur="500"/>
                                        <p:tgtEl>
                                          <p:spTgt spid="55"/>
                                        </p:tgtEl>
                                      </p:cBhvr>
                                    </p:animEffect>
                                  </p:childTnLst>
                                </p:cTn>
                              </p:par>
                            </p:childTnLst>
                          </p:cTn>
                        </p:par>
                      </p:childTnLst>
                    </p:cTn>
                  </p:par>
                  <p:par>
                    <p:cTn id="58" fill="hold">
                      <p:stCondLst>
                        <p:cond delay="indefinite"/>
                      </p:stCondLst>
                      <p:childTnLst>
                        <p:par>
                          <p:cTn id="59" fill="hold">
                            <p:stCondLst>
                              <p:cond delay="0"/>
                            </p:stCondLst>
                            <p:childTnLst>
                              <p:par>
                                <p:cTn id="62" presetID="10" presetClass="exit" presetSubtype="0" fill="hold" grpId="0" nodeType="clickEffect">
                                  <p:stCondLst>
                                    <p:cond delay="0"/>
                                  </p:stCondLst>
                                  <p:childTnLst>
                                    <p:animEffect transition="out" filter="fade">
                                      <p:cBhvr>
                                        <p:cTn id="60" dur="300"/>
                                        <p:tgtEl>
                                          <p:spTgt spid="55"/>
                                        </p:tgtEl>
                                      </p:cBhvr>
                                    </p:animEffect>
                                    <p:set>
                                      <p:cBhvr>
                                        <p:cTn id="61" dur="1" fill="hold">
                                          <p:stCondLst>
                                            <p:cond delay="299"/>
                                          </p:stCondLst>
                                        </p:cTn>
                                        <p:tgtEl>
                                          <p:spTgt spid="55"/>
                                        </p:tgtEl>
                                        <p:attrNameLst>
                                          <p:attrName>style.visibility</p:attrName>
                                        </p:attrNameLst>
                                      </p:cBhvr>
                                      <p:to>
                                        <p:strVal val="hidden"/>
                                      </p:to>
                                    </p:set>
                                  </p:childTnLst>
                                </p:cTn>
                              </p:par>
                              <p:par>
                                <p:cTn id="65" presetID="22" presetClass="entr" presetSubtype="8" fill="hold" nodeType="withEffect">
                                  <p:stCondLst>
                                    <p:cond delay="20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300"/>
                                        <p:tgtEl>
                                          <p:spTgt spid="26"/>
                                        </p:tgtEl>
                                      </p:cBhvr>
                                    </p:animEffect>
                                  </p:childTnLst>
                                </p:cTn>
                              </p:par>
                              <p:par>
                                <p:cTn id="68" presetID="10" presetClass="entr" presetSubtype="0" fill="hold" grpId="0" nodeType="withEffect">
                                  <p:stCondLst>
                                    <p:cond delay="5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71" presetID="10" presetClass="entr" presetSubtype="0" fill="hold" nodeType="withEffect">
                                  <p:stCondLst>
                                    <p:cond delay="5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4" presetID="10" presetClass="entr" presetSubtype="0" fill="hold" grpId="0" nodeType="withEffect">
                                  <p:stCondLst>
                                    <p:cond delay="100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7" presetID="10" presetClass="entr" presetSubtype="0" fill="hold" grpId="0" nodeType="withEffect">
                                  <p:stCondLst>
                                    <p:cond delay="30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500"/>
                                        <p:tgtEl>
                                          <p:spTgt spid="56"/>
                                        </p:tgtEl>
                                      </p:cBhvr>
                                    </p:animEffect>
                                  </p:childTnLst>
                                </p:cTn>
                              </p:par>
                            </p:childTnLst>
                          </p:cTn>
                        </p:par>
                      </p:childTnLst>
                    </p:cTn>
                  </p:par>
                  <p:par>
                    <p:cTn id="78" fill="hold">
                      <p:stCondLst>
                        <p:cond delay="indefinite"/>
                      </p:stCondLst>
                      <p:childTnLst>
                        <p:par>
                          <p:cTn id="79" fill="hold">
                            <p:stCondLst>
                              <p:cond delay="0"/>
                            </p:stCondLst>
                            <p:childTnLst>
                              <p:par>
                                <p:cTn id="82" presetID="10" presetClass="exit" presetSubtype="0" fill="hold" grpId="0" nodeType="clickEffect">
                                  <p:stCondLst>
                                    <p:cond delay="0"/>
                                  </p:stCondLst>
                                  <p:childTnLst>
                                    <p:animEffect transition="out" filter="fade">
                                      <p:cBhvr>
                                        <p:cTn id="80" dur="300"/>
                                        <p:tgtEl>
                                          <p:spTgt spid="56"/>
                                        </p:tgtEl>
                                      </p:cBhvr>
                                    </p:animEffect>
                                    <p:set>
                                      <p:cBhvr>
                                        <p:cTn id="81" dur="1" fill="hold">
                                          <p:stCondLst>
                                            <p:cond delay="299"/>
                                          </p:stCondLst>
                                        </p:cTn>
                                        <p:tgtEl>
                                          <p:spTgt spid="56"/>
                                        </p:tgtEl>
                                        <p:attrNameLst>
                                          <p:attrName>style.visibility</p:attrName>
                                        </p:attrNameLst>
                                      </p:cBhvr>
                                      <p:to>
                                        <p:strVal val="hidden"/>
                                      </p:to>
                                    </p:set>
                                  </p:childTnLst>
                                </p:cTn>
                              </p:par>
                              <p:par>
                                <p:cTn id="85" presetID="22" presetClass="entr" presetSubtype="8" fill="hold" nodeType="withEffect">
                                  <p:stCondLst>
                                    <p:cond delay="20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300"/>
                                        <p:tgtEl>
                                          <p:spTgt spid="27"/>
                                        </p:tgtEl>
                                      </p:cBhvr>
                                    </p:animEffect>
                                  </p:childTnLst>
                                </p:cTn>
                              </p:par>
                              <p:par>
                                <p:cTn id="88" presetID="10" presetClass="entr" presetSubtype="0" fill="hold" grpId="0" nodeType="withEffect">
                                  <p:stCondLst>
                                    <p:cond delay="50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par>
                                <p:cTn id="91" presetID="10" presetClass="entr" presetSubtype="0" fill="hold" nodeType="withEffect">
                                  <p:stCondLst>
                                    <p:cond delay="50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500"/>
                                        <p:tgtEl>
                                          <p:spTgt spid="25"/>
                                        </p:tgtEl>
                                      </p:cBhvr>
                                    </p:animEffect>
                                  </p:childTnLst>
                                </p:cTn>
                              </p:par>
                              <p:par>
                                <p:cTn id="94" presetID="10" presetClass="entr" presetSubtype="0" fill="hold" grpId="0" nodeType="withEffect">
                                  <p:stCondLst>
                                    <p:cond delay="100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7" presetID="10" presetClass="entr" presetSubtype="0" fill="hold" grpId="0" nodeType="withEffect">
                                  <p:stCondLst>
                                    <p:cond delay="300"/>
                                  </p:stCondLst>
                                  <p:childTnLst>
                                    <p:set>
                                      <p:cBhvr>
                                        <p:cTn id="95" dur="1" fill="hold">
                                          <p:stCondLst>
                                            <p:cond delay="0"/>
                                          </p:stCondLst>
                                        </p:cTn>
                                        <p:tgtEl>
                                          <p:spTgt spid="57"/>
                                        </p:tgtEl>
                                        <p:attrNameLst>
                                          <p:attrName>style.visibility</p:attrName>
                                        </p:attrNameLst>
                                      </p:cBhvr>
                                      <p:to>
                                        <p:strVal val="visible"/>
                                      </p:to>
                                    </p:set>
                                    <p:animEffect transition="in" filter="fade">
                                      <p:cBhvr>
                                        <p:cTn id="96" dur="500"/>
                                        <p:tgtEl>
                                          <p:spTgt spid="57"/>
                                        </p:tgtEl>
                                      </p:cBhvr>
                                    </p:animEffect>
                                  </p:childTnLst>
                                </p:cTn>
                              </p:par>
                            </p:childTnLst>
                          </p:cTn>
                        </p:par>
                      </p:childTnLst>
                    </p:cTn>
                  </p:par>
                  <p:par>
                    <p:cTn id="98" fill="hold">
                      <p:stCondLst>
                        <p:cond delay="indefinite"/>
                      </p:stCondLst>
                      <p:childTnLst>
                        <p:par>
                          <p:cTn id="99" fill="hold">
                            <p:stCondLst>
                              <p:cond delay="0"/>
                            </p:stCondLst>
                            <p:childTnLst>
                              <p:par>
                                <p:cTn id="102" presetID="10" presetClass="exit" presetSubtype="0" fill="hold" grpId="0" nodeType="clickEffect">
                                  <p:stCondLst>
                                    <p:cond delay="0"/>
                                  </p:stCondLst>
                                  <p:childTnLst>
                                    <p:animEffect transition="out" filter="fade">
                                      <p:cBhvr>
                                        <p:cTn id="100" dur="300"/>
                                        <p:tgtEl>
                                          <p:spTgt spid="57"/>
                                        </p:tgtEl>
                                      </p:cBhvr>
                                    </p:animEffect>
                                    <p:set>
                                      <p:cBhvr>
                                        <p:cTn id="101" dur="1" fill="hold">
                                          <p:stCondLst>
                                            <p:cond delay="299"/>
                                          </p:stCondLst>
                                        </p:cTn>
                                        <p:tgtEl>
                                          <p:spTgt spid="57"/>
                                        </p:tgtEl>
                                        <p:attrNameLst>
                                          <p:attrName>style.visibility</p:attrName>
                                        </p:attrNameLst>
                                      </p:cBhvr>
                                      <p:to>
                                        <p:strVal val="hidden"/>
                                      </p:to>
                                    </p:set>
                                  </p:childTnLst>
                                </p:cTn>
                              </p:par>
                              <p:par>
                                <p:cTn id="105" presetID="22" presetClass="entr" presetSubtype="1" fill="hold" nodeType="withEffect">
                                  <p:stCondLst>
                                    <p:cond delay="200"/>
                                  </p:stCondLst>
                                  <p:childTnLst>
                                    <p:set>
                                      <p:cBhvr>
                                        <p:cTn id="103" dur="1" fill="hold">
                                          <p:stCondLst>
                                            <p:cond delay="0"/>
                                          </p:stCondLst>
                                        </p:cTn>
                                        <p:tgtEl>
                                          <p:spTgt spid="32"/>
                                        </p:tgtEl>
                                        <p:attrNameLst>
                                          <p:attrName>style.visibility</p:attrName>
                                        </p:attrNameLst>
                                      </p:cBhvr>
                                      <p:to>
                                        <p:strVal val="visible"/>
                                      </p:to>
                                    </p:set>
                                    <p:animEffect transition="in" filter="wipe(up)">
                                      <p:cBhvr>
                                        <p:cTn id="104" dur="300"/>
                                        <p:tgtEl>
                                          <p:spTgt spid="32"/>
                                        </p:tgtEl>
                                      </p:cBhvr>
                                    </p:animEffect>
                                  </p:childTnLst>
                                </p:cTn>
                              </p:par>
                              <p:par>
                                <p:cTn id="108" presetID="22" presetClass="entr" presetSubtype="2" fill="hold" nodeType="withEffect">
                                  <p:stCondLst>
                                    <p:cond delay="500"/>
                                  </p:stCondLst>
                                  <p:childTnLst>
                                    <p:set>
                                      <p:cBhvr>
                                        <p:cTn id="106" dur="1" fill="hold">
                                          <p:stCondLst>
                                            <p:cond delay="0"/>
                                          </p:stCondLst>
                                        </p:cTn>
                                        <p:tgtEl>
                                          <p:spTgt spid="33"/>
                                        </p:tgtEl>
                                        <p:attrNameLst>
                                          <p:attrName>style.visibility</p:attrName>
                                        </p:attrNameLst>
                                      </p:cBhvr>
                                      <p:to>
                                        <p:strVal val="visible"/>
                                      </p:to>
                                    </p:set>
                                    <p:animEffect transition="in" filter="wipe(right)">
                                      <p:cBhvr>
                                        <p:cTn id="107" dur="600"/>
                                        <p:tgtEl>
                                          <p:spTgt spid="33"/>
                                        </p:tgtEl>
                                      </p:cBhvr>
                                    </p:animEffect>
                                  </p:childTnLst>
                                </p:cTn>
                              </p:par>
                              <p:par>
                                <p:cTn id="111" presetID="22" presetClass="entr" presetSubtype="1" fill="hold" nodeType="withEffect">
                                  <p:stCondLst>
                                    <p:cond delay="1100"/>
                                  </p:stCondLst>
                                  <p:childTnLst>
                                    <p:set>
                                      <p:cBhvr>
                                        <p:cTn id="109" dur="1" fill="hold">
                                          <p:stCondLst>
                                            <p:cond delay="0"/>
                                          </p:stCondLst>
                                        </p:cTn>
                                        <p:tgtEl>
                                          <p:spTgt spid="34"/>
                                        </p:tgtEl>
                                        <p:attrNameLst>
                                          <p:attrName>style.visibility</p:attrName>
                                        </p:attrNameLst>
                                      </p:cBhvr>
                                      <p:to>
                                        <p:strVal val="visible"/>
                                      </p:to>
                                    </p:set>
                                    <p:animEffect transition="in" filter="wipe(up)">
                                      <p:cBhvr>
                                        <p:cTn id="110" dur="300"/>
                                        <p:tgtEl>
                                          <p:spTgt spid="34"/>
                                        </p:tgtEl>
                                      </p:cBhvr>
                                    </p:animEffect>
                                  </p:childTnLst>
                                </p:cTn>
                              </p:par>
                              <p:par>
                                <p:cTn id="114" presetID="10" presetClass="entr" presetSubtype="0" fill="hold" grpId="0" nodeType="withEffect">
                                  <p:stCondLst>
                                    <p:cond delay="1400"/>
                                  </p:stCondLst>
                                  <p:childTnLst>
                                    <p:set>
                                      <p:cBhvr>
                                        <p:cTn id="112" dur="1" fill="hold">
                                          <p:stCondLst>
                                            <p:cond delay="0"/>
                                          </p:stCondLst>
                                        </p:cTn>
                                        <p:tgtEl>
                                          <p:spTgt spid="35"/>
                                        </p:tgtEl>
                                        <p:attrNameLst>
                                          <p:attrName>style.visibility</p:attrName>
                                        </p:attrNameLst>
                                      </p:cBhvr>
                                      <p:to>
                                        <p:strVal val="visible"/>
                                      </p:to>
                                    </p:set>
                                    <p:animEffect transition="in" filter="fade">
                                      <p:cBhvr>
                                        <p:cTn id="113" dur="500"/>
                                        <p:tgtEl>
                                          <p:spTgt spid="35"/>
                                        </p:tgtEl>
                                      </p:cBhvr>
                                    </p:animEffect>
                                  </p:childTnLst>
                                </p:cTn>
                              </p:par>
                              <p:par>
                                <p:cTn id="117" presetID="10" presetClass="entr" presetSubtype="0" fill="hold" nodeType="withEffect">
                                  <p:stCondLst>
                                    <p:cond delay="140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500"/>
                                        <p:tgtEl>
                                          <p:spTgt spid="36"/>
                                        </p:tgtEl>
                                      </p:cBhvr>
                                    </p:animEffect>
                                  </p:childTnLst>
                                </p:cTn>
                              </p:par>
                              <p:par>
                                <p:cTn id="120" presetID="10" presetClass="entr" presetSubtype="0" fill="hold" grpId="0" nodeType="withEffect">
                                  <p:stCondLst>
                                    <p:cond delay="300"/>
                                  </p:stCondLst>
                                  <p:childTnLst>
                                    <p:set>
                                      <p:cBhvr>
                                        <p:cTn id="118" dur="1" fill="hold">
                                          <p:stCondLst>
                                            <p:cond delay="0"/>
                                          </p:stCondLst>
                                        </p:cTn>
                                        <p:tgtEl>
                                          <p:spTgt spid="58"/>
                                        </p:tgtEl>
                                        <p:attrNameLst>
                                          <p:attrName>style.visibility</p:attrName>
                                        </p:attrNameLst>
                                      </p:cBhvr>
                                      <p:to>
                                        <p:strVal val="visible"/>
                                      </p:to>
                                    </p:set>
                                    <p:animEffect transition="in" filter="fade">
                                      <p:cBhvr>
                                        <p:cTn id="119" dur="500"/>
                                        <p:tgtEl>
                                          <p:spTgt spid="58"/>
                                        </p:tgtEl>
                                      </p:cBhvr>
                                    </p:animEffect>
                                  </p:childTnLst>
                                </p:cTn>
                              </p:par>
                            </p:childTnLst>
                          </p:cTn>
                        </p:par>
                      </p:childTnLst>
                    </p:cTn>
                  </p:par>
                  <p:par>
                    <p:cTn id="121" fill="hold">
                      <p:stCondLst>
                        <p:cond delay="indefinite"/>
                      </p:stCondLst>
                      <p:childTnLst>
                        <p:par>
                          <p:cTn id="122" fill="hold">
                            <p:stCondLst>
                              <p:cond delay="0"/>
                            </p:stCondLst>
                            <p:childTnLst>
                              <p:par>
                                <p:cTn id="125" presetID="10" presetClass="exit" presetSubtype="0" fill="hold" grpId="0" nodeType="clickEffect">
                                  <p:stCondLst>
                                    <p:cond delay="0"/>
                                  </p:stCondLst>
                                  <p:childTnLst>
                                    <p:animEffect transition="out" filter="fade">
                                      <p:cBhvr>
                                        <p:cTn id="123" dur="300"/>
                                        <p:tgtEl>
                                          <p:spTgt spid="58"/>
                                        </p:tgtEl>
                                      </p:cBhvr>
                                    </p:animEffect>
                                    <p:set>
                                      <p:cBhvr>
                                        <p:cTn id="124" dur="1" fill="hold">
                                          <p:stCondLst>
                                            <p:cond delay="299"/>
                                          </p:stCondLst>
                                        </p:cTn>
                                        <p:tgtEl>
                                          <p:spTgt spid="58"/>
                                        </p:tgtEl>
                                        <p:attrNameLst>
                                          <p:attrName>style.visibility</p:attrName>
                                        </p:attrNameLst>
                                      </p:cBhvr>
                                      <p:to>
                                        <p:strVal val="hidden"/>
                                      </p:to>
                                    </p:set>
                                  </p:childTnLst>
                                </p:cTn>
                              </p:par>
                              <p:par>
                                <p:cTn id="128" presetID="22" presetClass="entr" presetSubtype="8" fill="hold" nodeType="withEffect">
                                  <p:stCondLst>
                                    <p:cond delay="200"/>
                                  </p:stCondLst>
                                  <p:childTnLst>
                                    <p:set>
                                      <p:cBhvr>
                                        <p:cTn id="126" dur="1" fill="hold">
                                          <p:stCondLst>
                                            <p:cond delay="0"/>
                                          </p:stCondLst>
                                        </p:cTn>
                                        <p:tgtEl>
                                          <p:spTgt spid="41"/>
                                        </p:tgtEl>
                                        <p:attrNameLst>
                                          <p:attrName>style.visibility</p:attrName>
                                        </p:attrNameLst>
                                      </p:cBhvr>
                                      <p:to>
                                        <p:strVal val="visible"/>
                                      </p:to>
                                    </p:set>
                                    <p:animEffect transition="in" filter="wipe(left)">
                                      <p:cBhvr>
                                        <p:cTn id="127" dur="300"/>
                                        <p:tgtEl>
                                          <p:spTgt spid="41"/>
                                        </p:tgtEl>
                                      </p:cBhvr>
                                    </p:animEffect>
                                  </p:childTnLst>
                                </p:cTn>
                              </p:par>
                              <p:par>
                                <p:cTn id="131" presetID="10" presetClass="entr" presetSubtype="0" fill="hold" grpId="0" nodeType="withEffect">
                                  <p:stCondLst>
                                    <p:cond delay="50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childTnLst>
                                </p:cTn>
                              </p:par>
                              <p:par>
                                <p:cTn id="134" presetID="10" presetClass="entr" presetSubtype="0" fill="hold" nodeType="withEffect">
                                  <p:stCondLst>
                                    <p:cond delay="50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7" presetID="10" presetClass="entr" presetSubtype="0" fill="hold" grpId="0" nodeType="withEffect">
                                  <p:stCondLst>
                                    <p:cond delay="300"/>
                                  </p:stCondLst>
                                  <p:childTnLst>
                                    <p:set>
                                      <p:cBhvr>
                                        <p:cTn id="135" dur="1" fill="hold">
                                          <p:stCondLst>
                                            <p:cond delay="0"/>
                                          </p:stCondLst>
                                        </p:cTn>
                                        <p:tgtEl>
                                          <p:spTgt spid="59"/>
                                        </p:tgtEl>
                                        <p:attrNameLst>
                                          <p:attrName>style.visibility</p:attrName>
                                        </p:attrNameLst>
                                      </p:cBhvr>
                                      <p:to>
                                        <p:strVal val="visible"/>
                                      </p:to>
                                    </p:set>
                                    <p:animEffect transition="in" filter="fade">
                                      <p:cBhvr>
                                        <p:cTn id="136" dur="500"/>
                                        <p:tgtEl>
                                          <p:spTgt spid="59"/>
                                        </p:tgtEl>
                                      </p:cBhvr>
                                    </p:animEffect>
                                  </p:childTnLst>
                                </p:cTn>
                              </p:par>
                            </p:childTnLst>
                          </p:cTn>
                        </p:par>
                      </p:childTnLst>
                    </p:cTn>
                  </p:par>
                  <p:par>
                    <p:cTn id="138" fill="hold">
                      <p:stCondLst>
                        <p:cond delay="indefinite"/>
                      </p:stCondLst>
                      <p:childTnLst>
                        <p:par>
                          <p:cTn id="139" fill="hold">
                            <p:stCondLst>
                              <p:cond delay="0"/>
                            </p:stCondLst>
                            <p:childTnLst>
                              <p:par>
                                <p:cTn id="142" presetID="10" presetClass="exit" presetSubtype="0" fill="hold" grpId="0" nodeType="clickEffect">
                                  <p:stCondLst>
                                    <p:cond delay="0"/>
                                  </p:stCondLst>
                                  <p:childTnLst>
                                    <p:animEffect transition="out" filter="fade">
                                      <p:cBhvr>
                                        <p:cTn id="140" dur="300"/>
                                        <p:tgtEl>
                                          <p:spTgt spid="59"/>
                                        </p:tgtEl>
                                      </p:cBhvr>
                                    </p:animEffect>
                                    <p:set>
                                      <p:cBhvr>
                                        <p:cTn id="141" dur="1" fill="hold">
                                          <p:stCondLst>
                                            <p:cond delay="299"/>
                                          </p:stCondLst>
                                        </p:cTn>
                                        <p:tgtEl>
                                          <p:spTgt spid="59"/>
                                        </p:tgtEl>
                                        <p:attrNameLst>
                                          <p:attrName>style.visibility</p:attrName>
                                        </p:attrNameLst>
                                      </p:cBhvr>
                                      <p:to>
                                        <p:strVal val="hidden"/>
                                      </p:to>
                                    </p:set>
                                  </p:childTnLst>
                                </p:cTn>
                              </p:par>
                              <p:par>
                                <p:cTn id="145" presetID="22" presetClass="entr" presetSubtype="8" fill="hold" nodeType="withEffect">
                                  <p:stCondLst>
                                    <p:cond delay="200"/>
                                  </p:stCondLst>
                                  <p:childTnLst>
                                    <p:set>
                                      <p:cBhvr>
                                        <p:cTn id="143" dur="1" fill="hold">
                                          <p:stCondLst>
                                            <p:cond delay="0"/>
                                          </p:stCondLst>
                                        </p:cTn>
                                        <p:tgtEl>
                                          <p:spTgt spid="42"/>
                                        </p:tgtEl>
                                        <p:attrNameLst>
                                          <p:attrName>style.visibility</p:attrName>
                                        </p:attrNameLst>
                                      </p:cBhvr>
                                      <p:to>
                                        <p:strVal val="visible"/>
                                      </p:to>
                                    </p:set>
                                    <p:animEffect transition="in" filter="wipe(left)">
                                      <p:cBhvr>
                                        <p:cTn id="144" dur="300"/>
                                        <p:tgtEl>
                                          <p:spTgt spid="42"/>
                                        </p:tgtEl>
                                      </p:cBhvr>
                                    </p:animEffect>
                                  </p:childTnLst>
                                </p:cTn>
                              </p:par>
                              <p:par>
                                <p:cTn id="148" presetID="10" presetClass="entr" presetSubtype="0" fill="hold" grpId="0" nodeType="withEffect">
                                  <p:stCondLst>
                                    <p:cond delay="500"/>
                                  </p:stCondLst>
                                  <p:childTnLst>
                                    <p:set>
                                      <p:cBhvr>
                                        <p:cTn id="146" dur="1" fill="hold">
                                          <p:stCondLst>
                                            <p:cond delay="0"/>
                                          </p:stCondLst>
                                        </p:cTn>
                                        <p:tgtEl>
                                          <p:spTgt spid="39"/>
                                        </p:tgtEl>
                                        <p:attrNameLst>
                                          <p:attrName>style.visibility</p:attrName>
                                        </p:attrNameLst>
                                      </p:cBhvr>
                                      <p:to>
                                        <p:strVal val="visible"/>
                                      </p:to>
                                    </p:set>
                                    <p:animEffect transition="in" filter="fade">
                                      <p:cBhvr>
                                        <p:cTn id="147" dur="500"/>
                                        <p:tgtEl>
                                          <p:spTgt spid="39"/>
                                        </p:tgtEl>
                                      </p:cBhvr>
                                    </p:animEffect>
                                  </p:childTnLst>
                                </p:cTn>
                              </p:par>
                              <p:par>
                                <p:cTn id="151" presetID="10" presetClass="entr" presetSubtype="0" fill="hold" nodeType="withEffect">
                                  <p:stCondLst>
                                    <p:cond delay="500"/>
                                  </p:stCondLst>
                                  <p:childTnLst>
                                    <p:set>
                                      <p:cBhvr>
                                        <p:cTn id="149" dur="1" fill="hold">
                                          <p:stCondLst>
                                            <p:cond delay="0"/>
                                          </p:stCondLst>
                                        </p:cTn>
                                        <p:tgtEl>
                                          <p:spTgt spid="40"/>
                                        </p:tgtEl>
                                        <p:attrNameLst>
                                          <p:attrName>style.visibility</p:attrName>
                                        </p:attrNameLst>
                                      </p:cBhvr>
                                      <p:to>
                                        <p:strVal val="visible"/>
                                      </p:to>
                                    </p:set>
                                    <p:animEffect transition="in" filter="fade">
                                      <p:cBhvr>
                                        <p:cTn id="150" dur="500"/>
                                        <p:tgtEl>
                                          <p:spTgt spid="40"/>
                                        </p:tgtEl>
                                      </p:cBhvr>
                                    </p:animEffect>
                                  </p:childTnLst>
                                </p:cTn>
                              </p:par>
                              <p:par>
                                <p:cTn id="154" presetID="22" presetClass="entr" presetSubtype="1" fill="hold" nodeType="withEffect">
                                  <p:stCondLst>
                                    <p:cond delay="1000"/>
                                  </p:stCondLst>
                                  <p:childTnLst>
                                    <p:set>
                                      <p:cBhvr>
                                        <p:cTn id="152" dur="1" fill="hold">
                                          <p:stCondLst>
                                            <p:cond delay="0"/>
                                          </p:stCondLst>
                                        </p:cTn>
                                        <p:tgtEl>
                                          <p:spTgt spid="43"/>
                                        </p:tgtEl>
                                        <p:attrNameLst>
                                          <p:attrName>style.visibility</p:attrName>
                                        </p:attrNameLst>
                                      </p:cBhvr>
                                      <p:to>
                                        <p:strVal val="visible"/>
                                      </p:to>
                                    </p:set>
                                    <p:animEffect transition="in" filter="wipe(up)">
                                      <p:cBhvr>
                                        <p:cTn id="153" dur="250"/>
                                        <p:tgtEl>
                                          <p:spTgt spid="43"/>
                                        </p:tgtEl>
                                      </p:cBhvr>
                                    </p:animEffect>
                                  </p:childTnLst>
                                </p:cTn>
                              </p:par>
                              <p:par>
                                <p:cTn id="157" presetID="22" presetClass="entr" presetSubtype="2" fill="hold" nodeType="withEffect">
                                  <p:stCondLst>
                                    <p:cond delay="1250"/>
                                  </p:stCondLst>
                                  <p:childTnLst>
                                    <p:set>
                                      <p:cBhvr>
                                        <p:cTn id="155" dur="1" fill="hold">
                                          <p:stCondLst>
                                            <p:cond delay="0"/>
                                          </p:stCondLst>
                                        </p:cTn>
                                        <p:tgtEl>
                                          <p:spTgt spid="44"/>
                                        </p:tgtEl>
                                        <p:attrNameLst>
                                          <p:attrName>style.visibility</p:attrName>
                                        </p:attrNameLst>
                                      </p:cBhvr>
                                      <p:to>
                                        <p:strVal val="visible"/>
                                      </p:to>
                                    </p:set>
                                    <p:animEffect transition="in" filter="wipe(right)">
                                      <p:cBhvr>
                                        <p:cTn id="156" dur="500"/>
                                        <p:tgtEl>
                                          <p:spTgt spid="44"/>
                                        </p:tgtEl>
                                      </p:cBhvr>
                                    </p:animEffect>
                                  </p:childTnLst>
                                </p:cTn>
                              </p:par>
                              <p:par>
                                <p:cTn id="160" presetID="22" presetClass="entr" presetSubtype="1" fill="hold" nodeType="withEffect">
                                  <p:stCondLst>
                                    <p:cond delay="1750"/>
                                  </p:stCondLst>
                                  <p:childTnLst>
                                    <p:set>
                                      <p:cBhvr>
                                        <p:cTn id="158" dur="1" fill="hold">
                                          <p:stCondLst>
                                            <p:cond delay="0"/>
                                          </p:stCondLst>
                                        </p:cTn>
                                        <p:tgtEl>
                                          <p:spTgt spid="45"/>
                                        </p:tgtEl>
                                        <p:attrNameLst>
                                          <p:attrName>style.visibility</p:attrName>
                                        </p:attrNameLst>
                                      </p:cBhvr>
                                      <p:to>
                                        <p:strVal val="visible"/>
                                      </p:to>
                                    </p:set>
                                    <p:animEffect transition="in" filter="wipe(up)">
                                      <p:cBhvr>
                                        <p:cTn id="159" dur="250"/>
                                        <p:tgtEl>
                                          <p:spTgt spid="45"/>
                                        </p:tgtEl>
                                      </p:cBhvr>
                                    </p:animEffect>
                                  </p:childTnLst>
                                </p:cTn>
                              </p:par>
                              <p:par>
                                <p:cTn id="163" presetID="22" presetClass="entr" presetSubtype="1" fill="hold" nodeType="withEffect">
                                  <p:stCondLst>
                                    <p:cond delay="1750"/>
                                  </p:stCondLst>
                                  <p:childTnLst>
                                    <p:set>
                                      <p:cBhvr>
                                        <p:cTn id="161" dur="1" fill="hold">
                                          <p:stCondLst>
                                            <p:cond delay="0"/>
                                          </p:stCondLst>
                                        </p:cTn>
                                        <p:tgtEl>
                                          <p:spTgt spid="46"/>
                                        </p:tgtEl>
                                        <p:attrNameLst>
                                          <p:attrName>style.visibility</p:attrName>
                                        </p:attrNameLst>
                                      </p:cBhvr>
                                      <p:to>
                                        <p:strVal val="visible"/>
                                      </p:to>
                                    </p:set>
                                    <p:animEffect transition="in" filter="wipe(up)">
                                      <p:cBhvr>
                                        <p:cTn id="162" dur="250"/>
                                        <p:tgtEl>
                                          <p:spTgt spid="46"/>
                                        </p:tgtEl>
                                      </p:cBhvr>
                                    </p:animEffect>
                                  </p:childTnLst>
                                </p:cTn>
                              </p:par>
                              <p:par>
                                <p:cTn id="166" presetID="22" presetClass="entr" presetSubtype="1" fill="hold" nodeType="withEffect">
                                  <p:stCondLst>
                                    <p:cond delay="1750"/>
                                  </p:stCondLst>
                                  <p:childTnLst>
                                    <p:set>
                                      <p:cBhvr>
                                        <p:cTn id="164" dur="1" fill="hold">
                                          <p:stCondLst>
                                            <p:cond delay="0"/>
                                          </p:stCondLst>
                                        </p:cTn>
                                        <p:tgtEl>
                                          <p:spTgt spid="47"/>
                                        </p:tgtEl>
                                        <p:attrNameLst>
                                          <p:attrName>style.visibility</p:attrName>
                                        </p:attrNameLst>
                                      </p:cBhvr>
                                      <p:to>
                                        <p:strVal val="visible"/>
                                      </p:to>
                                    </p:set>
                                    <p:animEffect transition="in" filter="wipe(up)">
                                      <p:cBhvr>
                                        <p:cTn id="165" dur="250"/>
                                        <p:tgtEl>
                                          <p:spTgt spid="47"/>
                                        </p:tgtEl>
                                      </p:cBhvr>
                                    </p:animEffect>
                                  </p:childTnLst>
                                </p:cTn>
                              </p:par>
                              <p:par>
                                <p:cTn id="169" presetID="10" presetClass="entr" presetSubtype="0" fill="hold" grpId="0" nodeType="withEffect">
                                  <p:stCondLst>
                                    <p:cond delay="2000"/>
                                  </p:stCondLst>
                                  <p:childTnLst>
                                    <p:set>
                                      <p:cBhvr>
                                        <p:cTn id="167" dur="1" fill="hold">
                                          <p:stCondLst>
                                            <p:cond delay="0"/>
                                          </p:stCondLst>
                                        </p:cTn>
                                        <p:tgtEl>
                                          <p:spTgt spid="48"/>
                                        </p:tgtEl>
                                        <p:attrNameLst>
                                          <p:attrName>style.visibility</p:attrName>
                                        </p:attrNameLst>
                                      </p:cBhvr>
                                      <p:to>
                                        <p:strVal val="visible"/>
                                      </p:to>
                                    </p:set>
                                    <p:animEffect transition="in" filter="fade">
                                      <p:cBhvr>
                                        <p:cTn id="168" dur="500"/>
                                        <p:tgtEl>
                                          <p:spTgt spid="48"/>
                                        </p:tgtEl>
                                      </p:cBhvr>
                                    </p:animEffect>
                                  </p:childTnLst>
                                </p:cTn>
                              </p:par>
                              <p:par>
                                <p:cTn id="172" presetID="10" presetClass="entr" presetSubtype="0" fill="hold" grpId="0" nodeType="withEffect">
                                  <p:stCondLst>
                                    <p:cond delay="2000"/>
                                  </p:stCondLst>
                                  <p:childTnLst>
                                    <p:set>
                                      <p:cBhvr>
                                        <p:cTn id="170" dur="1" fill="hold">
                                          <p:stCondLst>
                                            <p:cond delay="0"/>
                                          </p:stCondLst>
                                        </p:cTn>
                                        <p:tgtEl>
                                          <p:spTgt spid="49"/>
                                        </p:tgtEl>
                                        <p:attrNameLst>
                                          <p:attrName>style.visibility</p:attrName>
                                        </p:attrNameLst>
                                      </p:cBhvr>
                                      <p:to>
                                        <p:strVal val="visible"/>
                                      </p:to>
                                    </p:set>
                                    <p:animEffect transition="in" filter="fade">
                                      <p:cBhvr>
                                        <p:cTn id="171" dur="500"/>
                                        <p:tgtEl>
                                          <p:spTgt spid="49"/>
                                        </p:tgtEl>
                                      </p:cBhvr>
                                    </p:animEffect>
                                  </p:childTnLst>
                                </p:cTn>
                              </p:par>
                              <p:par>
                                <p:cTn id="175" presetID="10" presetClass="entr" presetSubtype="0" fill="hold" grpId="0" nodeType="withEffect">
                                  <p:stCondLst>
                                    <p:cond delay="2000"/>
                                  </p:stCondLst>
                                  <p:childTnLst>
                                    <p:set>
                                      <p:cBhvr>
                                        <p:cTn id="173" dur="1" fill="hold">
                                          <p:stCondLst>
                                            <p:cond delay="0"/>
                                          </p:stCondLst>
                                        </p:cTn>
                                        <p:tgtEl>
                                          <p:spTgt spid="50"/>
                                        </p:tgtEl>
                                        <p:attrNameLst>
                                          <p:attrName>style.visibility</p:attrName>
                                        </p:attrNameLst>
                                      </p:cBhvr>
                                      <p:to>
                                        <p:strVal val="visible"/>
                                      </p:to>
                                    </p:set>
                                    <p:animEffect transition="in" filter="fade">
                                      <p:cBhvr>
                                        <p:cTn id="174" dur="500"/>
                                        <p:tgtEl>
                                          <p:spTgt spid="50"/>
                                        </p:tgtEl>
                                      </p:cBhvr>
                                    </p:animEffect>
                                  </p:childTnLst>
                                </p:cTn>
                              </p:par>
                              <p:par>
                                <p:cTn id="178" presetID="10" presetClass="entr" presetSubtype="0" fill="hold" grpId="0" nodeType="withEffect">
                                  <p:stCondLst>
                                    <p:cond delay="30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500"/>
                                        <p:tgtEl>
                                          <p:spTgt spid="60"/>
                                        </p:tgtEl>
                                      </p:cBhvr>
                                    </p:animEffect>
                                  </p:childTnLst>
                                </p:cTn>
                              </p:par>
                            </p:childTnLst>
                          </p:cTn>
                        </p:par>
                      </p:childTnLst>
                    </p:cTn>
                  </p:par>
                  <p:par>
                    <p:cTn id="179" fill="hold">
                      <p:stCondLst>
                        <p:cond delay="indefinite"/>
                      </p:stCondLst>
                      <p:childTnLst>
                        <p:par>
                          <p:cTn id="180" fill="hold">
                            <p:stCondLst>
                              <p:cond delay="0"/>
                            </p:stCondLst>
                            <p:childTnLst>
                              <p:par>
                                <p:cTn id="183" presetID="10" presetClass="exit" presetSubtype="0" fill="hold" grpId="0" nodeType="clickEffect">
                                  <p:stCondLst>
                                    <p:cond delay="0"/>
                                  </p:stCondLst>
                                  <p:childTnLst>
                                    <p:animEffect transition="out" filter="fade">
                                      <p:cBhvr>
                                        <p:cTn id="181" dur="300"/>
                                        <p:tgtEl>
                                          <p:spTgt spid="60"/>
                                        </p:tgtEl>
                                      </p:cBhvr>
                                    </p:animEffect>
                                    <p:set>
                                      <p:cBhvr>
                                        <p:cTn id="182" dur="1" fill="hold">
                                          <p:stCondLst>
                                            <p:cond delay="299"/>
                                          </p:stCondLst>
                                        </p:cTn>
                                        <p:tgtEl>
                                          <p:spTgt spid="60"/>
                                        </p:tgtEl>
                                        <p:attrNameLst>
                                          <p:attrName>style.visibility</p:attrName>
                                        </p:attrNameLst>
                                      </p:cBhvr>
                                      <p:to>
                                        <p:strVal val="hidden"/>
                                      </p:to>
                                    </p:set>
                                  </p:childTnLst>
                                </p:cTn>
                              </p:par>
                              <p:par>
                                <p:cTn id="186" presetID="22" presetClass="entr" presetSubtype="8" fill="hold" nodeType="withEffect">
                                  <p:stCondLst>
                                    <p:cond delay="200"/>
                                  </p:stCondLst>
                                  <p:childTnLst>
                                    <p:set>
                                      <p:cBhvr>
                                        <p:cTn id="184" dur="1" fill="hold">
                                          <p:stCondLst>
                                            <p:cond delay="0"/>
                                          </p:stCondLst>
                                        </p:cTn>
                                        <p:tgtEl>
                                          <p:spTgt spid="51"/>
                                        </p:tgtEl>
                                        <p:attrNameLst>
                                          <p:attrName>style.visibility</p:attrName>
                                        </p:attrNameLst>
                                      </p:cBhvr>
                                      <p:to>
                                        <p:strVal val="visible"/>
                                      </p:to>
                                    </p:set>
                                    <p:animEffect transition="in" filter="wipe(left)">
                                      <p:cBhvr>
                                        <p:cTn id="185" dur="250"/>
                                        <p:tgtEl>
                                          <p:spTgt spid="51"/>
                                        </p:tgtEl>
                                      </p:cBhvr>
                                    </p:animEffect>
                                  </p:childTnLst>
                                </p:cTn>
                              </p:par>
                              <p:par>
                                <p:cTn id="189" presetID="10" presetClass="entr" presetSubtype="0" fill="hold" grpId="0" nodeType="withEffect">
                                  <p:stCondLst>
                                    <p:cond delay="500"/>
                                  </p:stCondLst>
                                  <p:childTnLst>
                                    <p:set>
                                      <p:cBhvr>
                                        <p:cTn id="187" dur="1" fill="hold">
                                          <p:stCondLst>
                                            <p:cond delay="0"/>
                                          </p:stCondLst>
                                        </p:cTn>
                                        <p:tgtEl>
                                          <p:spTgt spid="52"/>
                                        </p:tgtEl>
                                        <p:attrNameLst>
                                          <p:attrName>style.visibility</p:attrName>
                                        </p:attrNameLst>
                                      </p:cBhvr>
                                      <p:to>
                                        <p:strVal val="visible"/>
                                      </p:to>
                                    </p:set>
                                    <p:animEffect transition="in" filter="fade">
                                      <p:cBhvr>
                                        <p:cTn id="188" dur="500"/>
                                        <p:tgtEl>
                                          <p:spTgt spid="52"/>
                                        </p:tgtEl>
                                      </p:cBhvr>
                                    </p:animEffect>
                                  </p:childTnLst>
                                </p:cTn>
                              </p:par>
                              <p:par>
                                <p:cTn id="192" presetID="10" presetClass="entr" presetSubtype="0" fill="hold" nodeType="withEffect">
                                  <p:stCondLst>
                                    <p:cond delay="500"/>
                                  </p:stCondLst>
                                  <p:childTnLst>
                                    <p:set>
                                      <p:cBhvr>
                                        <p:cTn id="190" dur="1" fill="hold">
                                          <p:stCondLst>
                                            <p:cond delay="0"/>
                                          </p:stCondLst>
                                        </p:cTn>
                                        <p:tgtEl>
                                          <p:spTgt spid="53"/>
                                        </p:tgtEl>
                                        <p:attrNameLst>
                                          <p:attrName>style.visibility</p:attrName>
                                        </p:attrNameLst>
                                      </p:cBhvr>
                                      <p:to>
                                        <p:strVal val="visible"/>
                                      </p:to>
                                    </p:set>
                                    <p:animEffect transition="in" filter="fade">
                                      <p:cBhvr>
                                        <p:cTn id="191" dur="500"/>
                                        <p:tgtEl>
                                          <p:spTgt spid="53"/>
                                        </p:tgtEl>
                                      </p:cBhvr>
                                    </p:animEffect>
                                  </p:childTnLst>
                                </p:cTn>
                              </p:par>
                              <p:par>
                                <p:cTn id="195" presetID="10" presetClass="entr" presetSubtype="0" fill="hold" grpId="0" nodeType="withEffect">
                                  <p:stCondLst>
                                    <p:cond delay="300"/>
                                  </p:stCondLst>
                                  <p:childTnLst>
                                    <p:set>
                                      <p:cBhvr>
                                        <p:cTn id="193" dur="1" fill="hold">
                                          <p:stCondLst>
                                            <p:cond delay="0"/>
                                          </p:stCondLst>
                                        </p:cTn>
                                        <p:tgtEl>
                                          <p:spTgt spid="61"/>
                                        </p:tgtEl>
                                        <p:attrNameLst>
                                          <p:attrName>style.visibility</p:attrName>
                                        </p:attrNameLst>
                                      </p:cBhvr>
                                      <p:to>
                                        <p:strVal val="visible"/>
                                      </p:to>
                                    </p:set>
                                    <p:animEffect transition="in" filter="fade">
                                      <p:cBhvr>
                                        <p:cTn id="194" dur="500"/>
                                        <p:tgtEl>
                                          <p:spTgt spid="61"/>
                                        </p:tgtEl>
                                      </p:cBhvr>
                                    </p:animEffect>
                                  </p:childTnLst>
                                </p:cTn>
                              </p:par>
                            </p:childTnLst>
                          </p:cTn>
                        </p:par>
                      </p:childTnLst>
                    </p:cTn>
                  </p:par>
                  <p:par>
                    <p:cTn id="196" fill="hold">
                      <p:stCondLst>
                        <p:cond delay="indefinite"/>
                      </p:stCondLst>
                      <p:childTnLst>
                        <p:par>
                          <p:cTn id="197" fill="hold">
                            <p:stCondLst>
                              <p:cond delay="0"/>
                            </p:stCondLst>
                            <p:childTnLst>
                              <p:par>
                                <p:cTn id="200" presetID="10" presetClass="exit" presetSubtype="0" fill="hold" grpId="0" nodeType="clickEffect">
                                  <p:stCondLst>
                                    <p:cond delay="0"/>
                                  </p:stCondLst>
                                  <p:childTnLst>
                                    <p:animEffect transition="out" filter="fade">
                                      <p:cBhvr>
                                        <p:cTn id="198" dur="300"/>
                                        <p:tgtEl>
                                          <p:spTgt spid="61"/>
                                        </p:tgtEl>
                                      </p:cBhvr>
                                    </p:animEffect>
                                    <p:set>
                                      <p:cBhvr>
                                        <p:cTn id="199" dur="1" fill="hold">
                                          <p:stCondLst>
                                            <p:cond delay="299"/>
                                          </p:stCondLst>
                                        </p:cTn>
                                        <p:tgtEl>
                                          <p:spTgt spid="61"/>
                                        </p:tgtEl>
                                        <p:attrNameLst>
                                          <p:attrName>style.visibility</p:attrName>
                                        </p:attrNameLst>
                                      </p:cBhvr>
                                      <p:to>
                                        <p:strVal val="hidden"/>
                                      </p:to>
                                    </p:set>
                                  </p:childTnLst>
                                </p:cTn>
                              </p:par>
                              <p:par>
                                <p:cTn id="203" presetID="10" presetClass="entr" presetSubtype="0" fill="hold" grpId="0" nodeType="withEffect">
                                  <p:stCondLst>
                                    <p:cond delay="300"/>
                                  </p:stCondLst>
                                  <p:childTnLst>
                                    <p:set>
                                      <p:cBhvr>
                                        <p:cTn id="201" dur="1" fill="hold">
                                          <p:stCondLst>
                                            <p:cond delay="0"/>
                                          </p:stCondLst>
                                        </p:cTn>
                                        <p:tgtEl>
                                          <p:spTgt spid="62"/>
                                        </p:tgtEl>
                                        <p:attrNameLst>
                                          <p:attrName>style.visibility</p:attrName>
                                        </p:attrNameLst>
                                      </p:cBhvr>
                                      <p:to>
                                        <p:strVal val="visible"/>
                                      </p:to>
                                    </p:set>
                                    <p:animEffect transition="in" filter="fade">
                                      <p:cBhvr>
                                        <p:cTn id="20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54" grpId="0"/>
      <p:bldP spid="20" grpId="0" animBg="1"/>
      <p:bldP spid="28" grpId="0" animBg="1"/>
      <p:bldP spid="29" grpId="0" animBg="1"/>
      <p:bldP spid="55" grpId="0"/>
      <p:bldP spid="22" grpId="0" animBg="1"/>
      <p:bldP spid="30" grpId="0"/>
      <p:bldP spid="56" grpId="0"/>
      <p:bldP spid="24" grpId="0" animBg="1"/>
      <p:bldP spid="31" grpId="0" animBg="1"/>
      <p:bldP spid="57" grpId="0"/>
      <p:bldP spid="35" grpId="0" animBg="1"/>
      <p:bldP spid="58" grpId="0"/>
      <p:bldP spid="37" grpId="0" animBg="1"/>
      <p:bldP spid="59" grpId="0"/>
      <p:bldP spid="39" grpId="0" animBg="1"/>
      <p:bldP spid="48" grpId="0" animBg="1"/>
      <p:bldP spid="49" grpId="0" animBg="1"/>
      <p:bldP spid="50" grpId="0" animBg="1"/>
      <p:bldP spid="60" grpId="0"/>
      <p:bldP spid="52" grpId="0" animBg="1"/>
      <p:bldP spid="61" grpId="0"/>
      <p:bldP spid="6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how a packet moves through PA Desk</dc:title>
  <dc:subject>PptxGenJS Presentation</dc:subject>
  <dc:creator>Nisha Mishra</dc:creator>
  <cp:lastModifiedBy>Nisha Mishra</cp:lastModifiedBy>
  <cp:revision>1</cp:revision>
  <dcterms:created xsi:type="dcterms:W3CDTF">2026-10-04T22:36:51Z</dcterms:created>
  <dcterms:modified xsi:type="dcterms:W3CDTF">2026-10-04T22:36:51Z</dcterms:modified>
</cp:coreProperties>
</file>