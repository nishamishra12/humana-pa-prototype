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read Humana's own public reports, and Humana is fast. A standard decision takes one day on average. The federal limit is seven. An expedited decision takes four to eleven hours, and the federal limit is seventy-two. And that is across nine and a half million requests. That is real operational strength. And the pile is growing. About a million members joined Humana in January, and a Humana member makes about 2.2 requests a year, so about 2.3 million more requests a year are coming, each one read by a nurse.
But fast is not the same as right. Sixty-five percent of appealed Humana denials were overturned. That comes from Humana's own federal report for 2025. I do not claim sixty-five percent of denials are wrong. Only about three percent of denials are appealed. But the ones that are appealed get reversed most of the time, and an overturn often comes from new information. That is my point. The first look was missing something.
Zoom out and the problem is bigger. Across all of Medicare Advantage, eighty-one percent of appealed denials were overturned in 2024. And the Inspector General found ninety-five percent of appealed skilled nursing denials were overturned.
There is another side of the coin. We may not solve this one directly, but it adds color to the problem. Physicians feel it, and they are the people closest to the patient. Ninety-three percent say prior authorization can delay care. Twenty-six percent report a serious adverse event for a patient.
One more thing. I could not find a report from Humana or from the federal government on how many hours reviewers spend on prior authorization. A physician reports thirteen hours a week. I will not say a utilization nurse spends the same. But with nine and a half million requests, and fourteen pages to read and check against policy on each one, I would expect a big part of their shift goes to this. A pilot is how we would measure it.
So we want to be right, and stay inside the federal limits. But the biggest goal is to be correct. An overturned denial is care that was delayed. Our goal is not to be faster. Our goal is to be right the first time. And speed becomes a line we do not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36576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NUMBERS</a:t>
            </a:r>
            <a:endParaRPr lang="en-US" sz="1100" dirty="0"/>
          </a:p>
        </p:txBody>
      </p:sp>
      <p:sp>
        <p:nvSpPr>
          <p:cNvPr id="3" name="title"/>
          <p:cNvSpPr txBox="1"/>
          <p:nvPr/>
        </p:nvSpPr>
        <p:spPr>
          <a:xfrm>
            <a:off x="457200" y="502920"/>
            <a:ext cx="786384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Fast is not the same as right.</a:t>
            </a:r>
            <a:endParaRPr lang="en-US" sz="2600" dirty="0"/>
          </a:p>
        </p:txBody>
      </p:sp>
      <p:sp>
        <p:nvSpPr>
          <p:cNvPr id="4" name="sub"/>
          <p:cNvSpPr txBox="1"/>
          <p:nvPr/>
        </p:nvSpPr>
        <p:spPr>
          <a:xfrm>
            <a:off x="7589520" y="502920"/>
            <a:ext cx="4142232" cy="685800"/>
          </a:xfrm>
          <a:prstGeom prst="rect">
            <a:avLst/>
          </a:prstGeom>
          <a:noFill/>
          <a:ln/>
        </p:spPr>
        <p:txBody>
          <a:bodyPr wrap="square" lIns="0" tIns="0" rIns="0" bIns="0" rtlCol="0" anchor="ctr"/>
          <a:lstStyle/>
          <a:p>
            <a:pPr algn="r" indent="0" marL="0">
              <a:buNone/>
            </a:pPr>
            <a:r>
              <a:rPr lang="en-US" sz="1300" dirty="0">
                <a:solidFill>
                  <a:srgbClr val="5C6B66"/>
                </a:solidFill>
                <a:latin typeface="Calibri" pitchFamily="34" charset="0"/>
                <a:ea typeface="Calibri" pitchFamily="34" charset="-122"/>
                <a:cs typeface="Calibri" pitchFamily="34" charset="-120"/>
              </a:rPr>
              <a:t>Medicare Advantage prior authorization</a:t>
            </a:r>
            <a:endParaRPr lang="en-US" sz="13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Sources: Humana CY2025 public prior authorization reports (CMS-0057-F). KFF, 2024 data. HHS OIG data brief OEI-09-24-00331. AMA 2025 Prior Authorization Physician Survey.</a:t>
            </a:r>
            <a:endParaRPr lang="en-US" sz="900" dirty="0"/>
          </a:p>
        </p:txBody>
      </p:sp>
      <p:sp>
        <p:nvSpPr>
          <p:cNvPr id="6" name="S1"/>
          <p:cNvSpPr txBox="1"/>
          <p:nvPr/>
        </p:nvSpPr>
        <p:spPr>
          <a:xfrm>
            <a:off x="457200" y="1325880"/>
            <a:ext cx="11274552" cy="237744"/>
          </a:xfrm>
          <a:prstGeom prst="rect">
            <a:avLst/>
          </a:prstGeom>
          <a:noFill/>
          <a:ln/>
        </p:spPr>
        <p:txBody>
          <a:bodyPr wrap="square" lIns="0" tIns="0" rIns="0" bIns="0" rtlCol="0" anchor="t"/>
          <a:lstStyle/>
          <a:p>
            <a:pPr algn="l" indent="0" marL="0">
              <a:buNone/>
            </a:pPr>
            <a:r>
              <a:rPr lang="en-US" sz="1100" b="1" spc="200" kern="0" dirty="0">
                <a:solidFill>
                  <a:srgbClr val="18764A"/>
                </a:solidFill>
                <a:latin typeface="Calibri" pitchFamily="34" charset="0"/>
                <a:ea typeface="Calibri" pitchFamily="34" charset="-122"/>
                <a:cs typeface="Calibri" pitchFamily="34" charset="-120"/>
              </a:rPr>
              <a:t>HUMANA IS FAST, AT SCALE</a:t>
            </a:r>
            <a:endParaRPr lang="en-US" sz="1100" dirty="0"/>
          </a:p>
        </p:txBody>
      </p:sp>
      <p:sp>
        <p:nvSpPr>
          <p:cNvPr id="7" name="A1"/>
          <p:cNvSpPr/>
          <p:nvPr/>
        </p:nvSpPr>
        <p:spPr>
          <a:xfrm>
            <a:off x="457200" y="1572768"/>
            <a:ext cx="3657600" cy="1188720"/>
          </a:xfrm>
          <a:prstGeom prst="roundRect">
            <a:avLst>
              <a:gd name="adj" fmla="val 6154"/>
            </a:avLst>
          </a:prstGeom>
          <a:solidFill>
            <a:srgbClr val="DDF3E7"/>
          </a:solidFill>
          <a:ln w="19050">
            <a:solidFill>
              <a:srgbClr val="18764A"/>
            </a:solidFill>
          </a:ln>
        </p:spPr>
        <p:txBody>
          <a:bodyPr wrap="square" lIns="182880" tIns="91440" rIns="182880" bIns="73152" rtlCol="0" anchor="ctr"/>
          <a:lstStyle/>
          <a:p>
            <a:pPr algn="l" indent="0" marL="0">
              <a:buNone/>
            </a:pPr>
            <a:r>
              <a:rPr lang="en-US" sz="3600" dirty="0">
                <a:solidFill>
                  <a:srgbClr val="18764A"/>
                </a:solidFill>
                <a:latin typeface="Cambria" pitchFamily="34" charset="0"/>
                <a:ea typeface="Cambria" pitchFamily="34" charset="-122"/>
                <a:cs typeface="Cambria" pitchFamily="34" charset="-120"/>
              </a:rPr>
              <a:t>1 day</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standard decisions take, on average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Humana Medicare Advantage, 2025. Federal limit: 7 days.</a:t>
            </a:r>
            <a:endParaRPr lang="en-US" sz="3600" dirty="0"/>
          </a:p>
        </p:txBody>
      </p:sp>
      <p:sp>
        <p:nvSpPr>
          <p:cNvPr id="8" name="A2"/>
          <p:cNvSpPr/>
          <p:nvPr/>
        </p:nvSpPr>
        <p:spPr>
          <a:xfrm>
            <a:off x="4265676" y="1572768"/>
            <a:ext cx="3657600" cy="1188720"/>
          </a:xfrm>
          <a:prstGeom prst="roundRect">
            <a:avLst>
              <a:gd name="adj" fmla="val 6154"/>
            </a:avLst>
          </a:prstGeom>
          <a:solidFill>
            <a:srgbClr val="DDF3E7"/>
          </a:solidFill>
          <a:ln w="19050">
            <a:solidFill>
              <a:srgbClr val="18764A"/>
            </a:solidFill>
          </a:ln>
        </p:spPr>
        <p:txBody>
          <a:bodyPr wrap="square" lIns="182880" tIns="91440" rIns="182880" bIns="73152" rtlCol="0" anchor="ctr"/>
          <a:lstStyle/>
          <a:p>
            <a:pPr algn="l" indent="0" marL="0">
              <a:buNone/>
            </a:pPr>
            <a:r>
              <a:rPr lang="en-US" sz="3600" dirty="0">
                <a:solidFill>
                  <a:srgbClr val="18764A"/>
                </a:solidFill>
                <a:latin typeface="Cambria" pitchFamily="34" charset="0"/>
                <a:ea typeface="Cambria" pitchFamily="34" charset="-122"/>
                <a:cs typeface="Cambria" pitchFamily="34" charset="-120"/>
              </a:rPr>
              <a:t>4 to 11 hours</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expedited decisions take, on average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Depends on the contract, 2025. Federal limit: 72 hours.</a:t>
            </a:r>
            <a:endParaRPr lang="en-US" sz="3600" dirty="0"/>
          </a:p>
        </p:txBody>
      </p:sp>
      <p:sp>
        <p:nvSpPr>
          <p:cNvPr id="9" name="A3"/>
          <p:cNvSpPr/>
          <p:nvPr/>
        </p:nvSpPr>
        <p:spPr>
          <a:xfrm>
            <a:off x="8074152" y="1572768"/>
            <a:ext cx="3657600" cy="1188720"/>
          </a:xfrm>
          <a:prstGeom prst="roundRect">
            <a:avLst>
              <a:gd name="adj" fmla="val 6154"/>
            </a:avLst>
          </a:prstGeom>
          <a:solidFill>
            <a:srgbClr val="E3F0EB"/>
          </a:solidFill>
          <a:ln w="19050">
            <a:solidFill>
              <a:srgbClr val="1F6F5C"/>
            </a:solidFill>
          </a:ln>
        </p:spPr>
        <p:txBody>
          <a:bodyPr wrap="square" lIns="182880" tIns="91440" rIns="182880" bIns="73152" rtlCol="0" anchor="ctr"/>
          <a:lstStyle/>
          <a:p>
            <a:pPr algn="l" indent="0" marL="0">
              <a:buNone/>
            </a:pPr>
            <a:r>
              <a:rPr lang="en-US" sz="3600" dirty="0">
                <a:solidFill>
                  <a:srgbClr val="1F6F5C"/>
                </a:solidFill>
                <a:latin typeface="Cambria" pitchFamily="34" charset="0"/>
                <a:ea typeface="Cambria" pitchFamily="34" charset="-122"/>
                <a:cs typeface="Cambria" pitchFamily="34" charset="-120"/>
              </a:rPr>
              <a:t>9.5 million</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standard requests decided in one year</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Humana, 2025. And about 2.3 million more a year are coming: 1.03M new members × 2.2 requests each (KFF).</a:t>
            </a:r>
            <a:endParaRPr lang="en-US" sz="3600" dirty="0"/>
          </a:p>
        </p:txBody>
      </p:sp>
      <p:sp>
        <p:nvSpPr>
          <p:cNvPr id="10" name="S2"/>
          <p:cNvSpPr txBox="1"/>
          <p:nvPr/>
        </p:nvSpPr>
        <p:spPr>
          <a:xfrm>
            <a:off x="457200" y="2871216"/>
            <a:ext cx="11274552" cy="237744"/>
          </a:xfrm>
          <a:prstGeom prst="rect">
            <a:avLst/>
          </a:prstGeom>
          <a:noFill/>
          <a:ln/>
        </p:spPr>
        <p:txBody>
          <a:bodyPr wrap="square" lIns="0" tIns="0" rIns="0" bIns="0" rtlCol="0" anchor="t"/>
          <a:lstStyle/>
          <a:p>
            <a:pPr algn="l" indent="0" marL="0">
              <a:buNone/>
            </a:pPr>
            <a:r>
              <a:rPr lang="en-US" sz="1100" b="1" spc="200" kern="0" dirty="0">
                <a:solidFill>
                  <a:srgbClr val="B8452F"/>
                </a:solidFill>
                <a:latin typeface="Calibri" pitchFamily="34" charset="0"/>
                <a:ea typeface="Calibri" pitchFamily="34" charset="-122"/>
                <a:cs typeface="Calibri" pitchFamily="34" charset="-120"/>
              </a:rPr>
              <a:t>BUT WHEN A DENIAL IS APPEALED, IT IS OFTEN REVERSED</a:t>
            </a:r>
            <a:endParaRPr lang="en-US" sz="1100" dirty="0"/>
          </a:p>
        </p:txBody>
      </p:sp>
      <p:sp>
        <p:nvSpPr>
          <p:cNvPr id="11" name="B1"/>
          <p:cNvSpPr/>
          <p:nvPr/>
        </p:nvSpPr>
        <p:spPr>
          <a:xfrm>
            <a:off x="457200"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HUMANA</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64.7%</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Humana denials were overturned</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Humana's own federal reports, 2025. Only 2.7% of denials are appealed, so we do not claim 65% of denials are wrong.</a:t>
            </a:r>
            <a:endParaRPr lang="en-US" sz="950" dirty="0"/>
          </a:p>
        </p:txBody>
      </p:sp>
      <p:sp>
        <p:nvSpPr>
          <p:cNvPr id="12" name="B2"/>
          <p:cNvSpPr/>
          <p:nvPr/>
        </p:nvSpPr>
        <p:spPr>
          <a:xfrm>
            <a:off x="4265676"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THE WIDER PICTURE</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80.7%</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denials were overturned across Medicare Advantage</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KFF, 2024. 53 million requests, 4.1 million denied.</a:t>
            </a:r>
            <a:endParaRPr lang="en-US" sz="950" dirty="0"/>
          </a:p>
        </p:txBody>
      </p:sp>
      <p:sp>
        <p:nvSpPr>
          <p:cNvPr id="13" name="B3"/>
          <p:cNvSpPr/>
          <p:nvPr/>
        </p:nvSpPr>
        <p:spPr>
          <a:xfrm>
            <a:off x="8074152"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THE EXTREME</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95%</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skilled nursing denials were overturned</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HHS OIG, 19 plans, data from June 2024.</a:t>
            </a:r>
            <a:endParaRPr lang="en-US" sz="950" dirty="0"/>
          </a:p>
        </p:txBody>
      </p:sp>
      <p:sp>
        <p:nvSpPr>
          <p:cNvPr id="14" name="S3"/>
          <p:cNvSpPr txBox="1"/>
          <p:nvPr/>
        </p:nvSpPr>
        <p:spPr>
          <a:xfrm>
            <a:off x="457200" y="4663440"/>
            <a:ext cx="11274552" cy="237744"/>
          </a:xfrm>
          <a:prstGeom prst="rect">
            <a:avLst/>
          </a:prstGeom>
          <a:noFill/>
          <a:ln/>
        </p:spPr>
        <p:txBody>
          <a:bodyPr wrap="square" lIns="0" tIns="0" rIns="0" bIns="0" rtlCol="0" anchor="t"/>
          <a:lstStyle/>
          <a:p>
            <a:pPr algn="l" indent="0" marL="0">
              <a:buNone/>
            </a:pPr>
            <a:r>
              <a:rPr lang="en-US" sz="1100" b="1" spc="200" kern="0" dirty="0">
                <a:solidFill>
                  <a:srgbClr val="8A5A00"/>
                </a:solidFill>
                <a:latin typeface="Calibri" pitchFamily="34" charset="0"/>
                <a:ea typeface="Calibri" pitchFamily="34" charset="-122"/>
                <a:cs typeface="Calibri" pitchFamily="34" charset="-120"/>
              </a:rPr>
              <a:t>THE HUMAN SIDE: WHAT PHYSICIANS REPORT</a:t>
            </a:r>
            <a:endParaRPr lang="en-US" sz="1100" dirty="0"/>
          </a:p>
        </p:txBody>
      </p:sp>
      <p:sp>
        <p:nvSpPr>
          <p:cNvPr id="15" name="C1"/>
          <p:cNvSpPr/>
          <p:nvPr/>
        </p:nvSpPr>
        <p:spPr>
          <a:xfrm>
            <a:off x="457200" y="4919472"/>
            <a:ext cx="3657600" cy="1234440"/>
          </a:xfrm>
          <a:prstGeom prst="roundRect">
            <a:avLst>
              <a:gd name="adj" fmla="val 5926"/>
            </a:avLst>
          </a:prstGeom>
          <a:solidFill>
            <a:srgbClr val="FCEFD0"/>
          </a:solidFill>
          <a:ln w="19050">
            <a:solidFill>
              <a:srgbClr val="8A5A00"/>
            </a:solidFill>
          </a:ln>
        </p:spPr>
        <p:txBody>
          <a:bodyPr wrap="square" lIns="182880" tIns="91440" rIns="182880" bIns="73152" rtlCol="0" anchor="ctr"/>
          <a:lstStyle/>
          <a:p>
            <a:pPr algn="l" indent="0" marL="0">
              <a:buNone/>
            </a:pPr>
            <a:r>
              <a:rPr lang="en-US" sz="3600" dirty="0">
                <a:solidFill>
                  <a:srgbClr val="8A5A00"/>
                </a:solidFill>
                <a:latin typeface="Cambria" pitchFamily="34" charset="0"/>
                <a:ea typeface="Cambria" pitchFamily="34" charset="-122"/>
                <a:cs typeface="Cambria" pitchFamily="34" charset="-120"/>
              </a:rPr>
              <a:t>93%</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physicians say it can delay care at least some of the time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AMA survey of 1,000 physicians, December 2025.</a:t>
            </a:r>
            <a:endParaRPr lang="en-US" sz="3600" dirty="0"/>
          </a:p>
        </p:txBody>
      </p:sp>
      <p:sp>
        <p:nvSpPr>
          <p:cNvPr id="16" name="C2"/>
          <p:cNvSpPr/>
          <p:nvPr/>
        </p:nvSpPr>
        <p:spPr>
          <a:xfrm>
            <a:off x="4265676" y="4919472"/>
            <a:ext cx="3657600" cy="1234440"/>
          </a:xfrm>
          <a:prstGeom prst="roundRect">
            <a:avLst>
              <a:gd name="adj" fmla="val 5926"/>
            </a:avLst>
          </a:prstGeom>
          <a:solidFill>
            <a:srgbClr val="FCEFD0"/>
          </a:solidFill>
          <a:ln w="19050">
            <a:solidFill>
              <a:srgbClr val="8A5A00"/>
            </a:solidFill>
          </a:ln>
        </p:spPr>
        <p:txBody>
          <a:bodyPr wrap="square" lIns="182880" tIns="91440" rIns="182880" bIns="73152" rtlCol="0" anchor="ctr"/>
          <a:lstStyle/>
          <a:p>
            <a:pPr algn="l" indent="0" marL="0">
              <a:buNone/>
            </a:pPr>
            <a:r>
              <a:rPr lang="en-US" sz="3600" dirty="0">
                <a:solidFill>
                  <a:srgbClr val="8A5A00"/>
                </a:solidFill>
                <a:latin typeface="Cambria" pitchFamily="34" charset="0"/>
                <a:ea typeface="Cambria" pitchFamily="34" charset="-122"/>
                <a:cs typeface="Cambria" pitchFamily="34" charset="-120"/>
              </a:rPr>
              <a:t>26%</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report a serious adverse event for a patient</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Same survey. Physician-reported.</a:t>
            </a:r>
            <a:endParaRPr lang="en-US" sz="3600" dirty="0"/>
          </a:p>
        </p:txBody>
      </p:sp>
      <p:sp>
        <p:nvSpPr>
          <p:cNvPr id="17" name="Point"/>
          <p:cNvSpPr/>
          <p:nvPr/>
        </p:nvSpPr>
        <p:spPr>
          <a:xfrm>
            <a:off x="8074152" y="4919472"/>
            <a:ext cx="3657600" cy="1234440"/>
          </a:xfrm>
          <a:prstGeom prst="roundRect">
            <a:avLst>
              <a:gd name="adj" fmla="val 5926"/>
            </a:avLst>
          </a:prstGeom>
          <a:solidFill>
            <a:srgbClr val="1F6F5C"/>
          </a:solidFill>
          <a:ln w="12700">
            <a:solidFill>
              <a:srgbClr val="1F6F5C"/>
            </a:solidFill>
          </a:ln>
        </p:spPr>
        <p:txBody>
          <a:bodyPr wrap="square" lIns="201168" tIns="91440" rIns="201168" bIns="91440" rtlCol="0" anchor="ctr"/>
          <a:lstStyle/>
          <a:p>
            <a:pPr algn="l" indent="0" marL="0">
              <a:spcAft>
                <a:spcPts val="400"/>
              </a:spcAft>
              <a:buNone/>
            </a:pPr>
            <a:r>
              <a:rPr lang="en-US" sz="1500" b="1" dirty="0">
                <a:solidFill>
                  <a:srgbClr val="FFFFFF"/>
                </a:solidFill>
                <a:latin typeface="Calibri" pitchFamily="34" charset="0"/>
                <a:ea typeface="Calibri" pitchFamily="34" charset="-122"/>
                <a:cs typeface="Calibri" pitchFamily="34" charset="-120"/>
              </a:rPr>
              <a:t>An overturned denial is care that was delayed.</a:t>
            </a:r>
            <a:endParaRPr lang="en-US" sz="1500" dirty="0"/>
          </a:p>
          <a:p>
            <a:pPr algn="l" indent="0" marL="0">
              <a:buNone/>
            </a:pPr>
            <a:r>
              <a:rPr lang="en-US" sz="1500" b="1" dirty="0">
                <a:solidFill>
                  <a:srgbClr val="D5EBE3"/>
                </a:solidFill>
                <a:latin typeface="Calibri" pitchFamily="34" charset="0"/>
                <a:ea typeface="Calibri" pitchFamily="34" charset="-122"/>
                <a:cs typeface="Calibri" pitchFamily="34" charset="-120"/>
              </a:rPr>
              <a:t>Our goal is not faster. It is right the first time.</a:t>
            </a:r>
            <a:endParaRPr lang="en-US" sz="1500" dirty="0"/>
          </a:p>
        </p:txBody>
      </p:sp>
      <p:sp>
        <p:nvSpPr>
          <p:cNvPr id="18" name="Gap"/>
          <p:cNvSpPr txBox="1"/>
          <p:nvPr/>
        </p:nvSpPr>
        <p:spPr>
          <a:xfrm>
            <a:off x="457200" y="6217920"/>
            <a:ext cx="11274552" cy="256032"/>
          </a:xfrm>
          <a:prstGeom prst="rect">
            <a:avLst/>
          </a:prstGeom>
          <a:noFill/>
          <a:ln/>
        </p:spPr>
        <p:txBody>
          <a:bodyPr wrap="square" lIns="0" tIns="0" rIns="0" bIns="0" rtlCol="0" anchor="ctr"/>
          <a:lstStyle/>
          <a:p>
            <a:pPr algn="l" indent="0" marL="0">
              <a:buNone/>
            </a:pPr>
            <a:r>
              <a:rPr lang="en-US" sz="1100" i="1" dirty="0">
                <a:solidFill>
                  <a:srgbClr val="5C6B66"/>
                </a:solidFill>
                <a:latin typeface="Calibri" pitchFamily="34" charset="0"/>
                <a:ea typeface="Calibri" pitchFamily="34" charset="-122"/>
                <a:cs typeface="Calibri" pitchFamily="34" charset="-120"/>
              </a:rPr>
              <a:t>Not published by Humana or CMS: how many hours plan reviewers spend on prior authorization. That is a number we would measure in a pilot.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numbers</dc:title>
  <dc:subject>PptxGenJS Presentation</dc:subject>
  <dc:creator>Nisha Mishra</dc:creator>
  <cp:lastModifiedBy>Nisha Mishra</cp:lastModifiedBy>
  <cp:revision>1</cp:revision>
  <dcterms:created xsi:type="dcterms:W3CDTF">2026-10-04T03:39:50Z</dcterms:created>
  <dcterms:modified xsi:type="dcterms:W3CDTF">2026-10-04T03:39:50Z</dcterms:modified>
</cp:coreProperties>
</file>