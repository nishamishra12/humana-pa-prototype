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good news. Humana is fast. In its own 2025 reports, a standard decision takes one day on average, against a seven-day federal limit. Expedited decisions take between four and eleven hours, against seventy-two. And it does this at scale: 9.5 million standard requests in a year.
But fast is not the same as right. When a denial is appealed, it is often reversed. Across all of Medicare Advantage, KFF found 80.7 percent of appealed denials were overturned in 2024. For Humana, its own reports show 64.7 percent. And the Inspector General found 95 percent of appealed skilled nursing denials were overturned. Be careful with these: only a small share of denials are appealed, about 2.7 percent at Humana, so this does not mean most denials are wrong. And an overturn can come from new information. But that is exactly the point. The first look was missing something.
On the human side, physicians report that prior authorization delays care at least some of the time, 93 percent, and 26 percent say it led to a serious adverse event for a patient. These are physician reports, not patient counts.
So an overturned denial is care that was delayed. Speed is already good. What we have to get right is the first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36576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THE NUMBERS</a:t>
            </a:r>
            <a:endParaRPr lang="en-US" sz="1100" dirty="0"/>
          </a:p>
        </p:txBody>
      </p:sp>
      <p:sp>
        <p:nvSpPr>
          <p:cNvPr id="3" name="title"/>
          <p:cNvSpPr txBox="1"/>
          <p:nvPr/>
        </p:nvSpPr>
        <p:spPr>
          <a:xfrm>
            <a:off x="457200" y="502920"/>
            <a:ext cx="786384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Fast is not the same as right.</a:t>
            </a:r>
            <a:endParaRPr lang="en-US" sz="2600" dirty="0"/>
          </a:p>
        </p:txBody>
      </p:sp>
      <p:sp>
        <p:nvSpPr>
          <p:cNvPr id="4" name="sub"/>
          <p:cNvSpPr txBox="1"/>
          <p:nvPr/>
        </p:nvSpPr>
        <p:spPr>
          <a:xfrm>
            <a:off x="7589520" y="502920"/>
            <a:ext cx="4142232" cy="685800"/>
          </a:xfrm>
          <a:prstGeom prst="rect">
            <a:avLst/>
          </a:prstGeom>
          <a:noFill/>
          <a:ln/>
        </p:spPr>
        <p:txBody>
          <a:bodyPr wrap="square" lIns="0" tIns="0" rIns="0" bIns="0" rtlCol="0" anchor="ctr"/>
          <a:lstStyle/>
          <a:p>
            <a:pPr algn="r" indent="0" marL="0">
              <a:buNone/>
            </a:pPr>
            <a:r>
              <a:rPr lang="en-US" sz="1300" dirty="0">
                <a:solidFill>
                  <a:srgbClr val="5C6B66"/>
                </a:solidFill>
                <a:latin typeface="Calibri" pitchFamily="34" charset="0"/>
                <a:ea typeface="Calibri" pitchFamily="34" charset="-122"/>
                <a:cs typeface="Calibri" pitchFamily="34" charset="-120"/>
              </a:rPr>
              <a:t>Medicare Advantage prior authorization</a:t>
            </a:r>
            <a:endParaRPr lang="en-US" sz="1300" dirty="0"/>
          </a:p>
        </p:txBody>
      </p:sp>
      <p:sp>
        <p:nvSpPr>
          <p:cNvPr id="5"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Sources: Humana CY2025 public prior authorization reports (CMS-0057-F). KFF, 2024 data. HHS OIG data brief OEI-09-24-00331. AMA 2025 Prior Authorization Physician Survey.</a:t>
            </a:r>
            <a:endParaRPr lang="en-US" sz="900" dirty="0"/>
          </a:p>
        </p:txBody>
      </p:sp>
      <p:sp>
        <p:nvSpPr>
          <p:cNvPr id="6" name="S1"/>
          <p:cNvSpPr txBox="1"/>
          <p:nvPr/>
        </p:nvSpPr>
        <p:spPr>
          <a:xfrm>
            <a:off x="457200" y="1371600"/>
            <a:ext cx="11274552" cy="237744"/>
          </a:xfrm>
          <a:prstGeom prst="rect">
            <a:avLst/>
          </a:prstGeom>
          <a:noFill/>
          <a:ln/>
        </p:spPr>
        <p:txBody>
          <a:bodyPr wrap="square" lIns="0" tIns="0" rIns="0" bIns="0" rtlCol="0" anchor="t"/>
          <a:lstStyle/>
          <a:p>
            <a:pPr algn="l" indent="0" marL="0">
              <a:buNone/>
            </a:pPr>
            <a:r>
              <a:rPr lang="en-US" sz="1100" b="1" spc="200" kern="0" dirty="0">
                <a:solidFill>
                  <a:srgbClr val="18764A"/>
                </a:solidFill>
                <a:latin typeface="Calibri" pitchFamily="34" charset="0"/>
                <a:ea typeface="Calibri" pitchFamily="34" charset="-122"/>
                <a:cs typeface="Calibri" pitchFamily="34" charset="-120"/>
              </a:rPr>
              <a:t>HUMANA IS FAST, AT SCALE</a:t>
            </a:r>
            <a:endParaRPr lang="en-US" sz="1100" dirty="0"/>
          </a:p>
        </p:txBody>
      </p:sp>
      <p:sp>
        <p:nvSpPr>
          <p:cNvPr id="7" name="A1"/>
          <p:cNvSpPr/>
          <p:nvPr/>
        </p:nvSpPr>
        <p:spPr>
          <a:xfrm>
            <a:off x="457200" y="1645920"/>
            <a:ext cx="3657600" cy="1280160"/>
          </a:xfrm>
          <a:prstGeom prst="roundRect">
            <a:avLst>
              <a:gd name="adj" fmla="val 5714"/>
            </a:avLst>
          </a:prstGeom>
          <a:solidFill>
            <a:srgbClr val="DDF3E7"/>
          </a:solidFill>
          <a:ln w="19050">
            <a:solidFill>
              <a:srgbClr val="18764A"/>
            </a:solidFill>
          </a:ln>
        </p:spPr>
        <p:txBody>
          <a:bodyPr wrap="square" lIns="182880" tIns="91440" rIns="182880" bIns="73152" rtlCol="0" anchor="ctr"/>
          <a:lstStyle/>
          <a:p>
            <a:pPr algn="l" indent="0" marL="0">
              <a:buNone/>
            </a:pPr>
            <a:r>
              <a:rPr lang="en-US" sz="3600" dirty="0">
                <a:solidFill>
                  <a:srgbClr val="18764A"/>
                </a:solidFill>
                <a:latin typeface="Cambria" pitchFamily="34" charset="0"/>
                <a:ea typeface="Cambria" pitchFamily="34" charset="-122"/>
                <a:cs typeface="Cambria" pitchFamily="34" charset="-120"/>
              </a:rPr>
              <a:t>1 day</a:t>
            </a:r>
            <a:endParaRPr lang="en-US" sz="3600" dirty="0"/>
          </a:p>
          <a:p>
            <a:pPr algn="l" indent="0" marL="0">
              <a:spcAft>
                <a:spcPts val="400"/>
              </a:spcAft>
              <a:buNone/>
            </a:pPr>
            <a:r>
              <a:rPr lang="en-US" sz="1250" b="1" dirty="0">
                <a:solidFill>
                  <a:srgbClr val="16211E"/>
                </a:solidFill>
                <a:latin typeface="Calibri" pitchFamily="34" charset="0"/>
                <a:ea typeface="Calibri" pitchFamily="34" charset="-122"/>
                <a:cs typeface="Calibri" pitchFamily="34" charset="-120"/>
              </a:rPr>
              <a:t>standard decisions take, on average</a:t>
            </a:r>
            <a:endParaRPr lang="en-US" sz="3600" dirty="0"/>
          </a:p>
          <a:p>
            <a:pPr algn="l" indent="0" marL="0">
              <a:buNone/>
            </a:pPr>
            <a:r>
              <a:rPr lang="en-US" sz="1000" dirty="0">
                <a:solidFill>
                  <a:srgbClr val="5C6B66"/>
                </a:solidFill>
                <a:latin typeface="Calibri" pitchFamily="34" charset="0"/>
                <a:ea typeface="Calibri" pitchFamily="34" charset="-122"/>
                <a:cs typeface="Calibri" pitchFamily="34" charset="-120"/>
              </a:rPr>
              <a:t>Humana Medicare Advantage, 2025. Federal limit: 7 days.</a:t>
            </a:r>
            <a:endParaRPr lang="en-US" sz="3600" dirty="0"/>
          </a:p>
        </p:txBody>
      </p:sp>
      <p:sp>
        <p:nvSpPr>
          <p:cNvPr id="8" name="A2"/>
          <p:cNvSpPr/>
          <p:nvPr/>
        </p:nvSpPr>
        <p:spPr>
          <a:xfrm>
            <a:off x="4265676" y="1645920"/>
            <a:ext cx="3657600" cy="1280160"/>
          </a:xfrm>
          <a:prstGeom prst="roundRect">
            <a:avLst>
              <a:gd name="adj" fmla="val 5714"/>
            </a:avLst>
          </a:prstGeom>
          <a:solidFill>
            <a:srgbClr val="DDF3E7"/>
          </a:solidFill>
          <a:ln w="19050">
            <a:solidFill>
              <a:srgbClr val="18764A"/>
            </a:solidFill>
          </a:ln>
        </p:spPr>
        <p:txBody>
          <a:bodyPr wrap="square" lIns="182880" tIns="91440" rIns="182880" bIns="73152" rtlCol="0" anchor="ctr"/>
          <a:lstStyle/>
          <a:p>
            <a:pPr algn="l" indent="0" marL="0">
              <a:buNone/>
            </a:pPr>
            <a:r>
              <a:rPr lang="en-US" sz="3600" dirty="0">
                <a:solidFill>
                  <a:srgbClr val="18764A"/>
                </a:solidFill>
                <a:latin typeface="Cambria" pitchFamily="34" charset="0"/>
                <a:ea typeface="Cambria" pitchFamily="34" charset="-122"/>
                <a:cs typeface="Cambria" pitchFamily="34" charset="-120"/>
              </a:rPr>
              <a:t>4 to 11 hours</a:t>
            </a:r>
            <a:endParaRPr lang="en-US" sz="3600" dirty="0"/>
          </a:p>
          <a:p>
            <a:pPr algn="l" indent="0" marL="0">
              <a:spcAft>
                <a:spcPts val="400"/>
              </a:spcAft>
              <a:buNone/>
            </a:pPr>
            <a:r>
              <a:rPr lang="en-US" sz="1250" b="1" dirty="0">
                <a:solidFill>
                  <a:srgbClr val="16211E"/>
                </a:solidFill>
                <a:latin typeface="Calibri" pitchFamily="34" charset="0"/>
                <a:ea typeface="Calibri" pitchFamily="34" charset="-122"/>
                <a:cs typeface="Calibri" pitchFamily="34" charset="-120"/>
              </a:rPr>
              <a:t>expedited decisions take, on average</a:t>
            </a:r>
            <a:endParaRPr lang="en-US" sz="3600" dirty="0"/>
          </a:p>
          <a:p>
            <a:pPr algn="l" indent="0" marL="0">
              <a:buNone/>
            </a:pPr>
            <a:r>
              <a:rPr lang="en-US" sz="1000" dirty="0">
                <a:solidFill>
                  <a:srgbClr val="5C6B66"/>
                </a:solidFill>
                <a:latin typeface="Calibri" pitchFamily="34" charset="0"/>
                <a:ea typeface="Calibri" pitchFamily="34" charset="-122"/>
                <a:cs typeface="Calibri" pitchFamily="34" charset="-120"/>
              </a:rPr>
              <a:t>Depends on the contract, 2025. Federal limit: 72 hours.</a:t>
            </a:r>
            <a:endParaRPr lang="en-US" sz="3600" dirty="0"/>
          </a:p>
        </p:txBody>
      </p:sp>
      <p:sp>
        <p:nvSpPr>
          <p:cNvPr id="9" name="A3"/>
          <p:cNvSpPr/>
          <p:nvPr/>
        </p:nvSpPr>
        <p:spPr>
          <a:xfrm>
            <a:off x="8074152" y="1645920"/>
            <a:ext cx="3657600" cy="1280160"/>
          </a:xfrm>
          <a:prstGeom prst="roundRect">
            <a:avLst>
              <a:gd name="adj" fmla="val 5714"/>
            </a:avLst>
          </a:prstGeom>
          <a:solidFill>
            <a:srgbClr val="E3F0EB"/>
          </a:solidFill>
          <a:ln w="19050">
            <a:solidFill>
              <a:srgbClr val="1F6F5C"/>
            </a:solidFill>
          </a:ln>
        </p:spPr>
        <p:txBody>
          <a:bodyPr wrap="square" lIns="182880" tIns="91440" rIns="182880" bIns="73152" rtlCol="0" anchor="ctr"/>
          <a:lstStyle/>
          <a:p>
            <a:pPr algn="l" indent="0" marL="0">
              <a:buNone/>
            </a:pPr>
            <a:r>
              <a:rPr lang="en-US" sz="3600" dirty="0">
                <a:solidFill>
                  <a:srgbClr val="1F6F5C"/>
                </a:solidFill>
                <a:latin typeface="Cambria" pitchFamily="34" charset="0"/>
                <a:ea typeface="Cambria" pitchFamily="34" charset="-122"/>
                <a:cs typeface="Cambria" pitchFamily="34" charset="-120"/>
              </a:rPr>
              <a:t>9.5 million</a:t>
            </a:r>
            <a:endParaRPr lang="en-US" sz="3600" dirty="0"/>
          </a:p>
          <a:p>
            <a:pPr algn="l" indent="0" marL="0">
              <a:spcAft>
                <a:spcPts val="400"/>
              </a:spcAft>
              <a:buNone/>
            </a:pPr>
            <a:r>
              <a:rPr lang="en-US" sz="1250" b="1" dirty="0">
                <a:solidFill>
                  <a:srgbClr val="16211E"/>
                </a:solidFill>
                <a:latin typeface="Calibri" pitchFamily="34" charset="0"/>
                <a:ea typeface="Calibri" pitchFamily="34" charset="-122"/>
                <a:cs typeface="Calibri" pitchFamily="34" charset="-120"/>
              </a:rPr>
              <a:t>standard requests decided in one year</a:t>
            </a:r>
            <a:endParaRPr lang="en-US" sz="3600" dirty="0"/>
          </a:p>
          <a:p>
            <a:pPr algn="l" indent="0" marL="0">
              <a:buNone/>
            </a:pPr>
            <a:r>
              <a:rPr lang="en-US" sz="1000" dirty="0">
                <a:solidFill>
                  <a:srgbClr val="5C6B66"/>
                </a:solidFill>
                <a:latin typeface="Calibri" pitchFamily="34" charset="0"/>
                <a:ea typeface="Calibri" pitchFamily="34" charset="-122"/>
                <a:cs typeface="Calibri" pitchFamily="34" charset="-120"/>
              </a:rPr>
              <a:t>Humana, 32 Medicare Advantage contracts, 2025.</a:t>
            </a:r>
            <a:endParaRPr lang="en-US" sz="3600" dirty="0"/>
          </a:p>
        </p:txBody>
      </p:sp>
      <p:sp>
        <p:nvSpPr>
          <p:cNvPr id="10" name="S2"/>
          <p:cNvSpPr txBox="1"/>
          <p:nvPr/>
        </p:nvSpPr>
        <p:spPr>
          <a:xfrm>
            <a:off x="457200" y="3090672"/>
            <a:ext cx="11274552" cy="237744"/>
          </a:xfrm>
          <a:prstGeom prst="rect">
            <a:avLst/>
          </a:prstGeom>
          <a:noFill/>
          <a:ln/>
        </p:spPr>
        <p:txBody>
          <a:bodyPr wrap="square" lIns="0" tIns="0" rIns="0" bIns="0" rtlCol="0" anchor="t"/>
          <a:lstStyle/>
          <a:p>
            <a:pPr algn="l" indent="0" marL="0">
              <a:buNone/>
            </a:pPr>
            <a:r>
              <a:rPr lang="en-US" sz="1100" b="1" spc="200" kern="0" dirty="0">
                <a:solidFill>
                  <a:srgbClr val="B8452F"/>
                </a:solidFill>
                <a:latin typeface="Calibri" pitchFamily="34" charset="0"/>
                <a:ea typeface="Calibri" pitchFamily="34" charset="-122"/>
                <a:cs typeface="Calibri" pitchFamily="34" charset="-120"/>
              </a:rPr>
              <a:t>BUT WHEN A DENIAL IS APPEALED, IT IS OFTEN REVERSED</a:t>
            </a:r>
            <a:endParaRPr lang="en-US" sz="1100" dirty="0"/>
          </a:p>
        </p:txBody>
      </p:sp>
      <p:sp>
        <p:nvSpPr>
          <p:cNvPr id="11" name="B1"/>
          <p:cNvSpPr/>
          <p:nvPr/>
        </p:nvSpPr>
        <p:spPr>
          <a:xfrm>
            <a:off x="457200" y="3364992"/>
            <a:ext cx="3657600" cy="1371600"/>
          </a:xfrm>
          <a:prstGeom prst="roundRect">
            <a:avLst>
              <a:gd name="adj" fmla="val 5333"/>
            </a:avLst>
          </a:prstGeom>
          <a:solidFill>
            <a:srgbClr val="FBE9E4"/>
          </a:solidFill>
          <a:ln w="19050">
            <a:solidFill>
              <a:srgbClr val="B8452F"/>
            </a:solidFill>
          </a:ln>
        </p:spPr>
        <p:txBody>
          <a:bodyPr wrap="square" lIns="182880" tIns="91440" rIns="182880" bIns="73152" rtlCol="0" anchor="ctr"/>
          <a:lstStyle/>
          <a:p>
            <a:pPr algn="l" indent="0" marL="0">
              <a:buNone/>
            </a:pPr>
            <a:r>
              <a:rPr lang="en-US" sz="3600" dirty="0">
                <a:solidFill>
                  <a:srgbClr val="B8452F"/>
                </a:solidFill>
                <a:latin typeface="Cambria" pitchFamily="34" charset="0"/>
                <a:ea typeface="Cambria" pitchFamily="34" charset="-122"/>
                <a:cs typeface="Cambria" pitchFamily="34" charset="-120"/>
              </a:rPr>
              <a:t>80.7%</a:t>
            </a:r>
            <a:endParaRPr lang="en-US" sz="3600" dirty="0"/>
          </a:p>
          <a:p>
            <a:pPr algn="l" indent="0" marL="0">
              <a:spcAft>
                <a:spcPts val="400"/>
              </a:spcAft>
              <a:buNone/>
            </a:pPr>
            <a:r>
              <a:rPr lang="en-US" sz="1250" b="1" dirty="0">
                <a:solidFill>
                  <a:srgbClr val="16211E"/>
                </a:solidFill>
                <a:latin typeface="Calibri" pitchFamily="34" charset="0"/>
                <a:ea typeface="Calibri" pitchFamily="34" charset="-122"/>
                <a:cs typeface="Calibri" pitchFamily="34" charset="-120"/>
              </a:rPr>
              <a:t>of appealed denials were overturned across Medicare Advantage</a:t>
            </a:r>
            <a:endParaRPr lang="en-US" sz="3600" dirty="0"/>
          </a:p>
          <a:p>
            <a:pPr algn="l" indent="0" marL="0">
              <a:buNone/>
            </a:pPr>
            <a:r>
              <a:rPr lang="en-US" sz="1000" dirty="0">
                <a:solidFill>
                  <a:srgbClr val="5C6B66"/>
                </a:solidFill>
                <a:latin typeface="Calibri" pitchFamily="34" charset="0"/>
                <a:ea typeface="Calibri" pitchFamily="34" charset="-122"/>
                <a:cs typeface="Calibri" pitchFamily="34" charset="-120"/>
              </a:rPr>
              <a:t>KFF, 2024. 53 million requests, 4.1 million denied.</a:t>
            </a:r>
            <a:endParaRPr lang="en-US" sz="3600" dirty="0"/>
          </a:p>
        </p:txBody>
      </p:sp>
      <p:sp>
        <p:nvSpPr>
          <p:cNvPr id="12" name="B2"/>
          <p:cNvSpPr/>
          <p:nvPr/>
        </p:nvSpPr>
        <p:spPr>
          <a:xfrm>
            <a:off x="4265676" y="3364992"/>
            <a:ext cx="3657600" cy="1371600"/>
          </a:xfrm>
          <a:prstGeom prst="roundRect">
            <a:avLst>
              <a:gd name="adj" fmla="val 5333"/>
            </a:avLst>
          </a:prstGeom>
          <a:solidFill>
            <a:srgbClr val="FBE9E4"/>
          </a:solidFill>
          <a:ln w="19050">
            <a:solidFill>
              <a:srgbClr val="B8452F"/>
            </a:solidFill>
          </a:ln>
        </p:spPr>
        <p:txBody>
          <a:bodyPr wrap="square" lIns="182880" tIns="91440" rIns="182880" bIns="73152" rtlCol="0" anchor="ctr"/>
          <a:lstStyle/>
          <a:p>
            <a:pPr algn="l" indent="0" marL="0">
              <a:buNone/>
            </a:pPr>
            <a:r>
              <a:rPr lang="en-US" sz="3600" dirty="0">
                <a:solidFill>
                  <a:srgbClr val="B8452F"/>
                </a:solidFill>
                <a:latin typeface="Cambria" pitchFamily="34" charset="0"/>
                <a:ea typeface="Cambria" pitchFamily="34" charset="-122"/>
                <a:cs typeface="Cambria" pitchFamily="34" charset="-120"/>
              </a:rPr>
              <a:t>64.7%</a:t>
            </a:r>
            <a:endParaRPr lang="en-US" sz="3600" dirty="0"/>
          </a:p>
          <a:p>
            <a:pPr algn="l" indent="0" marL="0">
              <a:spcAft>
                <a:spcPts val="400"/>
              </a:spcAft>
              <a:buNone/>
            </a:pPr>
            <a:r>
              <a:rPr lang="en-US" sz="1250" b="1" dirty="0">
                <a:solidFill>
                  <a:srgbClr val="16211E"/>
                </a:solidFill>
                <a:latin typeface="Calibri" pitchFamily="34" charset="0"/>
                <a:ea typeface="Calibri" pitchFamily="34" charset="-122"/>
                <a:cs typeface="Calibri" pitchFamily="34" charset="-120"/>
              </a:rPr>
              <a:t>of appealed Humana denials were overturned</a:t>
            </a:r>
            <a:endParaRPr lang="en-US" sz="3600" dirty="0"/>
          </a:p>
          <a:p>
            <a:pPr algn="l" indent="0" marL="0">
              <a:buNone/>
            </a:pPr>
            <a:r>
              <a:rPr lang="en-US" sz="1000" dirty="0">
                <a:solidFill>
                  <a:srgbClr val="5C6B66"/>
                </a:solidFill>
                <a:latin typeface="Calibri" pitchFamily="34" charset="0"/>
                <a:ea typeface="Calibri" pitchFamily="34" charset="-122"/>
                <a:cs typeface="Calibri" pitchFamily="34" charset="-120"/>
              </a:rPr>
              <a:t>Humana's own federal reports, 2025. Only 2.7% of denials are appealed.</a:t>
            </a:r>
            <a:endParaRPr lang="en-US" sz="3600" dirty="0"/>
          </a:p>
        </p:txBody>
      </p:sp>
      <p:sp>
        <p:nvSpPr>
          <p:cNvPr id="13" name="B3"/>
          <p:cNvSpPr/>
          <p:nvPr/>
        </p:nvSpPr>
        <p:spPr>
          <a:xfrm>
            <a:off x="8074152" y="3364992"/>
            <a:ext cx="3657600" cy="1371600"/>
          </a:xfrm>
          <a:prstGeom prst="roundRect">
            <a:avLst>
              <a:gd name="adj" fmla="val 5333"/>
            </a:avLst>
          </a:prstGeom>
          <a:solidFill>
            <a:srgbClr val="FBE9E4"/>
          </a:solidFill>
          <a:ln w="19050">
            <a:solidFill>
              <a:srgbClr val="B8452F"/>
            </a:solidFill>
          </a:ln>
        </p:spPr>
        <p:txBody>
          <a:bodyPr wrap="square" lIns="182880" tIns="91440" rIns="182880" bIns="73152" rtlCol="0" anchor="ctr"/>
          <a:lstStyle/>
          <a:p>
            <a:pPr algn="l" indent="0" marL="0">
              <a:buNone/>
            </a:pPr>
            <a:r>
              <a:rPr lang="en-US" sz="3600" dirty="0">
                <a:solidFill>
                  <a:srgbClr val="B8452F"/>
                </a:solidFill>
                <a:latin typeface="Cambria" pitchFamily="34" charset="0"/>
                <a:ea typeface="Cambria" pitchFamily="34" charset="-122"/>
                <a:cs typeface="Cambria" pitchFamily="34" charset="-120"/>
              </a:rPr>
              <a:t>95%</a:t>
            </a:r>
            <a:endParaRPr lang="en-US" sz="3600" dirty="0"/>
          </a:p>
          <a:p>
            <a:pPr algn="l" indent="0" marL="0">
              <a:spcAft>
                <a:spcPts val="400"/>
              </a:spcAft>
              <a:buNone/>
            </a:pPr>
            <a:r>
              <a:rPr lang="en-US" sz="1250" b="1" dirty="0">
                <a:solidFill>
                  <a:srgbClr val="16211E"/>
                </a:solidFill>
                <a:latin typeface="Calibri" pitchFamily="34" charset="0"/>
                <a:ea typeface="Calibri" pitchFamily="34" charset="-122"/>
                <a:cs typeface="Calibri" pitchFamily="34" charset="-120"/>
              </a:rPr>
              <a:t>of appealed skilled nursing denials were overturned</a:t>
            </a:r>
            <a:endParaRPr lang="en-US" sz="3600" dirty="0"/>
          </a:p>
          <a:p>
            <a:pPr algn="l" indent="0" marL="0">
              <a:buNone/>
            </a:pPr>
            <a:r>
              <a:rPr lang="en-US" sz="1000" dirty="0">
                <a:solidFill>
                  <a:srgbClr val="5C6B66"/>
                </a:solidFill>
                <a:latin typeface="Calibri" pitchFamily="34" charset="0"/>
                <a:ea typeface="Calibri" pitchFamily="34" charset="-122"/>
                <a:cs typeface="Calibri" pitchFamily="34" charset="-120"/>
              </a:rPr>
              <a:t>HHS OIG, 19 plans, data from June 2024.</a:t>
            </a:r>
            <a:endParaRPr lang="en-US" sz="3600" dirty="0"/>
          </a:p>
        </p:txBody>
      </p:sp>
      <p:sp>
        <p:nvSpPr>
          <p:cNvPr id="14" name="S3"/>
          <p:cNvSpPr txBox="1"/>
          <p:nvPr/>
        </p:nvSpPr>
        <p:spPr>
          <a:xfrm>
            <a:off x="457200" y="4901184"/>
            <a:ext cx="11274552" cy="237744"/>
          </a:xfrm>
          <a:prstGeom prst="rect">
            <a:avLst/>
          </a:prstGeom>
          <a:noFill/>
          <a:ln/>
        </p:spPr>
        <p:txBody>
          <a:bodyPr wrap="square" lIns="0" tIns="0" rIns="0" bIns="0" rtlCol="0" anchor="t"/>
          <a:lstStyle/>
          <a:p>
            <a:pPr algn="l" indent="0" marL="0">
              <a:buNone/>
            </a:pPr>
            <a:r>
              <a:rPr lang="en-US" sz="1100" b="1" spc="200" kern="0" dirty="0">
                <a:solidFill>
                  <a:srgbClr val="8A5A00"/>
                </a:solidFill>
                <a:latin typeface="Calibri" pitchFamily="34" charset="0"/>
                <a:ea typeface="Calibri" pitchFamily="34" charset="-122"/>
                <a:cs typeface="Calibri" pitchFamily="34" charset="-120"/>
              </a:rPr>
              <a:t>WHAT PHYSICIANS SEE</a:t>
            </a:r>
            <a:endParaRPr lang="en-US" sz="1100" dirty="0"/>
          </a:p>
        </p:txBody>
      </p:sp>
      <p:sp>
        <p:nvSpPr>
          <p:cNvPr id="15" name="C1"/>
          <p:cNvSpPr/>
          <p:nvPr/>
        </p:nvSpPr>
        <p:spPr>
          <a:xfrm>
            <a:off x="457200" y="5175504"/>
            <a:ext cx="3657600" cy="1188720"/>
          </a:xfrm>
          <a:prstGeom prst="roundRect">
            <a:avLst>
              <a:gd name="adj" fmla="val 6154"/>
            </a:avLst>
          </a:prstGeom>
          <a:solidFill>
            <a:srgbClr val="FCEFD0"/>
          </a:solidFill>
          <a:ln w="19050">
            <a:solidFill>
              <a:srgbClr val="8A5A00"/>
            </a:solidFill>
          </a:ln>
        </p:spPr>
        <p:txBody>
          <a:bodyPr wrap="square" lIns="182880" tIns="91440" rIns="182880" bIns="73152" rtlCol="0" anchor="ctr"/>
          <a:lstStyle/>
          <a:p>
            <a:pPr algn="l" indent="0" marL="0">
              <a:buNone/>
            </a:pPr>
            <a:r>
              <a:rPr lang="en-US" sz="3600" dirty="0">
                <a:solidFill>
                  <a:srgbClr val="8A5A00"/>
                </a:solidFill>
                <a:latin typeface="Cambria" pitchFamily="34" charset="0"/>
                <a:ea typeface="Cambria" pitchFamily="34" charset="-122"/>
                <a:cs typeface="Cambria" pitchFamily="34" charset="-120"/>
              </a:rPr>
              <a:t>93%</a:t>
            </a:r>
            <a:endParaRPr lang="en-US" sz="3600" dirty="0"/>
          </a:p>
          <a:p>
            <a:pPr algn="l" indent="0" marL="0">
              <a:spcAft>
                <a:spcPts val="400"/>
              </a:spcAft>
              <a:buNone/>
            </a:pPr>
            <a:r>
              <a:rPr lang="en-US" sz="1250" b="1" dirty="0">
                <a:solidFill>
                  <a:srgbClr val="16211E"/>
                </a:solidFill>
                <a:latin typeface="Calibri" pitchFamily="34" charset="0"/>
                <a:ea typeface="Calibri" pitchFamily="34" charset="-122"/>
                <a:cs typeface="Calibri" pitchFamily="34" charset="-120"/>
              </a:rPr>
              <a:t>of physicians say it can delay care at least some of the time</a:t>
            </a:r>
            <a:endParaRPr lang="en-US" sz="3600" dirty="0"/>
          </a:p>
          <a:p>
            <a:pPr algn="l" indent="0" marL="0">
              <a:buNone/>
            </a:pPr>
            <a:r>
              <a:rPr lang="en-US" sz="1000" dirty="0">
                <a:solidFill>
                  <a:srgbClr val="5C6B66"/>
                </a:solidFill>
                <a:latin typeface="Calibri" pitchFamily="34" charset="0"/>
                <a:ea typeface="Calibri" pitchFamily="34" charset="-122"/>
                <a:cs typeface="Calibri" pitchFamily="34" charset="-120"/>
              </a:rPr>
              <a:t>AMA survey of 1,000 physicians, December 2025.</a:t>
            </a:r>
            <a:endParaRPr lang="en-US" sz="3600" dirty="0"/>
          </a:p>
        </p:txBody>
      </p:sp>
      <p:sp>
        <p:nvSpPr>
          <p:cNvPr id="16" name="C2"/>
          <p:cNvSpPr/>
          <p:nvPr/>
        </p:nvSpPr>
        <p:spPr>
          <a:xfrm>
            <a:off x="4265676" y="5175504"/>
            <a:ext cx="3657600" cy="1188720"/>
          </a:xfrm>
          <a:prstGeom prst="roundRect">
            <a:avLst>
              <a:gd name="adj" fmla="val 6154"/>
            </a:avLst>
          </a:prstGeom>
          <a:solidFill>
            <a:srgbClr val="FCEFD0"/>
          </a:solidFill>
          <a:ln w="19050">
            <a:solidFill>
              <a:srgbClr val="8A5A00"/>
            </a:solidFill>
          </a:ln>
        </p:spPr>
        <p:txBody>
          <a:bodyPr wrap="square" lIns="182880" tIns="91440" rIns="182880" bIns="73152" rtlCol="0" anchor="ctr"/>
          <a:lstStyle/>
          <a:p>
            <a:pPr algn="l" indent="0" marL="0">
              <a:buNone/>
            </a:pPr>
            <a:r>
              <a:rPr lang="en-US" sz="3600" dirty="0">
                <a:solidFill>
                  <a:srgbClr val="8A5A00"/>
                </a:solidFill>
                <a:latin typeface="Cambria" pitchFamily="34" charset="0"/>
                <a:ea typeface="Cambria" pitchFamily="34" charset="-122"/>
                <a:cs typeface="Cambria" pitchFamily="34" charset="-120"/>
              </a:rPr>
              <a:t>26%</a:t>
            </a:r>
            <a:endParaRPr lang="en-US" sz="3600" dirty="0"/>
          </a:p>
          <a:p>
            <a:pPr algn="l" indent="0" marL="0">
              <a:spcAft>
                <a:spcPts val="400"/>
              </a:spcAft>
              <a:buNone/>
            </a:pPr>
            <a:r>
              <a:rPr lang="en-US" sz="1250" b="1" dirty="0">
                <a:solidFill>
                  <a:srgbClr val="16211E"/>
                </a:solidFill>
                <a:latin typeface="Calibri" pitchFamily="34" charset="0"/>
                <a:ea typeface="Calibri" pitchFamily="34" charset="-122"/>
                <a:cs typeface="Calibri" pitchFamily="34" charset="-120"/>
              </a:rPr>
              <a:t>report a serious adverse event for a patient</a:t>
            </a:r>
            <a:endParaRPr lang="en-US" sz="3600" dirty="0"/>
          </a:p>
          <a:p>
            <a:pPr algn="l" indent="0" marL="0">
              <a:buNone/>
            </a:pPr>
            <a:r>
              <a:rPr lang="en-US" sz="1000" dirty="0">
                <a:solidFill>
                  <a:srgbClr val="5C6B66"/>
                </a:solidFill>
                <a:latin typeface="Calibri" pitchFamily="34" charset="0"/>
                <a:ea typeface="Calibri" pitchFamily="34" charset="-122"/>
                <a:cs typeface="Calibri" pitchFamily="34" charset="-120"/>
              </a:rPr>
              <a:t>Same survey. Physician-reported.</a:t>
            </a:r>
            <a:endParaRPr lang="en-US" sz="3600" dirty="0"/>
          </a:p>
        </p:txBody>
      </p:sp>
      <p:sp>
        <p:nvSpPr>
          <p:cNvPr id="17" name="Point"/>
          <p:cNvSpPr/>
          <p:nvPr/>
        </p:nvSpPr>
        <p:spPr>
          <a:xfrm>
            <a:off x="8074152" y="5175504"/>
            <a:ext cx="3657600" cy="1188720"/>
          </a:xfrm>
          <a:prstGeom prst="roundRect">
            <a:avLst>
              <a:gd name="adj" fmla="val 6154"/>
            </a:avLst>
          </a:prstGeom>
          <a:solidFill>
            <a:srgbClr val="1F6F5C"/>
          </a:solidFill>
          <a:ln w="12700">
            <a:solidFill>
              <a:srgbClr val="1F6F5C"/>
            </a:solidFill>
          </a:ln>
        </p:spPr>
        <p:txBody>
          <a:bodyPr wrap="square" lIns="201168" tIns="91440" rIns="201168" bIns="91440" rtlCol="0" anchor="ctr"/>
          <a:lstStyle/>
          <a:p>
            <a:pPr algn="l" indent="0" marL="0">
              <a:spcAft>
                <a:spcPts val="400"/>
              </a:spcAft>
              <a:buNone/>
            </a:pPr>
            <a:r>
              <a:rPr lang="en-US" sz="1500" b="1" dirty="0">
                <a:solidFill>
                  <a:srgbClr val="FFFFFF"/>
                </a:solidFill>
                <a:latin typeface="Calibri" pitchFamily="34" charset="0"/>
                <a:ea typeface="Calibri" pitchFamily="34" charset="-122"/>
                <a:cs typeface="Calibri" pitchFamily="34" charset="-120"/>
              </a:rPr>
              <a:t>An overturned denial is care that was delayed.</a:t>
            </a:r>
            <a:endParaRPr lang="en-US" sz="1500" dirty="0"/>
          </a:p>
          <a:p>
            <a:pPr algn="l" indent="0" marL="0">
              <a:buNone/>
            </a:pPr>
            <a:r>
              <a:rPr lang="en-US" sz="1500" b="1" dirty="0">
                <a:solidFill>
                  <a:srgbClr val="D5EBE3"/>
                </a:solidFill>
                <a:latin typeface="Calibri" pitchFamily="34" charset="0"/>
                <a:ea typeface="Calibri" pitchFamily="34" charset="-122"/>
                <a:cs typeface="Calibri" pitchFamily="34" charset="-120"/>
              </a:rPr>
              <a:t>We have to be right the first time.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numbers</dc:title>
  <dc:subject>PptxGenJS Presentation</dc:subject>
  <dc:creator>Nisha Mishra</dc:creator>
  <cp:lastModifiedBy>Nisha Mishra</cp:lastModifiedBy>
  <cp:revision>1</cp:revision>
  <dcterms:created xsi:type="dcterms:W3CDTF">2026-10-04T03:00:24Z</dcterms:created>
  <dcterms:modified xsi:type="dcterms:W3CDTF">2026-10-04T03:00:24Z</dcterms:modified>
</cp:coreProperties>
</file>