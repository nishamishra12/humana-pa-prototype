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Click once per step. Finish your talking point, then click.
Click 1: A surgeon decides the patient needs a lumbar spinal fusion. The office assembles a packet of clinical documents: notes, imaging, history. Meet John Doe, 71. He is waiting and sees none of this.
Click 2: They fax the packet to the plan. Fourteen pages. Fax is still how most of this moves.
Click 3: On the plan side, intake checks the member, the form, and the codes. That is a paperwork check. Nobody has read the clinical pages yet.
Click 4: Intake assigns the packet to a UM nurse. She picks it up.
Click 5: She reads all fourteen pages. She is hunting for four facts: the expected stay, the risk factors, the imaging evidence, and the conservative treatment. Then she checks each one against policy.
Click 6: When she finishes, there are three ways out: approve, pend, or escalate.
Click 7: Path one. Every fact is there and every criterion is met. She approves. This is the good case.
Click 8: Path two. A fact is missing. She pends the case and it goes back to the provider.
Click 9: The provider has to work out what is missing. Nobody tells them in plain terms. A pend does not stop the CMS clock.
Click 10: They find it and resend. The packet goes through the fax all over again.
Click 11: Back at intake, the case starts from zero. Maybe a different nurse reads it. The clock never stopped.
Click 12: Path three. The facts are there, but the case is borderline. It goes to a medical director.
Click 13: Only the medical director can deny. A denial can be appealed, and many are overturned. That is the cost of getting it wrong the first time.
Click 14: Close on this: every step is somebody doing their job correctly. The delay is built into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P1"/>
          <p:cNvSpPr/>
          <p:nvPr/>
        </p:nvSpPr>
        <p:spPr>
          <a:xfrm>
            <a:off x="32461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2" name="P1b"/>
          <p:cNvSpPr/>
          <p:nvPr/>
        </p:nvSpPr>
        <p:spPr>
          <a:xfrm>
            <a:off x="32461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3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4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5" name="L3"/>
          <p:cNvSpPr/>
          <p:nvPr/>
        </p:nvSpPr>
        <p:spPr>
          <a:xfrm>
            <a:off x="777240" y="434340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777240" tIns="36576" rIns="109728" bIns="3657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decodes the pend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missing.</a:t>
            </a:r>
            <a:endParaRPr lang="en-US" sz="1200" dirty="0"/>
          </a:p>
        </p:txBody>
      </p:sp>
      <p:pic>
        <p:nvPicPr>
          <p:cNvPr id="16" name="AvL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493776" cy="493776"/>
          </a:xfrm>
          <a:prstGeom prst="rect">
            <a:avLst/>
          </a:prstGeom>
        </p:spPr>
      </p:pic>
      <p:sp>
        <p:nvSpPr>
          <p:cNvPr id="17" name="PL3"/>
          <p:cNvSpPr/>
          <p:nvPr/>
        </p:nvSpPr>
        <p:spPr>
          <a:xfrm>
            <a:off x="3246120" y="48188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8" name="T3"/>
          <p:cNvSpPr/>
          <p:nvPr/>
        </p:nvSpPr>
        <p:spPr>
          <a:xfrm>
            <a:off x="777240" y="5193792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 does not stop the clock.</a:t>
            </a:r>
            <a:endParaRPr lang="en-US" sz="1100" dirty="0"/>
          </a:p>
        </p:txBody>
      </p:sp>
      <p:sp>
        <p:nvSpPr>
          <p:cNvPr id="19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20" name="AvIntak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21" name="P2"/>
          <p:cNvSpPr/>
          <p:nvPr/>
        </p:nvSpPr>
        <p:spPr>
          <a:xfrm>
            <a:off x="75895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22" name="P2b"/>
          <p:cNvSpPr/>
          <p:nvPr/>
        </p:nvSpPr>
        <p:spPr>
          <a:xfrm>
            <a:off x="75895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23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24" name="T5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start of the line. Maybe a different nurse.</a:t>
            </a:r>
            <a:endParaRPr lang="en-US" sz="1100" dirty="0"/>
          </a:p>
        </p:txBody>
      </p:sp>
      <p:sp>
        <p:nvSpPr>
          <p:cNvPr id="25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26" name="AvNur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27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28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9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30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31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32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33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34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35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36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37" name="RingApprove"/>
          <p:cNvSpPr/>
          <p:nvPr/>
        </p:nvSpPr>
        <p:spPr>
          <a:xfrm>
            <a:off x="726033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18764A"/>
            </a:solidFill>
            <a:prstDash val="solid"/>
          </a:ln>
        </p:spPr>
      </p:sp>
      <p:sp>
        <p:nvSpPr>
          <p:cNvPr id="38" name="RingEsc"/>
          <p:cNvSpPr/>
          <p:nvPr/>
        </p:nvSpPr>
        <p:spPr>
          <a:xfrm>
            <a:off x="9317736" y="4288536"/>
            <a:ext cx="2212848" cy="749808"/>
          </a:xfrm>
          <a:prstGeom prst="roundRect">
            <a:avLst>
              <a:gd name="adj" fmla="val 12195"/>
            </a:avLst>
          </a:prstGeom>
          <a:ln w="38100">
            <a:solidFill>
              <a:srgbClr val="5F3AA8"/>
            </a:solidFill>
            <a:prstDash val="solid"/>
          </a:ln>
        </p:spPr>
      </p:sp>
      <p:sp>
        <p:nvSpPr>
          <p:cNvPr id="39" name="MD"/>
          <p:cNvSpPr/>
          <p:nvPr/>
        </p:nvSpPr>
        <p:spPr>
          <a:xfrm>
            <a:off x="8321040" y="51389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731520" tIns="27432" rIns="91440" bIns="2743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Decides. Only role that can deny.</a:t>
            </a:r>
            <a:endParaRPr lang="en-US" sz="1200" dirty="0"/>
          </a:p>
        </p:txBody>
      </p:sp>
      <p:pic>
        <p:nvPicPr>
          <p:cNvPr id="40" name="AvM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5184648"/>
            <a:ext cx="475488" cy="475488"/>
          </a:xfrm>
          <a:prstGeom prst="rect">
            <a:avLst/>
          </a:prstGeom>
        </p:spPr>
      </p:pic>
      <p:sp>
        <p:nvSpPr>
          <p:cNvPr id="41" name="T4"/>
          <p:cNvSpPr/>
          <p:nvPr/>
        </p:nvSpPr>
        <p:spPr>
          <a:xfrm>
            <a:off x="5303520" y="513892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 can be appealed, and many are overturned.</a:t>
            </a:r>
            <a:endParaRPr lang="en-US" sz="1100" dirty="0"/>
          </a:p>
        </p:txBody>
      </p:sp>
      <p:sp>
        <p:nvSpPr>
          <p:cNvPr id="42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43" name="IcFax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44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45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6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47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48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9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50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51" name="ArrPend"/>
          <p:cNvSpPr/>
          <p:nvPr/>
        </p:nvSpPr>
        <p:spPr>
          <a:xfrm flipH="1">
            <a:off x="4297680" y="4663440"/>
            <a:ext cx="1005840" cy="0"/>
          </a:xfrm>
          <a:prstGeom prst="line">
            <a:avLst/>
          </a:prstGeom>
          <a:noFill/>
          <a:ln w="25400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52" name="ArrMD"/>
          <p:cNvSpPr/>
          <p:nvPr/>
        </p:nvSpPr>
        <p:spPr>
          <a:xfrm>
            <a:off x="10424160" y="4983480"/>
            <a:ext cx="0" cy="155448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53" name="ResA"/>
          <p:cNvSpPr/>
          <p:nvPr/>
        </p:nvSpPr>
        <p:spPr>
          <a:xfrm>
            <a:off x="603504" y="466344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54" name="ResB"/>
          <p:cNvSpPr/>
          <p:nvPr/>
        </p:nvSpPr>
        <p:spPr>
          <a:xfrm>
            <a:off x="603504" y="2446020"/>
            <a:ext cx="0" cy="221742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55" name="ResC"/>
          <p:cNvSpPr/>
          <p:nvPr/>
        </p:nvSpPr>
        <p:spPr>
          <a:xfrm>
            <a:off x="603504" y="244602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  <a:tailEnd type="triangle"/>
          </a:ln>
        </p:spPr>
      </p:sp>
      <p:sp>
        <p:nvSpPr>
          <p:cNvPr id="56" name="LabelA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 ·  A COMPLETE PACKET</a:t>
            </a:r>
            <a:endParaRPr lang="en-US" sz="1400" dirty="0"/>
          </a:p>
        </p:txBody>
      </p:sp>
      <p:sp>
        <p:nvSpPr>
          <p:cNvPr id="57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58" name="LabelC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 ·  NEEDS A PHYSICIAN</a:t>
            </a:r>
            <a:endParaRPr lang="en-US" sz="1400" dirty="0"/>
          </a:p>
        </p:txBody>
      </p:sp>
      <p:sp>
        <p:nvSpPr>
          <p:cNvPr id="59" name="c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surgeon decides a patient needs a lumbar fusion. The office assembles a packet of clinical documents.</a:t>
            </a:r>
            <a:endParaRPr lang="en-US" sz="1600" dirty="0"/>
          </a:p>
        </p:txBody>
      </p:sp>
      <p:sp>
        <p:nvSpPr>
          <p:cNvPr id="60" name="c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packet is faxed to the plan. Fourteen pages.</a:t>
            </a:r>
            <a:endParaRPr lang="en-US" sz="1600" dirty="0"/>
          </a:p>
        </p:txBody>
      </p:sp>
      <p:sp>
        <p:nvSpPr>
          <p:cNvPr id="61" name="c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checks the member, the form, and the codes. That is a paperwork check, not a clinical one.</a:t>
            </a:r>
            <a:endParaRPr lang="en-US" sz="1600" dirty="0"/>
          </a:p>
        </p:txBody>
      </p:sp>
      <p:sp>
        <p:nvSpPr>
          <p:cNvPr id="62" name="c4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 nurse picks it up and reads all fourteen pages.</a:t>
            </a:r>
            <a:endParaRPr lang="en-US" sz="1600" dirty="0"/>
          </a:p>
        </p:txBody>
      </p:sp>
      <p:sp>
        <p:nvSpPr>
          <p:cNvPr id="63" name="c5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hunts for four facts and checks each one against policy.</a:t>
            </a:r>
            <a:endParaRPr lang="en-US" sz="1600" dirty="0"/>
          </a:p>
        </p:txBody>
      </p:sp>
      <p:sp>
        <p:nvSpPr>
          <p:cNvPr id="64" name="c6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there are three ways out.</a:t>
            </a:r>
            <a:endParaRPr lang="en-US" sz="1600" dirty="0"/>
          </a:p>
        </p:txBody>
      </p:sp>
      <p:sp>
        <p:nvSpPr>
          <p:cNvPr id="65" name="c7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1. Every fact is there and every criterion is met. She approves.</a:t>
            </a:r>
            <a:endParaRPr lang="en-US" sz="1600" dirty="0"/>
          </a:p>
        </p:txBody>
      </p:sp>
      <p:sp>
        <p:nvSpPr>
          <p:cNvPr id="66" name="c8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2. A fact is missing. She pends the case and sends it back to the provider.</a:t>
            </a:r>
            <a:endParaRPr lang="en-US" sz="1600" dirty="0"/>
          </a:p>
        </p:txBody>
      </p:sp>
      <p:sp>
        <p:nvSpPr>
          <p:cNvPr id="67" name="c9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has to work out what is missing.</a:t>
            </a:r>
            <a:endParaRPr lang="en-US" sz="1600" dirty="0"/>
          </a:p>
        </p:txBody>
      </p:sp>
      <p:sp>
        <p:nvSpPr>
          <p:cNvPr id="68" name="c9b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find it and resend the packet. It goes through the fax all over again.</a:t>
            </a:r>
            <a:endParaRPr lang="en-US" sz="1600" dirty="0"/>
          </a:p>
        </p:txBody>
      </p:sp>
      <p:sp>
        <p:nvSpPr>
          <p:cNvPr id="69" name="c9c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intake, the case starts from zero. The clock never stopped.</a:t>
            </a:r>
            <a:endParaRPr lang="en-US" sz="1600" dirty="0"/>
          </a:p>
        </p:txBody>
      </p:sp>
      <p:sp>
        <p:nvSpPr>
          <p:cNvPr id="70" name="c10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3. The facts are there but the case is borderline. It goes to a medical director.</a:t>
            </a:r>
            <a:endParaRPr lang="en-US" sz="1600" dirty="0"/>
          </a:p>
        </p:txBody>
      </p:sp>
      <p:sp>
        <p:nvSpPr>
          <p:cNvPr id="71" name="c1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medical director can deny. A denial can be appealed, and many are overturned.</a:t>
            </a:r>
            <a:endParaRPr lang="en-US" sz="1600" dirty="0"/>
          </a:p>
        </p:txBody>
      </p:sp>
      <p:sp>
        <p:nvSpPr>
          <p:cNvPr id="72" name="c1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somebody doing their job correctly. The delay is built into the process.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1" grpId="0" animBg="1"/>
      <p:bldP spid="59" grpId="0"/>
      <p:bldP spid="44" grpId="0"/>
      <p:bldP spid="60" grpId="0"/>
      <p:bldP spid="19" grpId="0" animBg="1"/>
      <p:bldP spid="21" grpId="0" animBg="1"/>
      <p:bldP spid="61" grpId="0"/>
      <p:bldP spid="23" grpId="0" animBg="1"/>
      <p:bldP spid="25" grpId="0" animBg="1"/>
      <p:bldP spid="27" grpId="0" animBg="1"/>
      <p:bldP spid="62" grpId="0"/>
      <p:bldP spid="28" grpId="0"/>
      <p:bldP spid="29" grpId="0" animBg="1"/>
      <p:bldP spid="30" grpId="0" animBg="1"/>
      <p:bldP spid="31" grpId="0" animBg="1"/>
      <p:bldP spid="32" grpId="0" animBg="1"/>
      <p:bldP spid="63" grpId="0"/>
      <p:bldP spid="33" grpId="0" animBg="1"/>
      <p:bldP spid="34" grpId="0" animBg="1"/>
      <p:bldP spid="35" grpId="0" animBg="1"/>
      <p:bldP spid="64" grpId="0"/>
      <p:bldP spid="56" grpId="0"/>
      <p:bldP spid="37" grpId="0" animBg="1"/>
      <p:bldP spid="65" grpId="0"/>
      <p:bldP spid="57" grpId="0"/>
      <p:bldP spid="36" grpId="0" animBg="1"/>
      <p:bldP spid="66" grpId="0"/>
      <p:bldP spid="15" grpId="0" animBg="1"/>
      <p:bldP spid="17" grpId="0" animBg="1"/>
      <p:bldP spid="18" grpId="0" animBg="1"/>
      <p:bldP spid="67" grpId="0"/>
      <p:bldP spid="12" grpId="0" animBg="1"/>
      <p:bldP spid="68" grpId="0"/>
      <p:bldP spid="22" grpId="0" animBg="1"/>
      <p:bldP spid="24" grpId="0" animBg="1"/>
      <p:bldP spid="69" grpId="0"/>
      <p:bldP spid="58" grpId="0"/>
      <p:bldP spid="38" grpId="0" animBg="1"/>
      <p:bldP spid="70" grpId="0"/>
      <p:bldP spid="39" grpId="0" animBg="1"/>
      <p:bldP spid="41" grpId="0" animBg="1"/>
      <p:bldP spid="71" grpId="0"/>
      <p:bldP spid="7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prior authorization moves today</dc:title>
  <dc:subject>PptxGenJS Presentation</dc:subject>
  <dc:creator>Nisha Mishra</dc:creator>
  <cp:lastModifiedBy>Nisha Mishra</cp:lastModifiedBy>
  <cp:revision>1</cp:revision>
  <dcterms:created xsi:type="dcterms:W3CDTF">2026-10-04T01:52:48Z</dcterms:created>
  <dcterms:modified xsi:type="dcterms:W3CDTF">2026-10-04T01:52:48Z</dcterms:modified>
</cp:coreProperties>
</file>