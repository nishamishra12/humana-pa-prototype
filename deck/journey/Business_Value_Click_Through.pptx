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Click once per step. Finish the talking point, then click.
Click 1: Prior authorization touches Humana's money in three places. Nurses review every request, which is a cost. Members decide whether to stay, which is revenue. And Medicare pays a bonus to plans with four stars.
Click 2: Start with the nurses. Humana gets about 9.5 million standard requests a year. Say each takes 15 to 30 minutes, at about 60 dollars an hour. That is 140 to 290 million dollars a year spent reading packets. If the AI reads first and cuts reading time by three quarters, Humana saves 100 to 200 million.
Click 3: And that is not fewer nurses. The same nurses absorb the growth: about 25 percent more members in 2026.
Click 4: Next, members. Humana has 5.2 million. A 2026 study found members leave more often from plans that use prior authorization most. Say it pushes 2 percent of Humana's members out: about 104,000 a year. Keep one in ten by getting it right the first time, and 10,400 members stay. At 17,000 dollars each, that is 180 million of revenue kept.
Click 5: About 17 million of that is margin. And a member who stays this year usually stays next year too.
Click 6: Last, stars. One Humana contract, 2.3 million members, fell from four and a half stars to three and a half. That bonus is about 850 dollars a member, about 2 billion a year. Three of the measures sit on prior authorization: getting care, complaints and leaving. Raise the odds of winning the star back by 5 points, and that is worth 100 million a year.
Click 7: I cannot claim how much of the star we win back. That is why it is an expected value, and why the pilot measures the survey and complaint scores directly.
Click 8: Add up the low end: about 400 million dollars of value a year. Not all of it is profit. For the members we keep, only the margin counts. So the part that reaches profit is about 217 million.
Click 9: It costs about 10 million a year to build and run. The AI itself is about 1 million: 13 cents a case, measured. Turning the faxed pages into text is about 2 million. The team and the platform are the rest. And 10 million is the high end. These people would not work on this full time. They would share their time with other work. And I used Unstructured's public API, which is a full pipeline. With an enterprise contract, or a simpler parser, that cost drops by about a third. So, after cost, about 200 million a year in profit. Humana made 1.6 billion in profit last year, so that is more than 10 percent on top. For every dollar Humana spends, it gets about 20 back. And the pilot tells us which of these numbers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BUSINESS VALUE  ·  BACK-OF-THE-NAPKIN MATH</a:t>
            </a:r>
            <a:endParaRPr lang="en-US" sz="1100" dirty="0"/>
          </a:p>
        </p:txBody>
      </p:sp>
      <p:sp>
        <p:nvSpPr>
          <p:cNvPr id="3" name="title"/>
          <p:cNvSpPr txBox="1"/>
          <p:nvPr/>
        </p:nvSpPr>
        <p:spPr>
          <a:xfrm>
            <a:off x="457200" y="502920"/>
            <a:ext cx="78638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What right-first-time is worth to Humana, per year.</a:t>
            </a:r>
            <a:endParaRPr lang="en-US" sz="2600" dirty="0"/>
          </a:p>
        </p:txBody>
      </p:sp>
      <p:sp>
        <p:nvSpPr>
          <p:cNvPr id="4" name="legPub"/>
          <p:cNvSpPr/>
          <p:nvPr/>
        </p:nvSpPr>
        <p:spPr>
          <a:xfrm>
            <a:off x="8412480" y="658368"/>
            <a:ext cx="1737360" cy="329184"/>
          </a:xfrm>
          <a:prstGeom prst="roundRect">
            <a:avLst>
              <a:gd name="adj" fmla="val 16667"/>
            </a:avLst>
          </a:prstGeom>
          <a:solidFill>
            <a:srgbClr val="E4ECF8"/>
          </a:solidFill>
          <a:ln w="12700">
            <a:solidFill>
              <a:srgbClr val="2F5DA8"/>
            </a:solidFill>
          </a:ln>
        </p:spPr>
        <p:txBody>
          <a:bodyPr wrap="square" lIns="36576" tIns="0" rIns="36576" bIns="0" rtlCol="0" anchor="ctr"/>
          <a:lstStyle/>
          <a:p>
            <a:pPr algn="ctr" indent="0" marL="0">
              <a:buNone/>
            </a:pPr>
            <a:r>
              <a:rPr lang="en-US" sz="1100" b="1" dirty="0">
                <a:solidFill>
                  <a:srgbClr val="2F5DA8"/>
                </a:solidFill>
                <a:latin typeface="Calibri" pitchFamily="34" charset="0"/>
                <a:ea typeface="Calibri" pitchFamily="34" charset="-122"/>
                <a:cs typeface="Calibri" pitchFamily="34" charset="-120"/>
              </a:rPr>
              <a:t>Public or measured</a:t>
            </a:r>
            <a:endParaRPr lang="en-US" sz="1100" dirty="0"/>
          </a:p>
        </p:txBody>
      </p:sp>
      <p:sp>
        <p:nvSpPr>
          <p:cNvPr id="5" name="legAsm"/>
          <p:cNvSpPr/>
          <p:nvPr/>
        </p:nvSpPr>
        <p:spPr>
          <a:xfrm>
            <a:off x="10268712" y="658368"/>
            <a:ext cx="1463040" cy="329184"/>
          </a:xfrm>
          <a:prstGeom prst="roundRect">
            <a:avLst>
              <a:gd name="adj" fmla="val 16667"/>
            </a:avLst>
          </a:prstGeom>
          <a:solidFill>
            <a:srgbClr val="FCE9D8"/>
          </a:solidFill>
          <a:ln w="12700">
            <a:solidFill>
              <a:srgbClr val="C0590E"/>
            </a:solidFill>
          </a:ln>
        </p:spPr>
        <p:txBody>
          <a:bodyPr wrap="square" lIns="36576" tIns="0" rIns="36576" bIns="0" rtlCol="0" anchor="ctr"/>
          <a:lstStyle/>
          <a:p>
            <a:pPr algn="ctr" indent="0" marL="0">
              <a:buNone/>
            </a:pPr>
            <a:r>
              <a:rPr lang="en-US" sz="1100" b="1" dirty="0">
                <a:solidFill>
                  <a:srgbClr val="C0590E"/>
                </a:solidFill>
                <a:latin typeface="Calibri" pitchFamily="34" charset="0"/>
                <a:ea typeface="Calibri" pitchFamily="34" charset="-122"/>
                <a:cs typeface="Calibri" pitchFamily="34" charset="-120"/>
              </a:rPr>
              <a:t>Assumption</a:t>
            </a:r>
            <a:endParaRPr lang="en-US" sz="1100" dirty="0"/>
          </a:p>
        </p:txBody>
      </p:sp>
      <p:sp>
        <p:nvSpPr>
          <p:cNvPr id="6" name="footer"/>
          <p:cNvSpPr txBox="1"/>
          <p:nvPr/>
        </p:nvSpPr>
        <p:spPr>
          <a:xfrm>
            <a:off x="457200" y="6053328"/>
            <a:ext cx="11274552" cy="54864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Public numbers: Humana 2025 10-K and full-year results, KFF, Health Affairs (2026), CMS Star Ratings, analyst estimates. Assumptions are what a pilot would measure. The total uses the low end of every range.</a:t>
            </a:r>
            <a:endParaRPr lang="en-US" sz="900" dirty="0"/>
          </a:p>
        </p:txBody>
      </p:sp>
      <p:pic>
        <p:nvPicPr>
          <p:cNvPr id="7" name="Ic1" descr="preencoded.png">    </p:cNvPr>
          <p:cNvPicPr>
            <a:picLocks noChangeAspect="1"/>
          </p:cNvPicPr>
          <p:nvPr/>
        </p:nvPicPr>
        <p:blipFill>
          <a:blip r:embed="rId1"/>
          <a:stretch>
            <a:fillRect/>
          </a:stretch>
        </p:blipFill>
        <p:spPr>
          <a:xfrm>
            <a:off x="457200" y="1353312"/>
            <a:ext cx="777240" cy="777240"/>
          </a:xfrm>
          <a:prstGeom prst="rect">
            <a:avLst/>
          </a:prstGeom>
        </p:spPr>
      </p:pic>
      <p:sp>
        <p:nvSpPr>
          <p:cNvPr id="8" name="Lb1"/>
          <p:cNvSpPr txBox="1"/>
          <p:nvPr/>
        </p:nvSpPr>
        <p:spPr>
          <a:xfrm>
            <a:off x="1353312" y="1371600"/>
            <a:ext cx="2697480" cy="731520"/>
          </a:xfrm>
          <a:prstGeom prst="rect">
            <a:avLst/>
          </a:prstGeom>
          <a:noFill/>
          <a:ln/>
        </p:spPr>
        <p:txBody>
          <a:bodyPr wrap="square" lIns="0" tIns="0" rIns="0" bIns="0" rtlCol="0" anchor="ctr"/>
          <a:lstStyle/>
          <a:p>
            <a:pPr algn="l" indent="0" marL="0">
              <a:buNone/>
            </a:pPr>
            <a:r>
              <a:rPr lang="en-US" sz="1300" b="1" dirty="0">
                <a:solidFill>
                  <a:srgbClr val="16211E"/>
                </a:solidFill>
                <a:latin typeface="Calibri" pitchFamily="34" charset="0"/>
                <a:ea typeface="Calibri" pitchFamily="34" charset="-122"/>
                <a:cs typeface="Calibri" pitchFamily="34" charset="-120"/>
              </a:rPr>
              <a:t>Nurses review every request</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A cost: nurse time</a:t>
            </a:r>
            <a:endParaRPr lang="en-US" sz="1300" dirty="0"/>
          </a:p>
        </p:txBody>
      </p:sp>
      <p:sp>
        <p:nvSpPr>
          <p:cNvPr id="9" name="Ring1"/>
          <p:cNvSpPr/>
          <p:nvPr/>
        </p:nvSpPr>
        <p:spPr>
          <a:xfrm>
            <a:off x="420624" y="1298448"/>
            <a:ext cx="3685032" cy="886968"/>
          </a:xfrm>
          <a:prstGeom prst="roundRect">
            <a:avLst>
              <a:gd name="adj" fmla="val 10309"/>
            </a:avLst>
          </a:prstGeom>
          <a:ln w="38100">
            <a:solidFill>
              <a:srgbClr val="1F6F5C"/>
            </a:solidFill>
            <a:prstDash val="solid"/>
          </a:ln>
        </p:spPr>
      </p:sp>
      <p:pic>
        <p:nvPicPr>
          <p:cNvPr id="10" name="Ic2" descr="preencoded.png">    </p:cNvPr>
          <p:cNvPicPr>
            <a:picLocks noChangeAspect="1"/>
          </p:cNvPicPr>
          <p:nvPr/>
        </p:nvPicPr>
        <p:blipFill>
          <a:blip r:embed="rId2"/>
          <a:stretch>
            <a:fillRect/>
          </a:stretch>
        </p:blipFill>
        <p:spPr>
          <a:xfrm>
            <a:off x="4288536" y="1353312"/>
            <a:ext cx="777240" cy="777240"/>
          </a:xfrm>
          <a:prstGeom prst="rect">
            <a:avLst/>
          </a:prstGeom>
        </p:spPr>
      </p:pic>
      <p:sp>
        <p:nvSpPr>
          <p:cNvPr id="11" name="Lb2"/>
          <p:cNvSpPr txBox="1"/>
          <p:nvPr/>
        </p:nvSpPr>
        <p:spPr>
          <a:xfrm>
            <a:off x="5184648" y="1371600"/>
            <a:ext cx="2697480" cy="731520"/>
          </a:xfrm>
          <a:prstGeom prst="rect">
            <a:avLst/>
          </a:prstGeom>
          <a:noFill/>
          <a:ln/>
        </p:spPr>
        <p:txBody>
          <a:bodyPr wrap="square" lIns="0" tIns="0" rIns="0" bIns="0" rtlCol="0" anchor="ctr"/>
          <a:lstStyle/>
          <a:p>
            <a:pPr algn="l" indent="0" marL="0">
              <a:buNone/>
            </a:pPr>
            <a:r>
              <a:rPr lang="en-US" sz="1300" b="1" dirty="0">
                <a:solidFill>
                  <a:srgbClr val="16211E"/>
                </a:solidFill>
                <a:latin typeface="Calibri" pitchFamily="34" charset="0"/>
                <a:ea typeface="Calibri" pitchFamily="34" charset="-122"/>
                <a:cs typeface="Calibri" pitchFamily="34" charset="-120"/>
              </a:rPr>
              <a:t>Members stay or leave</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Revenue: about $17,000 each a year</a:t>
            </a:r>
            <a:endParaRPr lang="en-US" sz="1300" dirty="0"/>
          </a:p>
        </p:txBody>
      </p:sp>
      <p:sp>
        <p:nvSpPr>
          <p:cNvPr id="12" name="Ring2"/>
          <p:cNvSpPr/>
          <p:nvPr/>
        </p:nvSpPr>
        <p:spPr>
          <a:xfrm>
            <a:off x="4251960" y="1298448"/>
            <a:ext cx="3685032" cy="886968"/>
          </a:xfrm>
          <a:prstGeom prst="roundRect">
            <a:avLst>
              <a:gd name="adj" fmla="val 10309"/>
            </a:avLst>
          </a:prstGeom>
          <a:ln w="38100">
            <a:solidFill>
              <a:srgbClr val="5F3AA8"/>
            </a:solidFill>
            <a:prstDash val="solid"/>
          </a:ln>
        </p:spPr>
      </p:sp>
      <p:pic>
        <p:nvPicPr>
          <p:cNvPr id="13" name="Ic3" descr="preencoded.png">    </p:cNvPr>
          <p:cNvPicPr>
            <a:picLocks noChangeAspect="1"/>
          </p:cNvPicPr>
          <p:nvPr/>
        </p:nvPicPr>
        <p:blipFill>
          <a:blip r:embed="rId3"/>
          <a:stretch>
            <a:fillRect/>
          </a:stretch>
        </p:blipFill>
        <p:spPr>
          <a:xfrm>
            <a:off x="8119872" y="1353312"/>
            <a:ext cx="777240" cy="777240"/>
          </a:xfrm>
          <a:prstGeom prst="rect">
            <a:avLst/>
          </a:prstGeom>
        </p:spPr>
      </p:pic>
      <p:sp>
        <p:nvSpPr>
          <p:cNvPr id="14" name="Lb3"/>
          <p:cNvSpPr txBox="1"/>
          <p:nvPr/>
        </p:nvSpPr>
        <p:spPr>
          <a:xfrm>
            <a:off x="9015984" y="1371600"/>
            <a:ext cx="2697480" cy="731520"/>
          </a:xfrm>
          <a:prstGeom prst="rect">
            <a:avLst/>
          </a:prstGeom>
          <a:noFill/>
          <a:ln/>
        </p:spPr>
        <p:txBody>
          <a:bodyPr wrap="square" lIns="0" tIns="0" rIns="0" bIns="0" rtlCol="0" anchor="ctr"/>
          <a:lstStyle/>
          <a:p>
            <a:pPr algn="l" indent="0" marL="0">
              <a:buNone/>
            </a:pPr>
            <a:r>
              <a:rPr lang="en-US" sz="1300" b="1" dirty="0">
                <a:solidFill>
                  <a:srgbClr val="16211E"/>
                </a:solidFill>
                <a:latin typeface="Calibri" pitchFamily="34" charset="0"/>
                <a:ea typeface="Calibri" pitchFamily="34" charset="-122"/>
                <a:cs typeface="Calibri" pitchFamily="34" charset="-120"/>
              </a:rPr>
              <a:t>Medicare pays a 4-star bonus</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Revenue: about 5% more per member</a:t>
            </a:r>
            <a:endParaRPr lang="en-US" sz="1300" dirty="0"/>
          </a:p>
        </p:txBody>
      </p:sp>
      <p:sp>
        <p:nvSpPr>
          <p:cNvPr id="15" name="Ring3"/>
          <p:cNvSpPr/>
          <p:nvPr/>
        </p:nvSpPr>
        <p:spPr>
          <a:xfrm>
            <a:off x="8083296" y="1298448"/>
            <a:ext cx="3685032" cy="886968"/>
          </a:xfrm>
          <a:prstGeom prst="roundRect">
            <a:avLst>
              <a:gd name="adj" fmla="val 10309"/>
            </a:avLst>
          </a:prstGeom>
          <a:ln w="38100">
            <a:solidFill>
              <a:srgbClr val="8A5A00"/>
            </a:solidFill>
            <a:prstDash val="solid"/>
          </a:ln>
        </p:spPr>
      </p:sp>
      <p:sp>
        <p:nvSpPr>
          <p:cNvPr id="16" name="Card1"/>
          <p:cNvSpPr/>
          <p:nvPr/>
        </p:nvSpPr>
        <p:spPr>
          <a:xfrm>
            <a:off x="457200" y="2395728"/>
            <a:ext cx="3611880" cy="1874520"/>
          </a:xfrm>
          <a:prstGeom prst="roundRect">
            <a:avLst>
              <a:gd name="adj" fmla="val 4878"/>
            </a:avLst>
          </a:prstGeom>
          <a:solidFill>
            <a:srgbClr val="E3F0EB"/>
          </a:solidFill>
          <a:ln w="15875">
            <a:solidFill>
              <a:srgbClr val="1F6F5C"/>
            </a:solidFill>
          </a:ln>
        </p:spPr>
        <p:txBody>
          <a:bodyPr wrap="square" lIns="201168" tIns="164592" rIns="182880" bIns="109728" rtlCol="0" anchor="t"/>
          <a:lstStyle/>
          <a:p>
            <a:pPr algn="l" indent="0" marL="0">
              <a:buNone/>
            </a:pPr>
            <a:r>
              <a:rPr lang="en-US" sz="1100" b="1" spc="200" kern="0" dirty="0">
                <a:solidFill>
                  <a:srgbClr val="1F6F5C"/>
                </a:solidFill>
                <a:latin typeface="Calibri" pitchFamily="34" charset="0"/>
                <a:ea typeface="Calibri" pitchFamily="34" charset="-122"/>
                <a:cs typeface="Calibri" pitchFamily="34" charset="-120"/>
              </a:rPr>
              <a:t>FASTER REVIEW</a:t>
            </a:r>
            <a:endParaRPr lang="en-US" sz="1100" dirty="0"/>
          </a:p>
          <a:p>
            <a:pPr algn="l" indent="0" marL="0">
              <a:buNone/>
            </a:pPr>
            <a:r>
              <a:rPr lang="en-US" sz="2800" dirty="0">
                <a:solidFill>
                  <a:srgbClr val="1F6F5C"/>
                </a:solidFill>
                <a:latin typeface="Cambria" pitchFamily="34" charset="0"/>
                <a:ea typeface="Cambria" pitchFamily="34" charset="-122"/>
                <a:cs typeface="Cambria" pitchFamily="34" charset="-120"/>
              </a:rPr>
              <a:t>$100M to $200M</a:t>
            </a:r>
            <a:endParaRPr lang="en-US" sz="1100" dirty="0"/>
          </a:p>
          <a:p>
            <a:pPr algn="l" indent="0" marL="0">
              <a:buNone/>
            </a:pPr>
            <a:r>
              <a:rPr lang="en-US" sz="1300" b="1" dirty="0">
                <a:solidFill>
                  <a:srgbClr val="16211E"/>
                </a:solidFill>
                <a:latin typeface="Calibri" pitchFamily="34" charset="0"/>
                <a:ea typeface="Calibri" pitchFamily="34" charset="-122"/>
                <a:cs typeface="Calibri" pitchFamily="34" charset="-120"/>
              </a:rPr>
              <a:t>saved a year</a:t>
            </a:r>
            <a:endParaRPr lang="en-US" sz="1100" dirty="0"/>
          </a:p>
          <a:p>
            <a:pPr algn="l" indent="0" marL="0">
              <a:buNone/>
            </a:pPr>
            <a:r>
              <a:rPr lang="en-US" sz="600" dirty="0">
                <a:solidFill>
                  <a:srgbClr val="16211E"/>
                </a:solidFill>
                <a:latin typeface="Calibri" pitchFamily="34" charset="0"/>
                <a:ea typeface="Calibri" pitchFamily="34" charset="-122"/>
                <a:cs typeface="Calibri" pitchFamily="34" charset="-120"/>
              </a:rPr>
              <a:t> </a:t>
            </a:r>
            <a:endParaRPr lang="en-US" sz="1100" dirty="0"/>
          </a:p>
          <a:p>
            <a:pPr algn="l" indent="0" marL="0">
              <a:buNone/>
            </a:pPr>
            <a:r>
              <a:rPr lang="en-US" sz="1050" dirty="0">
                <a:solidFill>
                  <a:srgbClr val="5C6B66"/>
                </a:solidFill>
                <a:latin typeface="Calibri" pitchFamily="34" charset="0"/>
                <a:ea typeface="Calibri" pitchFamily="34" charset="-122"/>
                <a:cs typeface="Calibri" pitchFamily="34" charset="-120"/>
              </a:rPr>
              <a:t>9.5M requests × 15 to 30 min × $60 an hour × 75% less reading</a:t>
            </a:r>
            <a:endParaRPr lang="en-US" sz="1100" dirty="0"/>
          </a:p>
        </p:txBody>
      </p:sp>
      <p:sp>
        <p:nvSpPr>
          <p:cNvPr id="17" name="Card2"/>
          <p:cNvSpPr/>
          <p:nvPr/>
        </p:nvSpPr>
        <p:spPr>
          <a:xfrm>
            <a:off x="4288536" y="2395728"/>
            <a:ext cx="3611880" cy="1874520"/>
          </a:xfrm>
          <a:prstGeom prst="roundRect">
            <a:avLst>
              <a:gd name="adj" fmla="val 4878"/>
            </a:avLst>
          </a:prstGeom>
          <a:solidFill>
            <a:srgbClr val="EBE2F8"/>
          </a:solidFill>
          <a:ln w="15875">
            <a:solidFill>
              <a:srgbClr val="5F3AA8"/>
            </a:solidFill>
          </a:ln>
        </p:spPr>
        <p:txBody>
          <a:bodyPr wrap="square" lIns="201168" tIns="164592" rIns="182880" bIns="109728" rtlCol="0" anchor="t"/>
          <a:lstStyle/>
          <a:p>
            <a:pPr algn="l" indent="0" marL="0">
              <a:buNone/>
            </a:pPr>
            <a:r>
              <a:rPr lang="en-US" sz="1100" b="1" spc="200" kern="0" dirty="0">
                <a:solidFill>
                  <a:srgbClr val="5F3AA8"/>
                </a:solidFill>
                <a:latin typeface="Calibri" pitchFamily="34" charset="0"/>
                <a:ea typeface="Calibri" pitchFamily="34" charset="-122"/>
                <a:cs typeface="Calibri" pitchFamily="34" charset="-120"/>
              </a:rPr>
              <a:t>MEMBERS WHO STAY</a:t>
            </a:r>
            <a:endParaRPr lang="en-US" sz="1100" dirty="0"/>
          </a:p>
          <a:p>
            <a:pPr algn="l" indent="0" marL="0">
              <a:buNone/>
            </a:pPr>
            <a:r>
              <a:rPr lang="en-US" sz="2800" dirty="0">
                <a:solidFill>
                  <a:srgbClr val="5F3AA8"/>
                </a:solidFill>
                <a:latin typeface="Cambria" pitchFamily="34" charset="0"/>
                <a:ea typeface="Cambria" pitchFamily="34" charset="-122"/>
                <a:cs typeface="Cambria" pitchFamily="34" charset="-120"/>
              </a:rPr>
              <a:t>$180M</a:t>
            </a:r>
            <a:endParaRPr lang="en-US" sz="1100" dirty="0"/>
          </a:p>
          <a:p>
            <a:pPr algn="l" indent="0" marL="0">
              <a:buNone/>
            </a:pPr>
            <a:r>
              <a:rPr lang="en-US" sz="1300" b="1" dirty="0">
                <a:solidFill>
                  <a:srgbClr val="16211E"/>
                </a:solidFill>
                <a:latin typeface="Calibri" pitchFamily="34" charset="0"/>
                <a:ea typeface="Calibri" pitchFamily="34" charset="-122"/>
                <a:cs typeface="Calibri" pitchFamily="34" charset="-120"/>
              </a:rPr>
              <a:t>revenue kept a year</a:t>
            </a:r>
            <a:endParaRPr lang="en-US" sz="1100" dirty="0"/>
          </a:p>
          <a:p>
            <a:pPr algn="l" indent="0" marL="0">
              <a:buNone/>
            </a:pPr>
            <a:r>
              <a:rPr lang="en-US" sz="600" dirty="0">
                <a:solidFill>
                  <a:srgbClr val="16211E"/>
                </a:solidFill>
                <a:latin typeface="Calibri" pitchFamily="34" charset="0"/>
                <a:ea typeface="Calibri" pitchFamily="34" charset="-122"/>
                <a:cs typeface="Calibri" pitchFamily="34" charset="-120"/>
              </a:rPr>
              <a:t> </a:t>
            </a:r>
            <a:endParaRPr lang="en-US" sz="1100" dirty="0"/>
          </a:p>
          <a:p>
            <a:pPr algn="l" indent="0" marL="0">
              <a:buNone/>
            </a:pPr>
            <a:r>
              <a:rPr lang="en-US" sz="1050" dirty="0">
                <a:solidFill>
                  <a:srgbClr val="5C6B66"/>
                </a:solidFill>
                <a:latin typeface="Calibri" pitchFamily="34" charset="0"/>
                <a:ea typeface="Calibri" pitchFamily="34" charset="-122"/>
                <a:cs typeface="Calibri" pitchFamily="34" charset="-120"/>
              </a:rPr>
              <a:t>104,000 leave over prior authorization × 1 in 10 kept × $17,000. About $17M of it is margin.</a:t>
            </a:r>
            <a:endParaRPr lang="en-US" sz="1100" dirty="0"/>
          </a:p>
        </p:txBody>
      </p:sp>
      <p:sp>
        <p:nvSpPr>
          <p:cNvPr id="18" name="Card3"/>
          <p:cNvSpPr/>
          <p:nvPr/>
        </p:nvSpPr>
        <p:spPr>
          <a:xfrm>
            <a:off x="8119872" y="2395728"/>
            <a:ext cx="3611880" cy="1874520"/>
          </a:xfrm>
          <a:prstGeom prst="roundRect">
            <a:avLst>
              <a:gd name="adj" fmla="val 4878"/>
            </a:avLst>
          </a:prstGeom>
          <a:solidFill>
            <a:srgbClr val="FCEFD0"/>
          </a:solidFill>
          <a:ln w="15875">
            <a:solidFill>
              <a:srgbClr val="8A5A00"/>
            </a:solidFill>
          </a:ln>
        </p:spPr>
        <p:txBody>
          <a:bodyPr wrap="square" lIns="201168" tIns="164592" rIns="182880" bIns="109728" rtlCol="0" anchor="t"/>
          <a:lstStyle/>
          <a:p>
            <a:pPr algn="l" indent="0" marL="0">
              <a:buNone/>
            </a:pPr>
            <a:r>
              <a:rPr lang="en-US" sz="1100" b="1" spc="200" kern="0" dirty="0">
                <a:solidFill>
                  <a:srgbClr val="8A5A00"/>
                </a:solidFill>
                <a:latin typeface="Calibri" pitchFamily="34" charset="0"/>
                <a:ea typeface="Calibri" pitchFamily="34" charset="-122"/>
                <a:cs typeface="Calibri" pitchFamily="34" charset="-120"/>
              </a:rPr>
              <a:t>STAR BONUS</a:t>
            </a:r>
            <a:endParaRPr lang="en-US" sz="1100" dirty="0"/>
          </a:p>
          <a:p>
            <a:pPr algn="l" indent="0" marL="0">
              <a:buNone/>
            </a:pPr>
            <a:r>
              <a:rPr lang="en-US" sz="2800" dirty="0">
                <a:solidFill>
                  <a:srgbClr val="8A5A00"/>
                </a:solidFill>
                <a:latin typeface="Cambria" pitchFamily="34" charset="0"/>
                <a:ea typeface="Cambria" pitchFamily="34" charset="-122"/>
                <a:cs typeface="Cambria" pitchFamily="34" charset="-120"/>
              </a:rPr>
              <a:t>$100M</a:t>
            </a:r>
            <a:endParaRPr lang="en-US" sz="1100" dirty="0"/>
          </a:p>
          <a:p>
            <a:pPr algn="l" indent="0" marL="0">
              <a:buNone/>
            </a:pPr>
            <a:r>
              <a:rPr lang="en-US" sz="1300" b="1" dirty="0">
                <a:solidFill>
                  <a:srgbClr val="16211E"/>
                </a:solidFill>
                <a:latin typeface="Calibri" pitchFamily="34" charset="0"/>
                <a:ea typeface="Calibri" pitchFamily="34" charset="-122"/>
                <a:cs typeface="Calibri" pitchFamily="34" charset="-120"/>
              </a:rPr>
              <a:t>expected a year</a:t>
            </a:r>
            <a:endParaRPr lang="en-US" sz="1100" dirty="0"/>
          </a:p>
          <a:p>
            <a:pPr algn="l" indent="0" marL="0">
              <a:buNone/>
            </a:pPr>
            <a:r>
              <a:rPr lang="en-US" sz="600" dirty="0">
                <a:solidFill>
                  <a:srgbClr val="16211E"/>
                </a:solidFill>
                <a:latin typeface="Calibri" pitchFamily="34" charset="0"/>
                <a:ea typeface="Calibri" pitchFamily="34" charset="-122"/>
                <a:cs typeface="Calibri" pitchFamily="34" charset="-120"/>
              </a:rPr>
              <a:t> </a:t>
            </a:r>
            <a:endParaRPr lang="en-US" sz="1100" dirty="0"/>
          </a:p>
          <a:p>
            <a:pPr algn="l" indent="0" marL="0">
              <a:buNone/>
            </a:pPr>
            <a:r>
              <a:rPr lang="en-US" sz="1050" dirty="0">
                <a:solidFill>
                  <a:srgbClr val="5C6B66"/>
                </a:solidFill>
                <a:latin typeface="Calibri" pitchFamily="34" charset="0"/>
                <a:ea typeface="Calibri" pitchFamily="34" charset="-122"/>
                <a:cs typeface="Calibri" pitchFamily="34" charset="-120"/>
              </a:rPr>
              <a:t>$2B on one contract × 5 points better odds of winning the fourth star back</a:t>
            </a:r>
            <a:endParaRPr lang="en-US" sz="1100" dirty="0"/>
          </a:p>
        </p:txBody>
      </p:sp>
      <p:sp>
        <p:nvSpPr>
          <p:cNvPr id="19" name="Nap1"/>
          <p:cNvSpPr/>
          <p:nvPr/>
        </p:nvSpPr>
        <p:spPr>
          <a:xfrm>
            <a:off x="457200" y="2395728"/>
            <a:ext cx="11274552" cy="3429000"/>
          </a:xfrm>
          <a:prstGeom prst="roundRect">
            <a:avLst>
              <a:gd name="adj" fmla="val 3200"/>
            </a:avLst>
          </a:prstGeom>
          <a:solidFill>
            <a:srgbClr val="FAF8F3"/>
          </a:solidFill>
          <a:ln w="19050">
            <a:solidFill>
              <a:srgbClr val="1F6F5C"/>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20" name="NapH1"/>
          <p:cNvSpPr txBox="1"/>
          <p:nvPr/>
        </p:nvSpPr>
        <p:spPr>
          <a:xfrm>
            <a:off x="777240" y="2542032"/>
            <a:ext cx="6400800" cy="274320"/>
          </a:xfrm>
          <a:prstGeom prst="rect">
            <a:avLst/>
          </a:prstGeom>
          <a:noFill/>
          <a:ln/>
        </p:spPr>
        <p:txBody>
          <a:bodyPr wrap="square" lIns="0" tIns="0" rIns="0" bIns="0" rtlCol="0" anchor="t"/>
          <a:lstStyle/>
          <a:p>
            <a:pPr algn="l" indent="0" marL="0">
              <a:buNone/>
            </a:pPr>
            <a:r>
              <a:rPr lang="en-US" sz="1100" b="1" spc="200" kern="0" dirty="0">
                <a:solidFill>
                  <a:srgbClr val="1F6F5C"/>
                </a:solidFill>
                <a:latin typeface="Calibri" pitchFamily="34" charset="0"/>
                <a:ea typeface="Calibri" pitchFamily="34" charset="-122"/>
                <a:cs typeface="Calibri" pitchFamily="34" charset="-120"/>
              </a:rPr>
              <a:t>NAPKIN 1 OF 3  ·  FASTER REVIEW</a:t>
            </a:r>
            <a:endParaRPr lang="en-US" sz="1100" dirty="0"/>
          </a:p>
        </p:txBody>
      </p:sp>
      <p:sp>
        <p:nvSpPr>
          <p:cNvPr id="21" name="M1_1"/>
          <p:cNvSpPr txBox="1"/>
          <p:nvPr/>
        </p:nvSpPr>
        <p:spPr>
          <a:xfrm>
            <a:off x="777240" y="2926080"/>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9.5M</a:t>
            </a:r>
            <a:pPr algn="l" indent="0" marL="0">
              <a:buNone/>
            </a:pPr>
            <a:r>
              <a:rPr lang="en-US" sz="1400" dirty="0">
                <a:solidFill>
                  <a:srgbClr val="5C6B66"/>
                </a:solidFill>
                <a:latin typeface="Calibri" pitchFamily="34" charset="0"/>
                <a:ea typeface="Calibri" pitchFamily="34" charset="-122"/>
                <a:cs typeface="Calibri" pitchFamily="34" charset="-120"/>
              </a:rPr>
              <a:t> standard requests a year (Humana, 2025)</a:t>
            </a:r>
            <a:endParaRPr lang="en-US" sz="1500" dirty="0"/>
          </a:p>
        </p:txBody>
      </p:sp>
      <p:sp>
        <p:nvSpPr>
          <p:cNvPr id="22" name="M1_2"/>
          <p:cNvSpPr txBox="1"/>
          <p:nvPr/>
        </p:nvSpPr>
        <p:spPr>
          <a:xfrm>
            <a:off x="777240" y="3310128"/>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15 to 30 min</a:t>
            </a:r>
            <a:pPr algn="l" indent="0" marL="0">
              <a:buNone/>
            </a:pPr>
            <a:r>
              <a:rPr lang="en-US" sz="1400" dirty="0">
                <a:solidFill>
                  <a:srgbClr val="5C6B66"/>
                </a:solidFill>
                <a:latin typeface="Calibri" pitchFamily="34" charset="0"/>
                <a:ea typeface="Calibri" pitchFamily="34" charset="-122"/>
                <a:cs typeface="Calibri" pitchFamily="34" charset="-120"/>
              </a:rPr>
              <a:t> of nurse review each</a:t>
            </a:r>
            <a:endParaRPr lang="en-US" sz="1500" dirty="0"/>
          </a:p>
        </p:txBody>
      </p:sp>
      <p:sp>
        <p:nvSpPr>
          <p:cNvPr id="23" name="M1_3"/>
          <p:cNvSpPr txBox="1"/>
          <p:nvPr/>
        </p:nvSpPr>
        <p:spPr>
          <a:xfrm>
            <a:off x="777240" y="3694176"/>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$60</a:t>
            </a:r>
            <a:pPr algn="l" indent="0" marL="0">
              <a:buNone/>
            </a:pPr>
            <a:r>
              <a:rPr lang="en-US" sz="1400" dirty="0">
                <a:solidFill>
                  <a:srgbClr val="5C6B66"/>
                </a:solidFill>
                <a:latin typeface="Calibri" pitchFamily="34" charset="0"/>
                <a:ea typeface="Calibri" pitchFamily="34" charset="-122"/>
                <a:cs typeface="Calibri" pitchFamily="34" charset="-120"/>
              </a:rPr>
              <a:t> an hour, loaded nurse cost</a:t>
            </a:r>
            <a:endParaRPr lang="en-US" sz="1500" dirty="0"/>
          </a:p>
        </p:txBody>
      </p:sp>
      <p:sp>
        <p:nvSpPr>
          <p:cNvPr id="24" name="M1_4"/>
          <p:cNvSpPr txBox="1"/>
          <p:nvPr/>
        </p:nvSpPr>
        <p:spPr>
          <a:xfrm>
            <a:off x="777240" y="4078224"/>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$140M to $290M</a:t>
            </a:r>
            <a:pPr algn="l" indent="0" marL="0">
              <a:buNone/>
            </a:pPr>
            <a:r>
              <a:rPr lang="en-US" sz="1400" dirty="0">
                <a:solidFill>
                  <a:srgbClr val="16211E"/>
                </a:solidFill>
                <a:latin typeface="Calibri" pitchFamily="34" charset="0"/>
                <a:ea typeface="Calibri" pitchFamily="34" charset="-122"/>
                <a:cs typeface="Calibri" pitchFamily="34" charset="-120"/>
              </a:rPr>
              <a:t> a year spent reading packets</a:t>
            </a:r>
            <a:endParaRPr lang="en-US" sz="1500" dirty="0"/>
          </a:p>
        </p:txBody>
      </p:sp>
      <p:sp>
        <p:nvSpPr>
          <p:cNvPr id="25" name="M1_5"/>
          <p:cNvSpPr txBox="1"/>
          <p:nvPr/>
        </p:nvSpPr>
        <p:spPr>
          <a:xfrm>
            <a:off x="777240" y="4462272"/>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75%</a:t>
            </a:r>
            <a:pPr algn="l" indent="0" marL="0">
              <a:buNone/>
            </a:pPr>
            <a:r>
              <a:rPr lang="en-US" sz="1400" dirty="0">
                <a:solidFill>
                  <a:srgbClr val="5C6B66"/>
                </a:solidFill>
                <a:latin typeface="Calibri" pitchFamily="34" charset="0"/>
                <a:ea typeface="Calibri" pitchFamily="34" charset="-122"/>
                <a:cs typeface="Calibri" pitchFamily="34" charset="-120"/>
              </a:rPr>
              <a:t> less reading time, because the AI reads first</a:t>
            </a:r>
            <a:endParaRPr lang="en-US" sz="1500" dirty="0"/>
          </a:p>
        </p:txBody>
      </p:sp>
      <p:sp>
        <p:nvSpPr>
          <p:cNvPr id="26" name="M1_6"/>
          <p:cNvSpPr txBox="1"/>
          <p:nvPr/>
        </p:nvSpPr>
        <p:spPr>
          <a:xfrm>
            <a:off x="777240" y="4846320"/>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$100M to $200M</a:t>
            </a:r>
            <a:pPr algn="l" indent="0" marL="0">
              <a:buNone/>
            </a:pPr>
            <a:r>
              <a:rPr lang="en-US" sz="1400" dirty="0">
                <a:solidFill>
                  <a:srgbClr val="16211E"/>
                </a:solidFill>
                <a:latin typeface="Calibri" pitchFamily="34" charset="0"/>
                <a:ea typeface="Calibri" pitchFamily="34" charset="-122"/>
                <a:cs typeface="Calibri" pitchFamily="34" charset="-120"/>
              </a:rPr>
              <a:t> saved a year</a:t>
            </a:r>
            <a:endParaRPr lang="en-US" sz="1500" dirty="0"/>
          </a:p>
        </p:txBody>
      </p:sp>
      <p:sp>
        <p:nvSpPr>
          <p:cNvPr id="27" name="Res1"/>
          <p:cNvSpPr/>
          <p:nvPr/>
        </p:nvSpPr>
        <p:spPr>
          <a:xfrm>
            <a:off x="7589520" y="2926080"/>
            <a:ext cx="3840480" cy="1234440"/>
          </a:xfrm>
          <a:prstGeom prst="roundRect">
            <a:avLst>
              <a:gd name="adj" fmla="val 7407"/>
            </a:avLst>
          </a:prstGeom>
          <a:solidFill>
            <a:srgbClr val="E3F0EB"/>
          </a:solidFill>
          <a:ln w="15875">
            <a:solidFill>
              <a:srgbClr val="1F6F5C"/>
            </a:solidFill>
          </a:ln>
        </p:spPr>
        <p:txBody>
          <a:bodyPr wrap="square" lIns="91440" tIns="54864" rIns="91440" bIns="54864" rtlCol="0" anchor="ctr"/>
          <a:lstStyle/>
          <a:p>
            <a:pPr algn="ctr" indent="0" marL="0">
              <a:buNone/>
            </a:pPr>
            <a:r>
              <a:rPr lang="en-US" sz="2800" dirty="0">
                <a:solidFill>
                  <a:srgbClr val="1F6F5C"/>
                </a:solidFill>
                <a:latin typeface="Cambria" pitchFamily="34" charset="0"/>
                <a:ea typeface="Cambria" pitchFamily="34" charset="-122"/>
                <a:cs typeface="Cambria" pitchFamily="34" charset="-120"/>
              </a:rPr>
              <a:t>$100M to $200M</a:t>
            </a:r>
            <a:endParaRPr lang="en-US" sz="2800" dirty="0"/>
          </a:p>
          <a:p>
            <a:pPr algn="ctr" indent="0" marL="0">
              <a:buNone/>
            </a:pPr>
            <a:r>
              <a:rPr lang="en-US" sz="1300" b="1" dirty="0">
                <a:solidFill>
                  <a:srgbClr val="16211E"/>
                </a:solidFill>
                <a:latin typeface="Calibri" pitchFamily="34" charset="0"/>
                <a:ea typeface="Calibri" pitchFamily="34" charset="-122"/>
                <a:cs typeface="Calibri" pitchFamily="34" charset="-120"/>
              </a:rPr>
              <a:t>saved a year</a:t>
            </a:r>
            <a:endParaRPr lang="en-US" sz="2800" dirty="0"/>
          </a:p>
        </p:txBody>
      </p:sp>
      <p:sp>
        <p:nvSpPr>
          <p:cNvPr id="28" name="Note1"/>
          <p:cNvSpPr txBox="1"/>
          <p:nvPr/>
        </p:nvSpPr>
        <p:spPr>
          <a:xfrm>
            <a:off x="7589520" y="4343400"/>
            <a:ext cx="3840480" cy="1280160"/>
          </a:xfrm>
          <a:prstGeom prst="rect">
            <a:avLst/>
          </a:prstGeom>
          <a:noFill/>
          <a:ln/>
        </p:spPr>
        <p:txBody>
          <a:bodyPr wrap="square" lIns="0" tIns="0" rIns="0" bIns="0" rtlCol="0" anchor="t"/>
          <a:lstStyle/>
          <a:p>
            <a:pPr algn="l" indent="0" marL="0">
              <a:buNone/>
            </a:pPr>
            <a:r>
              <a:rPr lang="en-US" sz="1150" i="1" dirty="0">
                <a:solidFill>
                  <a:srgbClr val="5C6B66"/>
                </a:solidFill>
                <a:latin typeface="Calibri" pitchFamily="34" charset="0"/>
                <a:ea typeface="Calibri" pitchFamily="34" charset="-122"/>
                <a:cs typeface="Calibri" pitchFamily="34" charset="-120"/>
              </a:rPr>
              <a:t>Not fewer nurses. The same nurses absorb about 25% more members in 2026.</a:t>
            </a:r>
            <a:endParaRPr lang="en-US" sz="1150" dirty="0"/>
          </a:p>
        </p:txBody>
      </p:sp>
      <p:sp>
        <p:nvSpPr>
          <p:cNvPr id="29" name="Nap2"/>
          <p:cNvSpPr/>
          <p:nvPr/>
        </p:nvSpPr>
        <p:spPr>
          <a:xfrm>
            <a:off x="457200" y="2395728"/>
            <a:ext cx="11274552" cy="3429000"/>
          </a:xfrm>
          <a:prstGeom prst="roundRect">
            <a:avLst>
              <a:gd name="adj" fmla="val 3200"/>
            </a:avLst>
          </a:prstGeom>
          <a:solidFill>
            <a:srgbClr val="FAF8F3"/>
          </a:solidFill>
          <a:ln w="19050">
            <a:solidFill>
              <a:srgbClr val="5F3AA8"/>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30" name="NapH2"/>
          <p:cNvSpPr txBox="1"/>
          <p:nvPr/>
        </p:nvSpPr>
        <p:spPr>
          <a:xfrm>
            <a:off x="777240" y="2542032"/>
            <a:ext cx="6400800" cy="274320"/>
          </a:xfrm>
          <a:prstGeom prst="rect">
            <a:avLst/>
          </a:prstGeom>
          <a:noFill/>
          <a:ln/>
        </p:spPr>
        <p:txBody>
          <a:bodyPr wrap="square" lIns="0" tIns="0" rIns="0" bIns="0" rtlCol="0" anchor="t"/>
          <a:lstStyle/>
          <a:p>
            <a:pPr algn="l" indent="0" marL="0">
              <a:buNone/>
            </a:pPr>
            <a:r>
              <a:rPr lang="en-US" sz="1100" b="1" spc="200" kern="0" dirty="0">
                <a:solidFill>
                  <a:srgbClr val="5F3AA8"/>
                </a:solidFill>
                <a:latin typeface="Calibri" pitchFamily="34" charset="0"/>
                <a:ea typeface="Calibri" pitchFamily="34" charset="-122"/>
                <a:cs typeface="Calibri" pitchFamily="34" charset="-120"/>
              </a:rPr>
              <a:t>NAPKIN 2 OF 3  ·  MEMBERS WHO STAY</a:t>
            </a:r>
            <a:endParaRPr lang="en-US" sz="1100" dirty="0"/>
          </a:p>
        </p:txBody>
      </p:sp>
      <p:sp>
        <p:nvSpPr>
          <p:cNvPr id="31" name="M2_1"/>
          <p:cNvSpPr txBox="1"/>
          <p:nvPr/>
        </p:nvSpPr>
        <p:spPr>
          <a:xfrm>
            <a:off x="777240" y="2926080"/>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5.2M</a:t>
            </a:r>
            <a:pPr algn="l" indent="0" marL="0">
              <a:buNone/>
            </a:pPr>
            <a:r>
              <a:rPr lang="en-US" sz="1400" dirty="0">
                <a:solidFill>
                  <a:srgbClr val="5C6B66"/>
                </a:solidFill>
                <a:latin typeface="Calibri" pitchFamily="34" charset="0"/>
                <a:ea typeface="Calibri" pitchFamily="34" charset="-122"/>
                <a:cs typeface="Calibri" pitchFamily="34" charset="-120"/>
              </a:rPr>
              <a:t> Medicare Advantage members</a:t>
            </a:r>
            <a:endParaRPr lang="en-US" sz="1500" dirty="0"/>
          </a:p>
        </p:txBody>
      </p:sp>
      <p:sp>
        <p:nvSpPr>
          <p:cNvPr id="32" name="M2_2"/>
          <p:cNvSpPr txBox="1"/>
          <p:nvPr/>
        </p:nvSpPr>
        <p:spPr>
          <a:xfrm>
            <a:off x="777240" y="3310128"/>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2%</a:t>
            </a:r>
            <a:pPr algn="l" indent="0" marL="0">
              <a:buNone/>
            </a:pPr>
            <a:r>
              <a:rPr lang="en-US" sz="1400" dirty="0">
                <a:solidFill>
                  <a:srgbClr val="5C6B66"/>
                </a:solidFill>
                <a:latin typeface="Calibri" pitchFamily="34" charset="0"/>
                <a:ea typeface="Calibri" pitchFamily="34" charset="-122"/>
                <a:cs typeface="Calibri" pitchFamily="34" charset="-120"/>
              </a:rPr>
              <a:t> leave because of prior authorization friction</a:t>
            </a:r>
            <a:endParaRPr lang="en-US" sz="1500" dirty="0"/>
          </a:p>
        </p:txBody>
      </p:sp>
      <p:sp>
        <p:nvSpPr>
          <p:cNvPr id="33" name="M2_3"/>
          <p:cNvSpPr txBox="1"/>
          <p:nvPr/>
        </p:nvSpPr>
        <p:spPr>
          <a:xfrm>
            <a:off x="777240" y="3694176"/>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104,000</a:t>
            </a:r>
            <a:pPr algn="l" indent="0" marL="0">
              <a:buNone/>
            </a:pPr>
            <a:r>
              <a:rPr lang="en-US" sz="1400" dirty="0">
                <a:solidFill>
                  <a:srgbClr val="16211E"/>
                </a:solidFill>
                <a:latin typeface="Calibri" pitchFamily="34" charset="0"/>
                <a:ea typeface="Calibri" pitchFamily="34" charset="-122"/>
                <a:cs typeface="Calibri" pitchFamily="34" charset="-120"/>
              </a:rPr>
              <a:t> members leave a year</a:t>
            </a:r>
            <a:endParaRPr lang="en-US" sz="1500" dirty="0"/>
          </a:p>
        </p:txBody>
      </p:sp>
      <p:sp>
        <p:nvSpPr>
          <p:cNvPr id="34" name="M2_4"/>
          <p:cNvSpPr txBox="1"/>
          <p:nvPr/>
        </p:nvSpPr>
        <p:spPr>
          <a:xfrm>
            <a:off x="777240" y="4078224"/>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1 in 10</a:t>
            </a:r>
            <a:pPr algn="l" indent="0" marL="0">
              <a:buNone/>
            </a:pPr>
            <a:r>
              <a:rPr lang="en-US" sz="1400" dirty="0">
                <a:solidFill>
                  <a:srgbClr val="5C6B66"/>
                </a:solidFill>
                <a:latin typeface="Calibri" pitchFamily="34" charset="0"/>
                <a:ea typeface="Calibri" pitchFamily="34" charset="-122"/>
                <a:cs typeface="Calibri" pitchFamily="34" charset="-120"/>
              </a:rPr>
              <a:t> kept by getting it right the first time</a:t>
            </a:r>
            <a:endParaRPr lang="en-US" sz="1500" dirty="0"/>
          </a:p>
        </p:txBody>
      </p:sp>
      <p:sp>
        <p:nvSpPr>
          <p:cNvPr id="35" name="M2_5"/>
          <p:cNvSpPr txBox="1"/>
          <p:nvPr/>
        </p:nvSpPr>
        <p:spPr>
          <a:xfrm>
            <a:off x="777240" y="4462272"/>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10,400</a:t>
            </a:r>
            <a:pPr algn="l" indent="0" marL="0">
              <a:buNone/>
            </a:pPr>
            <a:r>
              <a:rPr lang="en-US" sz="1400" dirty="0">
                <a:solidFill>
                  <a:srgbClr val="16211E"/>
                </a:solidFill>
                <a:latin typeface="Calibri" pitchFamily="34" charset="0"/>
                <a:ea typeface="Calibri" pitchFamily="34" charset="-122"/>
                <a:cs typeface="Calibri" pitchFamily="34" charset="-120"/>
              </a:rPr>
              <a:t> members stay</a:t>
            </a:r>
            <a:endParaRPr lang="en-US" sz="1500" dirty="0"/>
          </a:p>
        </p:txBody>
      </p:sp>
      <p:sp>
        <p:nvSpPr>
          <p:cNvPr id="36" name="M2_6"/>
          <p:cNvSpPr txBox="1"/>
          <p:nvPr/>
        </p:nvSpPr>
        <p:spPr>
          <a:xfrm>
            <a:off x="777240" y="4846320"/>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 $17,000</a:t>
            </a:r>
            <a:pPr algn="l" indent="0" marL="0">
              <a:buNone/>
            </a:pPr>
            <a:r>
              <a:rPr lang="en-US" sz="1400" dirty="0">
                <a:solidFill>
                  <a:srgbClr val="5C6B66"/>
                </a:solidFill>
                <a:latin typeface="Calibri" pitchFamily="34" charset="0"/>
                <a:ea typeface="Calibri" pitchFamily="34" charset="-122"/>
                <a:cs typeface="Calibri" pitchFamily="34" charset="-120"/>
              </a:rPr>
              <a:t> revenue each a year</a:t>
            </a:r>
            <a:endParaRPr lang="en-US" sz="1500" dirty="0"/>
          </a:p>
        </p:txBody>
      </p:sp>
      <p:sp>
        <p:nvSpPr>
          <p:cNvPr id="37" name="M2_7"/>
          <p:cNvSpPr txBox="1"/>
          <p:nvPr/>
        </p:nvSpPr>
        <p:spPr>
          <a:xfrm>
            <a:off x="777240" y="5230368"/>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$180M</a:t>
            </a:r>
            <a:pPr algn="l" indent="0" marL="0">
              <a:buNone/>
            </a:pPr>
            <a:r>
              <a:rPr lang="en-US" sz="1400" dirty="0">
                <a:solidFill>
                  <a:srgbClr val="16211E"/>
                </a:solidFill>
                <a:latin typeface="Calibri" pitchFamily="34" charset="0"/>
                <a:ea typeface="Calibri" pitchFamily="34" charset="-122"/>
                <a:cs typeface="Calibri" pitchFamily="34" charset="-120"/>
              </a:rPr>
              <a:t> revenue kept a year</a:t>
            </a:r>
            <a:endParaRPr lang="en-US" sz="1500" dirty="0"/>
          </a:p>
        </p:txBody>
      </p:sp>
      <p:sp>
        <p:nvSpPr>
          <p:cNvPr id="38" name="Res2"/>
          <p:cNvSpPr/>
          <p:nvPr/>
        </p:nvSpPr>
        <p:spPr>
          <a:xfrm>
            <a:off x="7589520" y="2926080"/>
            <a:ext cx="3840480" cy="1234440"/>
          </a:xfrm>
          <a:prstGeom prst="roundRect">
            <a:avLst>
              <a:gd name="adj" fmla="val 7407"/>
            </a:avLst>
          </a:prstGeom>
          <a:solidFill>
            <a:srgbClr val="EBE2F8"/>
          </a:solidFill>
          <a:ln w="15875">
            <a:solidFill>
              <a:srgbClr val="5F3AA8"/>
            </a:solidFill>
          </a:ln>
        </p:spPr>
        <p:txBody>
          <a:bodyPr wrap="square" lIns="91440" tIns="54864" rIns="91440" bIns="54864" rtlCol="0" anchor="ctr"/>
          <a:lstStyle/>
          <a:p>
            <a:pPr algn="ctr" indent="0" marL="0">
              <a:buNone/>
            </a:pPr>
            <a:r>
              <a:rPr lang="en-US" sz="2800" dirty="0">
                <a:solidFill>
                  <a:srgbClr val="5F3AA8"/>
                </a:solidFill>
                <a:latin typeface="Cambria" pitchFamily="34" charset="0"/>
                <a:ea typeface="Cambria" pitchFamily="34" charset="-122"/>
                <a:cs typeface="Cambria" pitchFamily="34" charset="-120"/>
              </a:rPr>
              <a:t>$180M</a:t>
            </a:r>
            <a:endParaRPr lang="en-US" sz="2800" dirty="0"/>
          </a:p>
          <a:p>
            <a:pPr algn="ctr" indent="0" marL="0">
              <a:buNone/>
            </a:pPr>
            <a:r>
              <a:rPr lang="en-US" sz="1300" b="1" dirty="0">
                <a:solidFill>
                  <a:srgbClr val="16211E"/>
                </a:solidFill>
                <a:latin typeface="Calibri" pitchFamily="34" charset="0"/>
                <a:ea typeface="Calibri" pitchFamily="34" charset="-122"/>
                <a:cs typeface="Calibri" pitchFamily="34" charset="-120"/>
              </a:rPr>
              <a:t>revenue kept a year</a:t>
            </a:r>
            <a:endParaRPr lang="en-US" sz="2800" dirty="0"/>
          </a:p>
        </p:txBody>
      </p:sp>
      <p:sp>
        <p:nvSpPr>
          <p:cNvPr id="39" name="Note2"/>
          <p:cNvSpPr txBox="1"/>
          <p:nvPr/>
        </p:nvSpPr>
        <p:spPr>
          <a:xfrm>
            <a:off x="7589520" y="4343400"/>
            <a:ext cx="3840480" cy="1280160"/>
          </a:xfrm>
          <a:prstGeom prst="rect">
            <a:avLst/>
          </a:prstGeom>
          <a:noFill/>
          <a:ln/>
        </p:spPr>
        <p:txBody>
          <a:bodyPr wrap="square" lIns="0" tIns="0" rIns="0" bIns="0" rtlCol="0" anchor="t"/>
          <a:lstStyle/>
          <a:p>
            <a:pPr algn="l" indent="0" marL="0">
              <a:buNone/>
            </a:pPr>
            <a:r>
              <a:rPr lang="en-US" sz="1150" i="1" dirty="0">
                <a:solidFill>
                  <a:srgbClr val="5C6B66"/>
                </a:solidFill>
                <a:latin typeface="Calibri" pitchFamily="34" charset="0"/>
                <a:ea typeface="Calibri" pitchFamily="34" charset="-122"/>
                <a:cs typeface="Calibri" pitchFamily="34" charset="-120"/>
              </a:rPr>
              <a:t>Evidence: plans that use prior authorization most lose 4.7 points more members than plans that use it least (Health Affairs, 2026).</a:t>
            </a:r>
            <a:endParaRPr lang="en-US" sz="1150" dirty="0"/>
          </a:p>
        </p:txBody>
      </p:sp>
      <p:sp>
        <p:nvSpPr>
          <p:cNvPr id="40" name="Nap3"/>
          <p:cNvSpPr/>
          <p:nvPr/>
        </p:nvSpPr>
        <p:spPr>
          <a:xfrm>
            <a:off x="457200" y="2395728"/>
            <a:ext cx="11274552" cy="3429000"/>
          </a:xfrm>
          <a:prstGeom prst="roundRect">
            <a:avLst>
              <a:gd name="adj" fmla="val 3200"/>
            </a:avLst>
          </a:prstGeom>
          <a:solidFill>
            <a:srgbClr val="FAF8F3"/>
          </a:solidFill>
          <a:ln w="19050">
            <a:solidFill>
              <a:srgbClr val="8A5A00"/>
            </a:solidFill>
          </a:ln>
        </p:spPr>
        <p:txBody>
          <a:bodyPr wrap="square" lIns="109728" tIns="54864" rIns="109728" bIns="54864" rtlCol="0" anchor="ctr"/>
          <a:lstStyle/>
          <a:p>
            <a:pPr algn="l" indent="0" marL="0">
              <a:buNone/>
            </a:pPr>
            <a:r>
              <a:rPr lang="en-US" sz="800" dirty="0">
                <a:solidFill>
                  <a:srgbClr val="16211E"/>
                </a:solidFill>
                <a:latin typeface="Calibri" pitchFamily="34" charset="0"/>
                <a:ea typeface="Calibri" pitchFamily="34" charset="-122"/>
                <a:cs typeface="Calibri" pitchFamily="34" charset="-120"/>
              </a:rPr>
              <a:t> </a:t>
            </a:r>
            <a:endParaRPr lang="en-US" sz="800" dirty="0"/>
          </a:p>
        </p:txBody>
      </p:sp>
      <p:sp>
        <p:nvSpPr>
          <p:cNvPr id="41" name="NapH3"/>
          <p:cNvSpPr txBox="1"/>
          <p:nvPr/>
        </p:nvSpPr>
        <p:spPr>
          <a:xfrm>
            <a:off x="777240" y="2542032"/>
            <a:ext cx="6400800" cy="274320"/>
          </a:xfrm>
          <a:prstGeom prst="rect">
            <a:avLst/>
          </a:prstGeom>
          <a:noFill/>
          <a:ln/>
        </p:spPr>
        <p:txBody>
          <a:bodyPr wrap="square" lIns="0" tIns="0" rIns="0" bIns="0" rtlCol="0" anchor="t"/>
          <a:lstStyle/>
          <a:p>
            <a:pPr algn="l" indent="0" marL="0">
              <a:buNone/>
            </a:pPr>
            <a:r>
              <a:rPr lang="en-US" sz="1100" b="1" spc="200" kern="0" dirty="0">
                <a:solidFill>
                  <a:srgbClr val="8A5A00"/>
                </a:solidFill>
                <a:latin typeface="Calibri" pitchFamily="34" charset="0"/>
                <a:ea typeface="Calibri" pitchFamily="34" charset="-122"/>
                <a:cs typeface="Calibri" pitchFamily="34" charset="-120"/>
              </a:rPr>
              <a:t>NAPKIN 3 OF 3  ·  STAR BONUS</a:t>
            </a:r>
            <a:endParaRPr lang="en-US" sz="1100" dirty="0"/>
          </a:p>
        </p:txBody>
      </p:sp>
      <p:sp>
        <p:nvSpPr>
          <p:cNvPr id="42" name="M3_1"/>
          <p:cNvSpPr txBox="1"/>
          <p:nvPr/>
        </p:nvSpPr>
        <p:spPr>
          <a:xfrm>
            <a:off x="777240" y="2926080"/>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2.3M</a:t>
            </a:r>
            <a:pPr algn="l" indent="0" marL="0">
              <a:buNone/>
            </a:pPr>
            <a:r>
              <a:rPr lang="en-US" sz="1400" dirty="0">
                <a:solidFill>
                  <a:srgbClr val="5C6B66"/>
                </a:solidFill>
                <a:latin typeface="Calibri" pitchFamily="34" charset="0"/>
                <a:ea typeface="Calibri" pitchFamily="34" charset="-122"/>
                <a:cs typeface="Calibri" pitchFamily="34" charset="-120"/>
              </a:rPr>
              <a:t> members in one contract, H5216 (45%)</a:t>
            </a:r>
            <a:endParaRPr lang="en-US" sz="1500" dirty="0"/>
          </a:p>
        </p:txBody>
      </p:sp>
      <p:sp>
        <p:nvSpPr>
          <p:cNvPr id="43" name="M3_2"/>
          <p:cNvSpPr txBox="1"/>
          <p:nvPr/>
        </p:nvSpPr>
        <p:spPr>
          <a:xfrm>
            <a:off x="777240" y="3310128"/>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 $850</a:t>
            </a:r>
            <a:pPr algn="l" indent="0" marL="0">
              <a:buNone/>
            </a:pPr>
            <a:r>
              <a:rPr lang="en-US" sz="1400" dirty="0">
                <a:solidFill>
                  <a:srgbClr val="5C6B66"/>
                </a:solidFill>
                <a:latin typeface="Calibri" pitchFamily="34" charset="0"/>
                <a:ea typeface="Calibri" pitchFamily="34" charset="-122"/>
                <a:cs typeface="Calibri" pitchFamily="34" charset="-120"/>
              </a:rPr>
              <a:t> bonus each at 4 stars (5% of $17,000)</a:t>
            </a:r>
            <a:endParaRPr lang="en-US" sz="1500" dirty="0"/>
          </a:p>
        </p:txBody>
      </p:sp>
      <p:sp>
        <p:nvSpPr>
          <p:cNvPr id="44" name="M3_3"/>
          <p:cNvSpPr txBox="1"/>
          <p:nvPr/>
        </p:nvSpPr>
        <p:spPr>
          <a:xfrm>
            <a:off x="777240" y="3694176"/>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$2B</a:t>
            </a:r>
            <a:pPr algn="l" indent="0" marL="0">
              <a:buNone/>
            </a:pPr>
            <a:r>
              <a:rPr lang="en-US" sz="1400" dirty="0">
                <a:solidFill>
                  <a:srgbClr val="16211E"/>
                </a:solidFill>
                <a:latin typeface="Calibri" pitchFamily="34" charset="0"/>
                <a:ea typeface="Calibri" pitchFamily="34" charset="-122"/>
                <a:cs typeface="Calibri" pitchFamily="34" charset="-120"/>
              </a:rPr>
              <a:t> a year, lost when it fell to 3.5 stars</a:t>
            </a:r>
            <a:endParaRPr lang="en-US" sz="1500" dirty="0"/>
          </a:p>
        </p:txBody>
      </p:sp>
      <p:sp>
        <p:nvSpPr>
          <p:cNvPr id="45" name="M3_4"/>
          <p:cNvSpPr txBox="1"/>
          <p:nvPr/>
        </p:nvSpPr>
        <p:spPr>
          <a:xfrm>
            <a:off x="777240" y="4078224"/>
            <a:ext cx="6492240" cy="347472"/>
          </a:xfrm>
          <a:prstGeom prst="rect">
            <a:avLst/>
          </a:prstGeom>
          <a:noFill/>
          <a:ln/>
        </p:spPr>
        <p:txBody>
          <a:bodyPr wrap="square" lIns="0" tIns="0" rIns="0" bIns="0" rtlCol="0" anchor="ctr"/>
          <a:lstStyle/>
          <a:p>
            <a:pPr algn="l" indent="0" marL="0">
              <a:buNone/>
            </a:pPr>
            <a:r>
              <a:rPr lang="en-US" sz="1500" b="1" dirty="0">
                <a:solidFill>
                  <a:srgbClr val="2F5DA8"/>
                </a:solidFill>
                <a:latin typeface="Calibri" pitchFamily="34" charset="0"/>
                <a:ea typeface="Calibri" pitchFamily="34" charset="-122"/>
                <a:cs typeface="Calibri" pitchFamily="34" charset="-120"/>
              </a:rPr>
              <a:t>3 measures</a:t>
            </a:r>
            <a:pPr algn="l" indent="0" marL="0">
              <a:buNone/>
            </a:pPr>
            <a:r>
              <a:rPr lang="en-US" sz="1400" dirty="0">
                <a:solidFill>
                  <a:srgbClr val="5C6B66"/>
                </a:solidFill>
                <a:latin typeface="Calibri" pitchFamily="34" charset="0"/>
                <a:ea typeface="Calibri" pitchFamily="34" charset="-122"/>
                <a:cs typeface="Calibri" pitchFamily="34" charset="-120"/>
              </a:rPr>
              <a:t> sit on prior authorization: getting care, complaints, leaving</a:t>
            </a:r>
            <a:endParaRPr lang="en-US" sz="1500" dirty="0"/>
          </a:p>
        </p:txBody>
      </p:sp>
      <p:sp>
        <p:nvSpPr>
          <p:cNvPr id="46" name="M3_5"/>
          <p:cNvSpPr txBox="1"/>
          <p:nvPr/>
        </p:nvSpPr>
        <p:spPr>
          <a:xfrm>
            <a:off x="777240" y="4462272"/>
            <a:ext cx="6492240" cy="347472"/>
          </a:xfrm>
          <a:prstGeom prst="rect">
            <a:avLst/>
          </a:prstGeom>
          <a:noFill/>
          <a:ln/>
        </p:spPr>
        <p:txBody>
          <a:bodyPr wrap="square" lIns="0" tIns="0" rIns="0" bIns="0" rtlCol="0" anchor="ctr"/>
          <a:lstStyle/>
          <a:p>
            <a:pPr algn="l" indent="0" marL="0">
              <a:buNone/>
            </a:pPr>
            <a:r>
              <a:rPr lang="en-US" sz="1500" b="1" dirty="0">
                <a:solidFill>
                  <a:srgbClr val="C0590E"/>
                </a:solidFill>
                <a:latin typeface="Calibri" pitchFamily="34" charset="0"/>
                <a:ea typeface="Calibri" pitchFamily="34" charset="-122"/>
                <a:cs typeface="Calibri" pitchFamily="34" charset="-120"/>
              </a:rPr>
              <a:t>× 5 points</a:t>
            </a:r>
            <a:pPr algn="l" indent="0" marL="0">
              <a:buNone/>
            </a:pPr>
            <a:r>
              <a:rPr lang="en-US" sz="1400" dirty="0">
                <a:solidFill>
                  <a:srgbClr val="5C6B66"/>
                </a:solidFill>
                <a:latin typeface="Calibri" pitchFamily="34" charset="0"/>
                <a:ea typeface="Calibri" pitchFamily="34" charset="-122"/>
                <a:cs typeface="Calibri" pitchFamily="34" charset="-120"/>
              </a:rPr>
              <a:t> better odds of winning the star back</a:t>
            </a:r>
            <a:endParaRPr lang="en-US" sz="1500" dirty="0"/>
          </a:p>
        </p:txBody>
      </p:sp>
      <p:sp>
        <p:nvSpPr>
          <p:cNvPr id="47" name="M3_6"/>
          <p:cNvSpPr txBox="1"/>
          <p:nvPr/>
        </p:nvSpPr>
        <p:spPr>
          <a:xfrm>
            <a:off x="777240" y="4846320"/>
            <a:ext cx="6492240" cy="347472"/>
          </a:xfrm>
          <a:prstGeom prst="rect">
            <a:avLst/>
          </a:prstGeom>
          <a:noFill/>
          <a:ln/>
        </p:spPr>
        <p:txBody>
          <a:bodyPr wrap="square" lIns="0" tIns="0" rIns="0" bIns="0" rtlCol="0" anchor="ctr"/>
          <a:lstStyle/>
          <a:p>
            <a:pPr algn="l" indent="0" marL="0">
              <a:buNone/>
            </a:pPr>
            <a:r>
              <a:rPr lang="en-US" sz="1500" b="1" dirty="0">
                <a:solidFill>
                  <a:srgbClr val="16211E"/>
                </a:solidFill>
                <a:latin typeface="Calibri" pitchFamily="34" charset="0"/>
                <a:ea typeface="Calibri" pitchFamily="34" charset="-122"/>
                <a:cs typeface="Calibri" pitchFamily="34" charset="-120"/>
              </a:rPr>
              <a:t>= $100M</a:t>
            </a:r>
            <a:pPr algn="l" indent="0" marL="0">
              <a:buNone/>
            </a:pPr>
            <a:r>
              <a:rPr lang="en-US" sz="1400" dirty="0">
                <a:solidFill>
                  <a:srgbClr val="16211E"/>
                </a:solidFill>
                <a:latin typeface="Calibri" pitchFamily="34" charset="0"/>
                <a:ea typeface="Calibri" pitchFamily="34" charset="-122"/>
                <a:cs typeface="Calibri" pitchFamily="34" charset="-120"/>
              </a:rPr>
              <a:t> expected a year</a:t>
            </a:r>
            <a:endParaRPr lang="en-US" sz="1500" dirty="0"/>
          </a:p>
        </p:txBody>
      </p:sp>
      <p:sp>
        <p:nvSpPr>
          <p:cNvPr id="48" name="Res3"/>
          <p:cNvSpPr/>
          <p:nvPr/>
        </p:nvSpPr>
        <p:spPr>
          <a:xfrm>
            <a:off x="7589520" y="2926080"/>
            <a:ext cx="3840480" cy="1234440"/>
          </a:xfrm>
          <a:prstGeom prst="roundRect">
            <a:avLst>
              <a:gd name="adj" fmla="val 7407"/>
            </a:avLst>
          </a:prstGeom>
          <a:solidFill>
            <a:srgbClr val="FCEFD0"/>
          </a:solidFill>
          <a:ln w="15875">
            <a:solidFill>
              <a:srgbClr val="8A5A00"/>
            </a:solidFill>
          </a:ln>
        </p:spPr>
        <p:txBody>
          <a:bodyPr wrap="square" lIns="91440" tIns="54864" rIns="91440" bIns="54864" rtlCol="0" anchor="ctr"/>
          <a:lstStyle/>
          <a:p>
            <a:pPr algn="ctr" indent="0" marL="0">
              <a:buNone/>
            </a:pPr>
            <a:r>
              <a:rPr lang="en-US" sz="2800" dirty="0">
                <a:solidFill>
                  <a:srgbClr val="8A5A00"/>
                </a:solidFill>
                <a:latin typeface="Cambria" pitchFamily="34" charset="0"/>
                <a:ea typeface="Cambria" pitchFamily="34" charset="-122"/>
                <a:cs typeface="Cambria" pitchFamily="34" charset="-120"/>
              </a:rPr>
              <a:t>$100M</a:t>
            </a:r>
            <a:endParaRPr lang="en-US" sz="2800" dirty="0"/>
          </a:p>
          <a:p>
            <a:pPr algn="ctr" indent="0" marL="0">
              <a:buNone/>
            </a:pPr>
            <a:r>
              <a:rPr lang="en-US" sz="1300" b="1" dirty="0">
                <a:solidFill>
                  <a:srgbClr val="16211E"/>
                </a:solidFill>
                <a:latin typeface="Calibri" pitchFamily="34" charset="0"/>
                <a:ea typeface="Calibri" pitchFamily="34" charset="-122"/>
                <a:cs typeface="Calibri" pitchFamily="34" charset="-120"/>
              </a:rPr>
              <a:t>expected a year</a:t>
            </a:r>
            <a:endParaRPr lang="en-US" sz="2800" dirty="0"/>
          </a:p>
        </p:txBody>
      </p:sp>
      <p:sp>
        <p:nvSpPr>
          <p:cNvPr id="49" name="Note3"/>
          <p:cNvSpPr txBox="1"/>
          <p:nvPr/>
        </p:nvSpPr>
        <p:spPr>
          <a:xfrm>
            <a:off x="7589520" y="4343400"/>
            <a:ext cx="3840480" cy="1280160"/>
          </a:xfrm>
          <a:prstGeom prst="rect">
            <a:avLst/>
          </a:prstGeom>
          <a:noFill/>
          <a:ln/>
        </p:spPr>
        <p:txBody>
          <a:bodyPr wrap="square" lIns="0" tIns="0" rIns="0" bIns="0" rtlCol="0" anchor="t"/>
          <a:lstStyle/>
          <a:p>
            <a:pPr algn="l" indent="0" marL="0">
              <a:buNone/>
            </a:pPr>
            <a:r>
              <a:rPr lang="en-US" sz="1150" i="1" dirty="0">
                <a:solidFill>
                  <a:srgbClr val="5C6B66"/>
                </a:solidFill>
                <a:latin typeface="Calibri" pitchFamily="34" charset="0"/>
                <a:ea typeface="Calibri" pitchFamily="34" charset="-122"/>
                <a:cs typeface="Calibri" pitchFamily="34" charset="-120"/>
              </a:rPr>
              <a:t>Humana says it missed 4 stars by a small number of measures. Size of the prize: about $2B on one contract.</a:t>
            </a:r>
            <a:endParaRPr lang="en-US" sz="1150" dirty="0"/>
          </a:p>
        </p:txBody>
      </p:sp>
      <p:sp>
        <p:nvSpPr>
          <p:cNvPr id="50" name="Total"/>
          <p:cNvSpPr/>
          <p:nvPr/>
        </p:nvSpPr>
        <p:spPr>
          <a:xfrm>
            <a:off x="457200" y="4526280"/>
            <a:ext cx="3520440" cy="1188720"/>
          </a:xfrm>
          <a:prstGeom prst="roundRect">
            <a:avLst>
              <a:gd name="adj" fmla="val 7692"/>
            </a:avLst>
          </a:prstGeom>
          <a:solidFill>
            <a:srgbClr val="FFFFFF"/>
          </a:solidFill>
          <a:ln w="15875">
            <a:solidFill>
              <a:srgbClr val="16211E"/>
            </a:solidFill>
          </a:ln>
        </p:spPr>
        <p:txBody>
          <a:bodyPr wrap="square" lIns="182880" tIns="73152" rIns="146304" bIns="73152" rtlCol="0" anchor="ctr"/>
          <a:lstStyle/>
          <a:p>
            <a:pPr algn="l" indent="0" marL="0">
              <a:buNone/>
            </a:pPr>
            <a:r>
              <a:rPr lang="en-US" sz="1050" b="1" spc="200" kern="0" dirty="0">
                <a:solidFill>
                  <a:srgbClr val="5C6B66"/>
                </a:solidFill>
                <a:latin typeface="Calibri" pitchFamily="34" charset="0"/>
                <a:ea typeface="Calibri" pitchFamily="34" charset="-122"/>
                <a:cs typeface="Calibri" pitchFamily="34" charset="-120"/>
              </a:rPr>
              <a:t>VALUE THAT REACHES PROFIT</a:t>
            </a:r>
            <a:endParaRPr lang="en-US" sz="1050" dirty="0"/>
          </a:p>
          <a:p>
            <a:pPr algn="l" indent="0" marL="0">
              <a:buNone/>
            </a:pPr>
            <a:r>
              <a:rPr lang="en-US" sz="2200" dirty="0">
                <a:solidFill>
                  <a:srgbClr val="16211E"/>
                </a:solidFill>
                <a:latin typeface="Cambria" pitchFamily="34" charset="0"/>
                <a:ea typeface="Cambria" pitchFamily="34" charset="-122"/>
                <a:cs typeface="Cambria" pitchFamily="34" charset="-120"/>
              </a:rPr>
              <a:t>About $217M a year</a:t>
            </a:r>
            <a:endParaRPr lang="en-US" sz="1050" dirty="0"/>
          </a:p>
          <a:p>
            <a:pPr algn="l" indent="0" marL="0">
              <a:buNone/>
            </a:pPr>
            <a:r>
              <a:rPr lang="en-US" sz="1000" dirty="0">
                <a:solidFill>
                  <a:srgbClr val="5C6B66"/>
                </a:solidFill>
                <a:latin typeface="Calibri" pitchFamily="34" charset="0"/>
                <a:ea typeface="Calibri" pitchFamily="34" charset="-122"/>
                <a:cs typeface="Calibri" pitchFamily="34" charset="-120"/>
              </a:rPr>
              <a:t>$100M saved + $100M star bonus + $17M margin on members kept. Total value about $400M.</a:t>
            </a:r>
            <a:endParaRPr lang="en-US" sz="1050" dirty="0"/>
          </a:p>
        </p:txBody>
      </p:sp>
      <p:sp>
        <p:nvSpPr>
          <p:cNvPr id="51" name="Minus"/>
          <p:cNvSpPr txBox="1"/>
          <p:nvPr/>
        </p:nvSpPr>
        <p:spPr>
          <a:xfrm>
            <a:off x="3977640" y="4526280"/>
            <a:ext cx="365760" cy="1188720"/>
          </a:xfrm>
          <a:prstGeom prst="rect">
            <a:avLst/>
          </a:prstGeom>
          <a:noFill/>
          <a:ln/>
        </p:spPr>
        <p:txBody>
          <a:bodyPr wrap="square" lIns="0" tIns="0" rIns="0" bIns="0" rtlCol="0" anchor="ctr"/>
          <a:lstStyle/>
          <a:p>
            <a:pPr algn="ctr" indent="0" marL="0">
              <a:buNone/>
            </a:pPr>
            <a:r>
              <a:rPr lang="en-US" sz="2600" dirty="0">
                <a:solidFill>
                  <a:srgbClr val="5C6B66"/>
                </a:solidFill>
                <a:latin typeface="Cambria" pitchFamily="34" charset="0"/>
                <a:ea typeface="Cambria" pitchFamily="34" charset="-122"/>
                <a:cs typeface="Cambria" pitchFamily="34" charset="-120"/>
              </a:rPr>
              <a:t>−</a:t>
            </a:r>
            <a:endParaRPr lang="en-US" sz="2600" dirty="0"/>
          </a:p>
        </p:txBody>
      </p:sp>
      <p:sp>
        <p:nvSpPr>
          <p:cNvPr id="52" name="Cost"/>
          <p:cNvSpPr/>
          <p:nvPr/>
        </p:nvSpPr>
        <p:spPr>
          <a:xfrm>
            <a:off x="4343400" y="4526280"/>
            <a:ext cx="3520440" cy="1188720"/>
          </a:xfrm>
          <a:prstGeom prst="roundRect">
            <a:avLst>
              <a:gd name="adj" fmla="val 7692"/>
            </a:avLst>
          </a:prstGeom>
          <a:solidFill>
            <a:srgbClr val="FFFFFF"/>
          </a:solidFill>
          <a:ln w="15875">
            <a:solidFill>
              <a:srgbClr val="C0590E"/>
            </a:solidFill>
          </a:ln>
        </p:spPr>
        <p:txBody>
          <a:bodyPr wrap="square" lIns="182880" tIns="73152" rIns="146304" bIns="73152" rtlCol="0" anchor="ctr"/>
          <a:lstStyle/>
          <a:p>
            <a:pPr algn="l" indent="0" marL="0">
              <a:buNone/>
            </a:pPr>
            <a:r>
              <a:rPr lang="en-US" sz="1050" b="1" spc="200" kern="0" dirty="0">
                <a:solidFill>
                  <a:srgbClr val="5C6B66"/>
                </a:solidFill>
                <a:latin typeface="Calibri" pitchFamily="34" charset="0"/>
                <a:ea typeface="Calibri" pitchFamily="34" charset="-122"/>
                <a:cs typeface="Calibri" pitchFamily="34" charset="-120"/>
              </a:rPr>
              <a:t>COST TO BUILD AND RUN</a:t>
            </a:r>
            <a:endParaRPr lang="en-US" sz="1050" dirty="0"/>
          </a:p>
          <a:p>
            <a:pPr algn="l" indent="0" marL="0">
              <a:buNone/>
            </a:pPr>
            <a:r>
              <a:rPr lang="en-US" sz="2200" dirty="0">
                <a:solidFill>
                  <a:srgbClr val="16211E"/>
                </a:solidFill>
                <a:latin typeface="Cambria" pitchFamily="34" charset="0"/>
                <a:ea typeface="Cambria" pitchFamily="34" charset="-122"/>
                <a:cs typeface="Cambria" pitchFamily="34" charset="-120"/>
              </a:rPr>
              <a:t>About $10M a year</a:t>
            </a:r>
            <a:endParaRPr lang="en-US" sz="1050" dirty="0"/>
          </a:p>
          <a:p>
            <a:pPr algn="l" indent="0" marL="0">
              <a:buNone/>
            </a:pPr>
            <a:r>
              <a:rPr lang="en-US" sz="1000" dirty="0">
                <a:solidFill>
                  <a:srgbClr val="5C6B66"/>
                </a:solidFill>
                <a:latin typeface="Calibri" pitchFamily="34" charset="0"/>
                <a:ea typeface="Calibri" pitchFamily="34" charset="-122"/>
                <a:cs typeface="Calibri" pitchFamily="34" charset="-120"/>
              </a:rPr>
              <a:t>AI </a:t>
            </a:r>
            <a:pPr algn="l" indent="0" marL="0">
              <a:buNone/>
            </a:pPr>
            <a:r>
              <a:rPr lang="en-US" sz="1000" b="1" dirty="0">
                <a:solidFill>
                  <a:srgbClr val="2F5DA8"/>
                </a:solidFill>
                <a:latin typeface="Calibri" pitchFamily="34" charset="0"/>
                <a:ea typeface="Calibri" pitchFamily="34" charset="-122"/>
                <a:cs typeface="Calibri" pitchFamily="34" charset="-120"/>
              </a:rPr>
              <a:t>$1.2M</a:t>
            </a:r>
            <a:pPr algn="l" indent="0" marL="0">
              <a:buNone/>
            </a:pPr>
            <a:r>
              <a:rPr lang="en-US" sz="1000" dirty="0">
                <a:solidFill>
                  <a:srgbClr val="5C6B66"/>
                </a:solidFill>
                <a:latin typeface="Calibri" pitchFamily="34" charset="0"/>
                <a:ea typeface="Calibri" pitchFamily="34" charset="-122"/>
                <a:cs typeface="Calibri" pitchFamily="34" charset="-120"/>
              </a:rPr>
              <a:t> · parsing </a:t>
            </a:r>
            <a:pPr algn="l" indent="0" marL="0">
              <a:buNone/>
            </a:pPr>
            <a:r>
              <a:rPr lang="en-US" sz="1000" b="1" dirty="0">
                <a:solidFill>
                  <a:srgbClr val="2F5DA8"/>
                </a:solidFill>
                <a:latin typeface="Calibri" pitchFamily="34" charset="0"/>
                <a:ea typeface="Calibri" pitchFamily="34" charset="-122"/>
                <a:cs typeface="Calibri" pitchFamily="34" charset="-120"/>
              </a:rPr>
              <a:t>$2M</a:t>
            </a:r>
            <a:pPr algn="l" indent="0" marL="0">
              <a:buNone/>
            </a:pPr>
            <a:r>
              <a:rPr lang="en-US" sz="1000" dirty="0">
                <a:solidFill>
                  <a:srgbClr val="5C6B66"/>
                </a:solidFill>
                <a:latin typeface="Calibri" pitchFamily="34" charset="0"/>
                <a:ea typeface="Calibri" pitchFamily="34" charset="-122"/>
                <a:cs typeface="Calibri" pitchFamily="34" charset="-120"/>
              </a:rPr>
              <a:t> · team </a:t>
            </a:r>
            <a:pPr algn="l" indent="0" marL="0">
              <a:buNone/>
            </a:pPr>
            <a:r>
              <a:rPr lang="en-US" sz="1000" b="1" dirty="0">
                <a:solidFill>
                  <a:srgbClr val="C0590E"/>
                </a:solidFill>
                <a:latin typeface="Calibri" pitchFamily="34" charset="0"/>
                <a:ea typeface="Calibri" pitchFamily="34" charset="-122"/>
                <a:cs typeface="Calibri" pitchFamily="34" charset="-120"/>
              </a:rPr>
              <a:t>$3.75M</a:t>
            </a:r>
            <a:pPr algn="l" indent="0" marL="0">
              <a:buNone/>
            </a:pPr>
            <a:r>
              <a:rPr lang="en-US" sz="1000" dirty="0">
                <a:solidFill>
                  <a:srgbClr val="5C6B66"/>
                </a:solidFill>
                <a:latin typeface="Calibri" pitchFamily="34" charset="0"/>
                <a:ea typeface="Calibri" pitchFamily="34" charset="-122"/>
                <a:cs typeface="Calibri" pitchFamily="34" charset="-120"/>
              </a:rPr>
              <a:t> · platform </a:t>
            </a:r>
            <a:pPr algn="l" indent="0" marL="0">
              <a:buNone/>
            </a:pPr>
            <a:r>
              <a:rPr lang="en-US" sz="1000" b="1" dirty="0">
                <a:solidFill>
                  <a:srgbClr val="C0590E"/>
                </a:solidFill>
                <a:latin typeface="Calibri" pitchFamily="34" charset="0"/>
                <a:ea typeface="Calibri" pitchFamily="34" charset="-122"/>
                <a:cs typeface="Calibri" pitchFamily="34" charset="-120"/>
              </a:rPr>
              <a:t>$2M</a:t>
            </a:r>
            <a:endParaRPr lang="en-US" sz="1050" dirty="0"/>
          </a:p>
        </p:txBody>
      </p:sp>
      <p:sp>
        <p:nvSpPr>
          <p:cNvPr id="53" name="Equals"/>
          <p:cNvSpPr txBox="1"/>
          <p:nvPr/>
        </p:nvSpPr>
        <p:spPr>
          <a:xfrm>
            <a:off x="7863840" y="4526280"/>
            <a:ext cx="365760" cy="1188720"/>
          </a:xfrm>
          <a:prstGeom prst="rect">
            <a:avLst/>
          </a:prstGeom>
          <a:noFill/>
          <a:ln/>
        </p:spPr>
        <p:txBody>
          <a:bodyPr wrap="square" lIns="0" tIns="0" rIns="0" bIns="0" rtlCol="0" anchor="ctr"/>
          <a:lstStyle/>
          <a:p>
            <a:pPr algn="ctr" indent="0" marL="0">
              <a:buNone/>
            </a:pPr>
            <a:r>
              <a:rPr lang="en-US" sz="2600" dirty="0">
                <a:solidFill>
                  <a:srgbClr val="5C6B66"/>
                </a:solidFill>
                <a:latin typeface="Cambria" pitchFamily="34" charset="0"/>
                <a:ea typeface="Cambria" pitchFamily="34" charset="-122"/>
                <a:cs typeface="Cambria" pitchFamily="34" charset="-120"/>
              </a:rPr>
              <a:t>=</a:t>
            </a:r>
            <a:endParaRPr lang="en-US" sz="2600" dirty="0"/>
          </a:p>
        </p:txBody>
      </p:sp>
      <p:sp>
        <p:nvSpPr>
          <p:cNvPr id="54" name="Profit"/>
          <p:cNvSpPr/>
          <p:nvPr/>
        </p:nvSpPr>
        <p:spPr>
          <a:xfrm>
            <a:off x="8229600" y="4526280"/>
            <a:ext cx="3520440" cy="1188720"/>
          </a:xfrm>
          <a:prstGeom prst="roundRect">
            <a:avLst>
              <a:gd name="adj" fmla="val 7692"/>
            </a:avLst>
          </a:prstGeom>
          <a:solidFill>
            <a:srgbClr val="E3F0EB"/>
          </a:solidFill>
          <a:ln w="15875">
            <a:solidFill>
              <a:srgbClr val="1F6F5C"/>
            </a:solidFill>
          </a:ln>
        </p:spPr>
        <p:txBody>
          <a:bodyPr wrap="square" lIns="182880" tIns="73152" rIns="146304" bIns="73152" rtlCol="0" anchor="ctr"/>
          <a:lstStyle/>
          <a:p>
            <a:pPr algn="l" indent="0" marL="0">
              <a:buNone/>
            </a:pPr>
            <a:r>
              <a:rPr lang="en-US" sz="1050" b="1" spc="200" kern="0" dirty="0">
                <a:solidFill>
                  <a:srgbClr val="5C6B66"/>
                </a:solidFill>
                <a:latin typeface="Calibri" pitchFamily="34" charset="0"/>
                <a:ea typeface="Calibri" pitchFamily="34" charset="-122"/>
                <a:cs typeface="Calibri" pitchFamily="34" charset="-120"/>
              </a:rPr>
              <a:t>ROUGH PROFIT</a:t>
            </a:r>
            <a:endParaRPr lang="en-US" sz="1050" dirty="0"/>
          </a:p>
          <a:p>
            <a:pPr algn="l" indent="0" marL="0">
              <a:buNone/>
            </a:pPr>
            <a:r>
              <a:rPr lang="en-US" sz="2200" dirty="0">
                <a:solidFill>
                  <a:srgbClr val="1F6F5C"/>
                </a:solidFill>
                <a:latin typeface="Cambria" pitchFamily="34" charset="0"/>
                <a:ea typeface="Cambria" pitchFamily="34" charset="-122"/>
                <a:cs typeface="Cambria" pitchFamily="34" charset="-120"/>
              </a:rPr>
              <a:t>About $207M a year</a:t>
            </a:r>
            <a:endParaRPr lang="en-US" sz="1050" dirty="0"/>
          </a:p>
          <a:p>
            <a:pPr algn="l" indent="0" marL="0">
              <a:buNone/>
            </a:pPr>
            <a:r>
              <a:rPr lang="en-US" sz="1000" dirty="0">
                <a:solidFill>
                  <a:srgbClr val="5C6B66"/>
                </a:solidFill>
                <a:latin typeface="Calibri" pitchFamily="34" charset="0"/>
                <a:ea typeface="Calibri" pitchFamily="34" charset="-122"/>
                <a:cs typeface="Calibri" pitchFamily="34" charset="-120"/>
              </a:rPr>
              <a:t>13% of Humana's 2025 profit. About 20 to 1.</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450"/>
                                        <p:tgtEl>
                                          <p:spTgt spid="7"/>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450"/>
                                        <p:tgtEl>
                                          <p:spTgt spid="8"/>
                                        </p:tgtEl>
                                      </p:cBhvr>
                                    </p:animEffect>
                                  </p:childTnLst>
                                </p:cTn>
                              </p:par>
                              <p:par>
                                <p:cTn id="13" presetID="10" presetClass="entr" presetSubtype="0" fill="hold" nodeType="withEffect">
                                  <p:stCondLst>
                                    <p:cond delay="3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6" presetID="10" presetClass="entr" presetSubtype="0" fill="hold" grpId="0" nodeType="withEffect">
                                  <p:stCondLst>
                                    <p:cond delay="35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par>
                                <p:cTn id="19" presetID="10" presetClass="entr" presetSubtype="0" fill="hold" nodeType="withEffect">
                                  <p:stCondLst>
                                    <p:cond delay="7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22" presetID="10" presetClass="entr" presetSubtype="0" fill="hold" grpId="0" nodeType="withEffect">
                                  <p:stCondLst>
                                    <p:cond delay="70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3" presetID="10" presetClass="entr" presetSubtype="0" fill="hold" grpId="0" nodeType="withEffect">
                                  <p:stCondLst>
                                    <p:cond delay="15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6" presetID="10" presetClass="entr" presetSubtype="0" fill="hold" grpId="0" nodeType="withEffect">
                                  <p:stCondLst>
                                    <p:cond delay="45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par>
                                <p:cTn id="39" presetID="10" presetClass="entr" presetSubtype="0" fill="hold" grpId="0" nodeType="withEffect">
                                  <p:stCondLst>
                                    <p:cond delay="9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childTnLst>
                                </p:cTn>
                              </p:par>
                              <p:par>
                                <p:cTn id="42" presetID="10" presetClass="entr" presetSubtype="0" fill="hold" grpId="0" nodeType="withEffect">
                                  <p:stCondLst>
                                    <p:cond delay="135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50"/>
                                        <p:tgtEl>
                                          <p:spTgt spid="23"/>
                                        </p:tgtEl>
                                      </p:cBhvr>
                                    </p:animEffect>
                                  </p:childTnLst>
                                </p:cTn>
                              </p:par>
                              <p:par>
                                <p:cTn id="45" presetID="10" presetClass="entr" presetSubtype="0" fill="hold" grpId="0" nodeType="withEffect">
                                  <p:stCondLst>
                                    <p:cond delay="18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450"/>
                                        <p:tgtEl>
                                          <p:spTgt spid="24"/>
                                        </p:tgtEl>
                                      </p:cBhvr>
                                    </p:animEffect>
                                  </p:childTnLst>
                                </p:cTn>
                              </p:par>
                              <p:par>
                                <p:cTn id="48" presetID="10" presetClass="entr" presetSubtype="0" fill="hold" grpId="0" nodeType="withEffect">
                                  <p:stCondLst>
                                    <p:cond delay="225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51" presetID="10" presetClass="entr" presetSubtype="0" fill="hold" grpId="0" nodeType="withEffect">
                                  <p:stCondLst>
                                    <p:cond delay="270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450"/>
                                        <p:tgtEl>
                                          <p:spTgt spid="26"/>
                                        </p:tgtEl>
                                      </p:cBhvr>
                                    </p:animEffect>
                                  </p:childTnLst>
                                </p:cTn>
                              </p:par>
                              <p:par>
                                <p:cTn id="54" presetID="10" presetClass="entr" presetSubtype="0" fill="hold" grpId="0" nodeType="withEffect">
                                  <p:stCondLst>
                                    <p:cond delay="330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450"/>
                                        <p:tgtEl>
                                          <p:spTgt spid="27"/>
                                        </p:tgtEl>
                                      </p:cBhvr>
                                    </p:animEffect>
                                  </p:childTnLst>
                                </p:cTn>
                              </p:par>
                              <p:par>
                                <p:cTn id="57" presetID="10" presetClass="entr" presetSubtype="0" fill="hold" grpId="0" nodeType="withEffect">
                                  <p:stCondLst>
                                    <p:cond delay="365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450"/>
                                        <p:tgtEl>
                                          <p:spTgt spid="28"/>
                                        </p:tgtEl>
                                      </p:cBhvr>
                                    </p:animEffect>
                                  </p:childTnLst>
                                </p:cTn>
                              </p:par>
                            </p:childTnLst>
                          </p:cTn>
                        </p:par>
                      </p:childTnLst>
                    </p:cTn>
                  </p:par>
                  <p:par>
                    <p:cTn id="58" fill="hold">
                      <p:stCondLst>
                        <p:cond delay="indefinite"/>
                      </p:stCondLst>
                      <p:childTnLst>
                        <p:par>
                          <p:cTn id="59" fill="hold">
                            <p:stCondLst>
                              <p:cond delay="0"/>
                            </p:stCondLst>
                            <p:childTnLst>
                              <p:par>
                                <p:cTn id="62" presetID="10" presetClass="exit" presetSubtype="0" fill="hold" grpId="0" nodeType="clickEffect">
                                  <p:stCondLst>
                                    <p:cond delay="0"/>
                                  </p:stCondLst>
                                  <p:childTnLst>
                                    <p:animEffect transition="out" filter="fade">
                                      <p:cBhvr>
                                        <p:cTn id="60" dur="350"/>
                                        <p:tgtEl>
                                          <p:spTgt spid="19"/>
                                        </p:tgtEl>
                                      </p:cBhvr>
                                    </p:animEffect>
                                    <p:set>
                                      <p:cBhvr>
                                        <p:cTn id="61" dur="1" fill="hold">
                                          <p:stCondLst>
                                            <p:cond delay="349"/>
                                          </p:stCondLst>
                                        </p:cTn>
                                        <p:tgtEl>
                                          <p:spTgt spid="19"/>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3" dur="350"/>
                                        <p:tgtEl>
                                          <p:spTgt spid="20"/>
                                        </p:tgtEl>
                                      </p:cBhvr>
                                    </p:animEffect>
                                    <p:set>
                                      <p:cBhvr>
                                        <p:cTn id="64" dur="1" fill="hold">
                                          <p:stCondLst>
                                            <p:cond delay="349"/>
                                          </p:stCondLst>
                                        </p:cTn>
                                        <p:tgtEl>
                                          <p:spTgt spid="20"/>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6" dur="350"/>
                                        <p:tgtEl>
                                          <p:spTgt spid="21"/>
                                        </p:tgtEl>
                                      </p:cBhvr>
                                    </p:animEffect>
                                    <p:set>
                                      <p:cBhvr>
                                        <p:cTn id="67" dur="1" fill="hold">
                                          <p:stCondLst>
                                            <p:cond delay="349"/>
                                          </p:stCondLst>
                                        </p:cTn>
                                        <p:tgtEl>
                                          <p:spTgt spid="21"/>
                                        </p:tgtEl>
                                        <p:attrNameLst>
                                          <p:attrName>style.visibility</p:attrName>
                                        </p:attrNameLst>
                                      </p:cBhvr>
                                      <p:to>
                                        <p:strVal val="hidden"/>
                                      </p:to>
                                    </p:set>
                                  </p:childTnLst>
                                </p:cTn>
                              </p:par>
                              <p:par>
                                <p:cTn id="71" presetID="10" presetClass="exit" presetSubtype="0" fill="hold" grpId="0" nodeType="withEffect">
                                  <p:stCondLst>
                                    <p:cond delay="0"/>
                                  </p:stCondLst>
                                  <p:childTnLst>
                                    <p:animEffect transition="out" filter="fade">
                                      <p:cBhvr>
                                        <p:cTn id="69" dur="350"/>
                                        <p:tgtEl>
                                          <p:spTgt spid="22"/>
                                        </p:tgtEl>
                                      </p:cBhvr>
                                    </p:animEffect>
                                    <p:set>
                                      <p:cBhvr>
                                        <p:cTn id="70" dur="1" fill="hold">
                                          <p:stCondLst>
                                            <p:cond delay="349"/>
                                          </p:stCondLst>
                                        </p:cTn>
                                        <p:tgtEl>
                                          <p:spTgt spid="22"/>
                                        </p:tgtEl>
                                        <p:attrNameLst>
                                          <p:attrName>style.visibility</p:attrName>
                                        </p:attrNameLst>
                                      </p:cBhvr>
                                      <p:to>
                                        <p:strVal val="hidden"/>
                                      </p:to>
                                    </p:set>
                                  </p:childTnLst>
                                </p:cTn>
                              </p:par>
                              <p:par>
                                <p:cTn id="74" presetID="10" presetClass="exit" presetSubtype="0" fill="hold" grpId="0" nodeType="withEffect">
                                  <p:stCondLst>
                                    <p:cond delay="0"/>
                                  </p:stCondLst>
                                  <p:childTnLst>
                                    <p:animEffect transition="out" filter="fade">
                                      <p:cBhvr>
                                        <p:cTn id="72" dur="350"/>
                                        <p:tgtEl>
                                          <p:spTgt spid="23"/>
                                        </p:tgtEl>
                                      </p:cBhvr>
                                    </p:animEffect>
                                    <p:set>
                                      <p:cBhvr>
                                        <p:cTn id="73" dur="1" fill="hold">
                                          <p:stCondLst>
                                            <p:cond delay="349"/>
                                          </p:stCondLst>
                                        </p:cTn>
                                        <p:tgtEl>
                                          <p:spTgt spid="23"/>
                                        </p:tgtEl>
                                        <p:attrNameLst>
                                          <p:attrName>style.visibility</p:attrName>
                                        </p:attrNameLst>
                                      </p:cBhvr>
                                      <p:to>
                                        <p:strVal val="hidden"/>
                                      </p:to>
                                    </p:set>
                                  </p:childTnLst>
                                </p:cTn>
                              </p:par>
                              <p:par>
                                <p:cTn id="77" presetID="10" presetClass="exit" presetSubtype="0" fill="hold" grpId="0" nodeType="withEffect">
                                  <p:stCondLst>
                                    <p:cond delay="0"/>
                                  </p:stCondLst>
                                  <p:childTnLst>
                                    <p:animEffect transition="out" filter="fade">
                                      <p:cBhvr>
                                        <p:cTn id="75" dur="350"/>
                                        <p:tgtEl>
                                          <p:spTgt spid="24"/>
                                        </p:tgtEl>
                                      </p:cBhvr>
                                    </p:animEffect>
                                    <p:set>
                                      <p:cBhvr>
                                        <p:cTn id="76" dur="1" fill="hold">
                                          <p:stCondLst>
                                            <p:cond delay="349"/>
                                          </p:stCondLst>
                                        </p:cTn>
                                        <p:tgtEl>
                                          <p:spTgt spid="24"/>
                                        </p:tgtEl>
                                        <p:attrNameLst>
                                          <p:attrName>style.visibility</p:attrName>
                                        </p:attrNameLst>
                                      </p:cBhvr>
                                      <p:to>
                                        <p:strVal val="hidden"/>
                                      </p:to>
                                    </p:set>
                                  </p:childTnLst>
                                </p:cTn>
                              </p:par>
                              <p:par>
                                <p:cTn id="80" presetID="10" presetClass="exit" presetSubtype="0" fill="hold" grpId="0" nodeType="withEffect">
                                  <p:stCondLst>
                                    <p:cond delay="0"/>
                                  </p:stCondLst>
                                  <p:childTnLst>
                                    <p:animEffect transition="out" filter="fade">
                                      <p:cBhvr>
                                        <p:cTn id="78" dur="350"/>
                                        <p:tgtEl>
                                          <p:spTgt spid="25"/>
                                        </p:tgtEl>
                                      </p:cBhvr>
                                    </p:animEffect>
                                    <p:set>
                                      <p:cBhvr>
                                        <p:cTn id="79" dur="1" fill="hold">
                                          <p:stCondLst>
                                            <p:cond delay="349"/>
                                          </p:stCondLst>
                                        </p:cTn>
                                        <p:tgtEl>
                                          <p:spTgt spid="25"/>
                                        </p:tgtEl>
                                        <p:attrNameLst>
                                          <p:attrName>style.visibility</p:attrName>
                                        </p:attrNameLst>
                                      </p:cBhvr>
                                      <p:to>
                                        <p:strVal val="hidden"/>
                                      </p:to>
                                    </p:set>
                                  </p:childTnLst>
                                </p:cTn>
                              </p:par>
                              <p:par>
                                <p:cTn id="83" presetID="10" presetClass="exit" presetSubtype="0" fill="hold" grpId="0" nodeType="withEffect">
                                  <p:stCondLst>
                                    <p:cond delay="0"/>
                                  </p:stCondLst>
                                  <p:childTnLst>
                                    <p:animEffect transition="out" filter="fade">
                                      <p:cBhvr>
                                        <p:cTn id="81" dur="350"/>
                                        <p:tgtEl>
                                          <p:spTgt spid="26"/>
                                        </p:tgtEl>
                                      </p:cBhvr>
                                    </p:animEffect>
                                    <p:set>
                                      <p:cBhvr>
                                        <p:cTn id="82" dur="1" fill="hold">
                                          <p:stCondLst>
                                            <p:cond delay="349"/>
                                          </p:stCondLst>
                                        </p:cTn>
                                        <p:tgtEl>
                                          <p:spTgt spid="26"/>
                                        </p:tgtEl>
                                        <p:attrNameLst>
                                          <p:attrName>style.visibility</p:attrName>
                                        </p:attrNameLst>
                                      </p:cBhvr>
                                      <p:to>
                                        <p:strVal val="hidden"/>
                                      </p:to>
                                    </p:set>
                                  </p:childTnLst>
                                </p:cTn>
                              </p:par>
                              <p:par>
                                <p:cTn id="86" presetID="10" presetClass="exit" presetSubtype="0" fill="hold" grpId="0" nodeType="withEffect">
                                  <p:stCondLst>
                                    <p:cond delay="0"/>
                                  </p:stCondLst>
                                  <p:childTnLst>
                                    <p:animEffect transition="out" filter="fade">
                                      <p:cBhvr>
                                        <p:cTn id="84" dur="350"/>
                                        <p:tgtEl>
                                          <p:spTgt spid="27"/>
                                        </p:tgtEl>
                                      </p:cBhvr>
                                    </p:animEffect>
                                    <p:set>
                                      <p:cBhvr>
                                        <p:cTn id="85" dur="1" fill="hold">
                                          <p:stCondLst>
                                            <p:cond delay="349"/>
                                          </p:stCondLst>
                                        </p:cTn>
                                        <p:tgtEl>
                                          <p:spTgt spid="27"/>
                                        </p:tgtEl>
                                        <p:attrNameLst>
                                          <p:attrName>style.visibility</p:attrName>
                                        </p:attrNameLst>
                                      </p:cBhvr>
                                      <p:to>
                                        <p:strVal val="hidden"/>
                                      </p:to>
                                    </p:set>
                                  </p:childTnLst>
                                </p:cTn>
                              </p:par>
                              <p:par>
                                <p:cTn id="89" presetID="10" presetClass="exit" presetSubtype="0" fill="hold" grpId="0" nodeType="withEffect">
                                  <p:stCondLst>
                                    <p:cond delay="0"/>
                                  </p:stCondLst>
                                  <p:childTnLst>
                                    <p:animEffect transition="out" filter="fade">
                                      <p:cBhvr>
                                        <p:cTn id="87" dur="350"/>
                                        <p:tgtEl>
                                          <p:spTgt spid="28"/>
                                        </p:tgtEl>
                                      </p:cBhvr>
                                    </p:animEffect>
                                    <p:set>
                                      <p:cBhvr>
                                        <p:cTn id="88" dur="1" fill="hold">
                                          <p:stCondLst>
                                            <p:cond delay="349"/>
                                          </p:stCondLst>
                                        </p:cTn>
                                        <p:tgtEl>
                                          <p:spTgt spid="28"/>
                                        </p:tgtEl>
                                        <p:attrNameLst>
                                          <p:attrName>style.visibility</p:attrName>
                                        </p:attrNameLst>
                                      </p:cBhvr>
                                      <p:to>
                                        <p:strVal val="hidden"/>
                                      </p:to>
                                    </p:set>
                                  </p:childTnLst>
                                </p:cTn>
                              </p:par>
                              <p:par>
                                <p:cTn id="92" presetID="10" presetClass="exit" presetSubtype="0" fill="hold" grpId="0" nodeType="withEffect">
                                  <p:stCondLst>
                                    <p:cond delay="0"/>
                                  </p:stCondLst>
                                  <p:childTnLst>
                                    <p:animEffect transition="out" filter="fade">
                                      <p:cBhvr>
                                        <p:cTn id="90" dur="350"/>
                                        <p:tgtEl>
                                          <p:spTgt spid="9"/>
                                        </p:tgtEl>
                                      </p:cBhvr>
                                    </p:animEffect>
                                    <p:set>
                                      <p:cBhvr>
                                        <p:cTn id="91" dur="1" fill="hold">
                                          <p:stCondLst>
                                            <p:cond delay="349"/>
                                          </p:stCondLst>
                                        </p:cTn>
                                        <p:tgtEl>
                                          <p:spTgt spid="9"/>
                                        </p:tgtEl>
                                        <p:attrNameLst>
                                          <p:attrName>style.visibility</p:attrName>
                                        </p:attrNameLst>
                                      </p:cBhvr>
                                      <p:to>
                                        <p:strVal val="hidden"/>
                                      </p:to>
                                    </p:set>
                                  </p:childTnLst>
                                </p:cTn>
                              </p:par>
                              <p:par>
                                <p:cTn id="95" presetID="10" presetClass="entr" presetSubtype="0" fill="hold" grpId="0" nodeType="withEffect">
                                  <p:stCondLst>
                                    <p:cond delay="30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600"/>
                                        <p:tgtEl>
                                          <p:spTgt spid="16"/>
                                        </p:tgtEl>
                                      </p:cBhvr>
                                    </p:animEffect>
                                  </p:childTnLst>
                                </p:cTn>
                              </p:par>
                            </p:childTnLst>
                          </p:cTn>
                        </p:par>
                      </p:childTnLst>
                    </p:cTn>
                  </p:par>
                  <p:par>
                    <p:cTn id="96" fill="hold">
                      <p:stCondLst>
                        <p:cond delay="indefinite"/>
                      </p:stCondLst>
                      <p:childTnLst>
                        <p:par>
                          <p:cTn id="97" fill="hold">
                            <p:stCondLst>
                              <p:cond delay="0"/>
                            </p:stCondLst>
                            <p:childTnLst>
                              <p:par>
                                <p:cTn id="100" presetID="10" presetClass="entr" presetSubtype="0" fill="hold" grpId="0" nodeType="clickEffect">
                                  <p:stCondLst>
                                    <p:cond delay="0"/>
                                  </p:stCondLst>
                                  <p:childTnLst>
                                    <p:set>
                                      <p:cBhvr>
                                        <p:cTn id="98" dur="1" fill="hold">
                                          <p:stCondLst>
                                            <p:cond delay="0"/>
                                          </p:stCondLst>
                                        </p:cTn>
                                        <p:tgtEl>
                                          <p:spTgt spid="12"/>
                                        </p:tgtEl>
                                        <p:attrNameLst>
                                          <p:attrName>style.visibility</p:attrName>
                                        </p:attrNameLst>
                                      </p:cBhvr>
                                      <p:to>
                                        <p:strVal val="visible"/>
                                      </p:to>
                                    </p:set>
                                    <p:animEffect transition="in" filter="fade">
                                      <p:cBhvr>
                                        <p:cTn id="99" dur="450"/>
                                        <p:tgtEl>
                                          <p:spTgt spid="12"/>
                                        </p:tgtEl>
                                      </p:cBhvr>
                                    </p:animEffect>
                                  </p:childTnLst>
                                </p:cTn>
                              </p:par>
                              <p:par>
                                <p:cTn id="103" presetID="10" presetClass="entr" presetSubtype="0"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450"/>
                                        <p:tgtEl>
                                          <p:spTgt spid="29"/>
                                        </p:tgtEl>
                                      </p:cBhvr>
                                    </p:animEffect>
                                  </p:childTnLst>
                                </p:cTn>
                              </p:par>
                              <p:par>
                                <p:cTn id="106" presetID="10" presetClass="entr" presetSubtype="0" fill="hold" grpId="0" nodeType="withEffect">
                                  <p:stCondLst>
                                    <p:cond delay="150"/>
                                  </p:stCondLst>
                                  <p:childTnLst>
                                    <p:set>
                                      <p:cBhvr>
                                        <p:cTn id="104" dur="1" fill="hold">
                                          <p:stCondLst>
                                            <p:cond delay="0"/>
                                          </p:stCondLst>
                                        </p:cTn>
                                        <p:tgtEl>
                                          <p:spTgt spid="30"/>
                                        </p:tgtEl>
                                        <p:attrNameLst>
                                          <p:attrName>style.visibility</p:attrName>
                                        </p:attrNameLst>
                                      </p:cBhvr>
                                      <p:to>
                                        <p:strVal val="visible"/>
                                      </p:to>
                                    </p:set>
                                    <p:animEffect transition="in" filter="fade">
                                      <p:cBhvr>
                                        <p:cTn id="105" dur="450"/>
                                        <p:tgtEl>
                                          <p:spTgt spid="30"/>
                                        </p:tgtEl>
                                      </p:cBhvr>
                                    </p:animEffect>
                                  </p:childTnLst>
                                </p:cTn>
                              </p:par>
                              <p:par>
                                <p:cTn id="109" presetID="10" presetClass="entr" presetSubtype="0" fill="hold" grpId="0" nodeType="withEffect">
                                  <p:stCondLst>
                                    <p:cond delay="45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450"/>
                                        <p:tgtEl>
                                          <p:spTgt spid="31"/>
                                        </p:tgtEl>
                                      </p:cBhvr>
                                    </p:animEffect>
                                  </p:childTnLst>
                                </p:cTn>
                              </p:par>
                              <p:par>
                                <p:cTn id="112" presetID="10" presetClass="entr" presetSubtype="0" fill="hold" grpId="0" nodeType="withEffect">
                                  <p:stCondLst>
                                    <p:cond delay="90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450"/>
                                        <p:tgtEl>
                                          <p:spTgt spid="32"/>
                                        </p:tgtEl>
                                      </p:cBhvr>
                                    </p:animEffect>
                                  </p:childTnLst>
                                </p:cTn>
                              </p:par>
                              <p:par>
                                <p:cTn id="115" presetID="10" presetClass="entr" presetSubtype="0" fill="hold" grpId="0" nodeType="withEffect">
                                  <p:stCondLst>
                                    <p:cond delay="135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450"/>
                                        <p:tgtEl>
                                          <p:spTgt spid="33"/>
                                        </p:tgtEl>
                                      </p:cBhvr>
                                    </p:animEffect>
                                  </p:childTnLst>
                                </p:cTn>
                              </p:par>
                              <p:par>
                                <p:cTn id="118" presetID="10" presetClass="entr" presetSubtype="0" fill="hold" grpId="0" nodeType="withEffect">
                                  <p:stCondLst>
                                    <p:cond delay="1800"/>
                                  </p:stCondLst>
                                  <p:childTnLst>
                                    <p:set>
                                      <p:cBhvr>
                                        <p:cTn id="116" dur="1" fill="hold">
                                          <p:stCondLst>
                                            <p:cond delay="0"/>
                                          </p:stCondLst>
                                        </p:cTn>
                                        <p:tgtEl>
                                          <p:spTgt spid="34"/>
                                        </p:tgtEl>
                                        <p:attrNameLst>
                                          <p:attrName>style.visibility</p:attrName>
                                        </p:attrNameLst>
                                      </p:cBhvr>
                                      <p:to>
                                        <p:strVal val="visible"/>
                                      </p:to>
                                    </p:set>
                                    <p:animEffect transition="in" filter="fade">
                                      <p:cBhvr>
                                        <p:cTn id="117" dur="450"/>
                                        <p:tgtEl>
                                          <p:spTgt spid="34"/>
                                        </p:tgtEl>
                                      </p:cBhvr>
                                    </p:animEffect>
                                  </p:childTnLst>
                                </p:cTn>
                              </p:par>
                              <p:par>
                                <p:cTn id="121" presetID="10" presetClass="entr" presetSubtype="0" fill="hold" grpId="0" nodeType="withEffect">
                                  <p:stCondLst>
                                    <p:cond delay="2250"/>
                                  </p:stCondLst>
                                  <p:childTnLst>
                                    <p:set>
                                      <p:cBhvr>
                                        <p:cTn id="119" dur="1" fill="hold">
                                          <p:stCondLst>
                                            <p:cond delay="0"/>
                                          </p:stCondLst>
                                        </p:cTn>
                                        <p:tgtEl>
                                          <p:spTgt spid="35"/>
                                        </p:tgtEl>
                                        <p:attrNameLst>
                                          <p:attrName>style.visibility</p:attrName>
                                        </p:attrNameLst>
                                      </p:cBhvr>
                                      <p:to>
                                        <p:strVal val="visible"/>
                                      </p:to>
                                    </p:set>
                                    <p:animEffect transition="in" filter="fade">
                                      <p:cBhvr>
                                        <p:cTn id="120" dur="450"/>
                                        <p:tgtEl>
                                          <p:spTgt spid="35"/>
                                        </p:tgtEl>
                                      </p:cBhvr>
                                    </p:animEffect>
                                  </p:childTnLst>
                                </p:cTn>
                              </p:par>
                              <p:par>
                                <p:cTn id="124" presetID="10" presetClass="entr" presetSubtype="0" fill="hold" grpId="0" nodeType="withEffect">
                                  <p:stCondLst>
                                    <p:cond delay="2700"/>
                                  </p:stCondLst>
                                  <p:childTnLst>
                                    <p:set>
                                      <p:cBhvr>
                                        <p:cTn id="122" dur="1" fill="hold">
                                          <p:stCondLst>
                                            <p:cond delay="0"/>
                                          </p:stCondLst>
                                        </p:cTn>
                                        <p:tgtEl>
                                          <p:spTgt spid="36"/>
                                        </p:tgtEl>
                                        <p:attrNameLst>
                                          <p:attrName>style.visibility</p:attrName>
                                        </p:attrNameLst>
                                      </p:cBhvr>
                                      <p:to>
                                        <p:strVal val="visible"/>
                                      </p:to>
                                    </p:set>
                                    <p:animEffect transition="in" filter="fade">
                                      <p:cBhvr>
                                        <p:cTn id="123" dur="450"/>
                                        <p:tgtEl>
                                          <p:spTgt spid="36"/>
                                        </p:tgtEl>
                                      </p:cBhvr>
                                    </p:animEffect>
                                  </p:childTnLst>
                                </p:cTn>
                              </p:par>
                              <p:par>
                                <p:cTn id="127" presetID="10" presetClass="entr" presetSubtype="0" fill="hold" grpId="0" nodeType="withEffect">
                                  <p:stCondLst>
                                    <p:cond delay="3150"/>
                                  </p:stCondLst>
                                  <p:childTnLst>
                                    <p:set>
                                      <p:cBhvr>
                                        <p:cTn id="125" dur="1" fill="hold">
                                          <p:stCondLst>
                                            <p:cond delay="0"/>
                                          </p:stCondLst>
                                        </p:cTn>
                                        <p:tgtEl>
                                          <p:spTgt spid="37"/>
                                        </p:tgtEl>
                                        <p:attrNameLst>
                                          <p:attrName>style.visibility</p:attrName>
                                        </p:attrNameLst>
                                      </p:cBhvr>
                                      <p:to>
                                        <p:strVal val="visible"/>
                                      </p:to>
                                    </p:set>
                                    <p:animEffect transition="in" filter="fade">
                                      <p:cBhvr>
                                        <p:cTn id="126" dur="450"/>
                                        <p:tgtEl>
                                          <p:spTgt spid="37"/>
                                        </p:tgtEl>
                                      </p:cBhvr>
                                    </p:animEffect>
                                  </p:childTnLst>
                                </p:cTn>
                              </p:par>
                              <p:par>
                                <p:cTn id="130" presetID="10" presetClass="entr" presetSubtype="0" fill="hold" grpId="0" nodeType="withEffect">
                                  <p:stCondLst>
                                    <p:cond delay="3750"/>
                                  </p:stCondLst>
                                  <p:childTnLst>
                                    <p:set>
                                      <p:cBhvr>
                                        <p:cTn id="128" dur="1" fill="hold">
                                          <p:stCondLst>
                                            <p:cond delay="0"/>
                                          </p:stCondLst>
                                        </p:cTn>
                                        <p:tgtEl>
                                          <p:spTgt spid="38"/>
                                        </p:tgtEl>
                                        <p:attrNameLst>
                                          <p:attrName>style.visibility</p:attrName>
                                        </p:attrNameLst>
                                      </p:cBhvr>
                                      <p:to>
                                        <p:strVal val="visible"/>
                                      </p:to>
                                    </p:set>
                                    <p:animEffect transition="in" filter="fade">
                                      <p:cBhvr>
                                        <p:cTn id="129" dur="450"/>
                                        <p:tgtEl>
                                          <p:spTgt spid="38"/>
                                        </p:tgtEl>
                                      </p:cBhvr>
                                    </p:animEffect>
                                  </p:childTnLst>
                                </p:cTn>
                              </p:par>
                              <p:par>
                                <p:cTn id="133" presetID="10" presetClass="entr" presetSubtype="0" fill="hold" grpId="0" nodeType="withEffect">
                                  <p:stCondLst>
                                    <p:cond delay="410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450"/>
                                        <p:tgtEl>
                                          <p:spTgt spid="39"/>
                                        </p:tgtEl>
                                      </p:cBhvr>
                                    </p:animEffect>
                                  </p:childTnLst>
                                </p:cTn>
                              </p:par>
                            </p:childTnLst>
                          </p:cTn>
                        </p:par>
                      </p:childTnLst>
                    </p:cTn>
                  </p:par>
                  <p:par>
                    <p:cTn id="134" fill="hold">
                      <p:stCondLst>
                        <p:cond delay="indefinite"/>
                      </p:stCondLst>
                      <p:childTnLst>
                        <p:par>
                          <p:cTn id="135" fill="hold">
                            <p:stCondLst>
                              <p:cond delay="0"/>
                            </p:stCondLst>
                            <p:childTnLst>
                              <p:par>
                                <p:cTn id="138" presetID="10" presetClass="exit" presetSubtype="0" fill="hold" grpId="0" nodeType="clickEffect">
                                  <p:stCondLst>
                                    <p:cond delay="0"/>
                                  </p:stCondLst>
                                  <p:childTnLst>
                                    <p:animEffect transition="out" filter="fade">
                                      <p:cBhvr>
                                        <p:cTn id="136" dur="350"/>
                                        <p:tgtEl>
                                          <p:spTgt spid="29"/>
                                        </p:tgtEl>
                                      </p:cBhvr>
                                    </p:animEffect>
                                    <p:set>
                                      <p:cBhvr>
                                        <p:cTn id="137" dur="1" fill="hold">
                                          <p:stCondLst>
                                            <p:cond delay="349"/>
                                          </p:stCondLst>
                                        </p:cTn>
                                        <p:tgtEl>
                                          <p:spTgt spid="29"/>
                                        </p:tgtEl>
                                        <p:attrNameLst>
                                          <p:attrName>style.visibility</p:attrName>
                                        </p:attrNameLst>
                                      </p:cBhvr>
                                      <p:to>
                                        <p:strVal val="hidden"/>
                                      </p:to>
                                    </p:set>
                                  </p:childTnLst>
                                </p:cTn>
                              </p:par>
                              <p:par>
                                <p:cTn id="141" presetID="10" presetClass="exit" presetSubtype="0" fill="hold" grpId="0" nodeType="withEffect">
                                  <p:stCondLst>
                                    <p:cond delay="0"/>
                                  </p:stCondLst>
                                  <p:childTnLst>
                                    <p:animEffect transition="out" filter="fade">
                                      <p:cBhvr>
                                        <p:cTn id="139" dur="350"/>
                                        <p:tgtEl>
                                          <p:spTgt spid="30"/>
                                        </p:tgtEl>
                                      </p:cBhvr>
                                    </p:animEffect>
                                    <p:set>
                                      <p:cBhvr>
                                        <p:cTn id="140" dur="1" fill="hold">
                                          <p:stCondLst>
                                            <p:cond delay="349"/>
                                          </p:stCondLst>
                                        </p:cTn>
                                        <p:tgtEl>
                                          <p:spTgt spid="30"/>
                                        </p:tgtEl>
                                        <p:attrNameLst>
                                          <p:attrName>style.visibility</p:attrName>
                                        </p:attrNameLst>
                                      </p:cBhvr>
                                      <p:to>
                                        <p:strVal val="hidden"/>
                                      </p:to>
                                    </p:set>
                                  </p:childTnLst>
                                </p:cTn>
                              </p:par>
                              <p:par>
                                <p:cTn id="144" presetID="10" presetClass="exit" presetSubtype="0" fill="hold" grpId="0" nodeType="withEffect">
                                  <p:stCondLst>
                                    <p:cond delay="0"/>
                                  </p:stCondLst>
                                  <p:childTnLst>
                                    <p:animEffect transition="out" filter="fade">
                                      <p:cBhvr>
                                        <p:cTn id="142" dur="350"/>
                                        <p:tgtEl>
                                          <p:spTgt spid="31"/>
                                        </p:tgtEl>
                                      </p:cBhvr>
                                    </p:animEffect>
                                    <p:set>
                                      <p:cBhvr>
                                        <p:cTn id="143" dur="1" fill="hold">
                                          <p:stCondLst>
                                            <p:cond delay="349"/>
                                          </p:stCondLst>
                                        </p:cTn>
                                        <p:tgtEl>
                                          <p:spTgt spid="31"/>
                                        </p:tgtEl>
                                        <p:attrNameLst>
                                          <p:attrName>style.visibility</p:attrName>
                                        </p:attrNameLst>
                                      </p:cBhvr>
                                      <p:to>
                                        <p:strVal val="hidden"/>
                                      </p:to>
                                    </p:set>
                                  </p:childTnLst>
                                </p:cTn>
                              </p:par>
                              <p:par>
                                <p:cTn id="147" presetID="10" presetClass="exit" presetSubtype="0" fill="hold" grpId="0" nodeType="withEffect">
                                  <p:stCondLst>
                                    <p:cond delay="0"/>
                                  </p:stCondLst>
                                  <p:childTnLst>
                                    <p:animEffect transition="out" filter="fade">
                                      <p:cBhvr>
                                        <p:cTn id="145" dur="350"/>
                                        <p:tgtEl>
                                          <p:spTgt spid="32"/>
                                        </p:tgtEl>
                                      </p:cBhvr>
                                    </p:animEffect>
                                    <p:set>
                                      <p:cBhvr>
                                        <p:cTn id="146" dur="1" fill="hold">
                                          <p:stCondLst>
                                            <p:cond delay="349"/>
                                          </p:stCondLst>
                                        </p:cTn>
                                        <p:tgtEl>
                                          <p:spTgt spid="32"/>
                                        </p:tgtEl>
                                        <p:attrNameLst>
                                          <p:attrName>style.visibility</p:attrName>
                                        </p:attrNameLst>
                                      </p:cBhvr>
                                      <p:to>
                                        <p:strVal val="hidden"/>
                                      </p:to>
                                    </p:set>
                                  </p:childTnLst>
                                </p:cTn>
                              </p:par>
                              <p:par>
                                <p:cTn id="150" presetID="10" presetClass="exit" presetSubtype="0" fill="hold" grpId="0" nodeType="withEffect">
                                  <p:stCondLst>
                                    <p:cond delay="0"/>
                                  </p:stCondLst>
                                  <p:childTnLst>
                                    <p:animEffect transition="out" filter="fade">
                                      <p:cBhvr>
                                        <p:cTn id="148" dur="350"/>
                                        <p:tgtEl>
                                          <p:spTgt spid="33"/>
                                        </p:tgtEl>
                                      </p:cBhvr>
                                    </p:animEffect>
                                    <p:set>
                                      <p:cBhvr>
                                        <p:cTn id="149" dur="1" fill="hold">
                                          <p:stCondLst>
                                            <p:cond delay="349"/>
                                          </p:stCondLst>
                                        </p:cTn>
                                        <p:tgtEl>
                                          <p:spTgt spid="33"/>
                                        </p:tgtEl>
                                        <p:attrNameLst>
                                          <p:attrName>style.visibility</p:attrName>
                                        </p:attrNameLst>
                                      </p:cBhvr>
                                      <p:to>
                                        <p:strVal val="hidden"/>
                                      </p:to>
                                    </p:set>
                                  </p:childTnLst>
                                </p:cTn>
                              </p:par>
                              <p:par>
                                <p:cTn id="153" presetID="10" presetClass="exit" presetSubtype="0" fill="hold" grpId="0" nodeType="withEffect">
                                  <p:stCondLst>
                                    <p:cond delay="0"/>
                                  </p:stCondLst>
                                  <p:childTnLst>
                                    <p:animEffect transition="out" filter="fade">
                                      <p:cBhvr>
                                        <p:cTn id="151" dur="350"/>
                                        <p:tgtEl>
                                          <p:spTgt spid="34"/>
                                        </p:tgtEl>
                                      </p:cBhvr>
                                    </p:animEffect>
                                    <p:set>
                                      <p:cBhvr>
                                        <p:cTn id="152" dur="1" fill="hold">
                                          <p:stCondLst>
                                            <p:cond delay="349"/>
                                          </p:stCondLst>
                                        </p:cTn>
                                        <p:tgtEl>
                                          <p:spTgt spid="34"/>
                                        </p:tgtEl>
                                        <p:attrNameLst>
                                          <p:attrName>style.visibility</p:attrName>
                                        </p:attrNameLst>
                                      </p:cBhvr>
                                      <p:to>
                                        <p:strVal val="hidden"/>
                                      </p:to>
                                    </p:set>
                                  </p:childTnLst>
                                </p:cTn>
                              </p:par>
                              <p:par>
                                <p:cTn id="156" presetID="10" presetClass="exit" presetSubtype="0" fill="hold" grpId="0" nodeType="withEffect">
                                  <p:stCondLst>
                                    <p:cond delay="0"/>
                                  </p:stCondLst>
                                  <p:childTnLst>
                                    <p:animEffect transition="out" filter="fade">
                                      <p:cBhvr>
                                        <p:cTn id="154" dur="350"/>
                                        <p:tgtEl>
                                          <p:spTgt spid="35"/>
                                        </p:tgtEl>
                                      </p:cBhvr>
                                    </p:animEffect>
                                    <p:set>
                                      <p:cBhvr>
                                        <p:cTn id="155" dur="1" fill="hold">
                                          <p:stCondLst>
                                            <p:cond delay="349"/>
                                          </p:stCondLst>
                                        </p:cTn>
                                        <p:tgtEl>
                                          <p:spTgt spid="35"/>
                                        </p:tgtEl>
                                        <p:attrNameLst>
                                          <p:attrName>style.visibility</p:attrName>
                                        </p:attrNameLst>
                                      </p:cBhvr>
                                      <p:to>
                                        <p:strVal val="hidden"/>
                                      </p:to>
                                    </p:set>
                                  </p:childTnLst>
                                </p:cTn>
                              </p:par>
                              <p:par>
                                <p:cTn id="159" presetID="10" presetClass="exit" presetSubtype="0" fill="hold" grpId="0" nodeType="withEffect">
                                  <p:stCondLst>
                                    <p:cond delay="0"/>
                                  </p:stCondLst>
                                  <p:childTnLst>
                                    <p:animEffect transition="out" filter="fade">
                                      <p:cBhvr>
                                        <p:cTn id="157" dur="350"/>
                                        <p:tgtEl>
                                          <p:spTgt spid="36"/>
                                        </p:tgtEl>
                                      </p:cBhvr>
                                    </p:animEffect>
                                    <p:set>
                                      <p:cBhvr>
                                        <p:cTn id="158" dur="1" fill="hold">
                                          <p:stCondLst>
                                            <p:cond delay="349"/>
                                          </p:stCondLst>
                                        </p:cTn>
                                        <p:tgtEl>
                                          <p:spTgt spid="36"/>
                                        </p:tgtEl>
                                        <p:attrNameLst>
                                          <p:attrName>style.visibility</p:attrName>
                                        </p:attrNameLst>
                                      </p:cBhvr>
                                      <p:to>
                                        <p:strVal val="hidden"/>
                                      </p:to>
                                    </p:set>
                                  </p:childTnLst>
                                </p:cTn>
                              </p:par>
                              <p:par>
                                <p:cTn id="162" presetID="10" presetClass="exit" presetSubtype="0" fill="hold" grpId="0" nodeType="withEffect">
                                  <p:stCondLst>
                                    <p:cond delay="0"/>
                                  </p:stCondLst>
                                  <p:childTnLst>
                                    <p:animEffect transition="out" filter="fade">
                                      <p:cBhvr>
                                        <p:cTn id="160" dur="350"/>
                                        <p:tgtEl>
                                          <p:spTgt spid="37"/>
                                        </p:tgtEl>
                                      </p:cBhvr>
                                    </p:animEffect>
                                    <p:set>
                                      <p:cBhvr>
                                        <p:cTn id="161" dur="1" fill="hold">
                                          <p:stCondLst>
                                            <p:cond delay="349"/>
                                          </p:stCondLst>
                                        </p:cTn>
                                        <p:tgtEl>
                                          <p:spTgt spid="37"/>
                                        </p:tgtEl>
                                        <p:attrNameLst>
                                          <p:attrName>style.visibility</p:attrName>
                                        </p:attrNameLst>
                                      </p:cBhvr>
                                      <p:to>
                                        <p:strVal val="hidden"/>
                                      </p:to>
                                    </p:set>
                                  </p:childTnLst>
                                </p:cTn>
                              </p:par>
                              <p:par>
                                <p:cTn id="165" presetID="10" presetClass="exit" presetSubtype="0" fill="hold" grpId="0" nodeType="withEffect">
                                  <p:stCondLst>
                                    <p:cond delay="0"/>
                                  </p:stCondLst>
                                  <p:childTnLst>
                                    <p:animEffect transition="out" filter="fade">
                                      <p:cBhvr>
                                        <p:cTn id="163" dur="350"/>
                                        <p:tgtEl>
                                          <p:spTgt spid="38"/>
                                        </p:tgtEl>
                                      </p:cBhvr>
                                    </p:animEffect>
                                    <p:set>
                                      <p:cBhvr>
                                        <p:cTn id="164" dur="1" fill="hold">
                                          <p:stCondLst>
                                            <p:cond delay="349"/>
                                          </p:stCondLst>
                                        </p:cTn>
                                        <p:tgtEl>
                                          <p:spTgt spid="38"/>
                                        </p:tgtEl>
                                        <p:attrNameLst>
                                          <p:attrName>style.visibility</p:attrName>
                                        </p:attrNameLst>
                                      </p:cBhvr>
                                      <p:to>
                                        <p:strVal val="hidden"/>
                                      </p:to>
                                    </p:set>
                                  </p:childTnLst>
                                </p:cTn>
                              </p:par>
                              <p:par>
                                <p:cTn id="168" presetID="10" presetClass="exit" presetSubtype="0" fill="hold" grpId="0" nodeType="withEffect">
                                  <p:stCondLst>
                                    <p:cond delay="0"/>
                                  </p:stCondLst>
                                  <p:childTnLst>
                                    <p:animEffect transition="out" filter="fade">
                                      <p:cBhvr>
                                        <p:cTn id="166" dur="350"/>
                                        <p:tgtEl>
                                          <p:spTgt spid="39"/>
                                        </p:tgtEl>
                                      </p:cBhvr>
                                    </p:animEffect>
                                    <p:set>
                                      <p:cBhvr>
                                        <p:cTn id="167" dur="1" fill="hold">
                                          <p:stCondLst>
                                            <p:cond delay="349"/>
                                          </p:stCondLst>
                                        </p:cTn>
                                        <p:tgtEl>
                                          <p:spTgt spid="39"/>
                                        </p:tgtEl>
                                        <p:attrNameLst>
                                          <p:attrName>style.visibility</p:attrName>
                                        </p:attrNameLst>
                                      </p:cBhvr>
                                      <p:to>
                                        <p:strVal val="hidden"/>
                                      </p:to>
                                    </p:set>
                                  </p:childTnLst>
                                </p:cTn>
                              </p:par>
                              <p:par>
                                <p:cTn id="171" presetID="10" presetClass="exit" presetSubtype="0" fill="hold" grpId="0" nodeType="withEffect">
                                  <p:stCondLst>
                                    <p:cond delay="0"/>
                                  </p:stCondLst>
                                  <p:childTnLst>
                                    <p:animEffect transition="out" filter="fade">
                                      <p:cBhvr>
                                        <p:cTn id="169" dur="350"/>
                                        <p:tgtEl>
                                          <p:spTgt spid="12"/>
                                        </p:tgtEl>
                                      </p:cBhvr>
                                    </p:animEffect>
                                    <p:set>
                                      <p:cBhvr>
                                        <p:cTn id="170" dur="1" fill="hold">
                                          <p:stCondLst>
                                            <p:cond delay="349"/>
                                          </p:stCondLst>
                                        </p:cTn>
                                        <p:tgtEl>
                                          <p:spTgt spid="12"/>
                                        </p:tgtEl>
                                        <p:attrNameLst>
                                          <p:attrName>style.visibility</p:attrName>
                                        </p:attrNameLst>
                                      </p:cBhvr>
                                      <p:to>
                                        <p:strVal val="hidden"/>
                                      </p:to>
                                    </p:set>
                                  </p:childTnLst>
                                </p:cTn>
                              </p:par>
                              <p:par>
                                <p:cTn id="174" presetID="10" presetClass="entr" presetSubtype="0" fill="hold" grpId="0" nodeType="withEffect">
                                  <p:stCondLst>
                                    <p:cond delay="300"/>
                                  </p:stCondLst>
                                  <p:childTnLst>
                                    <p:set>
                                      <p:cBhvr>
                                        <p:cTn id="172" dur="1" fill="hold">
                                          <p:stCondLst>
                                            <p:cond delay="0"/>
                                          </p:stCondLst>
                                        </p:cTn>
                                        <p:tgtEl>
                                          <p:spTgt spid="17"/>
                                        </p:tgtEl>
                                        <p:attrNameLst>
                                          <p:attrName>style.visibility</p:attrName>
                                        </p:attrNameLst>
                                      </p:cBhvr>
                                      <p:to>
                                        <p:strVal val="visible"/>
                                      </p:to>
                                    </p:set>
                                    <p:animEffect transition="in" filter="fade">
                                      <p:cBhvr>
                                        <p:cTn id="173" dur="600"/>
                                        <p:tgtEl>
                                          <p:spTgt spid="17"/>
                                        </p:tgtEl>
                                      </p:cBhvr>
                                    </p:animEffect>
                                  </p:childTnLst>
                                </p:cTn>
                              </p:par>
                            </p:childTnLst>
                          </p:cTn>
                        </p:par>
                      </p:childTnLst>
                    </p:cTn>
                  </p:par>
                  <p:par>
                    <p:cTn id="175" fill="hold">
                      <p:stCondLst>
                        <p:cond delay="indefinite"/>
                      </p:stCondLst>
                      <p:childTnLst>
                        <p:par>
                          <p:cTn id="176" fill="hold">
                            <p:stCondLst>
                              <p:cond delay="0"/>
                            </p:stCondLst>
                            <p:childTnLst>
                              <p:par>
                                <p:cTn id="179" presetID="10" presetClass="entr" presetSubtype="0" fill="hold" grpId="0" nodeType="clickEffect">
                                  <p:stCondLst>
                                    <p:cond delay="0"/>
                                  </p:stCondLst>
                                  <p:childTnLst>
                                    <p:set>
                                      <p:cBhvr>
                                        <p:cTn id="177" dur="1" fill="hold">
                                          <p:stCondLst>
                                            <p:cond delay="0"/>
                                          </p:stCondLst>
                                        </p:cTn>
                                        <p:tgtEl>
                                          <p:spTgt spid="15"/>
                                        </p:tgtEl>
                                        <p:attrNameLst>
                                          <p:attrName>style.visibility</p:attrName>
                                        </p:attrNameLst>
                                      </p:cBhvr>
                                      <p:to>
                                        <p:strVal val="visible"/>
                                      </p:to>
                                    </p:set>
                                    <p:animEffect transition="in" filter="fade">
                                      <p:cBhvr>
                                        <p:cTn id="178" dur="450"/>
                                        <p:tgtEl>
                                          <p:spTgt spid="15"/>
                                        </p:tgtEl>
                                      </p:cBhvr>
                                    </p:animEffect>
                                  </p:childTnLst>
                                </p:cTn>
                              </p:par>
                              <p:par>
                                <p:cTn id="182" presetID="10" presetClass="entr" presetSubtype="0" fill="hold" grpId="0" nodeType="withEffect">
                                  <p:stCondLst>
                                    <p:cond delay="0"/>
                                  </p:stCondLst>
                                  <p:childTnLst>
                                    <p:set>
                                      <p:cBhvr>
                                        <p:cTn id="180" dur="1" fill="hold">
                                          <p:stCondLst>
                                            <p:cond delay="0"/>
                                          </p:stCondLst>
                                        </p:cTn>
                                        <p:tgtEl>
                                          <p:spTgt spid="40"/>
                                        </p:tgtEl>
                                        <p:attrNameLst>
                                          <p:attrName>style.visibility</p:attrName>
                                        </p:attrNameLst>
                                      </p:cBhvr>
                                      <p:to>
                                        <p:strVal val="visible"/>
                                      </p:to>
                                    </p:set>
                                    <p:animEffect transition="in" filter="fade">
                                      <p:cBhvr>
                                        <p:cTn id="181" dur="450"/>
                                        <p:tgtEl>
                                          <p:spTgt spid="40"/>
                                        </p:tgtEl>
                                      </p:cBhvr>
                                    </p:animEffect>
                                  </p:childTnLst>
                                </p:cTn>
                              </p:par>
                              <p:par>
                                <p:cTn id="185" presetID="10" presetClass="entr" presetSubtype="0" fill="hold" grpId="0" nodeType="withEffect">
                                  <p:stCondLst>
                                    <p:cond delay="150"/>
                                  </p:stCondLst>
                                  <p:childTnLst>
                                    <p:set>
                                      <p:cBhvr>
                                        <p:cTn id="183" dur="1" fill="hold">
                                          <p:stCondLst>
                                            <p:cond delay="0"/>
                                          </p:stCondLst>
                                        </p:cTn>
                                        <p:tgtEl>
                                          <p:spTgt spid="41"/>
                                        </p:tgtEl>
                                        <p:attrNameLst>
                                          <p:attrName>style.visibility</p:attrName>
                                        </p:attrNameLst>
                                      </p:cBhvr>
                                      <p:to>
                                        <p:strVal val="visible"/>
                                      </p:to>
                                    </p:set>
                                    <p:animEffect transition="in" filter="fade">
                                      <p:cBhvr>
                                        <p:cTn id="184" dur="450"/>
                                        <p:tgtEl>
                                          <p:spTgt spid="41"/>
                                        </p:tgtEl>
                                      </p:cBhvr>
                                    </p:animEffect>
                                  </p:childTnLst>
                                </p:cTn>
                              </p:par>
                              <p:par>
                                <p:cTn id="188" presetID="10" presetClass="entr" presetSubtype="0" fill="hold" grpId="0" nodeType="withEffect">
                                  <p:stCondLst>
                                    <p:cond delay="450"/>
                                  </p:stCondLst>
                                  <p:childTnLst>
                                    <p:set>
                                      <p:cBhvr>
                                        <p:cTn id="186" dur="1" fill="hold">
                                          <p:stCondLst>
                                            <p:cond delay="0"/>
                                          </p:stCondLst>
                                        </p:cTn>
                                        <p:tgtEl>
                                          <p:spTgt spid="42"/>
                                        </p:tgtEl>
                                        <p:attrNameLst>
                                          <p:attrName>style.visibility</p:attrName>
                                        </p:attrNameLst>
                                      </p:cBhvr>
                                      <p:to>
                                        <p:strVal val="visible"/>
                                      </p:to>
                                    </p:set>
                                    <p:animEffect transition="in" filter="fade">
                                      <p:cBhvr>
                                        <p:cTn id="187" dur="450"/>
                                        <p:tgtEl>
                                          <p:spTgt spid="42"/>
                                        </p:tgtEl>
                                      </p:cBhvr>
                                    </p:animEffect>
                                  </p:childTnLst>
                                </p:cTn>
                              </p:par>
                              <p:par>
                                <p:cTn id="191" presetID="10" presetClass="entr" presetSubtype="0" fill="hold" grpId="0" nodeType="withEffect">
                                  <p:stCondLst>
                                    <p:cond delay="900"/>
                                  </p:stCondLst>
                                  <p:childTnLst>
                                    <p:set>
                                      <p:cBhvr>
                                        <p:cTn id="189" dur="1" fill="hold">
                                          <p:stCondLst>
                                            <p:cond delay="0"/>
                                          </p:stCondLst>
                                        </p:cTn>
                                        <p:tgtEl>
                                          <p:spTgt spid="43"/>
                                        </p:tgtEl>
                                        <p:attrNameLst>
                                          <p:attrName>style.visibility</p:attrName>
                                        </p:attrNameLst>
                                      </p:cBhvr>
                                      <p:to>
                                        <p:strVal val="visible"/>
                                      </p:to>
                                    </p:set>
                                    <p:animEffect transition="in" filter="fade">
                                      <p:cBhvr>
                                        <p:cTn id="190" dur="450"/>
                                        <p:tgtEl>
                                          <p:spTgt spid="43"/>
                                        </p:tgtEl>
                                      </p:cBhvr>
                                    </p:animEffect>
                                  </p:childTnLst>
                                </p:cTn>
                              </p:par>
                              <p:par>
                                <p:cTn id="194" presetID="10" presetClass="entr" presetSubtype="0" fill="hold" grpId="0" nodeType="withEffect">
                                  <p:stCondLst>
                                    <p:cond delay="1350"/>
                                  </p:stCondLst>
                                  <p:childTnLst>
                                    <p:set>
                                      <p:cBhvr>
                                        <p:cTn id="192" dur="1" fill="hold">
                                          <p:stCondLst>
                                            <p:cond delay="0"/>
                                          </p:stCondLst>
                                        </p:cTn>
                                        <p:tgtEl>
                                          <p:spTgt spid="44"/>
                                        </p:tgtEl>
                                        <p:attrNameLst>
                                          <p:attrName>style.visibility</p:attrName>
                                        </p:attrNameLst>
                                      </p:cBhvr>
                                      <p:to>
                                        <p:strVal val="visible"/>
                                      </p:to>
                                    </p:set>
                                    <p:animEffect transition="in" filter="fade">
                                      <p:cBhvr>
                                        <p:cTn id="193" dur="450"/>
                                        <p:tgtEl>
                                          <p:spTgt spid="44"/>
                                        </p:tgtEl>
                                      </p:cBhvr>
                                    </p:animEffect>
                                  </p:childTnLst>
                                </p:cTn>
                              </p:par>
                              <p:par>
                                <p:cTn id="197" presetID="10" presetClass="entr" presetSubtype="0" fill="hold" grpId="0" nodeType="withEffect">
                                  <p:stCondLst>
                                    <p:cond delay="1800"/>
                                  </p:stCondLst>
                                  <p:childTnLst>
                                    <p:set>
                                      <p:cBhvr>
                                        <p:cTn id="195" dur="1" fill="hold">
                                          <p:stCondLst>
                                            <p:cond delay="0"/>
                                          </p:stCondLst>
                                        </p:cTn>
                                        <p:tgtEl>
                                          <p:spTgt spid="45"/>
                                        </p:tgtEl>
                                        <p:attrNameLst>
                                          <p:attrName>style.visibility</p:attrName>
                                        </p:attrNameLst>
                                      </p:cBhvr>
                                      <p:to>
                                        <p:strVal val="visible"/>
                                      </p:to>
                                    </p:set>
                                    <p:animEffect transition="in" filter="fade">
                                      <p:cBhvr>
                                        <p:cTn id="196" dur="450"/>
                                        <p:tgtEl>
                                          <p:spTgt spid="45"/>
                                        </p:tgtEl>
                                      </p:cBhvr>
                                    </p:animEffect>
                                  </p:childTnLst>
                                </p:cTn>
                              </p:par>
                              <p:par>
                                <p:cTn id="200" presetID="10" presetClass="entr" presetSubtype="0" fill="hold" grpId="0" nodeType="withEffect">
                                  <p:stCondLst>
                                    <p:cond delay="2250"/>
                                  </p:stCondLst>
                                  <p:childTnLst>
                                    <p:set>
                                      <p:cBhvr>
                                        <p:cTn id="198" dur="1" fill="hold">
                                          <p:stCondLst>
                                            <p:cond delay="0"/>
                                          </p:stCondLst>
                                        </p:cTn>
                                        <p:tgtEl>
                                          <p:spTgt spid="46"/>
                                        </p:tgtEl>
                                        <p:attrNameLst>
                                          <p:attrName>style.visibility</p:attrName>
                                        </p:attrNameLst>
                                      </p:cBhvr>
                                      <p:to>
                                        <p:strVal val="visible"/>
                                      </p:to>
                                    </p:set>
                                    <p:animEffect transition="in" filter="fade">
                                      <p:cBhvr>
                                        <p:cTn id="199" dur="450"/>
                                        <p:tgtEl>
                                          <p:spTgt spid="46"/>
                                        </p:tgtEl>
                                      </p:cBhvr>
                                    </p:animEffect>
                                  </p:childTnLst>
                                </p:cTn>
                              </p:par>
                              <p:par>
                                <p:cTn id="203" presetID="10" presetClass="entr" presetSubtype="0" fill="hold" grpId="0" nodeType="withEffect">
                                  <p:stCondLst>
                                    <p:cond delay="2700"/>
                                  </p:stCondLst>
                                  <p:childTnLst>
                                    <p:set>
                                      <p:cBhvr>
                                        <p:cTn id="201" dur="1" fill="hold">
                                          <p:stCondLst>
                                            <p:cond delay="0"/>
                                          </p:stCondLst>
                                        </p:cTn>
                                        <p:tgtEl>
                                          <p:spTgt spid="47"/>
                                        </p:tgtEl>
                                        <p:attrNameLst>
                                          <p:attrName>style.visibility</p:attrName>
                                        </p:attrNameLst>
                                      </p:cBhvr>
                                      <p:to>
                                        <p:strVal val="visible"/>
                                      </p:to>
                                    </p:set>
                                    <p:animEffect transition="in" filter="fade">
                                      <p:cBhvr>
                                        <p:cTn id="202" dur="450"/>
                                        <p:tgtEl>
                                          <p:spTgt spid="47"/>
                                        </p:tgtEl>
                                      </p:cBhvr>
                                    </p:animEffect>
                                  </p:childTnLst>
                                </p:cTn>
                              </p:par>
                              <p:par>
                                <p:cTn id="206" presetID="10" presetClass="entr" presetSubtype="0" fill="hold" grpId="0" nodeType="withEffect">
                                  <p:stCondLst>
                                    <p:cond delay="3300"/>
                                  </p:stCondLst>
                                  <p:childTnLst>
                                    <p:set>
                                      <p:cBhvr>
                                        <p:cTn id="204" dur="1" fill="hold">
                                          <p:stCondLst>
                                            <p:cond delay="0"/>
                                          </p:stCondLst>
                                        </p:cTn>
                                        <p:tgtEl>
                                          <p:spTgt spid="48"/>
                                        </p:tgtEl>
                                        <p:attrNameLst>
                                          <p:attrName>style.visibility</p:attrName>
                                        </p:attrNameLst>
                                      </p:cBhvr>
                                      <p:to>
                                        <p:strVal val="visible"/>
                                      </p:to>
                                    </p:set>
                                    <p:animEffect transition="in" filter="fade">
                                      <p:cBhvr>
                                        <p:cTn id="205" dur="450"/>
                                        <p:tgtEl>
                                          <p:spTgt spid="48"/>
                                        </p:tgtEl>
                                      </p:cBhvr>
                                    </p:animEffect>
                                  </p:childTnLst>
                                </p:cTn>
                              </p:par>
                              <p:par>
                                <p:cTn id="209" presetID="10" presetClass="entr" presetSubtype="0" fill="hold" grpId="0" nodeType="withEffect">
                                  <p:stCondLst>
                                    <p:cond delay="3650"/>
                                  </p:stCondLst>
                                  <p:childTnLst>
                                    <p:set>
                                      <p:cBhvr>
                                        <p:cTn id="207" dur="1" fill="hold">
                                          <p:stCondLst>
                                            <p:cond delay="0"/>
                                          </p:stCondLst>
                                        </p:cTn>
                                        <p:tgtEl>
                                          <p:spTgt spid="49"/>
                                        </p:tgtEl>
                                        <p:attrNameLst>
                                          <p:attrName>style.visibility</p:attrName>
                                        </p:attrNameLst>
                                      </p:cBhvr>
                                      <p:to>
                                        <p:strVal val="visible"/>
                                      </p:to>
                                    </p:set>
                                    <p:animEffect transition="in" filter="fade">
                                      <p:cBhvr>
                                        <p:cTn id="208" dur="450"/>
                                        <p:tgtEl>
                                          <p:spTgt spid="49"/>
                                        </p:tgtEl>
                                      </p:cBhvr>
                                    </p:animEffect>
                                  </p:childTnLst>
                                </p:cTn>
                              </p:par>
                            </p:childTnLst>
                          </p:cTn>
                        </p:par>
                      </p:childTnLst>
                    </p:cTn>
                  </p:par>
                  <p:par>
                    <p:cTn id="210" fill="hold">
                      <p:stCondLst>
                        <p:cond delay="indefinite"/>
                      </p:stCondLst>
                      <p:childTnLst>
                        <p:par>
                          <p:cTn id="211" fill="hold">
                            <p:stCondLst>
                              <p:cond delay="0"/>
                            </p:stCondLst>
                            <p:childTnLst>
                              <p:par>
                                <p:cTn id="214" presetID="10" presetClass="exit" presetSubtype="0" fill="hold" grpId="0" nodeType="clickEffect">
                                  <p:stCondLst>
                                    <p:cond delay="0"/>
                                  </p:stCondLst>
                                  <p:childTnLst>
                                    <p:animEffect transition="out" filter="fade">
                                      <p:cBhvr>
                                        <p:cTn id="212" dur="350"/>
                                        <p:tgtEl>
                                          <p:spTgt spid="40"/>
                                        </p:tgtEl>
                                      </p:cBhvr>
                                    </p:animEffect>
                                    <p:set>
                                      <p:cBhvr>
                                        <p:cTn id="213" dur="1" fill="hold">
                                          <p:stCondLst>
                                            <p:cond delay="349"/>
                                          </p:stCondLst>
                                        </p:cTn>
                                        <p:tgtEl>
                                          <p:spTgt spid="40"/>
                                        </p:tgtEl>
                                        <p:attrNameLst>
                                          <p:attrName>style.visibility</p:attrName>
                                        </p:attrNameLst>
                                      </p:cBhvr>
                                      <p:to>
                                        <p:strVal val="hidden"/>
                                      </p:to>
                                    </p:set>
                                  </p:childTnLst>
                                </p:cTn>
                              </p:par>
                              <p:par>
                                <p:cTn id="217" presetID="10" presetClass="exit" presetSubtype="0" fill="hold" grpId="0" nodeType="withEffect">
                                  <p:stCondLst>
                                    <p:cond delay="0"/>
                                  </p:stCondLst>
                                  <p:childTnLst>
                                    <p:animEffect transition="out" filter="fade">
                                      <p:cBhvr>
                                        <p:cTn id="215" dur="350"/>
                                        <p:tgtEl>
                                          <p:spTgt spid="41"/>
                                        </p:tgtEl>
                                      </p:cBhvr>
                                    </p:animEffect>
                                    <p:set>
                                      <p:cBhvr>
                                        <p:cTn id="216" dur="1" fill="hold">
                                          <p:stCondLst>
                                            <p:cond delay="349"/>
                                          </p:stCondLst>
                                        </p:cTn>
                                        <p:tgtEl>
                                          <p:spTgt spid="41"/>
                                        </p:tgtEl>
                                        <p:attrNameLst>
                                          <p:attrName>style.visibility</p:attrName>
                                        </p:attrNameLst>
                                      </p:cBhvr>
                                      <p:to>
                                        <p:strVal val="hidden"/>
                                      </p:to>
                                    </p:set>
                                  </p:childTnLst>
                                </p:cTn>
                              </p:par>
                              <p:par>
                                <p:cTn id="220" presetID="10" presetClass="exit" presetSubtype="0" fill="hold" grpId="0" nodeType="withEffect">
                                  <p:stCondLst>
                                    <p:cond delay="0"/>
                                  </p:stCondLst>
                                  <p:childTnLst>
                                    <p:animEffect transition="out" filter="fade">
                                      <p:cBhvr>
                                        <p:cTn id="218" dur="350"/>
                                        <p:tgtEl>
                                          <p:spTgt spid="42"/>
                                        </p:tgtEl>
                                      </p:cBhvr>
                                    </p:animEffect>
                                    <p:set>
                                      <p:cBhvr>
                                        <p:cTn id="219" dur="1" fill="hold">
                                          <p:stCondLst>
                                            <p:cond delay="349"/>
                                          </p:stCondLst>
                                        </p:cTn>
                                        <p:tgtEl>
                                          <p:spTgt spid="42"/>
                                        </p:tgtEl>
                                        <p:attrNameLst>
                                          <p:attrName>style.visibility</p:attrName>
                                        </p:attrNameLst>
                                      </p:cBhvr>
                                      <p:to>
                                        <p:strVal val="hidden"/>
                                      </p:to>
                                    </p:set>
                                  </p:childTnLst>
                                </p:cTn>
                              </p:par>
                              <p:par>
                                <p:cTn id="223" presetID="10" presetClass="exit" presetSubtype="0" fill="hold" grpId="0" nodeType="withEffect">
                                  <p:stCondLst>
                                    <p:cond delay="0"/>
                                  </p:stCondLst>
                                  <p:childTnLst>
                                    <p:animEffect transition="out" filter="fade">
                                      <p:cBhvr>
                                        <p:cTn id="221" dur="350"/>
                                        <p:tgtEl>
                                          <p:spTgt spid="43"/>
                                        </p:tgtEl>
                                      </p:cBhvr>
                                    </p:animEffect>
                                    <p:set>
                                      <p:cBhvr>
                                        <p:cTn id="222" dur="1" fill="hold">
                                          <p:stCondLst>
                                            <p:cond delay="349"/>
                                          </p:stCondLst>
                                        </p:cTn>
                                        <p:tgtEl>
                                          <p:spTgt spid="43"/>
                                        </p:tgtEl>
                                        <p:attrNameLst>
                                          <p:attrName>style.visibility</p:attrName>
                                        </p:attrNameLst>
                                      </p:cBhvr>
                                      <p:to>
                                        <p:strVal val="hidden"/>
                                      </p:to>
                                    </p:set>
                                  </p:childTnLst>
                                </p:cTn>
                              </p:par>
                              <p:par>
                                <p:cTn id="226" presetID="10" presetClass="exit" presetSubtype="0" fill="hold" grpId="0" nodeType="withEffect">
                                  <p:stCondLst>
                                    <p:cond delay="0"/>
                                  </p:stCondLst>
                                  <p:childTnLst>
                                    <p:animEffect transition="out" filter="fade">
                                      <p:cBhvr>
                                        <p:cTn id="224" dur="350"/>
                                        <p:tgtEl>
                                          <p:spTgt spid="44"/>
                                        </p:tgtEl>
                                      </p:cBhvr>
                                    </p:animEffect>
                                    <p:set>
                                      <p:cBhvr>
                                        <p:cTn id="225" dur="1" fill="hold">
                                          <p:stCondLst>
                                            <p:cond delay="349"/>
                                          </p:stCondLst>
                                        </p:cTn>
                                        <p:tgtEl>
                                          <p:spTgt spid="44"/>
                                        </p:tgtEl>
                                        <p:attrNameLst>
                                          <p:attrName>style.visibility</p:attrName>
                                        </p:attrNameLst>
                                      </p:cBhvr>
                                      <p:to>
                                        <p:strVal val="hidden"/>
                                      </p:to>
                                    </p:set>
                                  </p:childTnLst>
                                </p:cTn>
                              </p:par>
                              <p:par>
                                <p:cTn id="229" presetID="10" presetClass="exit" presetSubtype="0" fill="hold" grpId="0" nodeType="withEffect">
                                  <p:stCondLst>
                                    <p:cond delay="0"/>
                                  </p:stCondLst>
                                  <p:childTnLst>
                                    <p:animEffect transition="out" filter="fade">
                                      <p:cBhvr>
                                        <p:cTn id="227" dur="350"/>
                                        <p:tgtEl>
                                          <p:spTgt spid="45"/>
                                        </p:tgtEl>
                                      </p:cBhvr>
                                    </p:animEffect>
                                    <p:set>
                                      <p:cBhvr>
                                        <p:cTn id="228" dur="1" fill="hold">
                                          <p:stCondLst>
                                            <p:cond delay="349"/>
                                          </p:stCondLst>
                                        </p:cTn>
                                        <p:tgtEl>
                                          <p:spTgt spid="45"/>
                                        </p:tgtEl>
                                        <p:attrNameLst>
                                          <p:attrName>style.visibility</p:attrName>
                                        </p:attrNameLst>
                                      </p:cBhvr>
                                      <p:to>
                                        <p:strVal val="hidden"/>
                                      </p:to>
                                    </p:set>
                                  </p:childTnLst>
                                </p:cTn>
                              </p:par>
                              <p:par>
                                <p:cTn id="232" presetID="10" presetClass="exit" presetSubtype="0" fill="hold" grpId="0" nodeType="withEffect">
                                  <p:stCondLst>
                                    <p:cond delay="0"/>
                                  </p:stCondLst>
                                  <p:childTnLst>
                                    <p:animEffect transition="out" filter="fade">
                                      <p:cBhvr>
                                        <p:cTn id="230" dur="350"/>
                                        <p:tgtEl>
                                          <p:spTgt spid="46"/>
                                        </p:tgtEl>
                                      </p:cBhvr>
                                    </p:animEffect>
                                    <p:set>
                                      <p:cBhvr>
                                        <p:cTn id="231" dur="1" fill="hold">
                                          <p:stCondLst>
                                            <p:cond delay="349"/>
                                          </p:stCondLst>
                                        </p:cTn>
                                        <p:tgtEl>
                                          <p:spTgt spid="46"/>
                                        </p:tgtEl>
                                        <p:attrNameLst>
                                          <p:attrName>style.visibility</p:attrName>
                                        </p:attrNameLst>
                                      </p:cBhvr>
                                      <p:to>
                                        <p:strVal val="hidden"/>
                                      </p:to>
                                    </p:set>
                                  </p:childTnLst>
                                </p:cTn>
                              </p:par>
                              <p:par>
                                <p:cTn id="235" presetID="10" presetClass="exit" presetSubtype="0" fill="hold" grpId="0" nodeType="withEffect">
                                  <p:stCondLst>
                                    <p:cond delay="0"/>
                                  </p:stCondLst>
                                  <p:childTnLst>
                                    <p:animEffect transition="out" filter="fade">
                                      <p:cBhvr>
                                        <p:cTn id="233" dur="350"/>
                                        <p:tgtEl>
                                          <p:spTgt spid="47"/>
                                        </p:tgtEl>
                                      </p:cBhvr>
                                    </p:animEffect>
                                    <p:set>
                                      <p:cBhvr>
                                        <p:cTn id="234" dur="1" fill="hold">
                                          <p:stCondLst>
                                            <p:cond delay="349"/>
                                          </p:stCondLst>
                                        </p:cTn>
                                        <p:tgtEl>
                                          <p:spTgt spid="47"/>
                                        </p:tgtEl>
                                        <p:attrNameLst>
                                          <p:attrName>style.visibility</p:attrName>
                                        </p:attrNameLst>
                                      </p:cBhvr>
                                      <p:to>
                                        <p:strVal val="hidden"/>
                                      </p:to>
                                    </p:set>
                                  </p:childTnLst>
                                </p:cTn>
                              </p:par>
                              <p:par>
                                <p:cTn id="238" presetID="10" presetClass="exit" presetSubtype="0" fill="hold" grpId="0" nodeType="withEffect">
                                  <p:stCondLst>
                                    <p:cond delay="0"/>
                                  </p:stCondLst>
                                  <p:childTnLst>
                                    <p:animEffect transition="out" filter="fade">
                                      <p:cBhvr>
                                        <p:cTn id="236" dur="350"/>
                                        <p:tgtEl>
                                          <p:spTgt spid="48"/>
                                        </p:tgtEl>
                                      </p:cBhvr>
                                    </p:animEffect>
                                    <p:set>
                                      <p:cBhvr>
                                        <p:cTn id="237" dur="1" fill="hold">
                                          <p:stCondLst>
                                            <p:cond delay="349"/>
                                          </p:stCondLst>
                                        </p:cTn>
                                        <p:tgtEl>
                                          <p:spTgt spid="48"/>
                                        </p:tgtEl>
                                        <p:attrNameLst>
                                          <p:attrName>style.visibility</p:attrName>
                                        </p:attrNameLst>
                                      </p:cBhvr>
                                      <p:to>
                                        <p:strVal val="hidden"/>
                                      </p:to>
                                    </p:set>
                                  </p:childTnLst>
                                </p:cTn>
                              </p:par>
                              <p:par>
                                <p:cTn id="241" presetID="10" presetClass="exit" presetSubtype="0" fill="hold" grpId="0" nodeType="withEffect">
                                  <p:stCondLst>
                                    <p:cond delay="0"/>
                                  </p:stCondLst>
                                  <p:childTnLst>
                                    <p:animEffect transition="out" filter="fade">
                                      <p:cBhvr>
                                        <p:cTn id="239" dur="350"/>
                                        <p:tgtEl>
                                          <p:spTgt spid="49"/>
                                        </p:tgtEl>
                                      </p:cBhvr>
                                    </p:animEffect>
                                    <p:set>
                                      <p:cBhvr>
                                        <p:cTn id="240" dur="1" fill="hold">
                                          <p:stCondLst>
                                            <p:cond delay="349"/>
                                          </p:stCondLst>
                                        </p:cTn>
                                        <p:tgtEl>
                                          <p:spTgt spid="49"/>
                                        </p:tgtEl>
                                        <p:attrNameLst>
                                          <p:attrName>style.visibility</p:attrName>
                                        </p:attrNameLst>
                                      </p:cBhvr>
                                      <p:to>
                                        <p:strVal val="hidden"/>
                                      </p:to>
                                    </p:set>
                                  </p:childTnLst>
                                </p:cTn>
                              </p:par>
                              <p:par>
                                <p:cTn id="244" presetID="10" presetClass="exit" presetSubtype="0" fill="hold" grpId="0" nodeType="withEffect">
                                  <p:stCondLst>
                                    <p:cond delay="0"/>
                                  </p:stCondLst>
                                  <p:childTnLst>
                                    <p:animEffect transition="out" filter="fade">
                                      <p:cBhvr>
                                        <p:cTn id="242" dur="350"/>
                                        <p:tgtEl>
                                          <p:spTgt spid="15"/>
                                        </p:tgtEl>
                                      </p:cBhvr>
                                    </p:animEffect>
                                    <p:set>
                                      <p:cBhvr>
                                        <p:cTn id="243" dur="1" fill="hold">
                                          <p:stCondLst>
                                            <p:cond delay="349"/>
                                          </p:stCondLst>
                                        </p:cTn>
                                        <p:tgtEl>
                                          <p:spTgt spid="15"/>
                                        </p:tgtEl>
                                        <p:attrNameLst>
                                          <p:attrName>style.visibility</p:attrName>
                                        </p:attrNameLst>
                                      </p:cBhvr>
                                      <p:to>
                                        <p:strVal val="hidden"/>
                                      </p:to>
                                    </p:set>
                                  </p:childTnLst>
                                </p:cTn>
                              </p:par>
                              <p:par>
                                <p:cTn id="247" presetID="10" presetClass="entr" presetSubtype="0" fill="hold" grpId="0" nodeType="withEffect">
                                  <p:stCondLst>
                                    <p:cond delay="300"/>
                                  </p:stCondLst>
                                  <p:childTnLst>
                                    <p:set>
                                      <p:cBhvr>
                                        <p:cTn id="245" dur="1" fill="hold">
                                          <p:stCondLst>
                                            <p:cond delay="0"/>
                                          </p:stCondLst>
                                        </p:cTn>
                                        <p:tgtEl>
                                          <p:spTgt spid="18"/>
                                        </p:tgtEl>
                                        <p:attrNameLst>
                                          <p:attrName>style.visibility</p:attrName>
                                        </p:attrNameLst>
                                      </p:cBhvr>
                                      <p:to>
                                        <p:strVal val="visible"/>
                                      </p:to>
                                    </p:set>
                                    <p:animEffect transition="in" filter="fade">
                                      <p:cBhvr>
                                        <p:cTn id="246" dur="600"/>
                                        <p:tgtEl>
                                          <p:spTgt spid="18"/>
                                        </p:tgtEl>
                                      </p:cBhvr>
                                    </p:animEffect>
                                  </p:childTnLst>
                                </p:cTn>
                              </p:par>
                            </p:childTnLst>
                          </p:cTn>
                        </p:par>
                      </p:childTnLst>
                    </p:cTn>
                  </p:par>
                  <p:par>
                    <p:cTn id="248" fill="hold">
                      <p:stCondLst>
                        <p:cond delay="indefinite"/>
                      </p:stCondLst>
                      <p:childTnLst>
                        <p:par>
                          <p:cTn id="249" fill="hold">
                            <p:stCondLst>
                              <p:cond delay="0"/>
                            </p:stCondLst>
                            <p:childTnLst>
                              <p:par>
                                <p:cTn id="252" presetID="10" presetClass="entr" presetSubtype="0" fill="hold" grpId="0" nodeType="clickEffect">
                                  <p:stCondLst>
                                    <p:cond delay="0"/>
                                  </p:stCondLst>
                                  <p:childTnLst>
                                    <p:set>
                                      <p:cBhvr>
                                        <p:cTn id="250" dur="1" fill="hold">
                                          <p:stCondLst>
                                            <p:cond delay="0"/>
                                          </p:stCondLst>
                                        </p:cTn>
                                        <p:tgtEl>
                                          <p:spTgt spid="50"/>
                                        </p:tgtEl>
                                        <p:attrNameLst>
                                          <p:attrName>style.visibility</p:attrName>
                                        </p:attrNameLst>
                                      </p:cBhvr>
                                      <p:to>
                                        <p:strVal val="visible"/>
                                      </p:to>
                                    </p:set>
                                    <p:animEffect transition="in" filter="fade">
                                      <p:cBhvr>
                                        <p:cTn id="251" dur="450"/>
                                        <p:tgtEl>
                                          <p:spTgt spid="50"/>
                                        </p:tgtEl>
                                      </p:cBhvr>
                                    </p:animEffect>
                                  </p:childTnLst>
                                </p:cTn>
                              </p:par>
                            </p:childTnLst>
                          </p:cTn>
                        </p:par>
                      </p:childTnLst>
                    </p:cTn>
                  </p:par>
                  <p:par>
                    <p:cTn id="253" fill="hold">
                      <p:stCondLst>
                        <p:cond delay="indefinite"/>
                      </p:stCondLst>
                      <p:childTnLst>
                        <p:par>
                          <p:cTn id="254" fill="hold">
                            <p:stCondLst>
                              <p:cond delay="0"/>
                            </p:stCondLst>
                            <p:childTnLst>
                              <p:par>
                                <p:cTn id="257" presetID="10" presetClass="entr" presetSubtype="0" fill="hold" grpId="0" nodeType="clickEffect">
                                  <p:stCondLst>
                                    <p:cond delay="0"/>
                                  </p:stCondLst>
                                  <p:childTnLst>
                                    <p:set>
                                      <p:cBhvr>
                                        <p:cTn id="255" dur="1" fill="hold">
                                          <p:stCondLst>
                                            <p:cond delay="0"/>
                                          </p:stCondLst>
                                        </p:cTn>
                                        <p:tgtEl>
                                          <p:spTgt spid="51"/>
                                        </p:tgtEl>
                                        <p:attrNameLst>
                                          <p:attrName>style.visibility</p:attrName>
                                        </p:attrNameLst>
                                      </p:cBhvr>
                                      <p:to>
                                        <p:strVal val="visible"/>
                                      </p:to>
                                    </p:set>
                                    <p:animEffect transition="in" filter="fade">
                                      <p:cBhvr>
                                        <p:cTn id="256" dur="450"/>
                                        <p:tgtEl>
                                          <p:spTgt spid="51"/>
                                        </p:tgtEl>
                                      </p:cBhvr>
                                    </p:animEffect>
                                  </p:childTnLst>
                                </p:cTn>
                              </p:par>
                              <p:par>
                                <p:cTn id="260" presetID="10" presetClass="entr" presetSubtype="0" fill="hold" grpId="0" nodeType="withEffect">
                                  <p:stCondLst>
                                    <p:cond delay="200"/>
                                  </p:stCondLst>
                                  <p:childTnLst>
                                    <p:set>
                                      <p:cBhvr>
                                        <p:cTn id="258" dur="1" fill="hold">
                                          <p:stCondLst>
                                            <p:cond delay="0"/>
                                          </p:stCondLst>
                                        </p:cTn>
                                        <p:tgtEl>
                                          <p:spTgt spid="52"/>
                                        </p:tgtEl>
                                        <p:attrNameLst>
                                          <p:attrName>style.visibility</p:attrName>
                                        </p:attrNameLst>
                                      </p:cBhvr>
                                      <p:to>
                                        <p:strVal val="visible"/>
                                      </p:to>
                                    </p:set>
                                    <p:animEffect transition="in" filter="fade">
                                      <p:cBhvr>
                                        <p:cTn id="259" dur="450"/>
                                        <p:tgtEl>
                                          <p:spTgt spid="52"/>
                                        </p:tgtEl>
                                      </p:cBhvr>
                                    </p:animEffect>
                                  </p:childTnLst>
                                </p:cTn>
                              </p:par>
                              <p:par>
                                <p:cTn id="263" presetID="10" presetClass="entr" presetSubtype="0" fill="hold" grpId="0" nodeType="withEffect">
                                  <p:stCondLst>
                                    <p:cond delay="1200"/>
                                  </p:stCondLst>
                                  <p:childTnLst>
                                    <p:set>
                                      <p:cBhvr>
                                        <p:cTn id="261" dur="1" fill="hold">
                                          <p:stCondLst>
                                            <p:cond delay="0"/>
                                          </p:stCondLst>
                                        </p:cTn>
                                        <p:tgtEl>
                                          <p:spTgt spid="53"/>
                                        </p:tgtEl>
                                        <p:attrNameLst>
                                          <p:attrName>style.visibility</p:attrName>
                                        </p:attrNameLst>
                                      </p:cBhvr>
                                      <p:to>
                                        <p:strVal val="visible"/>
                                      </p:to>
                                    </p:set>
                                    <p:animEffect transition="in" filter="fade">
                                      <p:cBhvr>
                                        <p:cTn id="262" dur="450"/>
                                        <p:tgtEl>
                                          <p:spTgt spid="53"/>
                                        </p:tgtEl>
                                      </p:cBhvr>
                                    </p:animEffect>
                                  </p:childTnLst>
                                </p:cTn>
                              </p:par>
                              <p:par>
                                <p:cTn id="266" presetID="10" presetClass="entr" presetSubtype="0" fill="hold" grpId="0" nodeType="withEffect">
                                  <p:stCondLst>
                                    <p:cond delay="1500"/>
                                  </p:stCondLst>
                                  <p:childTnLst>
                                    <p:set>
                                      <p:cBhvr>
                                        <p:cTn id="264" dur="1" fill="hold">
                                          <p:stCondLst>
                                            <p:cond delay="0"/>
                                          </p:stCondLst>
                                        </p:cTn>
                                        <p:tgtEl>
                                          <p:spTgt spid="54"/>
                                        </p:tgtEl>
                                        <p:attrNameLst>
                                          <p:attrName>style.visibility</p:attrName>
                                        </p:attrNameLst>
                                      </p:cBhvr>
                                      <p:to>
                                        <p:strVal val="visible"/>
                                      </p:to>
                                    </p:set>
                                    <p:animEffect transition="in" filter="fade">
                                      <p:cBhvr>
                                        <p:cTn id="265" dur="6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9" grpId="0" animBg="1"/>
      <p:bldP spid="19" grpId="0" animBg="1"/>
      <p:bldP spid="20" grpId="0"/>
      <p:bldP spid="21" grpId="0"/>
      <p:bldP spid="22" grpId="0"/>
      <p:bldP spid="23" grpId="0"/>
      <p:bldP spid="24" grpId="0"/>
      <p:bldP spid="25" grpId="0"/>
      <p:bldP spid="26" grpId="0"/>
      <p:bldP spid="27" grpId="0" animBg="1"/>
      <p:bldP spid="28" grpId="0"/>
      <p:bldP spid="16" grpId="0" animBg="1"/>
      <p:bldP spid="12" grpId="0" animBg="1"/>
      <p:bldP spid="29" grpId="0" animBg="1"/>
      <p:bldP spid="30" grpId="0"/>
      <p:bldP spid="31" grpId="0"/>
      <p:bldP spid="32" grpId="0"/>
      <p:bldP spid="33" grpId="0"/>
      <p:bldP spid="34" grpId="0"/>
      <p:bldP spid="35" grpId="0"/>
      <p:bldP spid="36" grpId="0"/>
      <p:bldP spid="37" grpId="0"/>
      <p:bldP spid="38" grpId="0" animBg="1"/>
      <p:bldP spid="39" grpId="0"/>
      <p:bldP spid="17" grpId="0" animBg="1"/>
      <p:bldP spid="15" grpId="0" animBg="1"/>
      <p:bldP spid="40" grpId="0" animBg="1"/>
      <p:bldP spid="41" grpId="0"/>
      <p:bldP spid="42" grpId="0"/>
      <p:bldP spid="43" grpId="0"/>
      <p:bldP spid="44" grpId="0"/>
      <p:bldP spid="45" grpId="0"/>
      <p:bldP spid="46" grpId="0"/>
      <p:bldP spid="47" grpId="0"/>
      <p:bldP spid="48" grpId="0" animBg="1"/>
      <p:bldP spid="49" grpId="0"/>
      <p:bldP spid="18" grpId="0" animBg="1"/>
      <p:bldP spid="50" grpId="0" animBg="1"/>
      <p:bldP spid="51" grpId="0"/>
      <p:bldP spid="52" grpId="0" animBg="1"/>
      <p:bldP spid="53" grpId="0"/>
      <p:bldP spid="5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value</dc:title>
  <dc:subject>PptxGenJS Presentation</dc:subject>
  <dc:creator>Nisha Mishra</dc:creator>
  <cp:lastModifiedBy>Nisha Mishra</cp:lastModifiedBy>
  <cp:revision>1</cp:revision>
  <dcterms:created xsi:type="dcterms:W3CDTF">2026-10-07T00:47:59Z</dcterms:created>
  <dcterms:modified xsi:type="dcterms:W3CDTF">2026-10-07T00:47:59Z</dcterms:modified>
</cp:coreProperties>
</file>