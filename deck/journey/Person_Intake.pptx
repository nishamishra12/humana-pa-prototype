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slide. One click per step. Finish your talking point, then click.
Click 1: A provider sends the request packet by fax or portal. The intake coordinator uploads it as one PDF. Nothing about this step changes from today.
Click 2: The ETL step with AI inside reads every page and keeps typed pieces with their positions. Then plain pattern matching finds the procedure code on the request form.
Click 3: The screen shows what it found: the member, the procedure code, the planned date and the number of pages. If no service uses that code, the case is flagged No policy yet. Nothing is guessed.
Click 4: The intake coordinator checks the packet. Is it the right member, is it readable, is it a procedure we cover. This is a paperwork check, not a clinical one.
Click 5: Then they open the team view. They see each nurse's workload: how many open cases, how many are at risk, and which are close to their CMS deadline. That is how they decide who should take the next packet.
Click 6: They assign the packet to a nurse. The nurse is notified. The CMS clock is tracked from the day the packet arrived.
Click 7: Intake owns who reviews the packet. They do not judge the clinical content. That is the nurse's job, with the AI's help.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2743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INTAKE COORDINATOR  ·  PART 2</a:t>
            </a:r>
            <a:endParaRPr lang="en-US" sz="1100" dirty="0"/>
          </a:p>
        </p:txBody>
      </p:sp>
      <p:sp>
        <p:nvSpPr>
          <p:cNvPr id="3" name="title"/>
          <p:cNvSpPr txBox="1"/>
          <p:nvPr/>
        </p:nvSpPr>
        <p:spPr>
          <a:xfrm>
            <a:off x="457200" y="5029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1621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intake coordinator checks and assigns.</a:t>
            </a:r>
            <a:endParaRPr lang="en-US" sz="2600" dirty="0"/>
          </a:p>
        </p:txBody>
      </p:sp>
      <p:sp>
        <p:nvSpPr>
          <p:cNvPr id="4" name="sub"/>
          <p:cNvSpPr txBox="1"/>
          <p:nvPr/>
        </p:nvSpPr>
        <p:spPr>
          <a:xfrm>
            <a:off x="8412480" y="502920"/>
            <a:ext cx="3319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person to touch a packet</a:t>
            </a:r>
            <a:endParaRPr lang="en-US" sz="1400" dirty="0"/>
          </a:p>
        </p:txBody>
      </p:sp>
      <p:sp>
        <p:nvSpPr>
          <p:cNvPr id="5" name="footer"/>
          <p:cNvSpPr txBox="1"/>
          <p:nvPr/>
        </p:nvSpPr>
        <p:spPr>
          <a:xfrm>
            <a:off x="457200" y="6492240"/>
            <a:ext cx="11274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patient data is made up. The AI reads, drafts and cites. A person decides.</a:t>
            </a:r>
            <a:endParaRPr lang="en-US" sz="900" dirty="0"/>
          </a:p>
        </p:txBody>
      </p:sp>
      <p:sp>
        <p:nvSpPr>
          <p:cNvPr id="6" name="Lane0"/>
          <p:cNvSpPr/>
          <p:nvPr/>
        </p:nvSpPr>
        <p:spPr>
          <a:xfrm>
            <a:off x="457200" y="1371600"/>
            <a:ext cx="11274552" cy="1965960"/>
          </a:xfrm>
          <a:prstGeom prst="roundRect">
            <a:avLst>
              <a:gd name="adj" fmla="val 4651"/>
            </a:avLst>
          </a:prstGeom>
          <a:solidFill>
            <a:srgbClr val="F5F3EE"/>
          </a:solidFill>
          <a:ln w="12700">
            <a:solidFill>
              <a:srgbClr val="CBD5D1"/>
            </a:solidFill>
          </a:ln>
        </p:spPr>
        <p:txBody>
          <a:bodyPr wrap="square" lIns="109728" tIns="54864" rIns="109728" bIns="54864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800" dirty="0"/>
          </a:p>
        </p:txBody>
      </p:sp>
      <p:pic>
        <p:nvPicPr>
          <p:cNvPr id="7" name="Av_intak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63040"/>
            <a:ext cx="411480" cy="411480"/>
          </a:xfrm>
          <a:prstGeom prst="rect">
            <a:avLst/>
          </a:prstGeom>
        </p:spPr>
      </p:pic>
      <p:sp>
        <p:nvSpPr>
          <p:cNvPr id="8" name="LaneLb0"/>
          <p:cNvSpPr txBox="1"/>
          <p:nvPr/>
        </p:nvSpPr>
        <p:spPr>
          <a:xfrm>
            <a:off x="1069848" y="148132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COORDINATOR</a:t>
            </a:r>
            <a:endParaRPr lang="en-US" sz="11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</a:t>
            </a:r>
            <a:endParaRPr lang="en-US" sz="1100" dirty="0"/>
          </a:p>
        </p:txBody>
      </p:sp>
      <p:sp>
        <p:nvSpPr>
          <p:cNvPr id="9" name="Lane1"/>
          <p:cNvSpPr/>
          <p:nvPr/>
        </p:nvSpPr>
        <p:spPr>
          <a:xfrm>
            <a:off x="457200" y="3429000"/>
            <a:ext cx="11274552" cy="1965960"/>
          </a:xfrm>
          <a:prstGeom prst="roundRect">
            <a:avLst>
              <a:gd name="adj" fmla="val 4651"/>
            </a:avLst>
          </a:prstGeom>
          <a:solidFill>
            <a:srgbClr val="EEF5F2"/>
          </a:solidFill>
          <a:ln w="12700">
            <a:solidFill>
              <a:srgbClr val="CBD5D1"/>
            </a:solidFill>
          </a:ln>
        </p:spPr>
        <p:txBody>
          <a:bodyPr wrap="square" lIns="109728" tIns="54864" rIns="109728" bIns="54864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800" dirty="0"/>
          </a:p>
        </p:txBody>
      </p:sp>
      <p:pic>
        <p:nvPicPr>
          <p:cNvPr id="10" name="Av_ai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520440"/>
            <a:ext cx="411480" cy="411480"/>
          </a:xfrm>
          <a:prstGeom prst="rect">
            <a:avLst/>
          </a:prstGeom>
        </p:spPr>
      </p:pic>
      <p:sp>
        <p:nvSpPr>
          <p:cNvPr id="11" name="LaneLb1"/>
          <p:cNvSpPr txBox="1"/>
          <p:nvPr/>
        </p:nvSpPr>
        <p:spPr>
          <a:xfrm>
            <a:off x="1069848" y="353872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 DESK</a:t>
            </a:r>
            <a:endParaRPr lang="en-US" sz="11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+ AI, and plain code</a:t>
            </a:r>
            <a:endParaRPr lang="en-US" sz="1100" dirty="0"/>
          </a:p>
        </p:txBody>
      </p:sp>
      <p:sp>
        <p:nvSpPr>
          <p:cNvPr id="12" name="S0"/>
          <p:cNvSpPr/>
          <p:nvPr/>
        </p:nvSpPr>
        <p:spPr>
          <a:xfrm>
            <a:off x="603504" y="2011680"/>
            <a:ext cx="1623060" cy="1234440"/>
          </a:xfrm>
          <a:prstGeom prst="roundRect">
            <a:avLst>
              <a:gd name="adj" fmla="val 7407"/>
            </a:avLst>
          </a:prstGeom>
          <a:solidFill>
            <a:srgbClr val="FCEFD0"/>
          </a:solidFill>
          <a:ln w="15875">
            <a:solidFill>
              <a:srgbClr val="8A5A00"/>
            </a:solidFill>
          </a:ln>
        </p:spPr>
        <p:txBody>
          <a:bodyPr wrap="square" lIns="91440" tIns="201168" rIns="91440" bIns="45720" rtlCol="0" anchor="t"/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</a:t>
            </a:r>
            <a:endParaRPr lang="en-US" sz="8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Uploads the packet</a:t>
            </a:r>
            <a:endParaRPr lang="en-US" sz="85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PDF per request</a:t>
            </a:r>
            <a:endParaRPr lang="en-US" sz="850" dirty="0"/>
          </a:p>
        </p:txBody>
      </p:sp>
      <p:sp>
        <p:nvSpPr>
          <p:cNvPr id="13" name="B0"/>
          <p:cNvSpPr/>
          <p:nvPr/>
        </p:nvSpPr>
        <p:spPr>
          <a:xfrm>
            <a:off x="612648" y="1865376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1F6F5C"/>
          </a:solidFill>
          <a:ln w="12700">
            <a:solidFill>
              <a:srgbClr val="1F6F5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c1"/>
          <p:cNvSpPr txBox="1"/>
          <p:nvPr/>
        </p:nvSpPr>
        <p:spPr>
          <a:xfrm>
            <a:off x="457200" y="594360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provider sends the packet. The intake coordinator uploads it as one PDF.</a:t>
            </a:r>
            <a:endParaRPr lang="en-US" sz="1600" dirty="0"/>
          </a:p>
        </p:txBody>
      </p:sp>
      <p:sp>
        <p:nvSpPr>
          <p:cNvPr id="15" name="S1"/>
          <p:cNvSpPr/>
          <p:nvPr/>
        </p:nvSpPr>
        <p:spPr>
          <a:xfrm>
            <a:off x="2473452" y="4069080"/>
            <a:ext cx="1623060" cy="1234440"/>
          </a:xfrm>
          <a:prstGeom prst="roundRect">
            <a:avLst>
              <a:gd name="adj" fmla="val 7407"/>
            </a:avLst>
          </a:prstGeom>
          <a:solidFill>
            <a:srgbClr val="FBE9E4"/>
          </a:solidFill>
          <a:ln w="15875">
            <a:solidFill>
              <a:srgbClr val="B8452F"/>
            </a:solidFill>
          </a:ln>
        </p:spPr>
        <p:txBody>
          <a:bodyPr wrap="square" lIns="91440" tIns="201168" rIns="91440" bIns="45720" rtlCol="0" anchor="t"/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B8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+ AI</a:t>
            </a:r>
            <a:endParaRPr lang="en-US" sz="8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it</a:t>
            </a:r>
            <a:endParaRPr lang="en-US" sz="85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finds the procedure code</a:t>
            </a:r>
            <a:endParaRPr lang="en-US" sz="850" dirty="0"/>
          </a:p>
        </p:txBody>
      </p:sp>
      <p:sp>
        <p:nvSpPr>
          <p:cNvPr id="16" name="B1"/>
          <p:cNvSpPr/>
          <p:nvPr/>
        </p:nvSpPr>
        <p:spPr>
          <a:xfrm>
            <a:off x="2482596" y="3922776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1F6F5C"/>
          </a:solidFill>
          <a:ln w="12700">
            <a:solidFill>
              <a:srgbClr val="1F6F5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A1a"/>
          <p:cNvSpPr/>
          <p:nvPr/>
        </p:nvSpPr>
        <p:spPr>
          <a:xfrm>
            <a:off x="2244852" y="2628900"/>
            <a:ext cx="105156" cy="0"/>
          </a:xfrm>
          <a:prstGeom prst="line">
            <a:avLst/>
          </a:prstGeom>
          <a:noFill/>
          <a:ln w="22225">
            <a:solidFill>
              <a:srgbClr val="5C6B66"/>
            </a:solidFill>
            <a:prstDash val="solid"/>
          </a:ln>
        </p:spPr>
      </p:sp>
      <p:sp>
        <p:nvSpPr>
          <p:cNvPr id="18" name="A1b"/>
          <p:cNvSpPr/>
          <p:nvPr/>
        </p:nvSpPr>
        <p:spPr>
          <a:xfrm>
            <a:off x="2350008" y="2628900"/>
            <a:ext cx="0" cy="2057400"/>
          </a:xfrm>
          <a:prstGeom prst="line">
            <a:avLst/>
          </a:prstGeom>
          <a:noFill/>
          <a:ln w="22225">
            <a:solidFill>
              <a:srgbClr val="5C6B66"/>
            </a:solidFill>
            <a:prstDash val="solid"/>
          </a:ln>
        </p:spPr>
      </p:sp>
      <p:sp>
        <p:nvSpPr>
          <p:cNvPr id="19" name="A1c"/>
          <p:cNvSpPr/>
          <p:nvPr/>
        </p:nvSpPr>
        <p:spPr>
          <a:xfrm>
            <a:off x="2350008" y="4686300"/>
            <a:ext cx="105156" cy="0"/>
          </a:xfrm>
          <a:prstGeom prst="line">
            <a:avLst/>
          </a:prstGeom>
          <a:noFill/>
          <a:ln w="22225">
            <a:solidFill>
              <a:srgbClr val="5C6B66"/>
            </a:solidFill>
            <a:prstDash val="solid"/>
            <a:tailEnd type="triangle"/>
          </a:ln>
        </p:spPr>
      </p:sp>
      <p:sp>
        <p:nvSpPr>
          <p:cNvPr id="20" name="c2"/>
          <p:cNvSpPr txBox="1"/>
          <p:nvPr/>
        </p:nvSpPr>
        <p:spPr>
          <a:xfrm>
            <a:off x="457200" y="594360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ETL step reads every page, and the procedure code on the request is found.</a:t>
            </a:r>
            <a:endParaRPr lang="en-US" sz="1600" dirty="0"/>
          </a:p>
        </p:txBody>
      </p:sp>
      <p:sp>
        <p:nvSpPr>
          <p:cNvPr id="21" name="S2"/>
          <p:cNvSpPr/>
          <p:nvPr/>
        </p:nvSpPr>
        <p:spPr>
          <a:xfrm>
            <a:off x="4343400" y="4069080"/>
            <a:ext cx="1623060" cy="1234440"/>
          </a:xfrm>
          <a:prstGeom prst="roundRect">
            <a:avLst>
              <a:gd name="adj" fmla="val 7407"/>
            </a:avLst>
          </a:prstGeom>
          <a:solidFill>
            <a:srgbClr val="E3F0EB"/>
          </a:solidFill>
          <a:ln w="15875">
            <a:solidFill>
              <a:srgbClr val="1F6F5C"/>
            </a:solidFill>
          </a:ln>
        </p:spPr>
        <p:txBody>
          <a:bodyPr wrap="square" lIns="91440" tIns="201168" rIns="91440" bIns="45720" rtlCol="0" anchor="t"/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8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what it found</a:t>
            </a:r>
            <a:endParaRPr lang="en-US" sz="85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Member, code, planned date. Or 'No policy yet'</a:t>
            </a:r>
            <a:endParaRPr lang="en-US" sz="850" dirty="0"/>
          </a:p>
        </p:txBody>
      </p:sp>
      <p:sp>
        <p:nvSpPr>
          <p:cNvPr id="22" name="B2"/>
          <p:cNvSpPr/>
          <p:nvPr/>
        </p:nvSpPr>
        <p:spPr>
          <a:xfrm>
            <a:off x="4352544" y="3922776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1F6F5C"/>
          </a:solidFill>
          <a:ln w="12700">
            <a:solidFill>
              <a:srgbClr val="1F6F5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A2a"/>
          <p:cNvSpPr/>
          <p:nvPr/>
        </p:nvSpPr>
        <p:spPr>
          <a:xfrm>
            <a:off x="4114800" y="4686300"/>
            <a:ext cx="210312" cy="0"/>
          </a:xfrm>
          <a:prstGeom prst="line">
            <a:avLst/>
          </a:prstGeom>
          <a:noFill/>
          <a:ln w="22225">
            <a:solidFill>
              <a:srgbClr val="5C6B66"/>
            </a:solidFill>
            <a:prstDash val="solid"/>
            <a:tailEnd type="triangle"/>
          </a:ln>
        </p:spPr>
      </p:sp>
      <p:sp>
        <p:nvSpPr>
          <p:cNvPr id="24" name="c3"/>
          <p:cNvSpPr txBox="1"/>
          <p:nvPr/>
        </p:nvSpPr>
        <p:spPr>
          <a:xfrm>
            <a:off x="457200" y="594360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shows what it found. If no policy covers that code, it says 'No policy yet'.</a:t>
            </a:r>
            <a:endParaRPr lang="en-US" sz="1600" dirty="0"/>
          </a:p>
        </p:txBody>
      </p:sp>
      <p:sp>
        <p:nvSpPr>
          <p:cNvPr id="25" name="S3"/>
          <p:cNvSpPr/>
          <p:nvPr/>
        </p:nvSpPr>
        <p:spPr>
          <a:xfrm>
            <a:off x="6213348" y="2011680"/>
            <a:ext cx="1623060" cy="1234440"/>
          </a:xfrm>
          <a:prstGeom prst="roundRect">
            <a:avLst>
              <a:gd name="adj" fmla="val 7407"/>
            </a:avLst>
          </a:prstGeom>
          <a:solidFill>
            <a:srgbClr val="FCEFD0"/>
          </a:solidFill>
          <a:ln w="15875">
            <a:solidFill>
              <a:srgbClr val="8A5A00"/>
            </a:solidFill>
          </a:ln>
        </p:spPr>
        <p:txBody>
          <a:bodyPr wrap="square" lIns="91440" tIns="201168" rIns="91440" bIns="45720" rtlCol="0" anchor="t"/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</a:t>
            </a:r>
            <a:endParaRPr lang="en-US" sz="8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the packet</a:t>
            </a:r>
            <a:endParaRPr lang="en-US" sz="85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member? Readable? Covered?</a:t>
            </a:r>
            <a:endParaRPr lang="en-US" sz="850" dirty="0"/>
          </a:p>
        </p:txBody>
      </p:sp>
      <p:sp>
        <p:nvSpPr>
          <p:cNvPr id="26" name="B3"/>
          <p:cNvSpPr/>
          <p:nvPr/>
        </p:nvSpPr>
        <p:spPr>
          <a:xfrm>
            <a:off x="6222492" y="1865376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1F6F5C"/>
          </a:solidFill>
          <a:ln w="12700">
            <a:solidFill>
              <a:srgbClr val="1F6F5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A3a"/>
          <p:cNvSpPr/>
          <p:nvPr/>
        </p:nvSpPr>
        <p:spPr>
          <a:xfrm>
            <a:off x="5984748" y="4686300"/>
            <a:ext cx="105156" cy="0"/>
          </a:xfrm>
          <a:prstGeom prst="line">
            <a:avLst/>
          </a:prstGeom>
          <a:noFill/>
          <a:ln w="22225">
            <a:solidFill>
              <a:srgbClr val="5C6B66"/>
            </a:solidFill>
            <a:prstDash val="solid"/>
          </a:ln>
        </p:spPr>
      </p:sp>
      <p:sp>
        <p:nvSpPr>
          <p:cNvPr id="28" name="A3b"/>
          <p:cNvSpPr/>
          <p:nvPr/>
        </p:nvSpPr>
        <p:spPr>
          <a:xfrm>
            <a:off x="6089904" y="2628900"/>
            <a:ext cx="0" cy="2057400"/>
          </a:xfrm>
          <a:prstGeom prst="line">
            <a:avLst/>
          </a:prstGeom>
          <a:noFill/>
          <a:ln w="22225">
            <a:solidFill>
              <a:srgbClr val="5C6B66"/>
            </a:solidFill>
            <a:prstDash val="solid"/>
          </a:ln>
        </p:spPr>
      </p:sp>
      <p:sp>
        <p:nvSpPr>
          <p:cNvPr id="29" name="A3c"/>
          <p:cNvSpPr/>
          <p:nvPr/>
        </p:nvSpPr>
        <p:spPr>
          <a:xfrm>
            <a:off x="6089904" y="2628900"/>
            <a:ext cx="105156" cy="0"/>
          </a:xfrm>
          <a:prstGeom prst="line">
            <a:avLst/>
          </a:prstGeom>
          <a:noFill/>
          <a:ln w="22225">
            <a:solidFill>
              <a:srgbClr val="5C6B66"/>
            </a:solidFill>
            <a:prstDash val="solid"/>
            <a:tailEnd type="triangle"/>
          </a:ln>
        </p:spPr>
      </p:sp>
      <p:sp>
        <p:nvSpPr>
          <p:cNvPr id="30" name="c4"/>
          <p:cNvSpPr txBox="1"/>
          <p:nvPr/>
        </p:nvSpPr>
        <p:spPr>
          <a:xfrm>
            <a:off x="457200" y="594360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intake coordinator checks the packet. This is a paperwork check, not a clinical one.</a:t>
            </a:r>
            <a:endParaRPr lang="en-US" sz="1600" dirty="0"/>
          </a:p>
        </p:txBody>
      </p:sp>
      <p:sp>
        <p:nvSpPr>
          <p:cNvPr id="31" name="S4"/>
          <p:cNvSpPr/>
          <p:nvPr/>
        </p:nvSpPr>
        <p:spPr>
          <a:xfrm>
            <a:off x="8083296" y="2011680"/>
            <a:ext cx="1623060" cy="1234440"/>
          </a:xfrm>
          <a:prstGeom prst="roundRect">
            <a:avLst>
              <a:gd name="adj" fmla="val 7407"/>
            </a:avLst>
          </a:prstGeom>
          <a:solidFill>
            <a:srgbClr val="FCEFD0"/>
          </a:solidFill>
          <a:ln w="15875">
            <a:solidFill>
              <a:srgbClr val="8A5A00"/>
            </a:solidFill>
          </a:ln>
        </p:spPr>
        <p:txBody>
          <a:bodyPr wrap="square" lIns="91440" tIns="201168" rIns="91440" bIns="45720" rtlCol="0" anchor="t"/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</a:t>
            </a:r>
            <a:endParaRPr lang="en-US" sz="8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the team view</a:t>
            </a:r>
            <a:endParaRPr lang="en-US" sz="85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nurse's cases and deadlines</a:t>
            </a:r>
            <a:endParaRPr lang="en-US" sz="850" dirty="0"/>
          </a:p>
        </p:txBody>
      </p:sp>
      <p:sp>
        <p:nvSpPr>
          <p:cNvPr id="32" name="B4"/>
          <p:cNvSpPr/>
          <p:nvPr/>
        </p:nvSpPr>
        <p:spPr>
          <a:xfrm>
            <a:off x="8092440" y="1865376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1F6F5C"/>
          </a:solidFill>
          <a:ln w="12700">
            <a:solidFill>
              <a:srgbClr val="1F6F5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A4a"/>
          <p:cNvSpPr/>
          <p:nvPr/>
        </p:nvSpPr>
        <p:spPr>
          <a:xfrm>
            <a:off x="7854696" y="2628900"/>
            <a:ext cx="210312" cy="0"/>
          </a:xfrm>
          <a:prstGeom prst="line">
            <a:avLst/>
          </a:prstGeom>
          <a:noFill/>
          <a:ln w="22225">
            <a:solidFill>
              <a:srgbClr val="5C6B66"/>
            </a:solidFill>
            <a:prstDash val="solid"/>
            <a:tailEnd type="triangle"/>
          </a:ln>
        </p:spPr>
      </p:sp>
      <p:sp>
        <p:nvSpPr>
          <p:cNvPr id="34" name="c5"/>
          <p:cNvSpPr txBox="1"/>
          <p:nvPr/>
        </p:nvSpPr>
        <p:spPr>
          <a:xfrm>
            <a:off x="457200" y="594360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see each nurse's schedule: open cases, which are at risk, and which are close to the deadline.</a:t>
            </a:r>
            <a:endParaRPr lang="en-US" sz="1600" dirty="0"/>
          </a:p>
        </p:txBody>
      </p:sp>
      <p:sp>
        <p:nvSpPr>
          <p:cNvPr id="35" name="S5"/>
          <p:cNvSpPr/>
          <p:nvPr/>
        </p:nvSpPr>
        <p:spPr>
          <a:xfrm>
            <a:off x="9953244" y="2011680"/>
            <a:ext cx="1623060" cy="1234440"/>
          </a:xfrm>
          <a:prstGeom prst="roundRect">
            <a:avLst>
              <a:gd name="adj" fmla="val 7407"/>
            </a:avLst>
          </a:prstGeom>
          <a:solidFill>
            <a:srgbClr val="FCEFD0"/>
          </a:solidFill>
          <a:ln w="15875">
            <a:solidFill>
              <a:srgbClr val="8A5A00"/>
            </a:solidFill>
          </a:ln>
        </p:spPr>
        <p:txBody>
          <a:bodyPr wrap="square" lIns="91440" tIns="201168" rIns="91440" bIns="45720" rtlCol="0" anchor="t"/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</a:t>
            </a:r>
            <a:endParaRPr lang="en-US" sz="8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 a nurse</a:t>
            </a:r>
            <a:endParaRPr lang="en-US" sz="85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nurse is told. The clock runs.</a:t>
            </a:r>
            <a:endParaRPr lang="en-US" sz="850" dirty="0"/>
          </a:p>
        </p:txBody>
      </p:sp>
      <p:sp>
        <p:nvSpPr>
          <p:cNvPr id="36" name="B5"/>
          <p:cNvSpPr/>
          <p:nvPr/>
        </p:nvSpPr>
        <p:spPr>
          <a:xfrm>
            <a:off x="9962388" y="1865376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1F6F5C"/>
          </a:solidFill>
          <a:ln w="12700">
            <a:solidFill>
              <a:srgbClr val="1F6F5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7" name="A5a"/>
          <p:cNvSpPr/>
          <p:nvPr/>
        </p:nvSpPr>
        <p:spPr>
          <a:xfrm>
            <a:off x="9724644" y="2628900"/>
            <a:ext cx="210312" cy="0"/>
          </a:xfrm>
          <a:prstGeom prst="line">
            <a:avLst/>
          </a:prstGeom>
          <a:noFill/>
          <a:ln w="22225">
            <a:solidFill>
              <a:srgbClr val="5C6B66"/>
            </a:solidFill>
            <a:prstDash val="solid"/>
            <a:tailEnd type="triangle"/>
          </a:ln>
        </p:spPr>
      </p:sp>
      <p:sp>
        <p:nvSpPr>
          <p:cNvPr id="38" name="c6"/>
          <p:cNvSpPr txBox="1"/>
          <p:nvPr/>
        </p:nvSpPr>
        <p:spPr>
          <a:xfrm>
            <a:off x="457200" y="594360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assign the packet to a nurse. The nurse is notified, and the CMS clock is tracked.</a:t>
            </a:r>
            <a:endParaRPr lang="en-US" sz="1600" dirty="0"/>
          </a:p>
        </p:txBody>
      </p:sp>
      <p:sp>
        <p:nvSpPr>
          <p:cNvPr id="39" name="c7"/>
          <p:cNvSpPr txBox="1"/>
          <p:nvPr/>
        </p:nvSpPr>
        <p:spPr>
          <a:xfrm>
            <a:off x="457200" y="594360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owns who reviews it. They never judge the clinical content.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2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4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2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/>
      <p:bldP spid="15" grpId="0" animBg="1"/>
      <p:bldP spid="16" grpId="0" animBg="1"/>
      <p:bldP spid="20" grpId="0"/>
      <p:bldP spid="21" grpId="0" animBg="1"/>
      <p:bldP spid="22" grpId="0" animBg="1"/>
      <p:bldP spid="24" grpId="0"/>
      <p:bldP spid="25" grpId="0" animBg="1"/>
      <p:bldP spid="26" grpId="0" animBg="1"/>
      <p:bldP spid="30" grpId="0"/>
      <p:bldP spid="31" grpId="0" animBg="1"/>
      <p:bldP spid="32" grpId="0" animBg="1"/>
      <p:bldP spid="34" grpId="0"/>
      <p:bldP spid="35" grpId="0" animBg="1"/>
      <p:bldP spid="36" grpId="0" animBg="1"/>
      <p:bldP spid="38" grpId="0"/>
      <p:bldP spid="39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intake coordinator</dc:title>
  <dc:subject>PptxGenJS Presentation</dc:subject>
  <dc:creator>Nisha Mishra</dc:creator>
  <cp:lastModifiedBy>Nisha Mishra</cp:lastModifiedBy>
  <cp:revision>1</cp:revision>
  <dcterms:created xsi:type="dcterms:W3CDTF">2026-10-05T19:03:46Z</dcterms:created>
  <dcterms:modified xsi:type="dcterms:W3CDTF">2026-10-05T19:03:46Z</dcterms:modified>
</cp:coreProperties>
</file>