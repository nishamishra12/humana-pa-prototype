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know this is working? One number to win: the right-first-time rate. Out of every 100 requests, how many get the right answer the first time, with no back and forth.
Then one leading number and one lagging number for each person this touches. Leading numbers move in weeks. Lagging numbers take quarters.
For the member, the leading number is days to a decision. How fast can we get them an answer? Over time, it is fewer members leaving the plan. That is member satisfaction, showing up in who stays.
For the provider, it is fewer avoidable pends. And when we do pend, we ask the right question, once. Over time, getting it right the first time means fewer appeals and fewer complaints. That builds trust, and a better relationship with the provider.
For the nurse and the medical director, this is human hours, so they will feel it first. For the nurse, it is minutes per case. For the director, it is avoidable escalations: cases that only needed a missing fact, so they never should have reached a physician. Over time, it is a lower cost per decision across the whole utilization management team.
For Humana, the leading number is member complaints to Medicare. Members can file those any time, so we see them within weeks. And complaints are one of the Star measures. Over time, it is the Star rating itself, and that is the bonus we talked about.
And the guardrails, so we do not cheat. Never slower than the CMS clock. Zero wrong approvals. And the AI never denies.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73152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METRICS AND LEADING INDICATORS</a:t>
            </a:r>
            <a:endParaRPr lang="en-US" sz="1100" dirty="0"/>
          </a:p>
        </p:txBody>
      </p:sp>
      <p:sp>
        <p:nvSpPr>
          <p:cNvPr id="3" name="title"/>
          <p:cNvSpPr txBox="1"/>
          <p:nvPr/>
        </p:nvSpPr>
        <p:spPr>
          <a:xfrm>
            <a:off x="457200" y="502920"/>
            <a:ext cx="1124712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How we know it is working, for everyone it touches.</a:t>
            </a:r>
            <a:endParaRPr lang="en-US" sz="2600" dirty="0"/>
          </a:p>
        </p:txBody>
      </p:sp>
      <p:sp>
        <p:nvSpPr>
          <p:cNvPr id="4" name="nsBox"/>
          <p:cNvSpPr/>
          <p:nvPr/>
        </p:nvSpPr>
        <p:spPr>
          <a:xfrm>
            <a:off x="457200" y="1298448"/>
            <a:ext cx="11274552" cy="868680"/>
          </a:xfrm>
          <a:prstGeom prst="roundRect">
            <a:avLst>
              <a:gd name="adj" fmla="val 10526"/>
            </a:avLst>
          </a:prstGeom>
          <a:solidFill>
            <a:srgbClr val="FFFFFF"/>
          </a:solidFill>
          <a:ln w="19050">
            <a:solidFill>
              <a:srgbClr val="1F6F5C"/>
            </a:solidFill>
          </a:ln>
        </p:spPr>
        <p:txBody>
          <a:bodyPr wrap="square" lIns="109728" tIns="54864" rIns="109728" bIns="54864" rtlCol="0" anchor="ctr"/>
          <a:lstStyle/>
          <a:p>
            <a:pPr algn="l" indent="0" marL="0">
              <a:buNone/>
            </a:pPr>
            <a:r>
              <a:rPr lang="en-US" sz="800" dirty="0">
                <a:solidFill>
                  <a:srgbClr val="16211E"/>
                </a:solidFill>
                <a:latin typeface="Calibri" pitchFamily="34" charset="0"/>
                <a:ea typeface="Calibri" pitchFamily="34" charset="-122"/>
                <a:cs typeface="Calibri" pitchFamily="34" charset="-120"/>
              </a:rPr>
              <a:t> </a:t>
            </a:r>
            <a:endParaRPr lang="en-US" sz="800" dirty="0"/>
          </a:p>
        </p:txBody>
      </p:sp>
      <p:sp>
        <p:nvSpPr>
          <p:cNvPr id="5" name="nsLeft"/>
          <p:cNvSpPr txBox="1"/>
          <p:nvPr/>
        </p:nvSpPr>
        <p:spPr>
          <a:xfrm>
            <a:off x="731520" y="1344168"/>
            <a:ext cx="3566160" cy="777240"/>
          </a:xfrm>
          <a:prstGeom prst="rect">
            <a:avLst/>
          </a:prstGeom>
          <a:noFill/>
          <a:ln/>
        </p:spPr>
        <p:txBody>
          <a:bodyPr wrap="square" lIns="0" tIns="0" rIns="0" bIns="0" rtlCol="0" anchor="ctr"/>
          <a:lstStyle/>
          <a:p>
            <a:pPr algn="l" indent="0" marL="0">
              <a:buNone/>
            </a:pPr>
            <a:r>
              <a:rPr lang="en-US" sz="1050" b="1" spc="200" kern="0" dirty="0">
                <a:solidFill>
                  <a:srgbClr val="1F6F5C"/>
                </a:solidFill>
                <a:latin typeface="Calibri" pitchFamily="34" charset="0"/>
                <a:ea typeface="Calibri" pitchFamily="34" charset="-122"/>
                <a:cs typeface="Calibri" pitchFamily="34" charset="-120"/>
              </a:rPr>
              <a:t>NORTH STAR</a:t>
            </a:r>
            <a:endParaRPr lang="en-US" sz="1050" dirty="0"/>
          </a:p>
          <a:p>
            <a:pPr algn="l" indent="0" marL="0">
              <a:buNone/>
            </a:pPr>
            <a:r>
              <a:rPr lang="en-US" sz="2200" dirty="0">
                <a:solidFill>
                  <a:srgbClr val="1F6F5C"/>
                </a:solidFill>
                <a:latin typeface="Cambria" pitchFamily="34" charset="0"/>
                <a:ea typeface="Cambria" pitchFamily="34" charset="-122"/>
                <a:cs typeface="Cambria" pitchFamily="34" charset="-120"/>
              </a:rPr>
              <a:t>Right-first-time rate</a:t>
            </a:r>
            <a:endParaRPr lang="en-US" sz="1050" dirty="0"/>
          </a:p>
        </p:txBody>
      </p:sp>
      <p:sp>
        <p:nvSpPr>
          <p:cNvPr id="6" name="nsRight"/>
          <p:cNvSpPr txBox="1"/>
          <p:nvPr/>
        </p:nvSpPr>
        <p:spPr>
          <a:xfrm>
            <a:off x="4434840" y="1344168"/>
            <a:ext cx="7086600" cy="777240"/>
          </a:xfrm>
          <a:prstGeom prst="rect">
            <a:avLst/>
          </a:prstGeom>
          <a:noFill/>
          <a:ln/>
        </p:spPr>
        <p:txBody>
          <a:bodyPr wrap="square" lIns="0" tIns="0" rIns="0" bIns="0" rtlCol="0" anchor="ctr"/>
          <a:lstStyle/>
          <a:p>
            <a:pPr algn="l" indent="0" marL="0">
              <a:buNone/>
            </a:pPr>
            <a:r>
              <a:rPr lang="en-US" sz="1300" b="1" dirty="0">
                <a:solidFill>
                  <a:srgbClr val="16211E"/>
                </a:solidFill>
                <a:latin typeface="Calibri" pitchFamily="34" charset="0"/>
                <a:ea typeface="Calibri" pitchFamily="34" charset="-122"/>
                <a:cs typeface="Calibri" pitchFamily="34" charset="-120"/>
              </a:rPr>
              <a:t>Of every 100 requests, how many get the right answer the first time, with no back and forth.</a:t>
            </a:r>
            <a:endParaRPr lang="en-US" sz="1300" dirty="0"/>
          </a:p>
          <a:p>
            <a:pPr algn="l" indent="0" marL="0">
              <a:buNone/>
            </a:pPr>
            <a:r>
              <a:rPr lang="en-US" sz="1050" dirty="0">
                <a:solidFill>
                  <a:srgbClr val="5C6B66"/>
                </a:solidFill>
                <a:latin typeface="Calibri" pitchFamily="34" charset="0"/>
                <a:ea typeface="Calibri" pitchFamily="34" charset="-122"/>
                <a:cs typeface="Calibri" pitchFamily="34" charset="-120"/>
              </a:rPr>
              <a:t>Rework: asking for something already sent, a director sending it back, or a denial overturned when the packet had the answer.</a:t>
            </a:r>
            <a:endParaRPr lang="en-US" sz="1300" dirty="0"/>
          </a:p>
        </p:txBody>
      </p:sp>
      <p:sp>
        <p:nvSpPr>
          <p:cNvPr id="7" name="col0"/>
          <p:cNvSpPr/>
          <p:nvPr/>
        </p:nvSpPr>
        <p:spPr>
          <a:xfrm>
            <a:off x="457200" y="2331720"/>
            <a:ext cx="2679192" cy="3017520"/>
          </a:xfrm>
          <a:prstGeom prst="roundRect">
            <a:avLst>
              <a:gd name="adj" fmla="val 3413"/>
            </a:avLst>
          </a:prstGeom>
          <a:solidFill>
            <a:srgbClr val="EBE2F8"/>
          </a:solidFill>
          <a:ln w="15875">
            <a:solidFill>
              <a:srgbClr val="5F3AA8"/>
            </a:solidFill>
          </a:ln>
        </p:spPr>
        <p:txBody>
          <a:bodyPr wrap="square" lIns="109728" tIns="54864" rIns="109728" bIns="54864" rtlCol="0" anchor="ctr"/>
          <a:lstStyle/>
          <a:p>
            <a:pPr algn="l" indent="0" marL="0">
              <a:buNone/>
            </a:pPr>
            <a:r>
              <a:rPr lang="en-US" sz="800" dirty="0">
                <a:solidFill>
                  <a:srgbClr val="16211E"/>
                </a:solidFill>
                <a:latin typeface="Calibri" pitchFamily="34" charset="0"/>
                <a:ea typeface="Calibri" pitchFamily="34" charset="-122"/>
                <a:cs typeface="Calibri" pitchFamily="34" charset="-120"/>
              </a:rPr>
              <a:t> </a:t>
            </a:r>
            <a:endParaRPr lang="en-US" sz="800" dirty="0"/>
          </a:p>
        </p:txBody>
      </p:sp>
      <p:pic>
        <p:nvPicPr>
          <p:cNvPr id="8" name="ic0" descr="preencoded.png">    </p:cNvPr>
          <p:cNvPicPr>
            <a:picLocks noChangeAspect="1"/>
          </p:cNvPicPr>
          <p:nvPr/>
        </p:nvPicPr>
        <p:blipFill>
          <a:blip r:embed="rId1"/>
          <a:stretch>
            <a:fillRect/>
          </a:stretch>
        </p:blipFill>
        <p:spPr>
          <a:xfrm>
            <a:off x="621792" y="2478024"/>
            <a:ext cx="512064" cy="512064"/>
          </a:xfrm>
          <a:prstGeom prst="rect">
            <a:avLst/>
          </a:prstGeom>
        </p:spPr>
      </p:pic>
      <p:sp>
        <p:nvSpPr>
          <p:cNvPr id="9" name="hd0"/>
          <p:cNvSpPr txBox="1"/>
          <p:nvPr/>
        </p:nvSpPr>
        <p:spPr>
          <a:xfrm>
            <a:off x="1243584" y="2478024"/>
            <a:ext cx="1783080" cy="512064"/>
          </a:xfrm>
          <a:prstGeom prst="rect">
            <a:avLst/>
          </a:prstGeom>
          <a:noFill/>
          <a:ln/>
        </p:spPr>
        <p:txBody>
          <a:bodyPr wrap="square" lIns="0" tIns="0" rIns="0" bIns="0" rtlCol="0" anchor="ctr"/>
          <a:lstStyle/>
          <a:p>
            <a:pPr algn="l" indent="0" marL="0">
              <a:buNone/>
            </a:pPr>
            <a:r>
              <a:rPr lang="en-US" sz="1400" b="1" dirty="0">
                <a:solidFill>
                  <a:srgbClr val="5F3AA8"/>
                </a:solidFill>
                <a:latin typeface="Calibri" pitchFamily="34" charset="0"/>
                <a:ea typeface="Calibri" pitchFamily="34" charset="-122"/>
                <a:cs typeface="Calibri" pitchFamily="34" charset="-120"/>
              </a:rPr>
              <a:t>Member</a:t>
            </a:r>
            <a:endParaRPr lang="en-US" sz="1400" dirty="0"/>
          </a:p>
        </p:txBody>
      </p:sp>
      <p:sp>
        <p:nvSpPr>
          <p:cNvPr id="10" name="bd0"/>
          <p:cNvSpPr txBox="1"/>
          <p:nvPr/>
        </p:nvSpPr>
        <p:spPr>
          <a:xfrm>
            <a:off x="640080" y="3108960"/>
            <a:ext cx="2313432" cy="2148840"/>
          </a:xfrm>
          <a:prstGeom prst="rect">
            <a:avLst/>
          </a:prstGeom>
          <a:noFill/>
          <a:ln/>
        </p:spPr>
        <p:txBody>
          <a:bodyPr wrap="square" lIns="0" tIns="0" rIns="0" bIns="0" rtlCol="0" anchor="t"/>
          <a:lstStyle/>
          <a:p>
            <a:pPr algn="l" indent="0" marL="0">
              <a:buNone/>
            </a:pPr>
            <a:r>
              <a:rPr lang="en-US" sz="1150" i="1" dirty="0">
                <a:solidFill>
                  <a:srgbClr val="16211E"/>
                </a:solidFill>
                <a:latin typeface="Calibri" pitchFamily="34" charset="0"/>
                <a:ea typeface="Calibri" pitchFamily="34" charset="-122"/>
                <a:cs typeface="Calibri" pitchFamily="34" charset="-120"/>
              </a:rPr>
              <a:t>Care on time. Not stuck while faxes go back and forth.</a:t>
            </a:r>
            <a:endParaRPr lang="en-US" sz="1150" dirty="0"/>
          </a:p>
          <a:p>
            <a:pPr algn="l" indent="0" marL="0">
              <a:buNone/>
            </a:pPr>
            <a:r>
              <a:rPr lang="en-US" sz="700" dirty="0">
                <a:solidFill>
                  <a:srgbClr val="16211E"/>
                </a:solidFill>
                <a:latin typeface="Calibri" pitchFamily="34" charset="0"/>
                <a:ea typeface="Calibri" pitchFamily="34" charset="-122"/>
                <a:cs typeface="Calibri" pitchFamily="34" charset="-120"/>
              </a:rPr>
              <a:t> </a:t>
            </a:r>
            <a:endParaRPr lang="en-US" sz="1150" dirty="0"/>
          </a:p>
          <a:p>
            <a:pPr algn="l" indent="0" marL="0">
              <a:buNone/>
            </a:pPr>
            <a:r>
              <a:rPr lang="en-US" sz="900" b="1" spc="200" kern="0" dirty="0">
                <a:solidFill>
                  <a:srgbClr val="5F3AA8"/>
                </a:solidFill>
                <a:latin typeface="Calibri" pitchFamily="34" charset="0"/>
                <a:ea typeface="Calibri" pitchFamily="34" charset="-122"/>
                <a:cs typeface="Calibri" pitchFamily="34" charset="-120"/>
              </a:rPr>
              <a:t>LEADING  ·  WEEKS</a:t>
            </a:r>
            <a:endParaRPr lang="en-US" sz="1150" dirty="0"/>
          </a:p>
          <a:p>
            <a:pPr algn="l" indent="0" marL="0">
              <a:buNone/>
            </a:pPr>
            <a:r>
              <a:rPr lang="en-US" sz="1250" b="1" dirty="0">
                <a:solidFill>
                  <a:srgbClr val="16211E"/>
                </a:solidFill>
                <a:latin typeface="Calibri" pitchFamily="34" charset="0"/>
                <a:ea typeface="Calibri" pitchFamily="34" charset="-122"/>
                <a:cs typeface="Calibri" pitchFamily="34" charset="-120"/>
              </a:rPr>
              <a:t>Days to a decision</a:t>
            </a:r>
            <a:endParaRPr lang="en-US" sz="1150" dirty="0"/>
          </a:p>
          <a:p>
            <a:pPr algn="l" indent="0" marL="0">
              <a:buNone/>
            </a:pPr>
            <a:r>
              <a:rPr lang="en-US" sz="1050" dirty="0">
                <a:solidFill>
                  <a:srgbClr val="5C6B66"/>
                </a:solidFill>
                <a:latin typeface="Calibri" pitchFamily="34" charset="0"/>
                <a:ea typeface="Calibri" pitchFamily="34" charset="-122"/>
                <a:cs typeface="Calibri" pitchFamily="34" charset="-120"/>
              </a:rPr>
              <a:t>Fax in to answer out. Lower is better.</a:t>
            </a:r>
            <a:endParaRPr lang="en-US" sz="1150" dirty="0"/>
          </a:p>
          <a:p>
            <a:pPr algn="l" indent="0" marL="0">
              <a:buNone/>
            </a:pPr>
            <a:r>
              <a:rPr lang="en-US" sz="700" dirty="0">
                <a:solidFill>
                  <a:srgbClr val="16211E"/>
                </a:solidFill>
                <a:latin typeface="Calibri" pitchFamily="34" charset="0"/>
                <a:ea typeface="Calibri" pitchFamily="34" charset="-122"/>
                <a:cs typeface="Calibri" pitchFamily="34" charset="-120"/>
              </a:rPr>
              <a:t> </a:t>
            </a:r>
            <a:endParaRPr lang="en-US" sz="1150" dirty="0"/>
          </a:p>
          <a:p>
            <a:pPr algn="l" indent="0" marL="0">
              <a:buNone/>
            </a:pPr>
            <a:r>
              <a:rPr lang="en-US" sz="900" b="1" spc="200" kern="0" dirty="0">
                <a:solidFill>
                  <a:srgbClr val="5F3AA8"/>
                </a:solidFill>
                <a:latin typeface="Calibri" pitchFamily="34" charset="0"/>
                <a:ea typeface="Calibri" pitchFamily="34" charset="-122"/>
                <a:cs typeface="Calibri" pitchFamily="34" charset="-120"/>
              </a:rPr>
              <a:t>LAGGING  ·  QUARTERS</a:t>
            </a:r>
            <a:endParaRPr lang="en-US" sz="1150" dirty="0"/>
          </a:p>
          <a:p>
            <a:pPr algn="l" indent="0" marL="0">
              <a:buNone/>
            </a:pPr>
            <a:r>
              <a:rPr lang="en-US" sz="1250" b="1" dirty="0">
                <a:solidFill>
                  <a:srgbClr val="16211E"/>
                </a:solidFill>
                <a:latin typeface="Calibri" pitchFamily="34" charset="0"/>
                <a:ea typeface="Calibri" pitchFamily="34" charset="-122"/>
                <a:cs typeface="Calibri" pitchFamily="34" charset="-120"/>
              </a:rPr>
              <a:t>Members leaving the plan</a:t>
            </a:r>
            <a:endParaRPr lang="en-US" sz="1150" dirty="0"/>
          </a:p>
          <a:p>
            <a:pPr algn="l" indent="0" marL="0">
              <a:buNone/>
            </a:pPr>
            <a:r>
              <a:rPr lang="en-US" sz="1050" dirty="0">
                <a:solidFill>
                  <a:srgbClr val="5C6B66"/>
                </a:solidFill>
                <a:latin typeface="Calibri" pitchFamily="34" charset="0"/>
                <a:ea typeface="Calibri" pitchFamily="34" charset="-122"/>
                <a:cs typeface="Calibri" pitchFamily="34" charset="-120"/>
              </a:rPr>
              <a:t>Members with a request, against those without.</a:t>
            </a:r>
            <a:endParaRPr lang="en-US" sz="1150" dirty="0"/>
          </a:p>
        </p:txBody>
      </p:sp>
      <p:sp>
        <p:nvSpPr>
          <p:cNvPr id="11" name="col1"/>
          <p:cNvSpPr/>
          <p:nvPr/>
        </p:nvSpPr>
        <p:spPr>
          <a:xfrm>
            <a:off x="3319272" y="2331720"/>
            <a:ext cx="2679192" cy="3017520"/>
          </a:xfrm>
          <a:prstGeom prst="roundRect">
            <a:avLst>
              <a:gd name="adj" fmla="val 3413"/>
            </a:avLst>
          </a:prstGeom>
          <a:solidFill>
            <a:srgbClr val="E2EEF4"/>
          </a:solidFill>
          <a:ln w="15875">
            <a:solidFill>
              <a:srgbClr val="2E6B8A"/>
            </a:solidFill>
          </a:ln>
        </p:spPr>
        <p:txBody>
          <a:bodyPr wrap="square" lIns="109728" tIns="54864" rIns="109728" bIns="54864" rtlCol="0" anchor="ctr"/>
          <a:lstStyle/>
          <a:p>
            <a:pPr algn="l" indent="0" marL="0">
              <a:buNone/>
            </a:pPr>
            <a:r>
              <a:rPr lang="en-US" sz="800" dirty="0">
                <a:solidFill>
                  <a:srgbClr val="16211E"/>
                </a:solidFill>
                <a:latin typeface="Calibri" pitchFamily="34" charset="0"/>
                <a:ea typeface="Calibri" pitchFamily="34" charset="-122"/>
                <a:cs typeface="Calibri" pitchFamily="34" charset="-120"/>
              </a:rPr>
              <a:t> </a:t>
            </a:r>
            <a:endParaRPr lang="en-US" sz="800" dirty="0"/>
          </a:p>
        </p:txBody>
      </p:sp>
      <p:pic>
        <p:nvPicPr>
          <p:cNvPr id="12" name="ic1" descr="preencoded.png">    </p:cNvPr>
          <p:cNvPicPr>
            <a:picLocks noChangeAspect="1"/>
          </p:cNvPicPr>
          <p:nvPr/>
        </p:nvPicPr>
        <p:blipFill>
          <a:blip r:embed="rId2"/>
          <a:stretch>
            <a:fillRect/>
          </a:stretch>
        </p:blipFill>
        <p:spPr>
          <a:xfrm>
            <a:off x="3483864" y="2478024"/>
            <a:ext cx="512064" cy="512064"/>
          </a:xfrm>
          <a:prstGeom prst="rect">
            <a:avLst/>
          </a:prstGeom>
        </p:spPr>
      </p:pic>
      <p:sp>
        <p:nvSpPr>
          <p:cNvPr id="13" name="hd1"/>
          <p:cNvSpPr txBox="1"/>
          <p:nvPr/>
        </p:nvSpPr>
        <p:spPr>
          <a:xfrm>
            <a:off x="4105656" y="2478024"/>
            <a:ext cx="1783080" cy="512064"/>
          </a:xfrm>
          <a:prstGeom prst="rect">
            <a:avLst/>
          </a:prstGeom>
          <a:noFill/>
          <a:ln/>
        </p:spPr>
        <p:txBody>
          <a:bodyPr wrap="square" lIns="0" tIns="0" rIns="0" bIns="0" rtlCol="0" anchor="ctr"/>
          <a:lstStyle/>
          <a:p>
            <a:pPr algn="l" indent="0" marL="0">
              <a:buNone/>
            </a:pPr>
            <a:r>
              <a:rPr lang="en-US" sz="1400" b="1" dirty="0">
                <a:solidFill>
                  <a:srgbClr val="2E6B8A"/>
                </a:solidFill>
                <a:latin typeface="Calibri" pitchFamily="34" charset="0"/>
                <a:ea typeface="Calibri" pitchFamily="34" charset="-122"/>
                <a:cs typeface="Calibri" pitchFamily="34" charset="-120"/>
              </a:rPr>
              <a:t>Provider</a:t>
            </a:r>
            <a:endParaRPr lang="en-US" sz="1400" dirty="0"/>
          </a:p>
        </p:txBody>
      </p:sp>
      <p:sp>
        <p:nvSpPr>
          <p:cNvPr id="14" name="bd1"/>
          <p:cNvSpPr txBox="1"/>
          <p:nvPr/>
        </p:nvSpPr>
        <p:spPr>
          <a:xfrm>
            <a:off x="3502152" y="3108960"/>
            <a:ext cx="2313432" cy="2148840"/>
          </a:xfrm>
          <a:prstGeom prst="rect">
            <a:avLst/>
          </a:prstGeom>
          <a:noFill/>
          <a:ln/>
        </p:spPr>
        <p:txBody>
          <a:bodyPr wrap="square" lIns="0" tIns="0" rIns="0" bIns="0" rtlCol="0" anchor="t"/>
          <a:lstStyle/>
          <a:p>
            <a:pPr algn="l" indent="0" marL="0">
              <a:buNone/>
            </a:pPr>
            <a:r>
              <a:rPr lang="en-US" sz="1150" i="1" dirty="0">
                <a:solidFill>
                  <a:srgbClr val="16211E"/>
                </a:solidFill>
                <a:latin typeface="Calibri" pitchFamily="34" charset="0"/>
                <a:ea typeface="Calibri" pitchFamily="34" charset="-122"/>
                <a:cs typeface="Calibri" pitchFamily="34" charset="-120"/>
              </a:rPr>
              <a:t>One clear question. Not “send everything again.”</a:t>
            </a:r>
            <a:endParaRPr lang="en-US" sz="1150" dirty="0"/>
          </a:p>
          <a:p>
            <a:pPr algn="l" indent="0" marL="0">
              <a:buNone/>
            </a:pPr>
            <a:r>
              <a:rPr lang="en-US" sz="700" dirty="0">
                <a:solidFill>
                  <a:srgbClr val="16211E"/>
                </a:solidFill>
                <a:latin typeface="Calibri" pitchFamily="34" charset="0"/>
                <a:ea typeface="Calibri" pitchFamily="34" charset="-122"/>
                <a:cs typeface="Calibri" pitchFamily="34" charset="-120"/>
              </a:rPr>
              <a:t> </a:t>
            </a:r>
            <a:endParaRPr lang="en-US" sz="1150" dirty="0"/>
          </a:p>
          <a:p>
            <a:pPr algn="l" indent="0" marL="0">
              <a:buNone/>
            </a:pPr>
            <a:r>
              <a:rPr lang="en-US" sz="900" b="1" spc="200" kern="0" dirty="0">
                <a:solidFill>
                  <a:srgbClr val="2E6B8A"/>
                </a:solidFill>
                <a:latin typeface="Calibri" pitchFamily="34" charset="0"/>
                <a:ea typeface="Calibri" pitchFamily="34" charset="-122"/>
                <a:cs typeface="Calibri" pitchFamily="34" charset="-120"/>
              </a:rPr>
              <a:t>LEADING  ·  WEEKS</a:t>
            </a:r>
            <a:endParaRPr lang="en-US" sz="1150" dirty="0"/>
          </a:p>
          <a:p>
            <a:pPr algn="l" indent="0" marL="0">
              <a:buNone/>
            </a:pPr>
            <a:r>
              <a:rPr lang="en-US" sz="1250" b="1" dirty="0">
                <a:solidFill>
                  <a:srgbClr val="16211E"/>
                </a:solidFill>
                <a:latin typeface="Calibri" pitchFamily="34" charset="0"/>
                <a:ea typeface="Calibri" pitchFamily="34" charset="-122"/>
                <a:cs typeface="Calibri" pitchFamily="34" charset="-120"/>
              </a:rPr>
              <a:t>Avoidable pends</a:t>
            </a:r>
            <a:endParaRPr lang="en-US" sz="1150" dirty="0"/>
          </a:p>
          <a:p>
            <a:pPr algn="l" indent="0" marL="0">
              <a:buNone/>
            </a:pPr>
            <a:r>
              <a:rPr lang="en-US" sz="1050" dirty="0">
                <a:solidFill>
                  <a:srgbClr val="5C6B66"/>
                </a:solidFill>
                <a:latin typeface="Calibri" pitchFamily="34" charset="0"/>
                <a:ea typeface="Calibri" pitchFamily="34" charset="-122"/>
                <a:cs typeface="Calibri" pitchFamily="34" charset="-120"/>
              </a:rPr>
              <a:t>We asked for something already sent. Lower is better.</a:t>
            </a:r>
            <a:endParaRPr lang="en-US" sz="1150" dirty="0"/>
          </a:p>
          <a:p>
            <a:pPr algn="l" indent="0" marL="0">
              <a:buNone/>
            </a:pPr>
            <a:r>
              <a:rPr lang="en-US" sz="700" dirty="0">
                <a:solidFill>
                  <a:srgbClr val="16211E"/>
                </a:solidFill>
                <a:latin typeface="Calibri" pitchFamily="34" charset="0"/>
                <a:ea typeface="Calibri" pitchFamily="34" charset="-122"/>
                <a:cs typeface="Calibri" pitchFamily="34" charset="-120"/>
              </a:rPr>
              <a:t> </a:t>
            </a:r>
            <a:endParaRPr lang="en-US" sz="1150" dirty="0"/>
          </a:p>
          <a:p>
            <a:pPr algn="l" indent="0" marL="0">
              <a:buNone/>
            </a:pPr>
            <a:r>
              <a:rPr lang="en-US" sz="900" b="1" spc="200" kern="0" dirty="0">
                <a:solidFill>
                  <a:srgbClr val="2E6B8A"/>
                </a:solidFill>
                <a:latin typeface="Calibri" pitchFamily="34" charset="0"/>
                <a:ea typeface="Calibri" pitchFamily="34" charset="-122"/>
                <a:cs typeface="Calibri" pitchFamily="34" charset="-120"/>
              </a:rPr>
              <a:t>LAGGING  ·  QUARTERS</a:t>
            </a:r>
            <a:endParaRPr lang="en-US" sz="1150" dirty="0"/>
          </a:p>
          <a:p>
            <a:pPr algn="l" indent="0" marL="0">
              <a:buNone/>
            </a:pPr>
            <a:r>
              <a:rPr lang="en-US" sz="1250" b="1" dirty="0">
                <a:solidFill>
                  <a:srgbClr val="16211E"/>
                </a:solidFill>
                <a:latin typeface="Calibri" pitchFamily="34" charset="0"/>
                <a:ea typeface="Calibri" pitchFamily="34" charset="-122"/>
                <a:cs typeface="Calibri" pitchFamily="34" charset="-120"/>
              </a:rPr>
              <a:t>Appeals and complaints</a:t>
            </a:r>
            <a:endParaRPr lang="en-US" sz="1150" dirty="0"/>
          </a:p>
          <a:p>
            <a:pPr algn="l" indent="0" marL="0">
              <a:buNone/>
            </a:pPr>
            <a:r>
              <a:rPr lang="en-US" sz="1050" dirty="0">
                <a:solidFill>
                  <a:srgbClr val="5C6B66"/>
                </a:solidFill>
                <a:latin typeface="Calibri" pitchFamily="34" charset="0"/>
                <a:ea typeface="Calibri" pitchFamily="34" charset="-122"/>
                <a:cs typeface="Calibri" pitchFamily="34" charset="-120"/>
              </a:rPr>
              <a:t>About prior authorization. Lower is better.</a:t>
            </a:r>
            <a:endParaRPr lang="en-US" sz="1150" dirty="0"/>
          </a:p>
        </p:txBody>
      </p:sp>
      <p:sp>
        <p:nvSpPr>
          <p:cNvPr id="15" name="col2"/>
          <p:cNvSpPr/>
          <p:nvPr/>
        </p:nvSpPr>
        <p:spPr>
          <a:xfrm>
            <a:off x="6181344" y="2331720"/>
            <a:ext cx="2679192" cy="3017520"/>
          </a:xfrm>
          <a:prstGeom prst="roundRect">
            <a:avLst>
              <a:gd name="adj" fmla="val 3413"/>
            </a:avLst>
          </a:prstGeom>
          <a:solidFill>
            <a:srgbClr val="E3F0EB"/>
          </a:solidFill>
          <a:ln w="15875">
            <a:solidFill>
              <a:srgbClr val="1F6F5C"/>
            </a:solidFill>
          </a:ln>
        </p:spPr>
        <p:txBody>
          <a:bodyPr wrap="square" lIns="109728" tIns="54864" rIns="109728" bIns="54864" rtlCol="0" anchor="ctr"/>
          <a:lstStyle/>
          <a:p>
            <a:pPr algn="l" indent="0" marL="0">
              <a:buNone/>
            </a:pPr>
            <a:r>
              <a:rPr lang="en-US" sz="800" dirty="0">
                <a:solidFill>
                  <a:srgbClr val="16211E"/>
                </a:solidFill>
                <a:latin typeface="Calibri" pitchFamily="34" charset="0"/>
                <a:ea typeface="Calibri" pitchFamily="34" charset="-122"/>
                <a:cs typeface="Calibri" pitchFamily="34" charset="-120"/>
              </a:rPr>
              <a:t> </a:t>
            </a:r>
            <a:endParaRPr lang="en-US" sz="800" dirty="0"/>
          </a:p>
        </p:txBody>
      </p:sp>
      <p:pic>
        <p:nvPicPr>
          <p:cNvPr id="16" name="ic2" descr="preencoded.png">    </p:cNvPr>
          <p:cNvPicPr>
            <a:picLocks noChangeAspect="1"/>
          </p:cNvPicPr>
          <p:nvPr/>
        </p:nvPicPr>
        <p:blipFill>
          <a:blip r:embed="rId3"/>
          <a:stretch>
            <a:fillRect/>
          </a:stretch>
        </p:blipFill>
        <p:spPr>
          <a:xfrm>
            <a:off x="6345936" y="2478024"/>
            <a:ext cx="512064" cy="512064"/>
          </a:xfrm>
          <a:prstGeom prst="rect">
            <a:avLst/>
          </a:prstGeom>
        </p:spPr>
      </p:pic>
      <p:sp>
        <p:nvSpPr>
          <p:cNvPr id="17" name="hd2"/>
          <p:cNvSpPr txBox="1"/>
          <p:nvPr/>
        </p:nvSpPr>
        <p:spPr>
          <a:xfrm>
            <a:off x="6967728" y="2478024"/>
            <a:ext cx="1783080" cy="512064"/>
          </a:xfrm>
          <a:prstGeom prst="rect">
            <a:avLst/>
          </a:prstGeom>
          <a:noFill/>
          <a:ln/>
        </p:spPr>
        <p:txBody>
          <a:bodyPr wrap="square" lIns="0" tIns="0" rIns="0" bIns="0" rtlCol="0" anchor="ctr"/>
          <a:lstStyle/>
          <a:p>
            <a:pPr algn="l" indent="0" marL="0">
              <a:buNone/>
            </a:pPr>
            <a:r>
              <a:rPr lang="en-US" sz="1400" b="1" dirty="0">
                <a:solidFill>
                  <a:srgbClr val="1F6F5C"/>
                </a:solidFill>
                <a:latin typeface="Calibri" pitchFamily="34" charset="0"/>
                <a:ea typeface="Calibri" pitchFamily="34" charset="-122"/>
                <a:cs typeface="Calibri" pitchFamily="34" charset="-120"/>
              </a:rPr>
              <a:t>Nurse and director</a:t>
            </a:r>
            <a:endParaRPr lang="en-US" sz="1400" dirty="0"/>
          </a:p>
        </p:txBody>
      </p:sp>
      <p:sp>
        <p:nvSpPr>
          <p:cNvPr id="18" name="bd2"/>
          <p:cNvSpPr txBox="1"/>
          <p:nvPr/>
        </p:nvSpPr>
        <p:spPr>
          <a:xfrm>
            <a:off x="6364224" y="3108960"/>
            <a:ext cx="2313432" cy="2148840"/>
          </a:xfrm>
          <a:prstGeom prst="rect">
            <a:avLst/>
          </a:prstGeom>
          <a:noFill/>
          <a:ln/>
        </p:spPr>
        <p:txBody>
          <a:bodyPr wrap="square" lIns="0" tIns="0" rIns="0" bIns="0" rtlCol="0" anchor="t"/>
          <a:lstStyle/>
          <a:p>
            <a:pPr algn="l" indent="0" marL="0">
              <a:buNone/>
            </a:pPr>
            <a:r>
              <a:rPr lang="en-US" sz="1150" i="1" dirty="0">
                <a:solidFill>
                  <a:srgbClr val="16211E"/>
                </a:solidFill>
                <a:latin typeface="Calibri" pitchFamily="34" charset="0"/>
                <a:ea typeface="Calibri" pitchFamily="34" charset="-122"/>
                <a:cs typeface="Calibri" pitchFamily="34" charset="-120"/>
              </a:rPr>
              <a:t>Review the evidence. No hunting.</a:t>
            </a:r>
            <a:endParaRPr lang="en-US" sz="1150" dirty="0"/>
          </a:p>
          <a:p>
            <a:pPr algn="l" indent="0" marL="0">
              <a:buNone/>
            </a:pPr>
            <a:r>
              <a:rPr lang="en-US" sz="700" dirty="0">
                <a:solidFill>
                  <a:srgbClr val="16211E"/>
                </a:solidFill>
                <a:latin typeface="Calibri" pitchFamily="34" charset="0"/>
                <a:ea typeface="Calibri" pitchFamily="34" charset="-122"/>
                <a:cs typeface="Calibri" pitchFamily="34" charset="-120"/>
              </a:rPr>
              <a:t> </a:t>
            </a:r>
            <a:endParaRPr lang="en-US" sz="1150" dirty="0"/>
          </a:p>
          <a:p>
            <a:pPr algn="l" indent="0" marL="0">
              <a:buNone/>
            </a:pPr>
            <a:r>
              <a:rPr lang="en-US" sz="900" b="1" spc="200" kern="0" dirty="0">
                <a:solidFill>
                  <a:srgbClr val="1F6F5C"/>
                </a:solidFill>
                <a:latin typeface="Calibri" pitchFamily="34" charset="0"/>
                <a:ea typeface="Calibri" pitchFamily="34" charset="-122"/>
                <a:cs typeface="Calibri" pitchFamily="34" charset="-120"/>
              </a:rPr>
              <a:t>LEADING  ·  WEEKS</a:t>
            </a:r>
            <a:endParaRPr lang="en-US" sz="1150" dirty="0"/>
          </a:p>
          <a:p>
            <a:pPr algn="l" indent="0" marL="0">
              <a:buNone/>
            </a:pPr>
            <a:r>
              <a:rPr lang="en-US" sz="1250" b="1" dirty="0">
                <a:solidFill>
                  <a:srgbClr val="16211E"/>
                </a:solidFill>
                <a:latin typeface="Calibri" pitchFamily="34" charset="0"/>
                <a:ea typeface="Calibri" pitchFamily="34" charset="-122"/>
                <a:cs typeface="Calibri" pitchFamily="34" charset="-120"/>
              </a:rPr>
              <a:t>Minutes per case</a:t>
            </a:r>
            <a:endParaRPr lang="en-US" sz="1150" dirty="0"/>
          </a:p>
          <a:p>
            <a:pPr algn="l" indent="0" marL="0">
              <a:buNone/>
            </a:pPr>
            <a:r>
              <a:rPr lang="en-US" sz="1050" dirty="0">
                <a:solidFill>
                  <a:srgbClr val="5C6B66"/>
                </a:solidFill>
                <a:latin typeface="Calibri" pitchFamily="34" charset="0"/>
                <a:ea typeface="Calibri" pitchFamily="34" charset="-122"/>
                <a:cs typeface="Calibri" pitchFamily="34" charset="-120"/>
              </a:rPr>
              <a:t>Nurse: open to decision. Lower is better.</a:t>
            </a:r>
            <a:endParaRPr lang="en-US" sz="1150" dirty="0"/>
          </a:p>
          <a:p>
            <a:pPr algn="l" indent="0" marL="0">
              <a:buNone/>
            </a:pPr>
            <a:r>
              <a:rPr lang="en-US" sz="1250" b="1" dirty="0">
                <a:solidFill>
                  <a:srgbClr val="16211E"/>
                </a:solidFill>
                <a:latin typeface="Calibri" pitchFamily="34" charset="0"/>
                <a:ea typeface="Calibri" pitchFamily="34" charset="-122"/>
                <a:cs typeface="Calibri" pitchFamily="34" charset="-120"/>
              </a:rPr>
              <a:t>Avoidable escalations</a:t>
            </a:r>
            <a:endParaRPr lang="en-US" sz="1150" dirty="0"/>
          </a:p>
          <a:p>
            <a:pPr algn="l" indent="0" marL="0">
              <a:buNone/>
            </a:pPr>
            <a:r>
              <a:rPr lang="en-US" sz="1050" dirty="0">
                <a:solidFill>
                  <a:srgbClr val="5C6B66"/>
                </a:solidFill>
                <a:latin typeface="Calibri" pitchFamily="34" charset="0"/>
                <a:ea typeface="Calibri" pitchFamily="34" charset="-122"/>
                <a:cs typeface="Calibri" pitchFamily="34" charset="-120"/>
              </a:rPr>
              <a:t>Director: sent up for missing info only.</a:t>
            </a:r>
            <a:endParaRPr lang="en-US" sz="1150" dirty="0"/>
          </a:p>
          <a:p>
            <a:pPr algn="l" indent="0" marL="0">
              <a:buNone/>
            </a:pPr>
            <a:r>
              <a:rPr lang="en-US" sz="700" dirty="0">
                <a:solidFill>
                  <a:srgbClr val="16211E"/>
                </a:solidFill>
                <a:latin typeface="Calibri" pitchFamily="34" charset="0"/>
                <a:ea typeface="Calibri" pitchFamily="34" charset="-122"/>
                <a:cs typeface="Calibri" pitchFamily="34" charset="-120"/>
              </a:rPr>
              <a:t> </a:t>
            </a:r>
            <a:endParaRPr lang="en-US" sz="1150" dirty="0"/>
          </a:p>
          <a:p>
            <a:pPr algn="l" indent="0" marL="0">
              <a:buNone/>
            </a:pPr>
            <a:r>
              <a:rPr lang="en-US" sz="900" b="1" spc="200" kern="0" dirty="0">
                <a:solidFill>
                  <a:srgbClr val="1F6F5C"/>
                </a:solidFill>
                <a:latin typeface="Calibri" pitchFamily="34" charset="0"/>
                <a:ea typeface="Calibri" pitchFamily="34" charset="-122"/>
                <a:cs typeface="Calibri" pitchFamily="34" charset="-120"/>
              </a:rPr>
              <a:t>LAGGING  ·  QUARTERS</a:t>
            </a:r>
            <a:endParaRPr lang="en-US" sz="1150" dirty="0"/>
          </a:p>
          <a:p>
            <a:pPr algn="l" indent="0" marL="0">
              <a:buNone/>
            </a:pPr>
            <a:r>
              <a:rPr lang="en-US" sz="1250" b="1" dirty="0">
                <a:solidFill>
                  <a:srgbClr val="16211E"/>
                </a:solidFill>
                <a:latin typeface="Calibri" pitchFamily="34" charset="0"/>
                <a:ea typeface="Calibri" pitchFamily="34" charset="-122"/>
                <a:cs typeface="Calibri" pitchFamily="34" charset="-120"/>
              </a:rPr>
              <a:t>Cost per decision</a:t>
            </a:r>
            <a:endParaRPr lang="en-US" sz="1150" dirty="0"/>
          </a:p>
          <a:p>
            <a:pPr algn="l" indent="0" marL="0">
              <a:buNone/>
            </a:pPr>
            <a:r>
              <a:rPr lang="en-US" sz="1050" dirty="0">
                <a:solidFill>
                  <a:srgbClr val="5C6B66"/>
                </a:solidFill>
                <a:latin typeface="Calibri" pitchFamily="34" charset="0"/>
                <a:ea typeface="Calibri" pitchFamily="34" charset="-122"/>
                <a:cs typeface="Calibri" pitchFamily="34" charset="-120"/>
              </a:rPr>
              <a:t>Review spend per decided case.</a:t>
            </a:r>
            <a:endParaRPr lang="en-US" sz="1150" dirty="0"/>
          </a:p>
        </p:txBody>
      </p:sp>
      <p:sp>
        <p:nvSpPr>
          <p:cNvPr id="19" name="col3"/>
          <p:cNvSpPr/>
          <p:nvPr/>
        </p:nvSpPr>
        <p:spPr>
          <a:xfrm>
            <a:off x="9043416" y="2331720"/>
            <a:ext cx="2679192" cy="3017520"/>
          </a:xfrm>
          <a:prstGeom prst="roundRect">
            <a:avLst>
              <a:gd name="adj" fmla="val 3413"/>
            </a:avLst>
          </a:prstGeom>
          <a:solidFill>
            <a:srgbClr val="FCEFD0"/>
          </a:solidFill>
          <a:ln w="15875">
            <a:solidFill>
              <a:srgbClr val="8A5A00"/>
            </a:solidFill>
          </a:ln>
        </p:spPr>
        <p:txBody>
          <a:bodyPr wrap="square" lIns="109728" tIns="54864" rIns="109728" bIns="54864" rtlCol="0" anchor="ctr"/>
          <a:lstStyle/>
          <a:p>
            <a:pPr algn="l" indent="0" marL="0">
              <a:buNone/>
            </a:pPr>
            <a:r>
              <a:rPr lang="en-US" sz="800" dirty="0">
                <a:solidFill>
                  <a:srgbClr val="16211E"/>
                </a:solidFill>
                <a:latin typeface="Calibri" pitchFamily="34" charset="0"/>
                <a:ea typeface="Calibri" pitchFamily="34" charset="-122"/>
                <a:cs typeface="Calibri" pitchFamily="34" charset="-120"/>
              </a:rPr>
              <a:t> </a:t>
            </a:r>
            <a:endParaRPr lang="en-US" sz="800" dirty="0"/>
          </a:p>
        </p:txBody>
      </p:sp>
      <p:pic>
        <p:nvPicPr>
          <p:cNvPr id="20" name="ic3" descr="preencoded.png">    </p:cNvPr>
          <p:cNvPicPr>
            <a:picLocks noChangeAspect="1"/>
          </p:cNvPicPr>
          <p:nvPr/>
        </p:nvPicPr>
        <p:blipFill>
          <a:blip r:embed="rId4"/>
          <a:stretch>
            <a:fillRect/>
          </a:stretch>
        </p:blipFill>
        <p:spPr>
          <a:xfrm>
            <a:off x="9208008" y="2478024"/>
            <a:ext cx="512064" cy="512064"/>
          </a:xfrm>
          <a:prstGeom prst="rect">
            <a:avLst/>
          </a:prstGeom>
        </p:spPr>
      </p:pic>
      <p:sp>
        <p:nvSpPr>
          <p:cNvPr id="21" name="hd3"/>
          <p:cNvSpPr txBox="1"/>
          <p:nvPr/>
        </p:nvSpPr>
        <p:spPr>
          <a:xfrm>
            <a:off x="9829800" y="2478024"/>
            <a:ext cx="1783080" cy="512064"/>
          </a:xfrm>
          <a:prstGeom prst="rect">
            <a:avLst/>
          </a:prstGeom>
          <a:noFill/>
          <a:ln/>
        </p:spPr>
        <p:txBody>
          <a:bodyPr wrap="square" lIns="0" tIns="0" rIns="0" bIns="0" rtlCol="0" anchor="ctr"/>
          <a:lstStyle/>
          <a:p>
            <a:pPr algn="l" indent="0" marL="0">
              <a:buNone/>
            </a:pPr>
            <a:r>
              <a:rPr lang="en-US" sz="1400" b="1" dirty="0">
                <a:solidFill>
                  <a:srgbClr val="8A5A00"/>
                </a:solidFill>
                <a:latin typeface="Calibri" pitchFamily="34" charset="0"/>
                <a:ea typeface="Calibri" pitchFamily="34" charset="-122"/>
                <a:cs typeface="Calibri" pitchFamily="34" charset="-120"/>
              </a:rPr>
              <a:t>Humana</a:t>
            </a:r>
            <a:endParaRPr lang="en-US" sz="1400" dirty="0"/>
          </a:p>
        </p:txBody>
      </p:sp>
      <p:sp>
        <p:nvSpPr>
          <p:cNvPr id="22" name="bd3"/>
          <p:cNvSpPr txBox="1"/>
          <p:nvPr/>
        </p:nvSpPr>
        <p:spPr>
          <a:xfrm>
            <a:off x="9226296" y="3108960"/>
            <a:ext cx="2313432" cy="2148840"/>
          </a:xfrm>
          <a:prstGeom prst="rect">
            <a:avLst/>
          </a:prstGeom>
          <a:noFill/>
          <a:ln/>
        </p:spPr>
        <p:txBody>
          <a:bodyPr wrap="square" lIns="0" tIns="0" rIns="0" bIns="0" rtlCol="0" anchor="t"/>
          <a:lstStyle/>
          <a:p>
            <a:pPr algn="l" indent="0" marL="0">
              <a:buNone/>
            </a:pPr>
            <a:r>
              <a:rPr lang="en-US" sz="1150" i="1" dirty="0">
                <a:solidFill>
                  <a:srgbClr val="16211E"/>
                </a:solidFill>
                <a:latin typeface="Calibri" pitchFamily="34" charset="0"/>
                <a:ea typeface="Calibri" pitchFamily="34" charset="-122"/>
                <a:cs typeface="Calibri" pitchFamily="34" charset="-120"/>
              </a:rPr>
              <a:t>Lower cost, members who stay, Stars protected.</a:t>
            </a:r>
            <a:endParaRPr lang="en-US" sz="1150" dirty="0"/>
          </a:p>
          <a:p>
            <a:pPr algn="l" indent="0" marL="0">
              <a:buNone/>
            </a:pPr>
            <a:r>
              <a:rPr lang="en-US" sz="700" dirty="0">
                <a:solidFill>
                  <a:srgbClr val="16211E"/>
                </a:solidFill>
                <a:latin typeface="Calibri" pitchFamily="34" charset="0"/>
                <a:ea typeface="Calibri" pitchFamily="34" charset="-122"/>
                <a:cs typeface="Calibri" pitchFamily="34" charset="-120"/>
              </a:rPr>
              <a:t> </a:t>
            </a:r>
            <a:endParaRPr lang="en-US" sz="1150" dirty="0"/>
          </a:p>
          <a:p>
            <a:pPr algn="l" indent="0" marL="0">
              <a:buNone/>
            </a:pPr>
            <a:r>
              <a:rPr lang="en-US" sz="900" b="1" spc="200" kern="0" dirty="0">
                <a:solidFill>
                  <a:srgbClr val="8A5A00"/>
                </a:solidFill>
                <a:latin typeface="Calibri" pitchFamily="34" charset="0"/>
                <a:ea typeface="Calibri" pitchFamily="34" charset="-122"/>
                <a:cs typeface="Calibri" pitchFamily="34" charset="-120"/>
              </a:rPr>
              <a:t>LEADING  ·  WEEKS</a:t>
            </a:r>
            <a:endParaRPr lang="en-US" sz="1150" dirty="0"/>
          </a:p>
          <a:p>
            <a:pPr algn="l" indent="0" marL="0">
              <a:buNone/>
            </a:pPr>
            <a:r>
              <a:rPr lang="en-US" sz="1250" b="1" dirty="0">
                <a:solidFill>
                  <a:srgbClr val="16211E"/>
                </a:solidFill>
                <a:latin typeface="Calibri" pitchFamily="34" charset="0"/>
                <a:ea typeface="Calibri" pitchFamily="34" charset="-122"/>
                <a:cs typeface="Calibri" pitchFamily="34" charset="-120"/>
              </a:rPr>
              <a:t>Member complaints to Medicare</a:t>
            </a:r>
            <a:endParaRPr lang="en-US" sz="1150" dirty="0"/>
          </a:p>
          <a:p>
            <a:pPr algn="l" indent="0" marL="0">
              <a:buNone/>
            </a:pPr>
            <a:r>
              <a:rPr lang="en-US" sz="1050" dirty="0">
                <a:solidFill>
                  <a:srgbClr val="5C6B66"/>
                </a:solidFill>
                <a:latin typeface="Calibri" pitchFamily="34" charset="0"/>
                <a:ea typeface="Calibri" pitchFamily="34" charset="-122"/>
                <a:cs typeface="Calibri" pitchFamily="34" charset="-120"/>
              </a:rPr>
              <a:t>Filed any time, so we see them in weeks. Also a Star measure.</a:t>
            </a:r>
            <a:endParaRPr lang="en-US" sz="1150" dirty="0"/>
          </a:p>
          <a:p>
            <a:pPr algn="l" indent="0" marL="0">
              <a:buNone/>
            </a:pPr>
            <a:r>
              <a:rPr lang="en-US" sz="700" dirty="0">
                <a:solidFill>
                  <a:srgbClr val="16211E"/>
                </a:solidFill>
                <a:latin typeface="Calibri" pitchFamily="34" charset="0"/>
                <a:ea typeface="Calibri" pitchFamily="34" charset="-122"/>
                <a:cs typeface="Calibri" pitchFamily="34" charset="-120"/>
              </a:rPr>
              <a:t> </a:t>
            </a:r>
            <a:endParaRPr lang="en-US" sz="1150" dirty="0"/>
          </a:p>
          <a:p>
            <a:pPr algn="l" indent="0" marL="0">
              <a:buNone/>
            </a:pPr>
            <a:r>
              <a:rPr lang="en-US" sz="900" b="1" spc="200" kern="0" dirty="0">
                <a:solidFill>
                  <a:srgbClr val="8A5A00"/>
                </a:solidFill>
                <a:latin typeface="Calibri" pitchFamily="34" charset="0"/>
                <a:ea typeface="Calibri" pitchFamily="34" charset="-122"/>
                <a:cs typeface="Calibri" pitchFamily="34" charset="-120"/>
              </a:rPr>
              <a:t>LAGGING  ·  QUARTERS</a:t>
            </a:r>
            <a:endParaRPr lang="en-US" sz="1150" dirty="0"/>
          </a:p>
          <a:p>
            <a:pPr algn="l" indent="0" marL="0">
              <a:buNone/>
            </a:pPr>
            <a:r>
              <a:rPr lang="en-US" sz="1250" b="1" dirty="0">
                <a:solidFill>
                  <a:srgbClr val="16211E"/>
                </a:solidFill>
                <a:latin typeface="Calibri" pitchFamily="34" charset="0"/>
                <a:ea typeface="Calibri" pitchFamily="34" charset="-122"/>
                <a:cs typeface="Calibri" pitchFamily="34" charset="-120"/>
              </a:rPr>
              <a:t>Star rating</a:t>
            </a:r>
            <a:endParaRPr lang="en-US" sz="1150" dirty="0"/>
          </a:p>
          <a:p>
            <a:pPr algn="l" indent="0" marL="0">
              <a:buNone/>
            </a:pPr>
            <a:r>
              <a:rPr lang="en-US" sz="1050" dirty="0">
                <a:solidFill>
                  <a:srgbClr val="5C6B66"/>
                </a:solidFill>
                <a:latin typeface="Calibri" pitchFamily="34" charset="0"/>
                <a:ea typeface="Calibri" pitchFamily="34" charset="-122"/>
                <a:cs typeface="Calibri" pitchFamily="34" charset="-120"/>
              </a:rPr>
              <a:t>Including the “getting needed care” survey.</a:t>
            </a:r>
            <a:endParaRPr lang="en-US" sz="1150" dirty="0"/>
          </a:p>
        </p:txBody>
      </p:sp>
      <p:sp>
        <p:nvSpPr>
          <p:cNvPr id="23" name="guard"/>
          <p:cNvSpPr/>
          <p:nvPr/>
        </p:nvSpPr>
        <p:spPr>
          <a:xfrm>
            <a:off x="457200" y="5486400"/>
            <a:ext cx="11274552" cy="457200"/>
          </a:xfrm>
          <a:prstGeom prst="roundRect">
            <a:avLst>
              <a:gd name="adj" fmla="val 16000"/>
            </a:avLst>
          </a:prstGeom>
          <a:solidFill>
            <a:srgbClr val="FBE9E4"/>
          </a:solidFill>
          <a:ln w="12700">
            <a:solidFill>
              <a:srgbClr val="B8452F"/>
            </a:solidFill>
          </a:ln>
        </p:spPr>
        <p:txBody>
          <a:bodyPr wrap="square" lIns="201168" tIns="36576" rIns="182880" bIns="36576" rtlCol="0" anchor="ctr"/>
          <a:lstStyle/>
          <a:p>
            <a:pPr algn="l" indent="0" marL="0">
              <a:buNone/>
            </a:pPr>
            <a:r>
              <a:rPr lang="en-US" sz="1050" b="1" spc="200" kern="0" dirty="0">
                <a:solidFill>
                  <a:srgbClr val="B8452F"/>
                </a:solidFill>
                <a:latin typeface="Calibri" pitchFamily="34" charset="0"/>
                <a:ea typeface="Calibri" pitchFamily="34" charset="-122"/>
                <a:cs typeface="Calibri" pitchFamily="34" charset="-120"/>
              </a:rPr>
              <a:t>GUARDRAILS   </a:t>
            </a:r>
            <a:pPr algn="l" indent="0" marL="0">
              <a:buNone/>
            </a:pPr>
            <a:r>
              <a:rPr lang="en-US" sz="1200" dirty="0">
                <a:solidFill>
                  <a:srgbClr val="16211E"/>
                </a:solidFill>
                <a:latin typeface="Calibri" pitchFamily="34" charset="0"/>
                <a:ea typeface="Calibri" pitchFamily="34" charset="-122"/>
                <a:cs typeface="Calibri" pitchFamily="34" charset="-120"/>
              </a:rPr>
              <a:t>Never slower than the CMS clock  ·  Zero wrong approvals  ·  The AI never denies</a:t>
            </a:r>
            <a:endParaRPr lang="en-US" sz="1050" dirty="0"/>
          </a:p>
        </p:txBody>
      </p:sp>
      <p:sp>
        <p:nvSpPr>
          <p:cNvPr id="24" name="footer"/>
          <p:cNvSpPr txBox="1"/>
          <p:nvPr/>
        </p:nvSpPr>
        <p:spPr>
          <a:xfrm>
            <a:off x="457200" y="6080760"/>
            <a:ext cx="11274552" cy="4572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Days to a decision, avoidable pends, minutes per case and escalations are live today, in the app's dashboard and in Honeycomb. Complaints and the lagging numbers need Humana's own data.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Metrics and leading indicators</dc:title>
  <dc:subject>PptxGenJS Presentation</dc:subject>
  <dc:creator>Nisha Mishra</dc:creator>
  <cp:lastModifiedBy>Nisha Mishra</cp:lastModifiedBy>
  <cp:revision>1</cp:revision>
  <dcterms:created xsi:type="dcterms:W3CDTF">2026-10-07T01:31:57Z</dcterms:created>
  <dcterms:modified xsi:type="dcterms:W3CDTF">2026-10-07T01:31:57Z</dcterms:modified>
</cp:coreProperties>
</file>