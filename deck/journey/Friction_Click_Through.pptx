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Click once per friction point. Finish your talking point, then click.
Click 1: First, reading by hand. The nurse reads all fourteen pages to find the same few facts. The brief says clear-cut cases take almost as long as the hard ones, because the reading and matching still happen by hand.
Click 2: Second, messy input. Packets come in by fax or portal, and format and quality change from one office to the next. Intake and the nurse inherit that.
Click 3: Third, hunting instead of deciding. Benefits, eligibility, clinical policy, and provider systems sit in different places. No one view holds the full picture.
Click 4: Fourth, decisions vary. Two reviewers can read the same packet and land in different places.
Click 5: Fifth, the pend loop. A detail a cleaner read could have caught in minutes sends the packet back to the provider. The case starts from zero. This is the path you just watched.
Click 6: Sixth, the member in the dark. John Doe waits for surgery and cannot see where his request stands. I am not trying to solve that one first. I will come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places this process loses time.</a:t>
            </a:r>
            <a:endParaRPr lang="en-US" sz="2600" dirty="0"/>
          </a:p>
        </p:txBody>
      </p:sp>
      <p:sp>
        <p:nvSpPr>
          <p:cNvPr id="4" name="sub"/>
          <p:cNvSpPr txBox="1"/>
          <p:nvPr/>
        </p:nvSpPr>
        <p:spPr>
          <a:xfrm>
            <a:off x="6675120" y="502920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here is making a mistake. The process is.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Humana Use Case 1 brief, and the process on the previous slide.</a:t>
            </a:r>
            <a:endParaRPr lang="en-US" sz="900" dirty="0"/>
          </a:p>
        </p:txBody>
      </p:sp>
      <p:sp>
        <p:nvSpPr>
          <p:cNvPr id="6" name="N1"/>
          <p:cNvSpPr/>
          <p:nvPr/>
        </p:nvSpPr>
        <p:spPr>
          <a:xfrm>
            <a:off x="457200" y="1783080"/>
            <a:ext cx="166420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566928" tIns="36576" rIns="54864" bIns="36576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packet</a:t>
            </a:r>
            <a:endParaRPr lang="en-US" sz="1100" dirty="0"/>
          </a:p>
        </p:txBody>
      </p:sp>
      <p:pic>
        <p:nvPicPr>
          <p:cNvPr id="7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38528"/>
            <a:ext cx="420624" cy="420624"/>
          </a:xfrm>
          <a:prstGeom prst="rect">
            <a:avLst/>
          </a:prstGeom>
        </p:spPr>
      </p:pic>
      <p:sp>
        <p:nvSpPr>
          <p:cNvPr id="8" name="N2"/>
          <p:cNvSpPr/>
          <p:nvPr/>
        </p:nvSpPr>
        <p:spPr>
          <a:xfrm>
            <a:off x="2377440" y="1783080"/>
            <a:ext cx="166420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566928" tIns="36576" rIns="54864" bIns="36576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it in</a:t>
            </a:r>
            <a:endParaRPr lang="en-US" sz="1100" dirty="0"/>
          </a:p>
        </p:txBody>
      </p:sp>
      <p:pic>
        <p:nvPicPr>
          <p:cNvPr id="9" name="AvIntak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938528"/>
            <a:ext cx="420624" cy="420624"/>
          </a:xfrm>
          <a:prstGeom prst="rect">
            <a:avLst/>
          </a:prstGeom>
        </p:spPr>
      </p:pic>
      <p:sp>
        <p:nvSpPr>
          <p:cNvPr id="10" name="N3"/>
          <p:cNvSpPr/>
          <p:nvPr/>
        </p:nvSpPr>
        <p:spPr>
          <a:xfrm>
            <a:off x="4297680" y="1783080"/>
            <a:ext cx="166420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566928" tIns="36576" rIns="54864" bIns="36576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packet</a:t>
            </a:r>
            <a:endParaRPr lang="en-US" sz="1100" dirty="0"/>
          </a:p>
        </p:txBody>
      </p:sp>
      <p:pic>
        <p:nvPicPr>
          <p:cNvPr id="11" name="AvNur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938528"/>
            <a:ext cx="420624" cy="420624"/>
          </a:xfrm>
          <a:prstGeom prst="rect">
            <a:avLst/>
          </a:prstGeom>
        </p:spPr>
      </p:pic>
      <p:sp>
        <p:nvSpPr>
          <p:cNvPr id="12" name="N4"/>
          <p:cNvSpPr/>
          <p:nvPr/>
        </p:nvSpPr>
        <p:spPr>
          <a:xfrm>
            <a:off x="6217920" y="1783080"/>
            <a:ext cx="166420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73152" tIns="36576" rIns="73152" bIns="3657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pend, escalate</a:t>
            </a:r>
            <a:endParaRPr lang="en-US" sz="1100" dirty="0"/>
          </a:p>
        </p:txBody>
      </p:sp>
      <p:sp>
        <p:nvSpPr>
          <p:cNvPr id="13" name="N5"/>
          <p:cNvSpPr/>
          <p:nvPr/>
        </p:nvSpPr>
        <p:spPr>
          <a:xfrm>
            <a:off x="8138160" y="1783080"/>
            <a:ext cx="1664208" cy="731520"/>
          </a:xfrm>
          <a:prstGeom prst="roundRect">
            <a:avLst>
              <a:gd name="adj" fmla="val 10000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566928" tIns="36576" rIns="54864" bIns="36576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escalated</a:t>
            </a:r>
            <a:endParaRPr lang="en-US" sz="1100" dirty="0"/>
          </a:p>
        </p:txBody>
      </p:sp>
      <p:pic>
        <p:nvPicPr>
          <p:cNvPr id="14" name="AvM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1938528"/>
            <a:ext cx="420624" cy="420624"/>
          </a:xfrm>
          <a:prstGeom prst="rect">
            <a:avLst/>
          </a:prstGeom>
        </p:spPr>
      </p:pic>
      <p:sp>
        <p:nvSpPr>
          <p:cNvPr id="15" name="N6"/>
          <p:cNvSpPr/>
          <p:nvPr/>
        </p:nvSpPr>
        <p:spPr>
          <a:xfrm>
            <a:off x="10058400" y="1783080"/>
            <a:ext cx="166420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566928" tIns="36576" rIns="54864" bIns="36576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answer</a:t>
            </a:r>
            <a:endParaRPr lang="en-US" sz="1100" dirty="0"/>
          </a:p>
        </p:txBody>
      </p:sp>
      <p:pic>
        <p:nvPicPr>
          <p:cNvPr id="16" name="AvM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2" y="1938528"/>
            <a:ext cx="420624" cy="420624"/>
          </a:xfrm>
          <a:prstGeom prst="rect">
            <a:avLst/>
          </a:prstGeom>
        </p:spPr>
      </p:pic>
      <p:sp>
        <p:nvSpPr>
          <p:cNvPr id="17" name="A12"/>
          <p:cNvSpPr/>
          <p:nvPr/>
        </p:nvSpPr>
        <p:spPr>
          <a:xfrm>
            <a:off x="2148840" y="2148840"/>
            <a:ext cx="201168" cy="0"/>
          </a:xfrm>
          <a:prstGeom prst="line">
            <a:avLst/>
          </a:prstGeom>
          <a:noFill/>
          <a:ln w="22225">
            <a:solidFill>
              <a:srgbClr val="B8452F"/>
            </a:solidFill>
            <a:prstDash val="dash"/>
            <a:tailEnd type="triangle"/>
          </a:ln>
        </p:spPr>
      </p:sp>
      <p:sp>
        <p:nvSpPr>
          <p:cNvPr id="18" name="A23"/>
          <p:cNvSpPr/>
          <p:nvPr/>
        </p:nvSpPr>
        <p:spPr>
          <a:xfrm>
            <a:off x="4069080" y="2148840"/>
            <a:ext cx="201168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19" name="A34"/>
          <p:cNvSpPr/>
          <p:nvPr/>
        </p:nvSpPr>
        <p:spPr>
          <a:xfrm>
            <a:off x="5989320" y="2148840"/>
            <a:ext cx="201168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0" name="A45"/>
          <p:cNvSpPr/>
          <p:nvPr/>
        </p:nvSpPr>
        <p:spPr>
          <a:xfrm>
            <a:off x="7909560" y="2148840"/>
            <a:ext cx="201168" cy="0"/>
          </a:xfrm>
          <a:prstGeom prst="line">
            <a:avLst/>
          </a:prstGeom>
          <a:noFill/>
          <a:ln w="22225">
            <a:solidFill>
              <a:srgbClr val="5F3AA8"/>
            </a:solidFill>
            <a:prstDash val="solid"/>
            <a:tailEnd type="triangle"/>
          </a:ln>
        </p:spPr>
      </p:sp>
      <p:sp>
        <p:nvSpPr>
          <p:cNvPr id="21" name="A56"/>
          <p:cNvSpPr/>
          <p:nvPr/>
        </p:nvSpPr>
        <p:spPr>
          <a:xfrm>
            <a:off x="9829800" y="2148840"/>
            <a:ext cx="201168" cy="0"/>
          </a:xfrm>
          <a:prstGeom prst="line">
            <a:avLst/>
          </a:prstGeom>
          <a:noFill/>
          <a:ln w="22225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2" name="LblFax"/>
          <p:cNvSpPr txBox="1"/>
          <p:nvPr/>
        </p:nvSpPr>
        <p:spPr>
          <a:xfrm>
            <a:off x="2084832" y="187452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750" dirty="0"/>
          </a:p>
        </p:txBody>
      </p:sp>
      <p:sp>
        <p:nvSpPr>
          <p:cNvPr id="23" name="L1"/>
          <p:cNvSpPr/>
          <p:nvPr/>
        </p:nvSpPr>
        <p:spPr>
          <a:xfrm>
            <a:off x="7050024" y="2514600"/>
            <a:ext cx="0" cy="274320"/>
          </a:xfrm>
          <a:prstGeom prst="line">
            <a:avLst/>
          </a:prstGeom>
          <a:noFill/>
          <a:ln w="22225">
            <a:solidFill>
              <a:srgbClr val="8A5A00"/>
            </a:solidFill>
            <a:prstDash val="solid"/>
          </a:ln>
        </p:spPr>
      </p:sp>
      <p:sp>
        <p:nvSpPr>
          <p:cNvPr id="24" name="L2"/>
          <p:cNvSpPr/>
          <p:nvPr/>
        </p:nvSpPr>
        <p:spPr>
          <a:xfrm>
            <a:off x="1289304" y="2788920"/>
            <a:ext cx="5760720" cy="0"/>
          </a:xfrm>
          <a:prstGeom prst="line">
            <a:avLst/>
          </a:prstGeom>
          <a:noFill/>
          <a:ln w="22225">
            <a:solidFill>
              <a:srgbClr val="8A5A00"/>
            </a:solidFill>
            <a:prstDash val="solid"/>
          </a:ln>
        </p:spPr>
      </p:sp>
      <p:sp>
        <p:nvSpPr>
          <p:cNvPr id="25" name="L3"/>
          <p:cNvSpPr/>
          <p:nvPr/>
        </p:nvSpPr>
        <p:spPr>
          <a:xfrm flipV="1">
            <a:off x="1289304" y="2514600"/>
            <a:ext cx="0" cy="274320"/>
          </a:xfrm>
          <a:prstGeom prst="line">
            <a:avLst/>
          </a:prstGeom>
          <a:noFill/>
          <a:ln w="22225">
            <a:solidFill>
              <a:srgbClr val="8A5A00"/>
            </a:solidFill>
            <a:prstDash val="solid"/>
            <a:tailEnd type="triangle"/>
          </a:ln>
        </p:spPr>
      </p:sp>
      <p:sp>
        <p:nvSpPr>
          <p:cNvPr id="26" name="LblLoop"/>
          <p:cNvSpPr txBox="1"/>
          <p:nvPr/>
        </p:nvSpPr>
        <p:spPr>
          <a:xfrm>
            <a:off x="2286000" y="2569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Pend: back to the provider, and it starts again</a:t>
            </a:r>
            <a:endParaRPr lang="en-US" sz="950" dirty="0"/>
          </a:p>
        </p:txBody>
      </p:sp>
      <p:sp>
        <p:nvSpPr>
          <p:cNvPr id="27" name="Pin1"/>
          <p:cNvSpPr/>
          <p:nvPr/>
        </p:nvSpPr>
        <p:spPr>
          <a:xfrm>
            <a:off x="4562856" y="14538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Pin3"/>
          <p:cNvSpPr/>
          <p:nvPr/>
        </p:nvSpPr>
        <p:spPr>
          <a:xfrm>
            <a:off x="5404104" y="14538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Pin2"/>
          <p:cNvSpPr/>
          <p:nvPr/>
        </p:nvSpPr>
        <p:spPr>
          <a:xfrm>
            <a:off x="2103120" y="14538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Pin4"/>
          <p:cNvSpPr/>
          <p:nvPr/>
        </p:nvSpPr>
        <p:spPr>
          <a:xfrm>
            <a:off x="7863840" y="14538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Pin5"/>
          <p:cNvSpPr/>
          <p:nvPr/>
        </p:nvSpPr>
        <p:spPr>
          <a:xfrm>
            <a:off x="2057400" y="26426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Pin6"/>
          <p:cNvSpPr/>
          <p:nvPr/>
        </p:nvSpPr>
        <p:spPr>
          <a:xfrm>
            <a:off x="10744200" y="14538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Card1"/>
          <p:cNvSpPr/>
          <p:nvPr/>
        </p:nvSpPr>
        <p:spPr>
          <a:xfrm>
            <a:off x="457200" y="309067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603504" tIns="155448" rIns="146304" bIns="9144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by hand</a:t>
            </a:r>
            <a:endParaRPr lang="en-US" sz="15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reads all 14 pages to find the same few facts. Clear-cut cases take almost as long as hard ones. And the pile just grew by about 20%.</a:t>
            </a:r>
            <a:endParaRPr lang="en-US" sz="15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by: the nurse</a:t>
            </a:r>
            <a:endParaRPr lang="en-US" sz="1500" dirty="0"/>
          </a:p>
        </p:txBody>
      </p:sp>
      <p:sp>
        <p:nvSpPr>
          <p:cNvPr id="34" name="Num1"/>
          <p:cNvSpPr/>
          <p:nvPr/>
        </p:nvSpPr>
        <p:spPr>
          <a:xfrm>
            <a:off x="594360" y="32278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Card2"/>
          <p:cNvSpPr/>
          <p:nvPr/>
        </p:nvSpPr>
        <p:spPr>
          <a:xfrm>
            <a:off x="4265676" y="309067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603504" tIns="155448" rIns="146304" bIns="9144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input</a:t>
            </a:r>
            <a:endParaRPr lang="en-US" sz="15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arrive by fax or portal. Format and quality change from one office to the next.</a:t>
            </a:r>
            <a:endParaRPr lang="en-US" sz="15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by: intake and the nurse</a:t>
            </a:r>
            <a:endParaRPr lang="en-US" sz="1500" dirty="0"/>
          </a:p>
        </p:txBody>
      </p:sp>
      <p:sp>
        <p:nvSpPr>
          <p:cNvPr id="36" name="Num2"/>
          <p:cNvSpPr/>
          <p:nvPr/>
        </p:nvSpPr>
        <p:spPr>
          <a:xfrm>
            <a:off x="4402836" y="32278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Card3"/>
          <p:cNvSpPr/>
          <p:nvPr/>
        </p:nvSpPr>
        <p:spPr>
          <a:xfrm>
            <a:off x="8074152" y="309067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603504" tIns="155448" rIns="146304" bIns="9144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Hunting, not deciding</a:t>
            </a:r>
            <a:endParaRPr lang="en-US" sz="15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eligibility, policy, and provider systems sit apart. No one view holds the full picture.</a:t>
            </a:r>
            <a:endParaRPr lang="en-US" sz="15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by: the nurse</a:t>
            </a:r>
            <a:endParaRPr lang="en-US" sz="1500" dirty="0"/>
          </a:p>
        </p:txBody>
      </p:sp>
      <p:sp>
        <p:nvSpPr>
          <p:cNvPr id="38" name="Num3"/>
          <p:cNvSpPr/>
          <p:nvPr/>
        </p:nvSpPr>
        <p:spPr>
          <a:xfrm>
            <a:off x="8211312" y="32278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Card4"/>
          <p:cNvSpPr/>
          <p:nvPr/>
        </p:nvSpPr>
        <p:spPr>
          <a:xfrm>
            <a:off x="457200" y="482803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603504" tIns="155448" rIns="146304" bIns="9144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vary</a:t>
            </a:r>
            <a:endParaRPr lang="en-US" sz="15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reviewers, nurse or physician, can read the same packet and reach different decisions.</a:t>
            </a:r>
            <a:endParaRPr lang="en-US" sz="15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by: the plan and the provider</a:t>
            </a:r>
            <a:endParaRPr lang="en-US" sz="1500" dirty="0"/>
          </a:p>
        </p:txBody>
      </p:sp>
      <p:sp>
        <p:nvSpPr>
          <p:cNvPr id="40" name="Num4"/>
          <p:cNvSpPr/>
          <p:nvPr/>
        </p:nvSpPr>
        <p:spPr>
          <a:xfrm>
            <a:off x="594360" y="49651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Card5"/>
          <p:cNvSpPr/>
          <p:nvPr/>
        </p:nvSpPr>
        <p:spPr>
          <a:xfrm>
            <a:off x="4265676" y="482803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603504" tIns="155448" rIns="146304" bIns="9144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pend loop</a:t>
            </a:r>
            <a:endParaRPr lang="en-US" sz="15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a cleaner read could catch in minutes sends the packet back. The case starts from zero, and the clock keeps running.</a:t>
            </a:r>
            <a:endParaRPr lang="en-US" sz="15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by: the provider and the member</a:t>
            </a:r>
            <a:endParaRPr lang="en-US" sz="1500" dirty="0"/>
          </a:p>
        </p:txBody>
      </p:sp>
      <p:sp>
        <p:nvSpPr>
          <p:cNvPr id="42" name="Num5"/>
          <p:cNvSpPr/>
          <p:nvPr/>
        </p:nvSpPr>
        <p:spPr>
          <a:xfrm>
            <a:off x="4402836" y="49651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Card6"/>
          <p:cNvSpPr/>
          <p:nvPr/>
        </p:nvSpPr>
        <p:spPr>
          <a:xfrm>
            <a:off x="8074152" y="482803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603504" tIns="155448" rIns="146304" bIns="9144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in the dark</a:t>
            </a:r>
            <a:endParaRPr lang="en-US" sz="15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Doe waits on his surgery with no view of where his request stands.</a:t>
            </a:r>
            <a:endParaRPr lang="en-US" sz="15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by: the member</a:t>
            </a:r>
            <a:endParaRPr lang="en-US" sz="1500" dirty="0"/>
          </a:p>
        </p:txBody>
      </p:sp>
      <p:sp>
        <p:nvSpPr>
          <p:cNvPr id="44" name="Num6"/>
          <p:cNvSpPr/>
          <p:nvPr/>
        </p:nvSpPr>
        <p:spPr>
          <a:xfrm>
            <a:off x="8211312" y="49651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452F"/>
          </a:solidFill>
          <a:ln w="1270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27" grpId="0" animBg="1"/>
      <p:bldP spid="35" grpId="0" animBg="1"/>
      <p:bldP spid="36" grpId="0" animBg="1"/>
      <p:bldP spid="29" grpId="0" animBg="1"/>
      <p:bldP spid="37" grpId="0" animBg="1"/>
      <p:bldP spid="38" grpId="0" animBg="1"/>
      <p:bldP spid="28" grpId="0" animBg="1"/>
      <p:bldP spid="39" grpId="0" animBg="1"/>
      <p:bldP spid="40" grpId="0" animBg="1"/>
      <p:bldP spid="30" grpId="0" animBg="1"/>
      <p:bldP spid="41" grpId="0" animBg="1"/>
      <p:bldP spid="42" grpId="0" animBg="1"/>
      <p:bldP spid="31" grpId="0" animBg="1"/>
      <p:bldP spid="43" grpId="0" animBg="1"/>
      <p:bldP spid="44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friction points</dc:title>
  <dc:subject>PptxGenJS Presentation</dc:subject>
  <dc:creator>Nisha Mishra</dc:creator>
  <cp:lastModifiedBy>Nisha Mishra</cp:lastModifiedBy>
  <cp:revision>1</cp:revision>
  <dcterms:created xsi:type="dcterms:W3CDTF">2026-10-04T03:37:09Z</dcterms:created>
  <dcterms:modified xsi:type="dcterms:W3CDTF">2026-10-04T03:37:09Z</dcterms:modified>
</cp:coreProperties>
</file>