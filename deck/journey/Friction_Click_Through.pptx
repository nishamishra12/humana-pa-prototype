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slide. Click once per friction point. Finish your talking point, then click.
Click 1: First, reading by hand. The nurse reads all fourteen pages to find the same few facts. The brief says it plainly: clear-cut cases take almost as long as the hard ones, because the reading and matching still happen by hand.
Click 2: Second, messy input. Packets come in by fax or portal, and format and quality change from one office to the next. Intake and the nurse inherit that.
Click 3: Third, hunting instead of deciding. Benefits, eligibility, clinical policy, and provider systems sit in different places. No one view holds the full picture, so people spend their time looking, not judging.
Click 4: Fourth, decisions vary. Two reviewers can read the same packet and land in different places. That is a fairness problem for the member and a trust problem for the provider.
Click 5: Fifth, the pend loop. In John Doe's case, a detail a cleaner read could have caught in minutes sends the packet back to the provider. The case starts from zero, and the clock keeps running. This is the path you just watched.
Click 6: Sixth, the member in the dark. John Doe waits for surgery and cannot see where his request stands. We name this one on purpose, and we fix it in phase two. The honest answer to 'why not now?': a member-facing status is only as good as the decision data behind it, so we build the trusted decision record first. It also touches member communications and a regulated status interface, which need their own compliance and security review. And the record we build in phase one is exactly what phase two reads from, so waiting costs us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1.xml"/><Relationship Id="rId6"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eyebrow"/>
          <p:cNvSpPr txBox="1"/>
          <p:nvPr/>
        </p:nvSpPr>
        <p:spPr>
          <a:xfrm>
            <a:off x="457200" y="274320"/>
            <a:ext cx="3657600" cy="256032"/>
          </a:xfrm>
          <a:prstGeom prst="rect">
            <a:avLst/>
          </a:prstGeom>
          <a:noFill/>
          <a:ln/>
        </p:spPr>
        <p:txBody>
          <a:bodyPr wrap="square" lIns="0" tIns="0" rIns="0" bIns="0" rtlCol="0" anchor="t"/>
          <a:lstStyle/>
          <a:p>
            <a:pPr algn="l" indent="0" marL="0">
              <a:buNone/>
            </a:pPr>
            <a:r>
              <a:rPr lang="en-US" sz="1100" b="1" spc="300" kern="0" dirty="0">
                <a:solidFill>
                  <a:srgbClr val="1F6F5C"/>
                </a:solidFill>
                <a:latin typeface="Calibri" pitchFamily="34" charset="0"/>
                <a:ea typeface="Calibri" pitchFamily="34" charset="-122"/>
                <a:cs typeface="Calibri" pitchFamily="34" charset="-120"/>
              </a:rPr>
              <a:t>THE FRICTION</a:t>
            </a:r>
            <a:endParaRPr lang="en-US" sz="1100" dirty="0"/>
          </a:p>
        </p:txBody>
      </p:sp>
      <p:sp>
        <p:nvSpPr>
          <p:cNvPr id="3" name="title"/>
          <p:cNvSpPr txBox="1"/>
          <p:nvPr/>
        </p:nvSpPr>
        <p:spPr>
          <a:xfrm>
            <a:off x="457200" y="502920"/>
            <a:ext cx="8229600" cy="685800"/>
          </a:xfrm>
          <a:prstGeom prst="rect">
            <a:avLst/>
          </a:prstGeom>
          <a:noFill/>
          <a:ln/>
        </p:spPr>
        <p:txBody>
          <a:bodyPr wrap="square" lIns="0" tIns="0" rIns="0" bIns="0" rtlCol="0" anchor="ctr"/>
          <a:lstStyle/>
          <a:p>
            <a:pPr algn="l" indent="0" marL="0">
              <a:buNone/>
            </a:pPr>
            <a:r>
              <a:rPr lang="en-US" sz="2600" dirty="0">
                <a:solidFill>
                  <a:srgbClr val="16211E"/>
                </a:solidFill>
                <a:latin typeface="Cambria" pitchFamily="34" charset="0"/>
                <a:ea typeface="Cambria" pitchFamily="34" charset="-122"/>
                <a:cs typeface="Cambria" pitchFamily="34" charset="-120"/>
              </a:rPr>
              <a:t>Six places this process loses time.</a:t>
            </a:r>
            <a:endParaRPr lang="en-US" sz="2600" dirty="0"/>
          </a:p>
        </p:txBody>
      </p:sp>
      <p:sp>
        <p:nvSpPr>
          <p:cNvPr id="4" name="sub"/>
          <p:cNvSpPr txBox="1"/>
          <p:nvPr/>
        </p:nvSpPr>
        <p:spPr>
          <a:xfrm>
            <a:off x="6675120" y="502920"/>
            <a:ext cx="5056632" cy="685800"/>
          </a:xfrm>
          <a:prstGeom prst="rect">
            <a:avLst/>
          </a:prstGeom>
          <a:noFill/>
          <a:ln/>
        </p:spPr>
        <p:txBody>
          <a:bodyPr wrap="square" lIns="0" tIns="0" rIns="0" bIns="0" rtlCol="0" anchor="ctr"/>
          <a:lstStyle/>
          <a:p>
            <a:pPr algn="r" indent="0" marL="0">
              <a:buNone/>
            </a:pPr>
            <a:r>
              <a:rPr lang="en-US" sz="1400" dirty="0">
                <a:solidFill>
                  <a:srgbClr val="5C6B66"/>
                </a:solidFill>
                <a:latin typeface="Calibri" pitchFamily="34" charset="0"/>
                <a:ea typeface="Calibri" pitchFamily="34" charset="-122"/>
                <a:cs typeface="Calibri" pitchFamily="34" charset="-120"/>
              </a:rPr>
              <a:t>Nobody here is making a mistake. The process is.</a:t>
            </a:r>
            <a:endParaRPr lang="en-US" sz="1400" dirty="0"/>
          </a:p>
        </p:txBody>
      </p:sp>
      <p:sp>
        <p:nvSpPr>
          <p:cNvPr id="5" name="footer"/>
          <p:cNvSpPr txBox="1"/>
          <p:nvPr/>
        </p:nvSpPr>
        <p:spPr>
          <a:xfrm>
            <a:off x="457200" y="6492240"/>
            <a:ext cx="11274552" cy="228600"/>
          </a:xfrm>
          <a:prstGeom prst="rect">
            <a:avLst/>
          </a:prstGeom>
          <a:noFill/>
          <a:ln/>
        </p:spPr>
        <p:txBody>
          <a:bodyPr wrap="square" lIns="0" tIns="0" rIns="0" bIns="0" rtlCol="0" anchor="t"/>
          <a:lstStyle/>
          <a:p>
            <a:pPr algn="l" indent="0" marL="0">
              <a:buNone/>
            </a:pPr>
            <a:r>
              <a:rPr lang="en-US" sz="900" dirty="0">
                <a:solidFill>
                  <a:srgbClr val="5C6B66"/>
                </a:solidFill>
                <a:latin typeface="Calibri" pitchFamily="34" charset="0"/>
                <a:ea typeface="Calibri" pitchFamily="34" charset="-122"/>
                <a:cs typeface="Calibri" pitchFamily="34" charset="-120"/>
              </a:rPr>
              <a:t>Source: the Humana Use Case 1 brief, and the process on the previous slide.</a:t>
            </a:r>
            <a:endParaRPr lang="en-US" sz="900" dirty="0"/>
          </a:p>
        </p:txBody>
      </p:sp>
      <p:sp>
        <p:nvSpPr>
          <p:cNvPr id="6" name="N1"/>
          <p:cNvSpPr/>
          <p:nvPr/>
        </p:nvSpPr>
        <p:spPr>
          <a:xfrm>
            <a:off x="457200" y="1783080"/>
            <a:ext cx="1828800" cy="731520"/>
          </a:xfrm>
          <a:prstGeom prst="roundRect">
            <a:avLst>
              <a:gd name="adj" fmla="val 10000"/>
            </a:avLst>
          </a:prstGeom>
          <a:solidFill>
            <a:srgbClr val="FFFFFF"/>
          </a:solidFill>
          <a:ln w="12700">
            <a:solidFill>
              <a:srgbClr val="CBD5D1"/>
            </a:solidFill>
          </a:ln>
        </p:spPr>
        <p:txBody>
          <a:bodyPr wrap="square" lIns="658368" tIns="36576" rIns="73152" bIns="36576" rtlCol="0" anchor="ctr"/>
          <a:lstStyle/>
          <a:p>
            <a:pPr algn="l" indent="0" marL="0">
              <a:buNone/>
            </a:pPr>
            <a:r>
              <a:rPr lang="en-US" sz="1200" b="1" dirty="0">
                <a:solidFill>
                  <a:srgbClr val="16211E"/>
                </a:solidFill>
                <a:latin typeface="Calibri" pitchFamily="34" charset="0"/>
                <a:ea typeface="Calibri" pitchFamily="34" charset="-122"/>
                <a:cs typeface="Calibri" pitchFamily="34" charset="-120"/>
              </a:rPr>
              <a:t>Surgeon's office</a:t>
            </a:r>
            <a:endParaRPr lang="en-US" sz="1200" dirty="0"/>
          </a:p>
          <a:p>
            <a:pPr algn="l" indent="0" marL="0">
              <a:buNone/>
            </a:pPr>
            <a:r>
              <a:rPr lang="en-US" sz="950" dirty="0">
                <a:solidFill>
                  <a:srgbClr val="5C6B66"/>
                </a:solidFill>
                <a:latin typeface="Calibri" pitchFamily="34" charset="0"/>
                <a:ea typeface="Calibri" pitchFamily="34" charset="-122"/>
                <a:cs typeface="Calibri" pitchFamily="34" charset="-120"/>
              </a:rPr>
              <a:t>Sends the packet</a:t>
            </a:r>
            <a:endParaRPr lang="en-US" sz="1200" dirty="0"/>
          </a:p>
        </p:txBody>
      </p:sp>
      <p:pic>
        <p:nvPicPr>
          <p:cNvPr id="7" name="AvL1" descr="preencoded.png">    </p:cNvPr>
          <p:cNvPicPr>
            <a:picLocks noChangeAspect="1"/>
          </p:cNvPicPr>
          <p:nvPr/>
        </p:nvPicPr>
        <p:blipFill>
          <a:blip r:embed="rId1"/>
          <a:stretch>
            <a:fillRect/>
          </a:stretch>
        </p:blipFill>
        <p:spPr>
          <a:xfrm>
            <a:off x="539496" y="1892808"/>
            <a:ext cx="512064" cy="512064"/>
          </a:xfrm>
          <a:prstGeom prst="rect">
            <a:avLst/>
          </a:prstGeom>
        </p:spPr>
      </p:pic>
      <p:sp>
        <p:nvSpPr>
          <p:cNvPr id="8" name="N2"/>
          <p:cNvSpPr/>
          <p:nvPr/>
        </p:nvSpPr>
        <p:spPr>
          <a:xfrm>
            <a:off x="2816352" y="1783080"/>
            <a:ext cx="1828800" cy="731520"/>
          </a:xfrm>
          <a:prstGeom prst="roundRect">
            <a:avLst>
              <a:gd name="adj" fmla="val 10000"/>
            </a:avLst>
          </a:prstGeom>
          <a:solidFill>
            <a:srgbClr val="FFFFFF"/>
          </a:solidFill>
          <a:ln w="12700">
            <a:solidFill>
              <a:srgbClr val="CBD5D1"/>
            </a:solidFill>
          </a:ln>
        </p:spPr>
        <p:txBody>
          <a:bodyPr wrap="square" lIns="658368" tIns="36576" rIns="73152" bIns="36576" rtlCol="0" anchor="ctr"/>
          <a:lstStyle/>
          <a:p>
            <a:pPr algn="l" indent="0" marL="0">
              <a:buNone/>
            </a:pPr>
            <a:r>
              <a:rPr lang="en-US" sz="1200" b="1" dirty="0">
                <a:solidFill>
                  <a:srgbClr val="16211E"/>
                </a:solidFill>
                <a:latin typeface="Calibri" pitchFamily="34" charset="0"/>
                <a:ea typeface="Calibri" pitchFamily="34" charset="-122"/>
                <a:cs typeface="Calibri" pitchFamily="34" charset="-120"/>
              </a:rPr>
              <a:t>Intake</a:t>
            </a:r>
            <a:endParaRPr lang="en-US" sz="1200" dirty="0"/>
          </a:p>
          <a:p>
            <a:pPr algn="l" indent="0" marL="0">
              <a:buNone/>
            </a:pPr>
            <a:r>
              <a:rPr lang="en-US" sz="950" dirty="0">
                <a:solidFill>
                  <a:srgbClr val="5C6B66"/>
                </a:solidFill>
                <a:latin typeface="Calibri" pitchFamily="34" charset="0"/>
                <a:ea typeface="Calibri" pitchFamily="34" charset="-122"/>
                <a:cs typeface="Calibri" pitchFamily="34" charset="-120"/>
              </a:rPr>
              <a:t>Checks it in</a:t>
            </a:r>
            <a:endParaRPr lang="en-US" sz="1200" dirty="0"/>
          </a:p>
        </p:txBody>
      </p:sp>
      <p:pic>
        <p:nvPicPr>
          <p:cNvPr id="9" name="AvIntake" descr="preencoded.png">    </p:cNvPr>
          <p:cNvPicPr>
            <a:picLocks noChangeAspect="1"/>
          </p:cNvPicPr>
          <p:nvPr/>
        </p:nvPicPr>
        <p:blipFill>
          <a:blip r:embed="rId2"/>
          <a:stretch>
            <a:fillRect/>
          </a:stretch>
        </p:blipFill>
        <p:spPr>
          <a:xfrm>
            <a:off x="2898648" y="1892808"/>
            <a:ext cx="512064" cy="512064"/>
          </a:xfrm>
          <a:prstGeom prst="rect">
            <a:avLst/>
          </a:prstGeom>
        </p:spPr>
      </p:pic>
      <p:sp>
        <p:nvSpPr>
          <p:cNvPr id="10" name="N3"/>
          <p:cNvSpPr/>
          <p:nvPr/>
        </p:nvSpPr>
        <p:spPr>
          <a:xfrm>
            <a:off x="5175504" y="1783080"/>
            <a:ext cx="1828800" cy="731520"/>
          </a:xfrm>
          <a:prstGeom prst="roundRect">
            <a:avLst>
              <a:gd name="adj" fmla="val 10000"/>
            </a:avLst>
          </a:prstGeom>
          <a:solidFill>
            <a:srgbClr val="FFFFFF"/>
          </a:solidFill>
          <a:ln w="12700">
            <a:solidFill>
              <a:srgbClr val="CBD5D1"/>
            </a:solidFill>
          </a:ln>
        </p:spPr>
        <p:txBody>
          <a:bodyPr wrap="square" lIns="658368" tIns="36576" rIns="73152" bIns="36576" rtlCol="0" anchor="ctr"/>
          <a:lstStyle/>
          <a:p>
            <a:pPr algn="l" indent="0" marL="0">
              <a:buNone/>
            </a:pPr>
            <a:r>
              <a:rPr lang="en-US" sz="1200" b="1" dirty="0">
                <a:solidFill>
                  <a:srgbClr val="16211E"/>
                </a:solidFill>
                <a:latin typeface="Calibri" pitchFamily="34" charset="0"/>
                <a:ea typeface="Calibri" pitchFamily="34" charset="-122"/>
                <a:cs typeface="Calibri" pitchFamily="34" charset="-120"/>
              </a:rPr>
              <a:t>UM nurse</a:t>
            </a:r>
            <a:endParaRPr lang="en-US" sz="1200" dirty="0"/>
          </a:p>
          <a:p>
            <a:pPr algn="l" indent="0" marL="0">
              <a:buNone/>
            </a:pPr>
            <a:r>
              <a:rPr lang="en-US" sz="950" dirty="0">
                <a:solidFill>
                  <a:srgbClr val="5C6B66"/>
                </a:solidFill>
                <a:latin typeface="Calibri" pitchFamily="34" charset="0"/>
                <a:ea typeface="Calibri" pitchFamily="34" charset="-122"/>
                <a:cs typeface="Calibri" pitchFamily="34" charset="-120"/>
              </a:rPr>
              <a:t>Reads the packet</a:t>
            </a:r>
            <a:endParaRPr lang="en-US" sz="1200" dirty="0"/>
          </a:p>
        </p:txBody>
      </p:sp>
      <p:pic>
        <p:nvPicPr>
          <p:cNvPr id="11" name="AvNurse" descr="preencoded.png">    </p:cNvPr>
          <p:cNvPicPr>
            <a:picLocks noChangeAspect="1"/>
          </p:cNvPicPr>
          <p:nvPr/>
        </p:nvPicPr>
        <p:blipFill>
          <a:blip r:embed="rId3"/>
          <a:stretch>
            <a:fillRect/>
          </a:stretch>
        </p:blipFill>
        <p:spPr>
          <a:xfrm>
            <a:off x="5257800" y="1892808"/>
            <a:ext cx="512064" cy="512064"/>
          </a:xfrm>
          <a:prstGeom prst="rect">
            <a:avLst/>
          </a:prstGeom>
        </p:spPr>
      </p:pic>
      <p:sp>
        <p:nvSpPr>
          <p:cNvPr id="12" name="N4"/>
          <p:cNvSpPr/>
          <p:nvPr/>
        </p:nvSpPr>
        <p:spPr>
          <a:xfrm>
            <a:off x="7534656" y="1783080"/>
            <a:ext cx="1828800" cy="731520"/>
          </a:xfrm>
          <a:prstGeom prst="roundRect">
            <a:avLst>
              <a:gd name="adj" fmla="val 10000"/>
            </a:avLst>
          </a:prstGeom>
          <a:solidFill>
            <a:srgbClr val="FFFFFF"/>
          </a:solidFill>
          <a:ln w="12700">
            <a:solidFill>
              <a:srgbClr val="CBD5D1"/>
            </a:solidFill>
          </a:ln>
        </p:spPr>
        <p:txBody>
          <a:bodyPr wrap="square" lIns="91440" tIns="36576" rIns="91440" bIns="36576" rtlCol="0" anchor="ctr"/>
          <a:lstStyle/>
          <a:p>
            <a:pPr algn="ctr" indent="0" marL="0">
              <a:buNone/>
            </a:pPr>
            <a:r>
              <a:rPr lang="en-US" sz="1200" b="1" dirty="0">
                <a:solidFill>
                  <a:srgbClr val="16211E"/>
                </a:solidFill>
                <a:latin typeface="Calibri" pitchFamily="34" charset="0"/>
                <a:ea typeface="Calibri" pitchFamily="34" charset="-122"/>
                <a:cs typeface="Calibri" pitchFamily="34" charset="-120"/>
              </a:rPr>
              <a:t>Decision</a:t>
            </a:r>
            <a:endParaRPr lang="en-US" sz="1200" dirty="0"/>
          </a:p>
          <a:p>
            <a:pPr algn="ctr" indent="0" marL="0">
              <a:buNone/>
            </a:pPr>
            <a:r>
              <a:rPr lang="en-US" sz="950" dirty="0">
                <a:solidFill>
                  <a:srgbClr val="5C6B66"/>
                </a:solidFill>
                <a:latin typeface="Calibri" pitchFamily="34" charset="0"/>
                <a:ea typeface="Calibri" pitchFamily="34" charset="-122"/>
                <a:cs typeface="Calibri" pitchFamily="34" charset="-120"/>
              </a:rPr>
              <a:t>Approve, pend, escalate</a:t>
            </a:r>
            <a:endParaRPr lang="en-US" sz="1200" dirty="0"/>
          </a:p>
        </p:txBody>
      </p:sp>
      <p:sp>
        <p:nvSpPr>
          <p:cNvPr id="13" name="N5"/>
          <p:cNvSpPr/>
          <p:nvPr/>
        </p:nvSpPr>
        <p:spPr>
          <a:xfrm>
            <a:off x="9902952" y="1783080"/>
            <a:ext cx="1828800" cy="731520"/>
          </a:xfrm>
          <a:prstGeom prst="roundRect">
            <a:avLst>
              <a:gd name="adj" fmla="val 10000"/>
            </a:avLst>
          </a:prstGeom>
          <a:solidFill>
            <a:srgbClr val="FFFFFF"/>
          </a:solidFill>
          <a:ln w="12700">
            <a:solidFill>
              <a:srgbClr val="CBD5D1"/>
            </a:solidFill>
          </a:ln>
        </p:spPr>
        <p:txBody>
          <a:bodyPr wrap="square" lIns="658368" tIns="36576" rIns="73152" bIns="36576" rtlCol="0" anchor="ctr"/>
          <a:lstStyle/>
          <a:p>
            <a:pPr algn="l" indent="0" marL="0">
              <a:buNone/>
            </a:pPr>
            <a:r>
              <a:rPr lang="en-US" sz="1200" b="1" dirty="0">
                <a:solidFill>
                  <a:srgbClr val="16211E"/>
                </a:solidFill>
                <a:latin typeface="Calibri" pitchFamily="34" charset="0"/>
                <a:ea typeface="Calibri" pitchFamily="34" charset="-122"/>
                <a:cs typeface="Calibri" pitchFamily="34" charset="-120"/>
              </a:rPr>
              <a:t>The member</a:t>
            </a:r>
            <a:endParaRPr lang="en-US" sz="1200" dirty="0"/>
          </a:p>
          <a:p>
            <a:pPr algn="l" indent="0" marL="0">
              <a:buNone/>
            </a:pPr>
            <a:r>
              <a:rPr lang="en-US" sz="950" dirty="0">
                <a:solidFill>
                  <a:srgbClr val="5C6B66"/>
                </a:solidFill>
                <a:latin typeface="Calibri" pitchFamily="34" charset="0"/>
                <a:ea typeface="Calibri" pitchFamily="34" charset="-122"/>
                <a:cs typeface="Calibri" pitchFamily="34" charset="-120"/>
              </a:rPr>
              <a:t>Waits for the answer</a:t>
            </a:r>
            <a:endParaRPr lang="en-US" sz="1200" dirty="0"/>
          </a:p>
        </p:txBody>
      </p:sp>
      <p:pic>
        <p:nvPicPr>
          <p:cNvPr id="14" name="AvM" descr="preencoded.png">    </p:cNvPr>
          <p:cNvPicPr>
            <a:picLocks noChangeAspect="1"/>
          </p:cNvPicPr>
          <p:nvPr/>
        </p:nvPicPr>
        <p:blipFill>
          <a:blip r:embed="rId4"/>
          <a:stretch>
            <a:fillRect/>
          </a:stretch>
        </p:blipFill>
        <p:spPr>
          <a:xfrm>
            <a:off x="9985248" y="1892808"/>
            <a:ext cx="512064" cy="512064"/>
          </a:xfrm>
          <a:prstGeom prst="rect">
            <a:avLst/>
          </a:prstGeom>
        </p:spPr>
      </p:pic>
      <p:sp>
        <p:nvSpPr>
          <p:cNvPr id="15" name="A12"/>
          <p:cNvSpPr/>
          <p:nvPr/>
        </p:nvSpPr>
        <p:spPr>
          <a:xfrm>
            <a:off x="2322576" y="2148840"/>
            <a:ext cx="457200" cy="0"/>
          </a:xfrm>
          <a:prstGeom prst="line">
            <a:avLst/>
          </a:prstGeom>
          <a:noFill/>
          <a:ln w="22225">
            <a:solidFill>
              <a:srgbClr val="B8452F"/>
            </a:solidFill>
            <a:prstDash val="dash"/>
            <a:tailEnd type="triangle"/>
          </a:ln>
        </p:spPr>
      </p:sp>
      <p:sp>
        <p:nvSpPr>
          <p:cNvPr id="16" name="A23"/>
          <p:cNvSpPr/>
          <p:nvPr/>
        </p:nvSpPr>
        <p:spPr>
          <a:xfrm>
            <a:off x="4681728" y="2148840"/>
            <a:ext cx="457200" cy="0"/>
          </a:xfrm>
          <a:prstGeom prst="line">
            <a:avLst/>
          </a:prstGeom>
          <a:noFill/>
          <a:ln w="22225">
            <a:solidFill>
              <a:srgbClr val="5C6B66"/>
            </a:solidFill>
            <a:prstDash val="solid"/>
            <a:tailEnd type="triangle"/>
          </a:ln>
        </p:spPr>
      </p:sp>
      <p:sp>
        <p:nvSpPr>
          <p:cNvPr id="17" name="A34"/>
          <p:cNvSpPr/>
          <p:nvPr/>
        </p:nvSpPr>
        <p:spPr>
          <a:xfrm>
            <a:off x="7040880" y="2148840"/>
            <a:ext cx="457200" cy="0"/>
          </a:xfrm>
          <a:prstGeom prst="line">
            <a:avLst/>
          </a:prstGeom>
          <a:noFill/>
          <a:ln w="22225">
            <a:solidFill>
              <a:srgbClr val="5C6B66"/>
            </a:solidFill>
            <a:prstDash val="solid"/>
            <a:tailEnd type="triangle"/>
          </a:ln>
        </p:spPr>
      </p:sp>
      <p:sp>
        <p:nvSpPr>
          <p:cNvPr id="18" name="A45"/>
          <p:cNvSpPr/>
          <p:nvPr/>
        </p:nvSpPr>
        <p:spPr>
          <a:xfrm>
            <a:off x="9400032" y="2148840"/>
            <a:ext cx="457200" cy="0"/>
          </a:xfrm>
          <a:prstGeom prst="line">
            <a:avLst/>
          </a:prstGeom>
          <a:noFill/>
          <a:ln w="22225">
            <a:solidFill>
              <a:srgbClr val="5C6B66"/>
            </a:solidFill>
            <a:prstDash val="solid"/>
            <a:tailEnd type="triangle"/>
          </a:ln>
        </p:spPr>
      </p:sp>
      <p:sp>
        <p:nvSpPr>
          <p:cNvPr id="19" name="LblFax"/>
          <p:cNvSpPr txBox="1"/>
          <p:nvPr/>
        </p:nvSpPr>
        <p:spPr>
          <a:xfrm>
            <a:off x="2286000" y="1892808"/>
            <a:ext cx="530352" cy="182880"/>
          </a:xfrm>
          <a:prstGeom prst="rect">
            <a:avLst/>
          </a:prstGeom>
          <a:noFill/>
          <a:ln/>
        </p:spPr>
        <p:txBody>
          <a:bodyPr wrap="square" lIns="0" tIns="0" rIns="0" bIns="0" rtlCol="0" anchor="t"/>
          <a:lstStyle/>
          <a:p>
            <a:pPr algn="ctr" indent="0" marL="0">
              <a:buNone/>
            </a:pPr>
            <a:r>
              <a:rPr lang="en-US" sz="800" b="1" spc="200" kern="0" dirty="0">
                <a:solidFill>
                  <a:srgbClr val="B8452F"/>
                </a:solidFill>
                <a:latin typeface="Calibri" pitchFamily="34" charset="0"/>
                <a:ea typeface="Calibri" pitchFamily="34" charset="-122"/>
                <a:cs typeface="Calibri" pitchFamily="34" charset="-120"/>
              </a:rPr>
              <a:t>FAX</a:t>
            </a:r>
            <a:endParaRPr lang="en-US" sz="800" dirty="0"/>
          </a:p>
        </p:txBody>
      </p:sp>
      <p:sp>
        <p:nvSpPr>
          <p:cNvPr id="20" name="L1"/>
          <p:cNvSpPr/>
          <p:nvPr/>
        </p:nvSpPr>
        <p:spPr>
          <a:xfrm>
            <a:off x="8449056" y="2514600"/>
            <a:ext cx="0" cy="274320"/>
          </a:xfrm>
          <a:prstGeom prst="line">
            <a:avLst/>
          </a:prstGeom>
          <a:noFill/>
          <a:ln w="22225">
            <a:solidFill>
              <a:srgbClr val="8A5A00"/>
            </a:solidFill>
            <a:prstDash val="solid"/>
          </a:ln>
        </p:spPr>
      </p:sp>
      <p:sp>
        <p:nvSpPr>
          <p:cNvPr id="21" name="L2"/>
          <p:cNvSpPr/>
          <p:nvPr/>
        </p:nvSpPr>
        <p:spPr>
          <a:xfrm>
            <a:off x="1371600" y="2788920"/>
            <a:ext cx="7077456" cy="0"/>
          </a:xfrm>
          <a:prstGeom prst="line">
            <a:avLst/>
          </a:prstGeom>
          <a:noFill/>
          <a:ln w="22225">
            <a:solidFill>
              <a:srgbClr val="8A5A00"/>
            </a:solidFill>
            <a:prstDash val="solid"/>
          </a:ln>
        </p:spPr>
      </p:sp>
      <p:sp>
        <p:nvSpPr>
          <p:cNvPr id="22" name="L3"/>
          <p:cNvSpPr/>
          <p:nvPr/>
        </p:nvSpPr>
        <p:spPr>
          <a:xfrm flipV="1">
            <a:off x="1371600" y="2514600"/>
            <a:ext cx="0" cy="274320"/>
          </a:xfrm>
          <a:prstGeom prst="line">
            <a:avLst/>
          </a:prstGeom>
          <a:noFill/>
          <a:ln w="22225">
            <a:solidFill>
              <a:srgbClr val="8A5A00"/>
            </a:solidFill>
            <a:prstDash val="solid"/>
            <a:tailEnd type="triangle"/>
          </a:ln>
        </p:spPr>
      </p:sp>
      <p:sp>
        <p:nvSpPr>
          <p:cNvPr id="23" name="LblLoop"/>
          <p:cNvSpPr txBox="1"/>
          <p:nvPr/>
        </p:nvSpPr>
        <p:spPr>
          <a:xfrm>
            <a:off x="2926080" y="2569464"/>
            <a:ext cx="3657600" cy="201168"/>
          </a:xfrm>
          <a:prstGeom prst="rect">
            <a:avLst/>
          </a:prstGeom>
          <a:noFill/>
          <a:ln/>
        </p:spPr>
        <p:txBody>
          <a:bodyPr wrap="square" lIns="0" tIns="0" rIns="0" bIns="0" rtlCol="0" anchor="t"/>
          <a:lstStyle/>
          <a:p>
            <a:pPr algn="ctr" indent="0" marL="0">
              <a:buNone/>
            </a:pPr>
            <a:r>
              <a:rPr lang="en-US" sz="950" b="1" dirty="0">
                <a:solidFill>
                  <a:srgbClr val="8A5A00"/>
                </a:solidFill>
                <a:latin typeface="Calibri" pitchFamily="34" charset="0"/>
                <a:ea typeface="Calibri" pitchFamily="34" charset="-122"/>
                <a:cs typeface="Calibri" pitchFamily="34" charset="-120"/>
              </a:rPr>
              <a:t>Pend: back to the provider, and it starts again</a:t>
            </a:r>
            <a:endParaRPr lang="en-US" sz="950" dirty="0"/>
          </a:p>
        </p:txBody>
      </p:sp>
      <p:sp>
        <p:nvSpPr>
          <p:cNvPr id="24" name="Pin1"/>
          <p:cNvSpPr/>
          <p:nvPr/>
        </p:nvSpPr>
        <p:spPr>
          <a:xfrm>
            <a:off x="5532120" y="1453896"/>
            <a:ext cx="292608" cy="292608"/>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5" name="Pin3"/>
          <p:cNvSpPr/>
          <p:nvPr/>
        </p:nvSpPr>
        <p:spPr>
          <a:xfrm>
            <a:off x="6355080" y="1453896"/>
            <a:ext cx="292608" cy="292608"/>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26" name="Pin2"/>
          <p:cNvSpPr/>
          <p:nvPr/>
        </p:nvSpPr>
        <p:spPr>
          <a:xfrm>
            <a:off x="2404872" y="2313432"/>
            <a:ext cx="292608" cy="292608"/>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7" name="Pin4"/>
          <p:cNvSpPr/>
          <p:nvPr/>
        </p:nvSpPr>
        <p:spPr>
          <a:xfrm>
            <a:off x="8302752" y="1453896"/>
            <a:ext cx="292608" cy="292608"/>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8" name="Pin5"/>
          <p:cNvSpPr/>
          <p:nvPr/>
        </p:nvSpPr>
        <p:spPr>
          <a:xfrm>
            <a:off x="2139696" y="2642616"/>
            <a:ext cx="292608" cy="292608"/>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9" name="Pin6"/>
          <p:cNvSpPr/>
          <p:nvPr/>
        </p:nvSpPr>
        <p:spPr>
          <a:xfrm>
            <a:off x="10671048" y="1453896"/>
            <a:ext cx="292608" cy="292608"/>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0" name="Card1"/>
          <p:cNvSpPr/>
          <p:nvPr/>
        </p:nvSpPr>
        <p:spPr>
          <a:xfrm>
            <a:off x="457200" y="3090672"/>
            <a:ext cx="3657600" cy="1572768"/>
          </a:xfrm>
          <a:prstGeom prst="roundRect">
            <a:avLst>
              <a:gd name="adj" fmla="val 4651"/>
            </a:avLst>
          </a:prstGeom>
          <a:solidFill>
            <a:srgbClr val="FFFFFF"/>
          </a:solidFill>
          <a:ln w="15875">
            <a:solidFill>
              <a:srgbClr val="CBD5D1"/>
            </a:solidFill>
          </a:ln>
        </p:spPr>
        <p:txBody>
          <a:bodyPr wrap="square" lIns="603504" tIns="155448" rIns="146304" bIns="91440" rtlCol="0" anchor="t"/>
          <a:lstStyle/>
          <a:p>
            <a:pPr algn="l" indent="0" marL="0">
              <a:buNone/>
            </a:pPr>
            <a:r>
              <a:rPr lang="en-US" sz="1500" b="1" dirty="0">
                <a:solidFill>
                  <a:srgbClr val="16211E"/>
                </a:solidFill>
                <a:latin typeface="Calibri" pitchFamily="34" charset="0"/>
                <a:ea typeface="Calibri" pitchFamily="34" charset="-122"/>
                <a:cs typeface="Calibri" pitchFamily="34" charset="-120"/>
              </a:rPr>
              <a:t>Reading by hand</a:t>
            </a:r>
            <a:endParaRPr lang="en-US" sz="1500" dirty="0"/>
          </a:p>
          <a:p>
            <a:pPr algn="l" indent="0" marL="0">
              <a:buNone/>
            </a:pPr>
            <a:r>
              <a:rPr lang="en-US" sz="1150" dirty="0">
                <a:solidFill>
                  <a:srgbClr val="5C6B66"/>
                </a:solidFill>
                <a:latin typeface="Calibri" pitchFamily="34" charset="0"/>
                <a:ea typeface="Calibri" pitchFamily="34" charset="-122"/>
                <a:cs typeface="Calibri" pitchFamily="34" charset="-120"/>
              </a:rPr>
              <a:t>The nurse reads all 14 pages to find the same few facts. Clear-cut cases take almost as long as hard ones.</a:t>
            </a:r>
            <a:endParaRPr lang="en-US" sz="1500" dirty="0"/>
          </a:p>
          <a:p>
            <a:pPr algn="l" indent="0" marL="0">
              <a:buNone/>
            </a:pPr>
            <a:r>
              <a:rPr lang="en-US" sz="1050" b="1" dirty="0">
                <a:solidFill>
                  <a:srgbClr val="B8452F"/>
                </a:solidFill>
                <a:latin typeface="Calibri" pitchFamily="34" charset="0"/>
                <a:ea typeface="Calibri" pitchFamily="34" charset="-122"/>
                <a:cs typeface="Calibri" pitchFamily="34" charset="-120"/>
              </a:rPr>
              <a:t>Felt by: the nurse</a:t>
            </a:r>
            <a:endParaRPr lang="en-US" sz="1500" dirty="0"/>
          </a:p>
        </p:txBody>
      </p:sp>
      <p:sp>
        <p:nvSpPr>
          <p:cNvPr id="31" name="Num1"/>
          <p:cNvSpPr/>
          <p:nvPr/>
        </p:nvSpPr>
        <p:spPr>
          <a:xfrm>
            <a:off x="594360" y="3227832"/>
            <a:ext cx="310896" cy="310896"/>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32" name="Card2"/>
          <p:cNvSpPr/>
          <p:nvPr/>
        </p:nvSpPr>
        <p:spPr>
          <a:xfrm>
            <a:off x="4265676" y="3090672"/>
            <a:ext cx="3657600" cy="1572768"/>
          </a:xfrm>
          <a:prstGeom prst="roundRect">
            <a:avLst>
              <a:gd name="adj" fmla="val 4651"/>
            </a:avLst>
          </a:prstGeom>
          <a:solidFill>
            <a:srgbClr val="FFFFFF"/>
          </a:solidFill>
          <a:ln w="15875">
            <a:solidFill>
              <a:srgbClr val="CBD5D1"/>
            </a:solidFill>
          </a:ln>
        </p:spPr>
        <p:txBody>
          <a:bodyPr wrap="square" lIns="603504" tIns="155448" rIns="146304" bIns="91440" rtlCol="0" anchor="t"/>
          <a:lstStyle/>
          <a:p>
            <a:pPr algn="l" indent="0" marL="0">
              <a:buNone/>
            </a:pPr>
            <a:r>
              <a:rPr lang="en-US" sz="1500" b="1" dirty="0">
                <a:solidFill>
                  <a:srgbClr val="16211E"/>
                </a:solidFill>
                <a:latin typeface="Calibri" pitchFamily="34" charset="0"/>
                <a:ea typeface="Calibri" pitchFamily="34" charset="-122"/>
                <a:cs typeface="Calibri" pitchFamily="34" charset="-120"/>
              </a:rPr>
              <a:t>Messy input</a:t>
            </a:r>
            <a:endParaRPr lang="en-US" sz="1500" dirty="0"/>
          </a:p>
          <a:p>
            <a:pPr algn="l" indent="0" marL="0">
              <a:buNone/>
            </a:pPr>
            <a:r>
              <a:rPr lang="en-US" sz="1150" dirty="0">
                <a:solidFill>
                  <a:srgbClr val="5C6B66"/>
                </a:solidFill>
                <a:latin typeface="Calibri" pitchFamily="34" charset="0"/>
                <a:ea typeface="Calibri" pitchFamily="34" charset="-122"/>
                <a:cs typeface="Calibri" pitchFamily="34" charset="-120"/>
              </a:rPr>
              <a:t>Packets arrive by fax or portal. Format and quality change from one office to the next.</a:t>
            </a:r>
            <a:endParaRPr lang="en-US" sz="1500" dirty="0"/>
          </a:p>
          <a:p>
            <a:pPr algn="l" indent="0" marL="0">
              <a:buNone/>
            </a:pPr>
            <a:r>
              <a:rPr lang="en-US" sz="1050" b="1" dirty="0">
                <a:solidFill>
                  <a:srgbClr val="B8452F"/>
                </a:solidFill>
                <a:latin typeface="Calibri" pitchFamily="34" charset="0"/>
                <a:ea typeface="Calibri" pitchFamily="34" charset="-122"/>
                <a:cs typeface="Calibri" pitchFamily="34" charset="-120"/>
              </a:rPr>
              <a:t>Felt by: intake and the nurse</a:t>
            </a:r>
            <a:endParaRPr lang="en-US" sz="1500" dirty="0"/>
          </a:p>
        </p:txBody>
      </p:sp>
      <p:sp>
        <p:nvSpPr>
          <p:cNvPr id="33" name="Num2"/>
          <p:cNvSpPr/>
          <p:nvPr/>
        </p:nvSpPr>
        <p:spPr>
          <a:xfrm>
            <a:off x="4402836" y="3227832"/>
            <a:ext cx="310896" cy="310896"/>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Card3"/>
          <p:cNvSpPr/>
          <p:nvPr/>
        </p:nvSpPr>
        <p:spPr>
          <a:xfrm>
            <a:off x="8074152" y="3090672"/>
            <a:ext cx="3657600" cy="1572768"/>
          </a:xfrm>
          <a:prstGeom prst="roundRect">
            <a:avLst>
              <a:gd name="adj" fmla="val 4651"/>
            </a:avLst>
          </a:prstGeom>
          <a:solidFill>
            <a:srgbClr val="FFFFFF"/>
          </a:solidFill>
          <a:ln w="15875">
            <a:solidFill>
              <a:srgbClr val="CBD5D1"/>
            </a:solidFill>
          </a:ln>
        </p:spPr>
        <p:txBody>
          <a:bodyPr wrap="square" lIns="603504" tIns="155448" rIns="146304" bIns="91440" rtlCol="0" anchor="t"/>
          <a:lstStyle/>
          <a:p>
            <a:pPr algn="l" indent="0" marL="0">
              <a:buNone/>
            </a:pPr>
            <a:r>
              <a:rPr lang="en-US" sz="1500" b="1" dirty="0">
                <a:solidFill>
                  <a:srgbClr val="16211E"/>
                </a:solidFill>
                <a:latin typeface="Calibri" pitchFamily="34" charset="0"/>
                <a:ea typeface="Calibri" pitchFamily="34" charset="-122"/>
                <a:cs typeface="Calibri" pitchFamily="34" charset="-120"/>
              </a:rPr>
              <a:t>Hunting, not deciding</a:t>
            </a:r>
            <a:endParaRPr lang="en-US" sz="1500" dirty="0"/>
          </a:p>
          <a:p>
            <a:pPr algn="l" indent="0" marL="0">
              <a:buNone/>
            </a:pPr>
            <a:r>
              <a:rPr lang="en-US" sz="1150" dirty="0">
                <a:solidFill>
                  <a:srgbClr val="5C6B66"/>
                </a:solidFill>
                <a:latin typeface="Calibri" pitchFamily="34" charset="0"/>
                <a:ea typeface="Calibri" pitchFamily="34" charset="-122"/>
                <a:cs typeface="Calibri" pitchFamily="34" charset="-120"/>
              </a:rPr>
              <a:t>Benefits, eligibility, policy, and provider systems sit apart. No one view holds the full picture.</a:t>
            </a:r>
            <a:endParaRPr lang="en-US" sz="1500" dirty="0"/>
          </a:p>
          <a:p>
            <a:pPr algn="l" indent="0" marL="0">
              <a:buNone/>
            </a:pPr>
            <a:r>
              <a:rPr lang="en-US" sz="1050" b="1" dirty="0">
                <a:solidFill>
                  <a:srgbClr val="B8452F"/>
                </a:solidFill>
                <a:latin typeface="Calibri" pitchFamily="34" charset="0"/>
                <a:ea typeface="Calibri" pitchFamily="34" charset="-122"/>
                <a:cs typeface="Calibri" pitchFamily="34" charset="-120"/>
              </a:rPr>
              <a:t>Felt by: the nurse</a:t>
            </a:r>
            <a:endParaRPr lang="en-US" sz="1500" dirty="0"/>
          </a:p>
        </p:txBody>
      </p:sp>
      <p:sp>
        <p:nvSpPr>
          <p:cNvPr id="35" name="Num3"/>
          <p:cNvSpPr/>
          <p:nvPr/>
        </p:nvSpPr>
        <p:spPr>
          <a:xfrm>
            <a:off x="8211312" y="3227832"/>
            <a:ext cx="310896" cy="310896"/>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6" name="Card4"/>
          <p:cNvSpPr/>
          <p:nvPr/>
        </p:nvSpPr>
        <p:spPr>
          <a:xfrm>
            <a:off x="457200" y="4828032"/>
            <a:ext cx="3657600" cy="1572768"/>
          </a:xfrm>
          <a:prstGeom prst="roundRect">
            <a:avLst>
              <a:gd name="adj" fmla="val 4651"/>
            </a:avLst>
          </a:prstGeom>
          <a:solidFill>
            <a:srgbClr val="FFFFFF"/>
          </a:solidFill>
          <a:ln w="15875">
            <a:solidFill>
              <a:srgbClr val="CBD5D1"/>
            </a:solidFill>
          </a:ln>
        </p:spPr>
        <p:txBody>
          <a:bodyPr wrap="square" lIns="603504" tIns="155448" rIns="146304" bIns="91440" rtlCol="0" anchor="t"/>
          <a:lstStyle/>
          <a:p>
            <a:pPr algn="l" indent="0" marL="0">
              <a:buNone/>
            </a:pPr>
            <a:r>
              <a:rPr lang="en-US" sz="1500" b="1" dirty="0">
                <a:solidFill>
                  <a:srgbClr val="16211E"/>
                </a:solidFill>
                <a:latin typeface="Calibri" pitchFamily="34" charset="0"/>
                <a:ea typeface="Calibri" pitchFamily="34" charset="-122"/>
                <a:cs typeface="Calibri" pitchFamily="34" charset="-120"/>
              </a:rPr>
              <a:t>Decisions vary</a:t>
            </a:r>
            <a:endParaRPr lang="en-US" sz="1500" dirty="0"/>
          </a:p>
          <a:p>
            <a:pPr algn="l" indent="0" marL="0">
              <a:buNone/>
            </a:pPr>
            <a:r>
              <a:rPr lang="en-US" sz="1150" dirty="0">
                <a:solidFill>
                  <a:srgbClr val="5C6B66"/>
                </a:solidFill>
                <a:latin typeface="Calibri" pitchFamily="34" charset="0"/>
                <a:ea typeface="Calibri" pitchFamily="34" charset="-122"/>
                <a:cs typeface="Calibri" pitchFamily="34" charset="-120"/>
              </a:rPr>
              <a:t>Two reviewers can read the same packet and reach different decisions.</a:t>
            </a:r>
            <a:endParaRPr lang="en-US" sz="1500" dirty="0"/>
          </a:p>
          <a:p>
            <a:pPr algn="l" indent="0" marL="0">
              <a:buNone/>
            </a:pPr>
            <a:r>
              <a:rPr lang="en-US" sz="1050" b="1" dirty="0">
                <a:solidFill>
                  <a:srgbClr val="B8452F"/>
                </a:solidFill>
                <a:latin typeface="Calibri" pitchFamily="34" charset="0"/>
                <a:ea typeface="Calibri" pitchFamily="34" charset="-122"/>
                <a:cs typeface="Calibri" pitchFamily="34" charset="-120"/>
              </a:rPr>
              <a:t>Felt by: the plan and the provider</a:t>
            </a:r>
            <a:endParaRPr lang="en-US" sz="1500" dirty="0"/>
          </a:p>
        </p:txBody>
      </p:sp>
      <p:sp>
        <p:nvSpPr>
          <p:cNvPr id="37" name="Num4"/>
          <p:cNvSpPr/>
          <p:nvPr/>
        </p:nvSpPr>
        <p:spPr>
          <a:xfrm>
            <a:off x="594360" y="4965192"/>
            <a:ext cx="310896" cy="310896"/>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38" name="Card5"/>
          <p:cNvSpPr/>
          <p:nvPr/>
        </p:nvSpPr>
        <p:spPr>
          <a:xfrm>
            <a:off x="4265676" y="4828032"/>
            <a:ext cx="3657600" cy="1572768"/>
          </a:xfrm>
          <a:prstGeom prst="roundRect">
            <a:avLst>
              <a:gd name="adj" fmla="val 4651"/>
            </a:avLst>
          </a:prstGeom>
          <a:solidFill>
            <a:srgbClr val="FFFFFF"/>
          </a:solidFill>
          <a:ln w="15875">
            <a:solidFill>
              <a:srgbClr val="CBD5D1"/>
            </a:solidFill>
          </a:ln>
        </p:spPr>
        <p:txBody>
          <a:bodyPr wrap="square" lIns="603504" tIns="155448" rIns="146304" bIns="91440" rtlCol="0" anchor="t"/>
          <a:lstStyle/>
          <a:p>
            <a:pPr algn="l" indent="0" marL="0">
              <a:buNone/>
            </a:pPr>
            <a:r>
              <a:rPr lang="en-US" sz="1500" b="1" dirty="0">
                <a:solidFill>
                  <a:srgbClr val="16211E"/>
                </a:solidFill>
                <a:latin typeface="Calibri" pitchFamily="34" charset="0"/>
                <a:ea typeface="Calibri" pitchFamily="34" charset="-122"/>
                <a:cs typeface="Calibri" pitchFamily="34" charset="-120"/>
              </a:rPr>
              <a:t>The pend loop</a:t>
            </a:r>
            <a:endParaRPr lang="en-US" sz="1500" dirty="0"/>
          </a:p>
          <a:p>
            <a:pPr algn="l" indent="0" marL="0">
              <a:buNone/>
            </a:pPr>
            <a:r>
              <a:rPr lang="en-US" sz="1150" dirty="0">
                <a:solidFill>
                  <a:srgbClr val="5C6B66"/>
                </a:solidFill>
                <a:latin typeface="Calibri" pitchFamily="34" charset="0"/>
                <a:ea typeface="Calibri" pitchFamily="34" charset="-122"/>
                <a:cs typeface="Calibri" pitchFamily="34" charset="-120"/>
              </a:rPr>
              <a:t>A detail a cleaner read could catch in minutes sends the packet back. The case starts from zero, and the clock keeps running.</a:t>
            </a:r>
            <a:endParaRPr lang="en-US" sz="1500" dirty="0"/>
          </a:p>
          <a:p>
            <a:pPr algn="l" indent="0" marL="0">
              <a:buNone/>
            </a:pPr>
            <a:r>
              <a:rPr lang="en-US" sz="1050" b="1" dirty="0">
                <a:solidFill>
                  <a:srgbClr val="B8452F"/>
                </a:solidFill>
                <a:latin typeface="Calibri" pitchFamily="34" charset="0"/>
                <a:ea typeface="Calibri" pitchFamily="34" charset="-122"/>
                <a:cs typeface="Calibri" pitchFamily="34" charset="-120"/>
              </a:rPr>
              <a:t>Felt by: the provider and the member</a:t>
            </a:r>
            <a:endParaRPr lang="en-US" sz="1500" dirty="0"/>
          </a:p>
        </p:txBody>
      </p:sp>
      <p:sp>
        <p:nvSpPr>
          <p:cNvPr id="39" name="Num5"/>
          <p:cNvSpPr/>
          <p:nvPr/>
        </p:nvSpPr>
        <p:spPr>
          <a:xfrm>
            <a:off x="4402836" y="4965192"/>
            <a:ext cx="310896" cy="310896"/>
          </a:xfrm>
          <a:prstGeom prst="roundRect">
            <a:avLst>
              <a:gd name="adj" fmla="val 50000"/>
            </a:avLst>
          </a:prstGeom>
          <a:solidFill>
            <a:srgbClr val="B8452F"/>
          </a:solidFill>
          <a:ln w="12700">
            <a:solidFill>
              <a:srgbClr val="B8452F"/>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40" name="Card6"/>
          <p:cNvSpPr/>
          <p:nvPr/>
        </p:nvSpPr>
        <p:spPr>
          <a:xfrm>
            <a:off x="8074152" y="4828032"/>
            <a:ext cx="3657600" cy="1572768"/>
          </a:xfrm>
          <a:prstGeom prst="roundRect">
            <a:avLst>
              <a:gd name="adj" fmla="val 4651"/>
            </a:avLst>
          </a:prstGeom>
          <a:solidFill>
            <a:srgbClr val="EBE2F8"/>
          </a:solidFill>
          <a:ln w="15875">
            <a:solidFill>
              <a:srgbClr val="5F3AA8"/>
            </a:solidFill>
          </a:ln>
        </p:spPr>
        <p:txBody>
          <a:bodyPr wrap="square" lIns="603504" tIns="155448" rIns="146304" bIns="91440" rtlCol="0" anchor="t"/>
          <a:lstStyle/>
          <a:p>
            <a:pPr algn="l" indent="0" marL="0">
              <a:buNone/>
            </a:pPr>
            <a:r>
              <a:rPr lang="en-US" sz="1500" b="1" dirty="0">
                <a:solidFill>
                  <a:srgbClr val="16211E"/>
                </a:solidFill>
                <a:latin typeface="Calibri" pitchFamily="34" charset="0"/>
                <a:ea typeface="Calibri" pitchFamily="34" charset="-122"/>
                <a:cs typeface="Calibri" pitchFamily="34" charset="-120"/>
              </a:rPr>
              <a:t>The member in the dark</a:t>
            </a:r>
            <a:endParaRPr lang="en-US" sz="1500" dirty="0"/>
          </a:p>
          <a:p>
            <a:pPr algn="l" indent="0" marL="0">
              <a:buNone/>
            </a:pPr>
            <a:r>
              <a:rPr lang="en-US" sz="1150" dirty="0">
                <a:solidFill>
                  <a:srgbClr val="5C6B66"/>
                </a:solidFill>
                <a:latin typeface="Calibri" pitchFamily="34" charset="0"/>
                <a:ea typeface="Calibri" pitchFamily="34" charset="-122"/>
                <a:cs typeface="Calibri" pitchFamily="34" charset="-120"/>
              </a:rPr>
              <a:t>John Doe waits on his surgery with no view of where his request stands.</a:t>
            </a:r>
            <a:endParaRPr lang="en-US" sz="1500" dirty="0"/>
          </a:p>
          <a:p>
            <a:pPr algn="l" indent="0" marL="0">
              <a:buNone/>
            </a:pPr>
            <a:r>
              <a:rPr lang="en-US" sz="1050" b="1" dirty="0">
                <a:solidFill>
                  <a:srgbClr val="B8452F"/>
                </a:solidFill>
                <a:latin typeface="Calibri" pitchFamily="34" charset="0"/>
                <a:ea typeface="Calibri" pitchFamily="34" charset="-122"/>
                <a:cs typeface="Calibri" pitchFamily="34" charset="-120"/>
              </a:rPr>
              <a:t>Felt by: the member</a:t>
            </a:r>
            <a:endParaRPr lang="en-US" sz="1500" dirty="0"/>
          </a:p>
          <a:p>
            <a:pPr algn="l" indent="0" marL="0">
              <a:buNone/>
            </a:pPr>
            <a:r>
              <a:rPr lang="en-US" sz="1100" b="1" dirty="0">
                <a:solidFill>
                  <a:srgbClr val="5F3AA8"/>
                </a:solidFill>
                <a:latin typeface="Calibri" pitchFamily="34" charset="0"/>
                <a:ea typeface="Calibri" pitchFamily="34" charset="-122"/>
                <a:cs typeface="Calibri" pitchFamily="34" charset="-120"/>
              </a:rPr>
              <a:t>Phase 2. It needs a decision feed we can trust first.</a:t>
            </a:r>
            <a:endParaRPr lang="en-US" sz="1500" dirty="0"/>
          </a:p>
        </p:txBody>
      </p:sp>
      <p:sp>
        <p:nvSpPr>
          <p:cNvPr id="41" name="Num6"/>
          <p:cNvSpPr/>
          <p:nvPr/>
        </p:nvSpPr>
        <p:spPr>
          <a:xfrm>
            <a:off x="8211312" y="4965192"/>
            <a:ext cx="310896" cy="310896"/>
          </a:xfrm>
          <a:prstGeom prst="roundRect">
            <a:avLst>
              <a:gd name="adj" fmla="val 50000"/>
            </a:avLst>
          </a:prstGeom>
          <a:solidFill>
            <a:srgbClr val="5F3AA8"/>
          </a:solidFill>
          <a:ln w="12700">
            <a:solidFill>
              <a:srgbClr val="5F3AA8"/>
            </a:solid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30"/>
                                        </p:tgtEl>
                                        <p:attrNameLst>
                                          <p:attrName>style.visibility</p:attrName>
                                        </p:attrNameLst>
                                      </p:cBhvr>
                                      <p:to>
                                        <p:strVal val="visible"/>
                                      </p:to>
                                    </p:set>
                                    <p:animEffect transition="in" filter="fade">
                                      <p:cBhvr>
                                        <p:cTn id="6" dur="500"/>
                                        <p:tgtEl>
                                          <p:spTgt spid="30"/>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31"/>
                                        </p:tgtEl>
                                        <p:attrNameLst>
                                          <p:attrName>style.visibility</p:attrName>
                                        </p:attrNameLst>
                                      </p:cBhvr>
                                      <p:to>
                                        <p:strVal val="visible"/>
                                      </p:to>
                                    </p:set>
                                    <p:animEffect transition="in" filter="fade">
                                      <p:cBhvr>
                                        <p:cTn id="9" dur="500"/>
                                        <p:tgtEl>
                                          <p:spTgt spid="31"/>
                                        </p:tgtEl>
                                      </p:cBhvr>
                                    </p:animEffect>
                                  </p:childTnLst>
                                </p:cTn>
                              </p:par>
                              <p:par>
                                <p:cTn id="13" presetID="10" presetClass="entr" presetSubtype="0" fill="hold" grpId="0" nodeType="withEffect">
                                  <p:stCondLst>
                                    <p:cond delay="15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500"/>
                                        <p:tgtEl>
                                          <p:spTgt spid="24"/>
                                        </p:tgtEl>
                                      </p:cBhvr>
                                    </p:animEffect>
                                  </p:childTnLst>
                                </p:cTn>
                              </p:par>
                            </p:childTnLst>
                          </p:cTn>
                        </p:par>
                      </p:childTnLst>
                    </p:cTn>
                  </p:par>
                  <p:par>
                    <p:cTn id="14" fill="hold">
                      <p:stCondLst>
                        <p:cond delay="indefinite"/>
                      </p:stCondLst>
                      <p:childTnLst>
                        <p:par>
                          <p:cTn id="15" fill="hold">
                            <p:stCondLst>
                              <p:cond delay="0"/>
                            </p:stCondLst>
                            <p:childTnLst>
                              <p:par>
                                <p:cTn id="18" presetID="10" presetClass="entr" presetSubtype="0" fill="hold" grpId="0" nodeType="clickEffect">
                                  <p:stCondLst>
                                    <p:cond delay="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500"/>
                                        <p:tgtEl>
                                          <p:spTgt spid="32"/>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500"/>
                                        <p:tgtEl>
                                          <p:spTgt spid="33"/>
                                        </p:tgtEl>
                                      </p:cBhvr>
                                    </p:animEffect>
                                  </p:childTnLst>
                                </p:cTn>
                              </p:par>
                              <p:par>
                                <p:cTn id="24" presetID="10" presetClass="entr" presetSubtype="0" fill="hold" grpId="0" nodeType="withEffect">
                                  <p:stCondLst>
                                    <p:cond delay="15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500"/>
                                        <p:tgtEl>
                                          <p:spTgt spid="26"/>
                                        </p:tgtEl>
                                      </p:cBhvr>
                                    </p:animEffect>
                                  </p:childTnLst>
                                </p:cTn>
                              </p:par>
                            </p:childTnLst>
                          </p:cTn>
                        </p:par>
                      </p:childTnLst>
                    </p:cTn>
                  </p:par>
                  <p:par>
                    <p:cTn id="25" fill="hold">
                      <p:stCondLst>
                        <p:cond delay="indefinite"/>
                      </p:stCondLst>
                      <p:childTnLst>
                        <p:par>
                          <p:cTn id="26" fill="hold">
                            <p:stCondLst>
                              <p:cond delay="0"/>
                            </p:stCondLst>
                            <p:childTnLst>
                              <p:par>
                                <p:cTn id="29" presetID="10" presetClass="entr" presetSubtype="0" fill="hold" grpId="0" nodeType="clickEffect">
                                  <p:stCondLst>
                                    <p:cond delay="0"/>
                                  </p:stCondLst>
                                  <p:childTnLst>
                                    <p:set>
                                      <p:cBhvr>
                                        <p:cTn id="27" dur="1" fill="hold">
                                          <p:stCondLst>
                                            <p:cond delay="0"/>
                                          </p:stCondLst>
                                        </p:cTn>
                                        <p:tgtEl>
                                          <p:spTgt spid="34"/>
                                        </p:tgtEl>
                                        <p:attrNameLst>
                                          <p:attrName>style.visibility</p:attrName>
                                        </p:attrNameLst>
                                      </p:cBhvr>
                                      <p:to>
                                        <p:strVal val="visible"/>
                                      </p:to>
                                    </p:set>
                                    <p:animEffect transition="in" filter="fade">
                                      <p:cBhvr>
                                        <p:cTn id="28" dur="500"/>
                                        <p:tgtEl>
                                          <p:spTgt spid="34"/>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35"/>
                                        </p:tgtEl>
                                        <p:attrNameLst>
                                          <p:attrName>style.visibility</p:attrName>
                                        </p:attrNameLst>
                                      </p:cBhvr>
                                      <p:to>
                                        <p:strVal val="visible"/>
                                      </p:to>
                                    </p:set>
                                    <p:animEffect transition="in" filter="fade">
                                      <p:cBhvr>
                                        <p:cTn id="31" dur="500"/>
                                        <p:tgtEl>
                                          <p:spTgt spid="35"/>
                                        </p:tgtEl>
                                      </p:cBhvr>
                                    </p:animEffect>
                                  </p:childTnLst>
                                </p:cTn>
                              </p:par>
                              <p:par>
                                <p:cTn id="35" presetID="10" presetClass="entr" presetSubtype="0" fill="hold" grpId="0" nodeType="withEffect">
                                  <p:stCondLst>
                                    <p:cond delay="15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500"/>
                                        <p:tgtEl>
                                          <p:spTgt spid="25"/>
                                        </p:tgtEl>
                                      </p:cBhvr>
                                    </p:animEffect>
                                  </p:childTnLst>
                                </p:cTn>
                              </p:par>
                            </p:childTnLst>
                          </p:cTn>
                        </p:par>
                      </p:childTnLst>
                    </p:cTn>
                  </p:par>
                  <p:par>
                    <p:cTn id="36" fill="hold">
                      <p:stCondLst>
                        <p:cond delay="indefinite"/>
                      </p:stCondLst>
                      <p:childTnLst>
                        <p:par>
                          <p:cTn id="37" fill="hold">
                            <p:stCondLst>
                              <p:cond delay="0"/>
                            </p:stCondLst>
                            <p:childTnLst>
                              <p:par>
                                <p:cTn id="40" presetID="10" presetClass="entr" presetSubtype="0" fill="hold" grpId="0" nodeType="clickEffect">
                                  <p:stCondLst>
                                    <p:cond delay="0"/>
                                  </p:stCondLst>
                                  <p:childTnLst>
                                    <p:set>
                                      <p:cBhvr>
                                        <p:cTn id="38" dur="1" fill="hold">
                                          <p:stCondLst>
                                            <p:cond delay="0"/>
                                          </p:stCondLst>
                                        </p:cTn>
                                        <p:tgtEl>
                                          <p:spTgt spid="36"/>
                                        </p:tgtEl>
                                        <p:attrNameLst>
                                          <p:attrName>style.visibility</p:attrName>
                                        </p:attrNameLst>
                                      </p:cBhvr>
                                      <p:to>
                                        <p:strVal val="visible"/>
                                      </p:to>
                                    </p:set>
                                    <p:animEffect transition="in" filter="fade">
                                      <p:cBhvr>
                                        <p:cTn id="39" dur="500"/>
                                        <p:tgtEl>
                                          <p:spTgt spid="36"/>
                                        </p:tgtEl>
                                      </p:cBhvr>
                                    </p:animEffect>
                                  </p:childTnLst>
                                </p:cTn>
                              </p:par>
                              <p:par>
                                <p:cTn id="43" presetID="10" presetClass="entr" presetSubtype="0" fill="hold" grpId="0" nodeType="withEffect">
                                  <p:stCondLst>
                                    <p:cond delay="0"/>
                                  </p:stCondLst>
                                  <p:childTnLst>
                                    <p:set>
                                      <p:cBhvr>
                                        <p:cTn id="41" dur="1" fill="hold">
                                          <p:stCondLst>
                                            <p:cond delay="0"/>
                                          </p:stCondLst>
                                        </p:cTn>
                                        <p:tgtEl>
                                          <p:spTgt spid="37"/>
                                        </p:tgtEl>
                                        <p:attrNameLst>
                                          <p:attrName>style.visibility</p:attrName>
                                        </p:attrNameLst>
                                      </p:cBhvr>
                                      <p:to>
                                        <p:strVal val="visible"/>
                                      </p:to>
                                    </p:set>
                                    <p:animEffect transition="in" filter="fade">
                                      <p:cBhvr>
                                        <p:cTn id="42" dur="500"/>
                                        <p:tgtEl>
                                          <p:spTgt spid="37"/>
                                        </p:tgtEl>
                                      </p:cBhvr>
                                    </p:animEffect>
                                  </p:childTnLst>
                                </p:cTn>
                              </p:par>
                              <p:par>
                                <p:cTn id="46" presetID="10" presetClass="entr" presetSubtype="0" fill="hold" grpId="0" nodeType="withEffect">
                                  <p:stCondLst>
                                    <p:cond delay="150"/>
                                  </p:stCondLst>
                                  <p:childTnLst>
                                    <p:set>
                                      <p:cBhvr>
                                        <p:cTn id="44" dur="1" fill="hold">
                                          <p:stCondLst>
                                            <p:cond delay="0"/>
                                          </p:stCondLst>
                                        </p:cTn>
                                        <p:tgtEl>
                                          <p:spTgt spid="27"/>
                                        </p:tgtEl>
                                        <p:attrNameLst>
                                          <p:attrName>style.visibility</p:attrName>
                                        </p:attrNameLst>
                                      </p:cBhvr>
                                      <p:to>
                                        <p:strVal val="visible"/>
                                      </p:to>
                                    </p:set>
                                    <p:animEffect transition="in" filter="fade">
                                      <p:cBhvr>
                                        <p:cTn id="45" dur="500"/>
                                        <p:tgtEl>
                                          <p:spTgt spid="27"/>
                                        </p:tgtEl>
                                      </p:cBhvr>
                                    </p:animEffect>
                                  </p:childTnLst>
                                </p:cTn>
                              </p:par>
                            </p:childTnLst>
                          </p:cTn>
                        </p:par>
                      </p:childTnLst>
                    </p:cTn>
                  </p:par>
                  <p:par>
                    <p:cTn id="47" fill="hold">
                      <p:stCondLst>
                        <p:cond delay="indefinite"/>
                      </p:stCondLst>
                      <p:childTnLst>
                        <p:par>
                          <p:cTn id="48" fill="hold">
                            <p:stCondLst>
                              <p:cond delay="0"/>
                            </p:stCondLst>
                            <p:childTnLst>
                              <p:par>
                                <p:cTn id="51" presetID="10" presetClass="entr" presetSubtype="0" fill="hold" grpId="0" nodeType="clickEffect">
                                  <p:stCondLst>
                                    <p:cond delay="0"/>
                                  </p:stCondLst>
                                  <p:childTnLst>
                                    <p:set>
                                      <p:cBhvr>
                                        <p:cTn id="49" dur="1" fill="hold">
                                          <p:stCondLst>
                                            <p:cond delay="0"/>
                                          </p:stCondLst>
                                        </p:cTn>
                                        <p:tgtEl>
                                          <p:spTgt spid="38"/>
                                        </p:tgtEl>
                                        <p:attrNameLst>
                                          <p:attrName>style.visibility</p:attrName>
                                        </p:attrNameLst>
                                      </p:cBhvr>
                                      <p:to>
                                        <p:strVal val="visible"/>
                                      </p:to>
                                    </p:set>
                                    <p:animEffect transition="in" filter="fade">
                                      <p:cBhvr>
                                        <p:cTn id="50" dur="500"/>
                                        <p:tgtEl>
                                          <p:spTgt spid="38"/>
                                        </p:tgtEl>
                                      </p:cBhvr>
                                    </p:animEffect>
                                  </p:childTnLst>
                                </p:cTn>
                              </p:par>
                              <p:par>
                                <p:cTn id="54" presetID="10" presetClass="entr" presetSubtype="0" fill="hold" grpId="0" nodeType="withEffect">
                                  <p:stCondLst>
                                    <p:cond delay="0"/>
                                  </p:stCondLst>
                                  <p:childTnLst>
                                    <p:set>
                                      <p:cBhvr>
                                        <p:cTn id="52" dur="1" fill="hold">
                                          <p:stCondLst>
                                            <p:cond delay="0"/>
                                          </p:stCondLst>
                                        </p:cTn>
                                        <p:tgtEl>
                                          <p:spTgt spid="39"/>
                                        </p:tgtEl>
                                        <p:attrNameLst>
                                          <p:attrName>style.visibility</p:attrName>
                                        </p:attrNameLst>
                                      </p:cBhvr>
                                      <p:to>
                                        <p:strVal val="visible"/>
                                      </p:to>
                                    </p:set>
                                    <p:animEffect transition="in" filter="fade">
                                      <p:cBhvr>
                                        <p:cTn id="53" dur="500"/>
                                        <p:tgtEl>
                                          <p:spTgt spid="39"/>
                                        </p:tgtEl>
                                      </p:cBhvr>
                                    </p:animEffect>
                                  </p:childTnLst>
                                </p:cTn>
                              </p:par>
                              <p:par>
                                <p:cTn id="57" presetID="10" presetClass="entr" presetSubtype="0" fill="hold" grpId="0" nodeType="withEffect">
                                  <p:stCondLst>
                                    <p:cond delay="150"/>
                                  </p:stCondLst>
                                  <p:childTnLst>
                                    <p:set>
                                      <p:cBhvr>
                                        <p:cTn id="55" dur="1" fill="hold">
                                          <p:stCondLst>
                                            <p:cond delay="0"/>
                                          </p:stCondLst>
                                        </p:cTn>
                                        <p:tgtEl>
                                          <p:spTgt spid="28"/>
                                        </p:tgtEl>
                                        <p:attrNameLst>
                                          <p:attrName>style.visibility</p:attrName>
                                        </p:attrNameLst>
                                      </p:cBhvr>
                                      <p:to>
                                        <p:strVal val="visible"/>
                                      </p:to>
                                    </p:set>
                                    <p:animEffect transition="in" filter="fade">
                                      <p:cBhvr>
                                        <p:cTn id="56" dur="500"/>
                                        <p:tgtEl>
                                          <p:spTgt spid="28"/>
                                        </p:tgtEl>
                                      </p:cBhvr>
                                    </p:animEffect>
                                  </p:childTnLst>
                                </p:cTn>
                              </p:par>
                            </p:childTnLst>
                          </p:cTn>
                        </p:par>
                      </p:childTnLst>
                    </p:cTn>
                  </p:par>
                  <p:par>
                    <p:cTn id="58" fill="hold">
                      <p:stCondLst>
                        <p:cond delay="indefinite"/>
                      </p:stCondLst>
                      <p:childTnLst>
                        <p:par>
                          <p:cTn id="59" fill="hold">
                            <p:stCondLst>
                              <p:cond delay="0"/>
                            </p:stCondLst>
                            <p:childTnLst>
                              <p:par>
                                <p:cTn id="62" presetID="10" presetClass="entr" presetSubtype="0" fill="hold" grpId="0" nodeType="clickEffect">
                                  <p:stCondLst>
                                    <p:cond delay="0"/>
                                  </p:stCondLst>
                                  <p:childTnLst>
                                    <p:set>
                                      <p:cBhvr>
                                        <p:cTn id="60" dur="1" fill="hold">
                                          <p:stCondLst>
                                            <p:cond delay="0"/>
                                          </p:stCondLst>
                                        </p:cTn>
                                        <p:tgtEl>
                                          <p:spTgt spid="40"/>
                                        </p:tgtEl>
                                        <p:attrNameLst>
                                          <p:attrName>style.visibility</p:attrName>
                                        </p:attrNameLst>
                                      </p:cBhvr>
                                      <p:to>
                                        <p:strVal val="visible"/>
                                      </p:to>
                                    </p:set>
                                    <p:animEffect transition="in" filter="fade">
                                      <p:cBhvr>
                                        <p:cTn id="61" dur="500"/>
                                        <p:tgtEl>
                                          <p:spTgt spid="40"/>
                                        </p:tgtEl>
                                      </p:cBhvr>
                                    </p:animEffect>
                                  </p:childTnLst>
                                </p:cTn>
                              </p:par>
                              <p:par>
                                <p:cTn id="65" presetID="10" presetClass="entr" presetSubtype="0" fill="hold" grpId="0" nodeType="withEffect">
                                  <p:stCondLst>
                                    <p:cond delay="0"/>
                                  </p:stCondLst>
                                  <p:childTnLst>
                                    <p:set>
                                      <p:cBhvr>
                                        <p:cTn id="63" dur="1" fill="hold">
                                          <p:stCondLst>
                                            <p:cond delay="0"/>
                                          </p:stCondLst>
                                        </p:cTn>
                                        <p:tgtEl>
                                          <p:spTgt spid="41"/>
                                        </p:tgtEl>
                                        <p:attrNameLst>
                                          <p:attrName>style.visibility</p:attrName>
                                        </p:attrNameLst>
                                      </p:cBhvr>
                                      <p:to>
                                        <p:strVal val="visible"/>
                                      </p:to>
                                    </p:set>
                                    <p:animEffect transition="in" filter="fade">
                                      <p:cBhvr>
                                        <p:cTn id="64" dur="500"/>
                                        <p:tgtEl>
                                          <p:spTgt spid="41"/>
                                        </p:tgtEl>
                                      </p:cBhvr>
                                    </p:animEffect>
                                  </p:childTnLst>
                                </p:cTn>
                              </p:par>
                              <p:par>
                                <p:cTn id="68" presetID="10" presetClass="entr" presetSubtype="0" fill="hold" grpId="0" nodeType="withEffect">
                                  <p:stCondLst>
                                    <p:cond delay="150"/>
                                  </p:stCondLst>
                                  <p:childTnLst>
                                    <p:set>
                                      <p:cBhvr>
                                        <p:cTn id="66" dur="1" fill="hold">
                                          <p:stCondLst>
                                            <p:cond delay="0"/>
                                          </p:stCondLst>
                                        </p:cTn>
                                        <p:tgtEl>
                                          <p:spTgt spid="29"/>
                                        </p:tgtEl>
                                        <p:attrNameLst>
                                          <p:attrName>style.visibility</p:attrName>
                                        </p:attrNameLst>
                                      </p:cBhvr>
                                      <p:to>
                                        <p:strVal val="visible"/>
                                      </p:to>
                                    </p:set>
                                    <p:animEffect transition="in" filter="fade">
                                      <p:cBhvr>
                                        <p:cTn id="67"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31" grpId="0" animBg="1"/>
      <p:bldP spid="24" grpId="0" animBg="1"/>
      <p:bldP spid="32" grpId="0" animBg="1"/>
      <p:bldP spid="33" grpId="0" animBg="1"/>
      <p:bldP spid="26" grpId="0" animBg="1"/>
      <p:bldP spid="34" grpId="0" animBg="1"/>
      <p:bldP spid="35" grpId="0" animBg="1"/>
      <p:bldP spid="25" grpId="0" animBg="1"/>
      <p:bldP spid="36" grpId="0" animBg="1"/>
      <p:bldP spid="37" grpId="0" animBg="1"/>
      <p:bldP spid="27" grpId="0" animBg="1"/>
      <p:bldP spid="38" grpId="0" animBg="1"/>
      <p:bldP spid="39" grpId="0" animBg="1"/>
      <p:bldP spid="28" grpId="0" animBg="1"/>
      <p:bldP spid="40" grpId="0" animBg="1"/>
      <p:bldP spid="41" grpId="0" animBg="1"/>
      <p:bldP spid="29"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friction points</dc:title>
  <dc:subject>PptxGenJS Presentation</dc:subject>
  <dc:creator>Nisha Mishra</dc:creator>
  <cp:lastModifiedBy>Nisha Mishra</cp:lastModifiedBy>
  <cp:revision>1</cp:revision>
  <dcterms:created xsi:type="dcterms:W3CDTF">2026-10-04T02:13:53Z</dcterms:created>
  <dcterms:modified xsi:type="dcterms:W3CDTF">2026-10-04T02:13:53Z</dcterms:modified>
</cp:coreProperties>
</file>