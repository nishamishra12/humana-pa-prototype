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Click once per friction point. Finish your talking point, then click.
Click 1: First, reading by hand. The nurse reads all fourteen pages to find the same few facts. The brief says clear-cut cases take almost as long as the hard ones, because the reading and matching still happen by hand.
Click 2: Second, messy input. Packets come in by fax or portal, and format and quality change from one office to the next. Intake and the nurse inherit that.
Click 3: Third, hunting instead of deciding. Benefits, eligibility, clinical policy, and provider systems sit in different places. No one view holds the full picture.
Click 4: Fourth, decisions vary. Two reviewers can read the same packet and land in different places.
Click 5: Fifth, the pend loop. A detail a cleaner read could have caught in minutes sends the packet back to the provider. The case starts from zero. This is the path you just watched.
Click 6: Sixth, the member in the dark. John Doe waits for surgery and cannot see where his request stands. I am not trying to solve that one first. I will come back to it.
Click 7: Here is why this is not just our problem. These frictions are now written into federal rules. Since January 2026, a decision is due in 72 hours for an expedited request and 7 calendar days for a standard one. That means an approval or a denial. Every denial needs a specific reason. And plans must publish their prior authorization results every year. The first report was due in March.
Click 8: And a pend does not stop that clock. A plan can extend by up to 14 calendar days, but only if it justifies the delay as in the member's interest and tells the member in writing. So every avoidable pend is a documented delay, not a quiet pause.
Click 9: Then in January 2027, about three months from now, four data interfaces go live. One of them, the Patient Access API, must show the member where a prior authorization stands. The member will finally have a window into the process.
Click 10: So these are not just frictions we feel inside the process. Federal rules now set the clock, ask for the reason, and make the results public. Getting every case to a decision inside that clock matters more than 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eyebrow"/>
          <p:cNvSpPr txBox="1"/>
          <p:nvPr/>
        </p:nvSpPr>
        <p:spPr>
          <a:xfrm>
            <a:off x="457200" y="274320"/>
            <a:ext cx="3657600" cy="256032"/>
          </a:xfrm>
          <a:prstGeom prst="rect">
            <a:avLst/>
          </a:prstGeom>
          <a:noFill/>
          <a:ln/>
        </p:spPr>
        <p:txBody>
          <a:bodyPr wrap="square" lIns="0" tIns="0" rIns="0" bIns="0" rtlCol="0" anchor="t"/>
          <a:lstStyle/>
          <a:p>
            <a:pPr algn="l" indent="0" marL="0">
              <a:buNone/>
            </a:pPr>
            <a:r>
              <a:rPr lang="en-US" sz="1100" b="1" spc="300" kern="0" dirty="0">
                <a:solidFill>
                  <a:srgbClr val="1F6F5C"/>
                </a:solidFill>
                <a:latin typeface="Calibri" pitchFamily="34" charset="0"/>
                <a:ea typeface="Calibri" pitchFamily="34" charset="-122"/>
                <a:cs typeface="Calibri" pitchFamily="34" charset="-120"/>
              </a:rPr>
              <a:t>THE FRICTION</a:t>
            </a:r>
            <a:endParaRPr lang="en-US" sz="1100" dirty="0"/>
          </a:p>
        </p:txBody>
      </p:sp>
      <p:sp>
        <p:nvSpPr>
          <p:cNvPr id="3" name="title"/>
          <p:cNvSpPr txBox="1"/>
          <p:nvPr/>
        </p:nvSpPr>
        <p:spPr>
          <a:xfrm>
            <a:off x="457200" y="502920"/>
            <a:ext cx="8229600" cy="685800"/>
          </a:xfrm>
          <a:prstGeom prst="rect">
            <a:avLst/>
          </a:prstGeom>
          <a:noFill/>
          <a:ln/>
        </p:spPr>
        <p:txBody>
          <a:bodyPr wrap="square" lIns="0" tIns="0" rIns="0" bIns="0" rtlCol="0" anchor="ctr"/>
          <a:lstStyle/>
          <a:p>
            <a:pPr algn="l" indent="0" marL="0">
              <a:buNone/>
            </a:pPr>
            <a:r>
              <a:rPr lang="en-US" sz="2600" dirty="0">
                <a:solidFill>
                  <a:srgbClr val="16211E"/>
                </a:solidFill>
                <a:latin typeface="Cambria" pitchFamily="34" charset="0"/>
                <a:ea typeface="Cambria" pitchFamily="34" charset="-122"/>
                <a:cs typeface="Cambria" pitchFamily="34" charset="-120"/>
              </a:rPr>
              <a:t>Six places this process loses time.</a:t>
            </a:r>
            <a:endParaRPr lang="en-US" sz="2600" dirty="0"/>
          </a:p>
        </p:txBody>
      </p:sp>
      <p:sp>
        <p:nvSpPr>
          <p:cNvPr id="4" name="sub"/>
          <p:cNvSpPr txBox="1"/>
          <p:nvPr/>
        </p:nvSpPr>
        <p:spPr>
          <a:xfrm>
            <a:off x="6675120" y="502920"/>
            <a:ext cx="5056632" cy="685800"/>
          </a:xfrm>
          <a:prstGeom prst="rect">
            <a:avLst/>
          </a:prstGeom>
          <a:noFill/>
          <a:ln/>
        </p:spPr>
        <p:txBody>
          <a:bodyPr wrap="square" lIns="0" tIns="0" rIns="0" bIns="0" rtlCol="0" anchor="ctr"/>
          <a:lstStyle/>
          <a:p>
            <a:pPr algn="r" indent="0" marL="0">
              <a:buNone/>
            </a:pPr>
            <a:r>
              <a:rPr lang="en-US" sz="1400" dirty="0">
                <a:solidFill>
                  <a:srgbClr val="5C6B66"/>
                </a:solidFill>
                <a:latin typeface="Calibri" pitchFamily="34" charset="0"/>
                <a:ea typeface="Calibri" pitchFamily="34" charset="-122"/>
                <a:cs typeface="Calibri" pitchFamily="34" charset="-120"/>
              </a:rPr>
              <a:t>Nobody here is making a mistake. The process is.</a:t>
            </a:r>
            <a:endParaRPr lang="en-US" sz="1400" dirty="0"/>
          </a:p>
        </p:txBody>
      </p:sp>
      <p:sp>
        <p:nvSpPr>
          <p:cNvPr id="5" name="footer"/>
          <p:cNvSpPr txBox="1"/>
          <p:nvPr/>
        </p:nvSpPr>
        <p:spPr>
          <a:xfrm>
            <a:off x="457200" y="6492240"/>
            <a:ext cx="11274552" cy="228600"/>
          </a:xfrm>
          <a:prstGeom prst="rect">
            <a:avLst/>
          </a:prstGeom>
          <a:noFill/>
          <a:ln/>
        </p:spPr>
        <p:txBody>
          <a:bodyPr wrap="square" lIns="0" tIns="0" rIns="0" bIns="0" rtlCol="0" anchor="t"/>
          <a:lstStyle/>
          <a:p>
            <a:pPr algn="l" indent="0" marL="0">
              <a:buNone/>
            </a:pPr>
            <a:r>
              <a:rPr lang="en-US" sz="900" dirty="0">
                <a:solidFill>
                  <a:srgbClr val="5C6B66"/>
                </a:solidFill>
                <a:latin typeface="Calibri" pitchFamily="34" charset="0"/>
                <a:ea typeface="Calibri" pitchFamily="34" charset="-122"/>
                <a:cs typeface="Calibri" pitchFamily="34" charset="-120"/>
              </a:rPr>
              <a:t>Source: the Humana Use Case 1 brief, and the process on the previous slide.</a:t>
            </a:r>
            <a:endParaRPr lang="en-US" sz="900" dirty="0"/>
          </a:p>
        </p:txBody>
      </p:sp>
      <p:sp>
        <p:nvSpPr>
          <p:cNvPr id="6" name="N1"/>
          <p:cNvSpPr/>
          <p:nvPr/>
        </p:nvSpPr>
        <p:spPr>
          <a:xfrm>
            <a:off x="457200" y="1783080"/>
            <a:ext cx="1828800" cy="731520"/>
          </a:xfrm>
          <a:prstGeom prst="roundRect">
            <a:avLst>
              <a:gd name="adj" fmla="val 10000"/>
            </a:avLst>
          </a:prstGeom>
          <a:solidFill>
            <a:srgbClr val="FFFFFF"/>
          </a:solidFill>
          <a:ln w="12700">
            <a:solidFill>
              <a:srgbClr val="CBD5D1"/>
            </a:solidFill>
          </a:ln>
        </p:spPr>
        <p:txBody>
          <a:bodyPr wrap="square" lIns="658368" tIns="36576" rIns="73152" bIns="36576" rtlCol="0" anchor="ctr"/>
          <a:lstStyle/>
          <a:p>
            <a:pPr algn="l" indent="0" marL="0">
              <a:buNone/>
            </a:pPr>
            <a:r>
              <a:rPr lang="en-US" sz="1200" b="1" dirty="0">
                <a:solidFill>
                  <a:srgbClr val="16211E"/>
                </a:solidFill>
                <a:latin typeface="Calibri" pitchFamily="34" charset="0"/>
                <a:ea typeface="Calibri" pitchFamily="34" charset="-122"/>
                <a:cs typeface="Calibri" pitchFamily="34" charset="-120"/>
              </a:rPr>
              <a:t>Surgeon's office</a:t>
            </a:r>
            <a:endParaRPr lang="en-US" sz="1200" dirty="0"/>
          </a:p>
          <a:p>
            <a:pPr algn="l" indent="0" marL="0">
              <a:buNone/>
            </a:pPr>
            <a:r>
              <a:rPr lang="en-US" sz="950" dirty="0">
                <a:solidFill>
                  <a:srgbClr val="5C6B66"/>
                </a:solidFill>
                <a:latin typeface="Calibri" pitchFamily="34" charset="0"/>
                <a:ea typeface="Calibri" pitchFamily="34" charset="-122"/>
                <a:cs typeface="Calibri" pitchFamily="34" charset="-120"/>
              </a:rPr>
              <a:t>Sends the packet</a:t>
            </a:r>
            <a:endParaRPr lang="en-US" sz="1200" dirty="0"/>
          </a:p>
        </p:txBody>
      </p:sp>
      <p:pic>
        <p:nvPicPr>
          <p:cNvPr id="7" name="AvL1" descr="preencoded.png">    </p:cNvPr>
          <p:cNvPicPr>
            <a:picLocks noChangeAspect="1"/>
          </p:cNvPicPr>
          <p:nvPr/>
        </p:nvPicPr>
        <p:blipFill>
          <a:blip r:embed="rId1"/>
          <a:stretch>
            <a:fillRect/>
          </a:stretch>
        </p:blipFill>
        <p:spPr>
          <a:xfrm>
            <a:off x="539496" y="1892808"/>
            <a:ext cx="512064" cy="512064"/>
          </a:xfrm>
          <a:prstGeom prst="rect">
            <a:avLst/>
          </a:prstGeom>
        </p:spPr>
      </p:pic>
      <p:sp>
        <p:nvSpPr>
          <p:cNvPr id="8" name="N2"/>
          <p:cNvSpPr/>
          <p:nvPr/>
        </p:nvSpPr>
        <p:spPr>
          <a:xfrm>
            <a:off x="2816352" y="1783080"/>
            <a:ext cx="1828800" cy="731520"/>
          </a:xfrm>
          <a:prstGeom prst="roundRect">
            <a:avLst>
              <a:gd name="adj" fmla="val 10000"/>
            </a:avLst>
          </a:prstGeom>
          <a:solidFill>
            <a:srgbClr val="FFFFFF"/>
          </a:solidFill>
          <a:ln w="12700">
            <a:solidFill>
              <a:srgbClr val="CBD5D1"/>
            </a:solidFill>
          </a:ln>
        </p:spPr>
        <p:txBody>
          <a:bodyPr wrap="square" lIns="658368" tIns="36576" rIns="73152" bIns="36576" rtlCol="0" anchor="ctr"/>
          <a:lstStyle/>
          <a:p>
            <a:pPr algn="l" indent="0" marL="0">
              <a:buNone/>
            </a:pPr>
            <a:r>
              <a:rPr lang="en-US" sz="1200" b="1" dirty="0">
                <a:solidFill>
                  <a:srgbClr val="16211E"/>
                </a:solidFill>
                <a:latin typeface="Calibri" pitchFamily="34" charset="0"/>
                <a:ea typeface="Calibri" pitchFamily="34" charset="-122"/>
                <a:cs typeface="Calibri" pitchFamily="34" charset="-120"/>
              </a:rPr>
              <a:t>Intake</a:t>
            </a:r>
            <a:endParaRPr lang="en-US" sz="1200" dirty="0"/>
          </a:p>
          <a:p>
            <a:pPr algn="l" indent="0" marL="0">
              <a:buNone/>
            </a:pPr>
            <a:r>
              <a:rPr lang="en-US" sz="950" dirty="0">
                <a:solidFill>
                  <a:srgbClr val="5C6B66"/>
                </a:solidFill>
                <a:latin typeface="Calibri" pitchFamily="34" charset="0"/>
                <a:ea typeface="Calibri" pitchFamily="34" charset="-122"/>
                <a:cs typeface="Calibri" pitchFamily="34" charset="-120"/>
              </a:rPr>
              <a:t>Checks it in</a:t>
            </a:r>
            <a:endParaRPr lang="en-US" sz="1200" dirty="0"/>
          </a:p>
        </p:txBody>
      </p:sp>
      <p:pic>
        <p:nvPicPr>
          <p:cNvPr id="9" name="AvIntake" descr="preencoded.png">    </p:cNvPr>
          <p:cNvPicPr>
            <a:picLocks noChangeAspect="1"/>
          </p:cNvPicPr>
          <p:nvPr/>
        </p:nvPicPr>
        <p:blipFill>
          <a:blip r:embed="rId2"/>
          <a:stretch>
            <a:fillRect/>
          </a:stretch>
        </p:blipFill>
        <p:spPr>
          <a:xfrm>
            <a:off x="2898648" y="1892808"/>
            <a:ext cx="512064" cy="512064"/>
          </a:xfrm>
          <a:prstGeom prst="rect">
            <a:avLst/>
          </a:prstGeom>
        </p:spPr>
      </p:pic>
      <p:sp>
        <p:nvSpPr>
          <p:cNvPr id="10" name="N3"/>
          <p:cNvSpPr/>
          <p:nvPr/>
        </p:nvSpPr>
        <p:spPr>
          <a:xfrm>
            <a:off x="5175504" y="1783080"/>
            <a:ext cx="1828800" cy="731520"/>
          </a:xfrm>
          <a:prstGeom prst="roundRect">
            <a:avLst>
              <a:gd name="adj" fmla="val 10000"/>
            </a:avLst>
          </a:prstGeom>
          <a:solidFill>
            <a:srgbClr val="FFFFFF"/>
          </a:solidFill>
          <a:ln w="12700">
            <a:solidFill>
              <a:srgbClr val="CBD5D1"/>
            </a:solidFill>
          </a:ln>
        </p:spPr>
        <p:txBody>
          <a:bodyPr wrap="square" lIns="658368" tIns="36576" rIns="73152" bIns="36576" rtlCol="0" anchor="ctr"/>
          <a:lstStyle/>
          <a:p>
            <a:pPr algn="l" indent="0" marL="0">
              <a:buNone/>
            </a:pPr>
            <a:r>
              <a:rPr lang="en-US" sz="1200" b="1" dirty="0">
                <a:solidFill>
                  <a:srgbClr val="16211E"/>
                </a:solidFill>
                <a:latin typeface="Calibri" pitchFamily="34" charset="0"/>
                <a:ea typeface="Calibri" pitchFamily="34" charset="-122"/>
                <a:cs typeface="Calibri" pitchFamily="34" charset="-120"/>
              </a:rPr>
              <a:t>UM nurse</a:t>
            </a:r>
            <a:endParaRPr lang="en-US" sz="1200" dirty="0"/>
          </a:p>
          <a:p>
            <a:pPr algn="l" indent="0" marL="0">
              <a:buNone/>
            </a:pPr>
            <a:r>
              <a:rPr lang="en-US" sz="950" dirty="0">
                <a:solidFill>
                  <a:srgbClr val="5C6B66"/>
                </a:solidFill>
                <a:latin typeface="Calibri" pitchFamily="34" charset="0"/>
                <a:ea typeface="Calibri" pitchFamily="34" charset="-122"/>
                <a:cs typeface="Calibri" pitchFamily="34" charset="-120"/>
              </a:rPr>
              <a:t>Reads the packet</a:t>
            </a:r>
            <a:endParaRPr lang="en-US" sz="1200" dirty="0"/>
          </a:p>
        </p:txBody>
      </p:sp>
      <p:pic>
        <p:nvPicPr>
          <p:cNvPr id="11" name="AvNurse" descr="preencoded.png">    </p:cNvPr>
          <p:cNvPicPr>
            <a:picLocks noChangeAspect="1"/>
          </p:cNvPicPr>
          <p:nvPr/>
        </p:nvPicPr>
        <p:blipFill>
          <a:blip r:embed="rId3"/>
          <a:stretch>
            <a:fillRect/>
          </a:stretch>
        </p:blipFill>
        <p:spPr>
          <a:xfrm>
            <a:off x="5257800" y="1892808"/>
            <a:ext cx="512064" cy="512064"/>
          </a:xfrm>
          <a:prstGeom prst="rect">
            <a:avLst/>
          </a:prstGeom>
        </p:spPr>
      </p:pic>
      <p:sp>
        <p:nvSpPr>
          <p:cNvPr id="12" name="N4"/>
          <p:cNvSpPr/>
          <p:nvPr/>
        </p:nvSpPr>
        <p:spPr>
          <a:xfrm>
            <a:off x="7534656" y="1783080"/>
            <a:ext cx="1828800" cy="731520"/>
          </a:xfrm>
          <a:prstGeom prst="roundRect">
            <a:avLst>
              <a:gd name="adj" fmla="val 10000"/>
            </a:avLst>
          </a:prstGeom>
          <a:solidFill>
            <a:srgbClr val="FFFFFF"/>
          </a:solidFill>
          <a:ln w="12700">
            <a:solidFill>
              <a:srgbClr val="CBD5D1"/>
            </a:solidFill>
          </a:ln>
        </p:spPr>
        <p:txBody>
          <a:bodyPr wrap="square" lIns="91440" tIns="36576" rIns="91440" bIns="36576" rtlCol="0" anchor="ctr"/>
          <a:lstStyle/>
          <a:p>
            <a:pPr algn="ctr" indent="0" marL="0">
              <a:buNone/>
            </a:pPr>
            <a:r>
              <a:rPr lang="en-US" sz="1200" b="1" dirty="0">
                <a:solidFill>
                  <a:srgbClr val="16211E"/>
                </a:solidFill>
                <a:latin typeface="Calibri" pitchFamily="34" charset="0"/>
                <a:ea typeface="Calibri" pitchFamily="34" charset="-122"/>
                <a:cs typeface="Calibri" pitchFamily="34" charset="-120"/>
              </a:rPr>
              <a:t>Decision</a:t>
            </a:r>
            <a:endParaRPr lang="en-US" sz="1200" dirty="0"/>
          </a:p>
          <a:p>
            <a:pPr algn="ctr" indent="0" marL="0">
              <a:buNone/>
            </a:pPr>
            <a:r>
              <a:rPr lang="en-US" sz="950" dirty="0">
                <a:solidFill>
                  <a:srgbClr val="5C6B66"/>
                </a:solidFill>
                <a:latin typeface="Calibri" pitchFamily="34" charset="0"/>
                <a:ea typeface="Calibri" pitchFamily="34" charset="-122"/>
                <a:cs typeface="Calibri" pitchFamily="34" charset="-120"/>
              </a:rPr>
              <a:t>Approve, pend, escalate</a:t>
            </a:r>
            <a:endParaRPr lang="en-US" sz="1200" dirty="0"/>
          </a:p>
        </p:txBody>
      </p:sp>
      <p:sp>
        <p:nvSpPr>
          <p:cNvPr id="13" name="N5"/>
          <p:cNvSpPr/>
          <p:nvPr/>
        </p:nvSpPr>
        <p:spPr>
          <a:xfrm>
            <a:off x="9902952" y="1783080"/>
            <a:ext cx="1828800" cy="731520"/>
          </a:xfrm>
          <a:prstGeom prst="roundRect">
            <a:avLst>
              <a:gd name="adj" fmla="val 10000"/>
            </a:avLst>
          </a:prstGeom>
          <a:solidFill>
            <a:srgbClr val="FFFFFF"/>
          </a:solidFill>
          <a:ln w="12700">
            <a:solidFill>
              <a:srgbClr val="CBD5D1"/>
            </a:solidFill>
          </a:ln>
        </p:spPr>
        <p:txBody>
          <a:bodyPr wrap="square" lIns="658368" tIns="36576" rIns="73152" bIns="36576" rtlCol="0" anchor="ctr"/>
          <a:lstStyle/>
          <a:p>
            <a:pPr algn="l" indent="0" marL="0">
              <a:buNone/>
            </a:pPr>
            <a:r>
              <a:rPr lang="en-US" sz="1200" b="1" dirty="0">
                <a:solidFill>
                  <a:srgbClr val="16211E"/>
                </a:solidFill>
                <a:latin typeface="Calibri" pitchFamily="34" charset="0"/>
                <a:ea typeface="Calibri" pitchFamily="34" charset="-122"/>
                <a:cs typeface="Calibri" pitchFamily="34" charset="-120"/>
              </a:rPr>
              <a:t>The member</a:t>
            </a:r>
            <a:endParaRPr lang="en-US" sz="1200" dirty="0"/>
          </a:p>
          <a:p>
            <a:pPr algn="l" indent="0" marL="0">
              <a:buNone/>
            </a:pPr>
            <a:r>
              <a:rPr lang="en-US" sz="950" dirty="0">
                <a:solidFill>
                  <a:srgbClr val="5C6B66"/>
                </a:solidFill>
                <a:latin typeface="Calibri" pitchFamily="34" charset="0"/>
                <a:ea typeface="Calibri" pitchFamily="34" charset="-122"/>
                <a:cs typeface="Calibri" pitchFamily="34" charset="-120"/>
              </a:rPr>
              <a:t>Waits for the answer</a:t>
            </a:r>
            <a:endParaRPr lang="en-US" sz="1200" dirty="0"/>
          </a:p>
        </p:txBody>
      </p:sp>
      <p:pic>
        <p:nvPicPr>
          <p:cNvPr id="14" name="AvM" descr="preencoded.png">    </p:cNvPr>
          <p:cNvPicPr>
            <a:picLocks noChangeAspect="1"/>
          </p:cNvPicPr>
          <p:nvPr/>
        </p:nvPicPr>
        <p:blipFill>
          <a:blip r:embed="rId4"/>
          <a:stretch>
            <a:fillRect/>
          </a:stretch>
        </p:blipFill>
        <p:spPr>
          <a:xfrm>
            <a:off x="9985248" y="1892808"/>
            <a:ext cx="512064" cy="512064"/>
          </a:xfrm>
          <a:prstGeom prst="rect">
            <a:avLst/>
          </a:prstGeom>
        </p:spPr>
      </p:pic>
      <p:sp>
        <p:nvSpPr>
          <p:cNvPr id="15" name="A12"/>
          <p:cNvSpPr/>
          <p:nvPr/>
        </p:nvSpPr>
        <p:spPr>
          <a:xfrm>
            <a:off x="2322576" y="2148840"/>
            <a:ext cx="457200" cy="0"/>
          </a:xfrm>
          <a:prstGeom prst="line">
            <a:avLst/>
          </a:prstGeom>
          <a:noFill/>
          <a:ln w="22225">
            <a:solidFill>
              <a:srgbClr val="B8452F"/>
            </a:solidFill>
            <a:prstDash val="dash"/>
            <a:tailEnd type="triangle"/>
          </a:ln>
        </p:spPr>
      </p:sp>
      <p:sp>
        <p:nvSpPr>
          <p:cNvPr id="16" name="A23"/>
          <p:cNvSpPr/>
          <p:nvPr/>
        </p:nvSpPr>
        <p:spPr>
          <a:xfrm>
            <a:off x="4681728" y="2148840"/>
            <a:ext cx="457200" cy="0"/>
          </a:xfrm>
          <a:prstGeom prst="line">
            <a:avLst/>
          </a:prstGeom>
          <a:noFill/>
          <a:ln w="22225">
            <a:solidFill>
              <a:srgbClr val="5C6B66"/>
            </a:solidFill>
            <a:prstDash val="solid"/>
            <a:tailEnd type="triangle"/>
          </a:ln>
        </p:spPr>
      </p:sp>
      <p:sp>
        <p:nvSpPr>
          <p:cNvPr id="17" name="A34"/>
          <p:cNvSpPr/>
          <p:nvPr/>
        </p:nvSpPr>
        <p:spPr>
          <a:xfrm>
            <a:off x="7040880" y="2148840"/>
            <a:ext cx="457200" cy="0"/>
          </a:xfrm>
          <a:prstGeom prst="line">
            <a:avLst/>
          </a:prstGeom>
          <a:noFill/>
          <a:ln w="22225">
            <a:solidFill>
              <a:srgbClr val="5C6B66"/>
            </a:solidFill>
            <a:prstDash val="solid"/>
            <a:tailEnd type="triangle"/>
          </a:ln>
        </p:spPr>
      </p:sp>
      <p:sp>
        <p:nvSpPr>
          <p:cNvPr id="18" name="A45"/>
          <p:cNvSpPr/>
          <p:nvPr/>
        </p:nvSpPr>
        <p:spPr>
          <a:xfrm>
            <a:off x="9400032" y="2148840"/>
            <a:ext cx="457200" cy="0"/>
          </a:xfrm>
          <a:prstGeom prst="line">
            <a:avLst/>
          </a:prstGeom>
          <a:noFill/>
          <a:ln w="22225">
            <a:solidFill>
              <a:srgbClr val="5C6B66"/>
            </a:solidFill>
            <a:prstDash val="solid"/>
            <a:tailEnd type="triangle"/>
          </a:ln>
        </p:spPr>
      </p:sp>
      <p:sp>
        <p:nvSpPr>
          <p:cNvPr id="19" name="LblFax"/>
          <p:cNvSpPr txBox="1"/>
          <p:nvPr/>
        </p:nvSpPr>
        <p:spPr>
          <a:xfrm>
            <a:off x="2286000" y="1892808"/>
            <a:ext cx="530352" cy="182880"/>
          </a:xfrm>
          <a:prstGeom prst="rect">
            <a:avLst/>
          </a:prstGeom>
          <a:noFill/>
          <a:ln/>
        </p:spPr>
        <p:txBody>
          <a:bodyPr wrap="square" lIns="0" tIns="0" rIns="0" bIns="0" rtlCol="0" anchor="t"/>
          <a:lstStyle/>
          <a:p>
            <a:pPr algn="ctr" indent="0" marL="0">
              <a:buNone/>
            </a:pPr>
            <a:r>
              <a:rPr lang="en-US" sz="800" b="1" spc="200" kern="0" dirty="0">
                <a:solidFill>
                  <a:srgbClr val="B8452F"/>
                </a:solidFill>
                <a:latin typeface="Calibri" pitchFamily="34" charset="0"/>
                <a:ea typeface="Calibri" pitchFamily="34" charset="-122"/>
                <a:cs typeface="Calibri" pitchFamily="34" charset="-120"/>
              </a:rPr>
              <a:t>FAX</a:t>
            </a:r>
            <a:endParaRPr lang="en-US" sz="800" dirty="0"/>
          </a:p>
        </p:txBody>
      </p:sp>
      <p:sp>
        <p:nvSpPr>
          <p:cNvPr id="20" name="L1"/>
          <p:cNvSpPr/>
          <p:nvPr/>
        </p:nvSpPr>
        <p:spPr>
          <a:xfrm>
            <a:off x="8449056" y="2514600"/>
            <a:ext cx="0" cy="274320"/>
          </a:xfrm>
          <a:prstGeom prst="line">
            <a:avLst/>
          </a:prstGeom>
          <a:noFill/>
          <a:ln w="22225">
            <a:solidFill>
              <a:srgbClr val="8A5A00"/>
            </a:solidFill>
            <a:prstDash val="solid"/>
          </a:ln>
        </p:spPr>
      </p:sp>
      <p:sp>
        <p:nvSpPr>
          <p:cNvPr id="21" name="L2"/>
          <p:cNvSpPr/>
          <p:nvPr/>
        </p:nvSpPr>
        <p:spPr>
          <a:xfrm>
            <a:off x="1371600" y="2788920"/>
            <a:ext cx="7077456" cy="0"/>
          </a:xfrm>
          <a:prstGeom prst="line">
            <a:avLst/>
          </a:prstGeom>
          <a:noFill/>
          <a:ln w="22225">
            <a:solidFill>
              <a:srgbClr val="8A5A00"/>
            </a:solidFill>
            <a:prstDash val="solid"/>
          </a:ln>
        </p:spPr>
      </p:sp>
      <p:sp>
        <p:nvSpPr>
          <p:cNvPr id="22" name="L3"/>
          <p:cNvSpPr/>
          <p:nvPr/>
        </p:nvSpPr>
        <p:spPr>
          <a:xfrm flipV="1">
            <a:off x="1371600" y="2514600"/>
            <a:ext cx="0" cy="274320"/>
          </a:xfrm>
          <a:prstGeom prst="line">
            <a:avLst/>
          </a:prstGeom>
          <a:noFill/>
          <a:ln w="22225">
            <a:solidFill>
              <a:srgbClr val="8A5A00"/>
            </a:solidFill>
            <a:prstDash val="solid"/>
            <a:tailEnd type="triangle"/>
          </a:ln>
        </p:spPr>
      </p:sp>
      <p:sp>
        <p:nvSpPr>
          <p:cNvPr id="23" name="LblLoop"/>
          <p:cNvSpPr txBox="1"/>
          <p:nvPr/>
        </p:nvSpPr>
        <p:spPr>
          <a:xfrm>
            <a:off x="2926080" y="2569464"/>
            <a:ext cx="3657600" cy="201168"/>
          </a:xfrm>
          <a:prstGeom prst="rect">
            <a:avLst/>
          </a:prstGeom>
          <a:noFill/>
          <a:ln/>
        </p:spPr>
        <p:txBody>
          <a:bodyPr wrap="square" lIns="0" tIns="0" rIns="0" bIns="0" rtlCol="0" anchor="t"/>
          <a:lstStyle/>
          <a:p>
            <a:pPr algn="ctr" indent="0" marL="0">
              <a:buNone/>
            </a:pPr>
            <a:r>
              <a:rPr lang="en-US" sz="950" b="1" dirty="0">
                <a:solidFill>
                  <a:srgbClr val="8A5A00"/>
                </a:solidFill>
                <a:latin typeface="Calibri" pitchFamily="34" charset="0"/>
                <a:ea typeface="Calibri" pitchFamily="34" charset="-122"/>
                <a:cs typeface="Calibri" pitchFamily="34" charset="-120"/>
              </a:rPr>
              <a:t>Pend: back to the provider, and it starts again</a:t>
            </a:r>
            <a:endParaRPr lang="en-US" sz="950" dirty="0"/>
          </a:p>
        </p:txBody>
      </p:sp>
      <p:sp>
        <p:nvSpPr>
          <p:cNvPr id="24" name="Pin1"/>
          <p:cNvSpPr/>
          <p:nvPr/>
        </p:nvSpPr>
        <p:spPr>
          <a:xfrm>
            <a:off x="5532120" y="1453896"/>
            <a:ext cx="292608" cy="292608"/>
          </a:xfrm>
          <a:prstGeom prst="roundRect">
            <a:avLst>
              <a:gd name="adj" fmla="val 50000"/>
            </a:avLst>
          </a:prstGeom>
          <a:solidFill>
            <a:srgbClr val="B8452F"/>
          </a:solidFill>
          <a:ln w="12700">
            <a:solidFill>
              <a:srgbClr val="B8452F"/>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5" name="Pin3"/>
          <p:cNvSpPr/>
          <p:nvPr/>
        </p:nvSpPr>
        <p:spPr>
          <a:xfrm>
            <a:off x="6355080" y="1453896"/>
            <a:ext cx="292608" cy="292608"/>
          </a:xfrm>
          <a:prstGeom prst="roundRect">
            <a:avLst>
              <a:gd name="adj" fmla="val 50000"/>
            </a:avLst>
          </a:prstGeom>
          <a:solidFill>
            <a:srgbClr val="B8452F"/>
          </a:solidFill>
          <a:ln w="12700">
            <a:solidFill>
              <a:srgbClr val="B8452F"/>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6" name="Pin2"/>
          <p:cNvSpPr/>
          <p:nvPr/>
        </p:nvSpPr>
        <p:spPr>
          <a:xfrm>
            <a:off x="2404872" y="2313432"/>
            <a:ext cx="292608" cy="292608"/>
          </a:xfrm>
          <a:prstGeom prst="roundRect">
            <a:avLst>
              <a:gd name="adj" fmla="val 50000"/>
            </a:avLst>
          </a:prstGeom>
          <a:solidFill>
            <a:srgbClr val="B8452F"/>
          </a:solidFill>
          <a:ln w="12700">
            <a:solidFill>
              <a:srgbClr val="B8452F"/>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7" name="Pin4"/>
          <p:cNvSpPr/>
          <p:nvPr/>
        </p:nvSpPr>
        <p:spPr>
          <a:xfrm>
            <a:off x="8302752" y="1453896"/>
            <a:ext cx="292608" cy="292608"/>
          </a:xfrm>
          <a:prstGeom prst="roundRect">
            <a:avLst>
              <a:gd name="adj" fmla="val 50000"/>
            </a:avLst>
          </a:prstGeom>
          <a:solidFill>
            <a:srgbClr val="B8452F"/>
          </a:solidFill>
          <a:ln w="12700">
            <a:solidFill>
              <a:srgbClr val="B8452F"/>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8" name="Pin5"/>
          <p:cNvSpPr/>
          <p:nvPr/>
        </p:nvSpPr>
        <p:spPr>
          <a:xfrm>
            <a:off x="2139696" y="2642616"/>
            <a:ext cx="292608" cy="292608"/>
          </a:xfrm>
          <a:prstGeom prst="roundRect">
            <a:avLst>
              <a:gd name="adj" fmla="val 50000"/>
            </a:avLst>
          </a:prstGeom>
          <a:solidFill>
            <a:srgbClr val="B8452F"/>
          </a:solidFill>
          <a:ln w="12700">
            <a:solidFill>
              <a:srgbClr val="B8452F"/>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9" name="Pin6"/>
          <p:cNvSpPr/>
          <p:nvPr/>
        </p:nvSpPr>
        <p:spPr>
          <a:xfrm>
            <a:off x="10671048" y="1453896"/>
            <a:ext cx="292608" cy="292608"/>
          </a:xfrm>
          <a:prstGeom prst="roundRect">
            <a:avLst>
              <a:gd name="adj" fmla="val 50000"/>
            </a:avLst>
          </a:prstGeom>
          <a:solidFill>
            <a:srgbClr val="B8452F"/>
          </a:solidFill>
          <a:ln w="12700">
            <a:solidFill>
              <a:srgbClr val="B8452F"/>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0" name="Card1"/>
          <p:cNvSpPr/>
          <p:nvPr/>
        </p:nvSpPr>
        <p:spPr>
          <a:xfrm>
            <a:off x="457200" y="3090672"/>
            <a:ext cx="3657600" cy="1572768"/>
          </a:xfrm>
          <a:prstGeom prst="roundRect">
            <a:avLst>
              <a:gd name="adj" fmla="val 4651"/>
            </a:avLst>
          </a:prstGeom>
          <a:solidFill>
            <a:srgbClr val="FFFFFF"/>
          </a:solidFill>
          <a:ln w="15875">
            <a:solidFill>
              <a:srgbClr val="CBD5D1"/>
            </a:solidFill>
          </a:ln>
        </p:spPr>
        <p:txBody>
          <a:bodyPr wrap="square" lIns="603504" tIns="155448" rIns="146304" bIns="91440" rtlCol="0" anchor="t"/>
          <a:lstStyle/>
          <a:p>
            <a:pPr algn="l" indent="0" marL="0">
              <a:buNone/>
            </a:pPr>
            <a:r>
              <a:rPr lang="en-US" sz="1500" b="1" dirty="0">
                <a:solidFill>
                  <a:srgbClr val="16211E"/>
                </a:solidFill>
                <a:latin typeface="Calibri" pitchFamily="34" charset="0"/>
                <a:ea typeface="Calibri" pitchFamily="34" charset="-122"/>
                <a:cs typeface="Calibri" pitchFamily="34" charset="-120"/>
              </a:rPr>
              <a:t>Reading by hand</a:t>
            </a:r>
            <a:endParaRPr lang="en-US" sz="1500" dirty="0"/>
          </a:p>
          <a:p>
            <a:pPr algn="l" indent="0" marL="0">
              <a:buNone/>
            </a:pPr>
            <a:r>
              <a:rPr lang="en-US" sz="1150" dirty="0">
                <a:solidFill>
                  <a:srgbClr val="5C6B66"/>
                </a:solidFill>
                <a:latin typeface="Calibri" pitchFamily="34" charset="0"/>
                <a:ea typeface="Calibri" pitchFamily="34" charset="-122"/>
                <a:cs typeface="Calibri" pitchFamily="34" charset="-120"/>
              </a:rPr>
              <a:t>The nurse reads all 14 pages to find the same few facts. Clear-cut cases take almost as long as hard ones.</a:t>
            </a:r>
            <a:endParaRPr lang="en-US" sz="1500" dirty="0"/>
          </a:p>
          <a:p>
            <a:pPr algn="l" indent="0" marL="0">
              <a:buNone/>
            </a:pPr>
            <a:r>
              <a:rPr lang="en-US" sz="1050" b="1" dirty="0">
                <a:solidFill>
                  <a:srgbClr val="B8452F"/>
                </a:solidFill>
                <a:latin typeface="Calibri" pitchFamily="34" charset="0"/>
                <a:ea typeface="Calibri" pitchFamily="34" charset="-122"/>
                <a:cs typeface="Calibri" pitchFamily="34" charset="-120"/>
              </a:rPr>
              <a:t>Felt by: the nurse</a:t>
            </a:r>
            <a:endParaRPr lang="en-US" sz="1500" dirty="0"/>
          </a:p>
        </p:txBody>
      </p:sp>
      <p:sp>
        <p:nvSpPr>
          <p:cNvPr id="31" name="Num1"/>
          <p:cNvSpPr/>
          <p:nvPr/>
        </p:nvSpPr>
        <p:spPr>
          <a:xfrm>
            <a:off x="594360" y="3227832"/>
            <a:ext cx="310896" cy="310896"/>
          </a:xfrm>
          <a:prstGeom prst="roundRect">
            <a:avLst>
              <a:gd name="adj" fmla="val 50000"/>
            </a:avLst>
          </a:prstGeom>
          <a:solidFill>
            <a:srgbClr val="B8452F"/>
          </a:solidFill>
          <a:ln w="12700">
            <a:solidFill>
              <a:srgbClr val="B8452F"/>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32" name="Card2"/>
          <p:cNvSpPr/>
          <p:nvPr/>
        </p:nvSpPr>
        <p:spPr>
          <a:xfrm>
            <a:off x="4265676" y="3090672"/>
            <a:ext cx="3657600" cy="1572768"/>
          </a:xfrm>
          <a:prstGeom prst="roundRect">
            <a:avLst>
              <a:gd name="adj" fmla="val 4651"/>
            </a:avLst>
          </a:prstGeom>
          <a:solidFill>
            <a:srgbClr val="FFFFFF"/>
          </a:solidFill>
          <a:ln w="15875">
            <a:solidFill>
              <a:srgbClr val="CBD5D1"/>
            </a:solidFill>
          </a:ln>
        </p:spPr>
        <p:txBody>
          <a:bodyPr wrap="square" lIns="603504" tIns="155448" rIns="146304" bIns="91440" rtlCol="0" anchor="t"/>
          <a:lstStyle/>
          <a:p>
            <a:pPr algn="l" indent="0" marL="0">
              <a:buNone/>
            </a:pPr>
            <a:r>
              <a:rPr lang="en-US" sz="1500" b="1" dirty="0">
                <a:solidFill>
                  <a:srgbClr val="16211E"/>
                </a:solidFill>
                <a:latin typeface="Calibri" pitchFamily="34" charset="0"/>
                <a:ea typeface="Calibri" pitchFamily="34" charset="-122"/>
                <a:cs typeface="Calibri" pitchFamily="34" charset="-120"/>
              </a:rPr>
              <a:t>Messy input</a:t>
            </a:r>
            <a:endParaRPr lang="en-US" sz="1500" dirty="0"/>
          </a:p>
          <a:p>
            <a:pPr algn="l" indent="0" marL="0">
              <a:buNone/>
            </a:pPr>
            <a:r>
              <a:rPr lang="en-US" sz="1150" dirty="0">
                <a:solidFill>
                  <a:srgbClr val="5C6B66"/>
                </a:solidFill>
                <a:latin typeface="Calibri" pitchFamily="34" charset="0"/>
                <a:ea typeface="Calibri" pitchFamily="34" charset="-122"/>
                <a:cs typeface="Calibri" pitchFamily="34" charset="-120"/>
              </a:rPr>
              <a:t>Packets arrive by fax or portal. Format and quality change from one office to the next.</a:t>
            </a:r>
            <a:endParaRPr lang="en-US" sz="1500" dirty="0"/>
          </a:p>
          <a:p>
            <a:pPr algn="l" indent="0" marL="0">
              <a:buNone/>
            </a:pPr>
            <a:r>
              <a:rPr lang="en-US" sz="1050" b="1" dirty="0">
                <a:solidFill>
                  <a:srgbClr val="B8452F"/>
                </a:solidFill>
                <a:latin typeface="Calibri" pitchFamily="34" charset="0"/>
                <a:ea typeface="Calibri" pitchFamily="34" charset="-122"/>
                <a:cs typeface="Calibri" pitchFamily="34" charset="-120"/>
              </a:rPr>
              <a:t>Felt by: intake and the nurse</a:t>
            </a:r>
            <a:endParaRPr lang="en-US" sz="1500" dirty="0"/>
          </a:p>
        </p:txBody>
      </p:sp>
      <p:sp>
        <p:nvSpPr>
          <p:cNvPr id="33" name="Num2"/>
          <p:cNvSpPr/>
          <p:nvPr/>
        </p:nvSpPr>
        <p:spPr>
          <a:xfrm>
            <a:off x="4402836" y="3227832"/>
            <a:ext cx="310896" cy="310896"/>
          </a:xfrm>
          <a:prstGeom prst="roundRect">
            <a:avLst>
              <a:gd name="adj" fmla="val 50000"/>
            </a:avLst>
          </a:prstGeom>
          <a:solidFill>
            <a:srgbClr val="B8452F"/>
          </a:solidFill>
          <a:ln w="12700">
            <a:solidFill>
              <a:srgbClr val="B8452F"/>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Card3"/>
          <p:cNvSpPr/>
          <p:nvPr/>
        </p:nvSpPr>
        <p:spPr>
          <a:xfrm>
            <a:off x="8074152" y="3090672"/>
            <a:ext cx="3657600" cy="1572768"/>
          </a:xfrm>
          <a:prstGeom prst="roundRect">
            <a:avLst>
              <a:gd name="adj" fmla="val 4651"/>
            </a:avLst>
          </a:prstGeom>
          <a:solidFill>
            <a:srgbClr val="FFFFFF"/>
          </a:solidFill>
          <a:ln w="15875">
            <a:solidFill>
              <a:srgbClr val="CBD5D1"/>
            </a:solidFill>
          </a:ln>
        </p:spPr>
        <p:txBody>
          <a:bodyPr wrap="square" lIns="603504" tIns="155448" rIns="146304" bIns="91440" rtlCol="0" anchor="t"/>
          <a:lstStyle/>
          <a:p>
            <a:pPr algn="l" indent="0" marL="0">
              <a:buNone/>
            </a:pPr>
            <a:r>
              <a:rPr lang="en-US" sz="1500" b="1" dirty="0">
                <a:solidFill>
                  <a:srgbClr val="16211E"/>
                </a:solidFill>
                <a:latin typeface="Calibri" pitchFamily="34" charset="0"/>
                <a:ea typeface="Calibri" pitchFamily="34" charset="-122"/>
                <a:cs typeface="Calibri" pitchFamily="34" charset="-120"/>
              </a:rPr>
              <a:t>Hunting, not deciding</a:t>
            </a:r>
            <a:endParaRPr lang="en-US" sz="1500" dirty="0"/>
          </a:p>
          <a:p>
            <a:pPr algn="l" indent="0" marL="0">
              <a:buNone/>
            </a:pPr>
            <a:r>
              <a:rPr lang="en-US" sz="1150" dirty="0">
                <a:solidFill>
                  <a:srgbClr val="5C6B66"/>
                </a:solidFill>
                <a:latin typeface="Calibri" pitchFamily="34" charset="0"/>
                <a:ea typeface="Calibri" pitchFamily="34" charset="-122"/>
                <a:cs typeface="Calibri" pitchFamily="34" charset="-120"/>
              </a:rPr>
              <a:t>Benefits, eligibility, policy, and provider systems sit apart. No one view holds the full picture.</a:t>
            </a:r>
            <a:endParaRPr lang="en-US" sz="1500" dirty="0"/>
          </a:p>
          <a:p>
            <a:pPr algn="l" indent="0" marL="0">
              <a:buNone/>
            </a:pPr>
            <a:r>
              <a:rPr lang="en-US" sz="1050" b="1" dirty="0">
                <a:solidFill>
                  <a:srgbClr val="B8452F"/>
                </a:solidFill>
                <a:latin typeface="Calibri" pitchFamily="34" charset="0"/>
                <a:ea typeface="Calibri" pitchFamily="34" charset="-122"/>
                <a:cs typeface="Calibri" pitchFamily="34" charset="-120"/>
              </a:rPr>
              <a:t>Felt by: the nurse</a:t>
            </a:r>
            <a:endParaRPr lang="en-US" sz="1500" dirty="0"/>
          </a:p>
        </p:txBody>
      </p:sp>
      <p:sp>
        <p:nvSpPr>
          <p:cNvPr id="35" name="Num3"/>
          <p:cNvSpPr/>
          <p:nvPr/>
        </p:nvSpPr>
        <p:spPr>
          <a:xfrm>
            <a:off x="8211312" y="3227832"/>
            <a:ext cx="310896" cy="310896"/>
          </a:xfrm>
          <a:prstGeom prst="roundRect">
            <a:avLst>
              <a:gd name="adj" fmla="val 50000"/>
            </a:avLst>
          </a:prstGeom>
          <a:solidFill>
            <a:srgbClr val="B8452F"/>
          </a:solidFill>
          <a:ln w="12700">
            <a:solidFill>
              <a:srgbClr val="B8452F"/>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6" name="Card4"/>
          <p:cNvSpPr/>
          <p:nvPr/>
        </p:nvSpPr>
        <p:spPr>
          <a:xfrm>
            <a:off x="457200" y="4828032"/>
            <a:ext cx="3657600" cy="1572768"/>
          </a:xfrm>
          <a:prstGeom prst="roundRect">
            <a:avLst>
              <a:gd name="adj" fmla="val 4651"/>
            </a:avLst>
          </a:prstGeom>
          <a:solidFill>
            <a:srgbClr val="FFFFFF"/>
          </a:solidFill>
          <a:ln w="15875">
            <a:solidFill>
              <a:srgbClr val="CBD5D1"/>
            </a:solidFill>
          </a:ln>
        </p:spPr>
        <p:txBody>
          <a:bodyPr wrap="square" lIns="603504" tIns="155448" rIns="146304" bIns="91440" rtlCol="0" anchor="t"/>
          <a:lstStyle/>
          <a:p>
            <a:pPr algn="l" indent="0" marL="0">
              <a:buNone/>
            </a:pPr>
            <a:r>
              <a:rPr lang="en-US" sz="1500" b="1" dirty="0">
                <a:solidFill>
                  <a:srgbClr val="16211E"/>
                </a:solidFill>
                <a:latin typeface="Calibri" pitchFamily="34" charset="0"/>
                <a:ea typeface="Calibri" pitchFamily="34" charset="-122"/>
                <a:cs typeface="Calibri" pitchFamily="34" charset="-120"/>
              </a:rPr>
              <a:t>Decisions vary</a:t>
            </a:r>
            <a:endParaRPr lang="en-US" sz="1500" dirty="0"/>
          </a:p>
          <a:p>
            <a:pPr algn="l" indent="0" marL="0">
              <a:buNone/>
            </a:pPr>
            <a:r>
              <a:rPr lang="en-US" sz="1150" dirty="0">
                <a:solidFill>
                  <a:srgbClr val="5C6B66"/>
                </a:solidFill>
                <a:latin typeface="Calibri" pitchFamily="34" charset="0"/>
                <a:ea typeface="Calibri" pitchFamily="34" charset="-122"/>
                <a:cs typeface="Calibri" pitchFamily="34" charset="-120"/>
              </a:rPr>
              <a:t>Two reviewers can read the same packet and reach different decisions.</a:t>
            </a:r>
            <a:endParaRPr lang="en-US" sz="1500" dirty="0"/>
          </a:p>
          <a:p>
            <a:pPr algn="l" indent="0" marL="0">
              <a:buNone/>
            </a:pPr>
            <a:r>
              <a:rPr lang="en-US" sz="1050" b="1" dirty="0">
                <a:solidFill>
                  <a:srgbClr val="B8452F"/>
                </a:solidFill>
                <a:latin typeface="Calibri" pitchFamily="34" charset="0"/>
                <a:ea typeface="Calibri" pitchFamily="34" charset="-122"/>
                <a:cs typeface="Calibri" pitchFamily="34" charset="-120"/>
              </a:rPr>
              <a:t>Felt by: the plan and the provider</a:t>
            </a:r>
            <a:endParaRPr lang="en-US" sz="1500" dirty="0"/>
          </a:p>
        </p:txBody>
      </p:sp>
      <p:sp>
        <p:nvSpPr>
          <p:cNvPr id="37" name="Num4"/>
          <p:cNvSpPr/>
          <p:nvPr/>
        </p:nvSpPr>
        <p:spPr>
          <a:xfrm>
            <a:off x="594360" y="4965192"/>
            <a:ext cx="310896" cy="310896"/>
          </a:xfrm>
          <a:prstGeom prst="roundRect">
            <a:avLst>
              <a:gd name="adj" fmla="val 50000"/>
            </a:avLst>
          </a:prstGeom>
          <a:solidFill>
            <a:srgbClr val="B8452F"/>
          </a:solidFill>
          <a:ln w="12700">
            <a:solidFill>
              <a:srgbClr val="B8452F"/>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38" name="Card5"/>
          <p:cNvSpPr/>
          <p:nvPr/>
        </p:nvSpPr>
        <p:spPr>
          <a:xfrm>
            <a:off x="4265676" y="4828032"/>
            <a:ext cx="3657600" cy="1572768"/>
          </a:xfrm>
          <a:prstGeom prst="roundRect">
            <a:avLst>
              <a:gd name="adj" fmla="val 4651"/>
            </a:avLst>
          </a:prstGeom>
          <a:solidFill>
            <a:srgbClr val="FFFFFF"/>
          </a:solidFill>
          <a:ln w="15875">
            <a:solidFill>
              <a:srgbClr val="CBD5D1"/>
            </a:solidFill>
          </a:ln>
        </p:spPr>
        <p:txBody>
          <a:bodyPr wrap="square" lIns="603504" tIns="155448" rIns="146304" bIns="91440" rtlCol="0" anchor="t"/>
          <a:lstStyle/>
          <a:p>
            <a:pPr algn="l" indent="0" marL="0">
              <a:buNone/>
            </a:pPr>
            <a:r>
              <a:rPr lang="en-US" sz="1500" b="1" dirty="0">
                <a:solidFill>
                  <a:srgbClr val="16211E"/>
                </a:solidFill>
                <a:latin typeface="Calibri" pitchFamily="34" charset="0"/>
                <a:ea typeface="Calibri" pitchFamily="34" charset="-122"/>
                <a:cs typeface="Calibri" pitchFamily="34" charset="-120"/>
              </a:rPr>
              <a:t>The pend loop</a:t>
            </a:r>
            <a:endParaRPr lang="en-US" sz="1500" dirty="0"/>
          </a:p>
          <a:p>
            <a:pPr algn="l" indent="0" marL="0">
              <a:buNone/>
            </a:pPr>
            <a:r>
              <a:rPr lang="en-US" sz="1150" dirty="0">
                <a:solidFill>
                  <a:srgbClr val="5C6B66"/>
                </a:solidFill>
                <a:latin typeface="Calibri" pitchFamily="34" charset="0"/>
                <a:ea typeface="Calibri" pitchFamily="34" charset="-122"/>
                <a:cs typeface="Calibri" pitchFamily="34" charset="-120"/>
              </a:rPr>
              <a:t>A detail a cleaner read could catch in minutes sends the packet back. The case starts from zero, and the clock keeps running.</a:t>
            </a:r>
            <a:endParaRPr lang="en-US" sz="1500" dirty="0"/>
          </a:p>
          <a:p>
            <a:pPr algn="l" indent="0" marL="0">
              <a:buNone/>
            </a:pPr>
            <a:r>
              <a:rPr lang="en-US" sz="1050" b="1" dirty="0">
                <a:solidFill>
                  <a:srgbClr val="B8452F"/>
                </a:solidFill>
                <a:latin typeface="Calibri" pitchFamily="34" charset="0"/>
                <a:ea typeface="Calibri" pitchFamily="34" charset="-122"/>
                <a:cs typeface="Calibri" pitchFamily="34" charset="-120"/>
              </a:rPr>
              <a:t>Felt by: the provider and the member</a:t>
            </a:r>
            <a:endParaRPr lang="en-US" sz="1500" dirty="0"/>
          </a:p>
        </p:txBody>
      </p:sp>
      <p:sp>
        <p:nvSpPr>
          <p:cNvPr id="39" name="Num5"/>
          <p:cNvSpPr/>
          <p:nvPr/>
        </p:nvSpPr>
        <p:spPr>
          <a:xfrm>
            <a:off x="4402836" y="4965192"/>
            <a:ext cx="310896" cy="310896"/>
          </a:xfrm>
          <a:prstGeom prst="roundRect">
            <a:avLst>
              <a:gd name="adj" fmla="val 50000"/>
            </a:avLst>
          </a:prstGeom>
          <a:solidFill>
            <a:srgbClr val="B8452F"/>
          </a:solidFill>
          <a:ln w="12700">
            <a:solidFill>
              <a:srgbClr val="B8452F"/>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40" name="Card6"/>
          <p:cNvSpPr/>
          <p:nvPr/>
        </p:nvSpPr>
        <p:spPr>
          <a:xfrm>
            <a:off x="8074152" y="4828032"/>
            <a:ext cx="3657600" cy="1572768"/>
          </a:xfrm>
          <a:prstGeom prst="roundRect">
            <a:avLst>
              <a:gd name="adj" fmla="val 4651"/>
            </a:avLst>
          </a:prstGeom>
          <a:solidFill>
            <a:srgbClr val="FFFFFF"/>
          </a:solidFill>
          <a:ln w="15875">
            <a:solidFill>
              <a:srgbClr val="CBD5D1"/>
            </a:solidFill>
          </a:ln>
        </p:spPr>
        <p:txBody>
          <a:bodyPr wrap="square" lIns="603504" tIns="155448" rIns="146304" bIns="91440" rtlCol="0" anchor="t"/>
          <a:lstStyle/>
          <a:p>
            <a:pPr algn="l" indent="0" marL="0">
              <a:buNone/>
            </a:pPr>
            <a:r>
              <a:rPr lang="en-US" sz="1500" b="1" dirty="0">
                <a:solidFill>
                  <a:srgbClr val="16211E"/>
                </a:solidFill>
                <a:latin typeface="Calibri" pitchFamily="34" charset="0"/>
                <a:ea typeface="Calibri" pitchFamily="34" charset="-122"/>
                <a:cs typeface="Calibri" pitchFamily="34" charset="-120"/>
              </a:rPr>
              <a:t>The member in the dark</a:t>
            </a:r>
            <a:endParaRPr lang="en-US" sz="1500" dirty="0"/>
          </a:p>
          <a:p>
            <a:pPr algn="l" indent="0" marL="0">
              <a:buNone/>
            </a:pPr>
            <a:r>
              <a:rPr lang="en-US" sz="1150" dirty="0">
                <a:solidFill>
                  <a:srgbClr val="5C6B66"/>
                </a:solidFill>
                <a:latin typeface="Calibri" pitchFamily="34" charset="0"/>
                <a:ea typeface="Calibri" pitchFamily="34" charset="-122"/>
                <a:cs typeface="Calibri" pitchFamily="34" charset="-120"/>
              </a:rPr>
              <a:t>John Doe waits on his surgery with no view of where his request stands.</a:t>
            </a:r>
            <a:endParaRPr lang="en-US" sz="1500" dirty="0"/>
          </a:p>
          <a:p>
            <a:pPr algn="l" indent="0" marL="0">
              <a:buNone/>
            </a:pPr>
            <a:r>
              <a:rPr lang="en-US" sz="1050" b="1" dirty="0">
                <a:solidFill>
                  <a:srgbClr val="B8452F"/>
                </a:solidFill>
                <a:latin typeface="Calibri" pitchFamily="34" charset="0"/>
                <a:ea typeface="Calibri" pitchFamily="34" charset="-122"/>
                <a:cs typeface="Calibri" pitchFamily="34" charset="-120"/>
              </a:rPr>
              <a:t>Felt by: the member</a:t>
            </a:r>
            <a:endParaRPr lang="en-US" sz="1500" dirty="0"/>
          </a:p>
        </p:txBody>
      </p:sp>
      <p:sp>
        <p:nvSpPr>
          <p:cNvPr id="41" name="Num6"/>
          <p:cNvSpPr/>
          <p:nvPr/>
        </p:nvSpPr>
        <p:spPr>
          <a:xfrm>
            <a:off x="8211312" y="4965192"/>
            <a:ext cx="310896" cy="310896"/>
          </a:xfrm>
          <a:prstGeom prst="roundRect">
            <a:avLst>
              <a:gd name="adj" fmla="val 50000"/>
            </a:avLst>
          </a:prstGeom>
          <a:solidFill>
            <a:srgbClr val="B8452F"/>
          </a:solidFill>
          <a:ln w="12700">
            <a:solidFill>
              <a:srgbClr val="B8452F"/>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42" name="titleB"/>
          <p:cNvSpPr txBox="1"/>
          <p:nvPr/>
        </p:nvSpPr>
        <p:spPr>
          <a:xfrm>
            <a:off x="457200" y="502920"/>
            <a:ext cx="8229600" cy="685800"/>
          </a:xfrm>
          <a:prstGeom prst="rect">
            <a:avLst/>
          </a:prstGeom>
          <a:noFill/>
          <a:ln/>
        </p:spPr>
        <p:txBody>
          <a:bodyPr wrap="square" lIns="0" tIns="0" rIns="0" bIns="0" rtlCol="0" anchor="ctr"/>
          <a:lstStyle/>
          <a:p>
            <a:pPr algn="l" indent="0" marL="0">
              <a:buNone/>
            </a:pPr>
            <a:r>
              <a:rPr lang="en-US" sz="2600" dirty="0">
                <a:solidFill>
                  <a:srgbClr val="16211E"/>
                </a:solidFill>
                <a:latin typeface="Cambria" pitchFamily="34" charset="0"/>
                <a:ea typeface="Cambria" pitchFamily="34" charset="-122"/>
                <a:cs typeface="Cambria" pitchFamily="34" charset="-120"/>
              </a:rPr>
              <a:t>Federal rules now put a clock on all of this.</a:t>
            </a:r>
            <a:endParaRPr lang="en-US" sz="2600" dirty="0"/>
          </a:p>
        </p:txBody>
      </p:sp>
      <p:sp>
        <p:nvSpPr>
          <p:cNvPr id="43" name="subB"/>
          <p:cNvSpPr txBox="1"/>
          <p:nvPr/>
        </p:nvSpPr>
        <p:spPr>
          <a:xfrm>
            <a:off x="6675120" y="502920"/>
            <a:ext cx="5056632" cy="685800"/>
          </a:xfrm>
          <a:prstGeom prst="rect">
            <a:avLst/>
          </a:prstGeom>
          <a:noFill/>
          <a:ln/>
        </p:spPr>
        <p:txBody>
          <a:bodyPr wrap="square" lIns="0" tIns="0" rIns="0" bIns="0" rtlCol="0" anchor="ctr"/>
          <a:lstStyle/>
          <a:p>
            <a:pPr algn="r" indent="0" marL="0">
              <a:buNone/>
            </a:pPr>
            <a:r>
              <a:rPr lang="en-US" sz="1400" dirty="0">
                <a:solidFill>
                  <a:srgbClr val="5C6B66"/>
                </a:solidFill>
                <a:latin typeface="Calibri" pitchFamily="34" charset="0"/>
                <a:ea typeface="Calibri" pitchFamily="34" charset="-122"/>
                <a:cs typeface="Calibri" pitchFamily="34" charset="-120"/>
              </a:rPr>
              <a:t>Applies to Medicare Advantage plans, including Humana's.</a:t>
            </a:r>
            <a:endParaRPr lang="en-US" sz="1400" dirty="0"/>
          </a:p>
        </p:txBody>
      </p:sp>
      <p:sp>
        <p:nvSpPr>
          <p:cNvPr id="44" name="footerB"/>
          <p:cNvSpPr txBox="1"/>
          <p:nvPr/>
        </p:nvSpPr>
        <p:spPr>
          <a:xfrm>
            <a:off x="457200" y="6492240"/>
            <a:ext cx="11274552" cy="228600"/>
          </a:xfrm>
          <a:prstGeom prst="rect">
            <a:avLst/>
          </a:prstGeom>
          <a:noFill/>
          <a:ln/>
        </p:spPr>
        <p:txBody>
          <a:bodyPr wrap="square" lIns="0" tIns="0" rIns="0" bIns="0" rtlCol="0" anchor="t"/>
          <a:lstStyle/>
          <a:p>
            <a:pPr algn="l" indent="0" marL="0">
              <a:buNone/>
            </a:pPr>
            <a:r>
              <a:rPr lang="en-US" sz="900" dirty="0">
                <a:solidFill>
                  <a:srgbClr val="5C6B66"/>
                </a:solidFill>
                <a:latin typeface="Calibri" pitchFamily="34" charset="0"/>
                <a:ea typeface="Calibri" pitchFamily="34" charset="-122"/>
                <a:cs typeface="Calibri" pitchFamily="34" charset="-120"/>
              </a:rPr>
              <a:t>Sources: CMS-0057-F final rule and fact sheet (cms.gov). 42 CFR 422.568(b).</a:t>
            </a:r>
            <a:endParaRPr lang="en-US" sz="900" dirty="0"/>
          </a:p>
        </p:txBody>
      </p:sp>
      <p:sp>
        <p:nvSpPr>
          <p:cNvPr id="45" name="Fed1"/>
          <p:cNvSpPr/>
          <p:nvPr/>
        </p:nvSpPr>
        <p:spPr>
          <a:xfrm>
            <a:off x="457200" y="3090672"/>
            <a:ext cx="3657600" cy="2331720"/>
          </a:xfrm>
          <a:prstGeom prst="roundRect">
            <a:avLst>
              <a:gd name="adj" fmla="val 3137"/>
            </a:avLst>
          </a:prstGeom>
          <a:solidFill>
            <a:srgbClr val="FFFFFF"/>
          </a:solidFill>
          <a:ln w="19050">
            <a:solidFill>
              <a:srgbClr val="B8452F"/>
            </a:solidFill>
          </a:ln>
        </p:spPr>
        <p:txBody>
          <a:bodyPr wrap="square" lIns="164592" tIns="146304" rIns="164592" bIns="91440" rtlCol="0" anchor="t"/>
          <a:lstStyle/>
          <a:p>
            <a:pPr algn="l" indent="0" marL="0">
              <a:spcAft>
                <a:spcPts val="400"/>
              </a:spcAft>
              <a:buNone/>
            </a:pPr>
            <a:r>
              <a:rPr lang="en-US" sz="1000" b="1" spc="200" kern="0" dirty="0">
                <a:solidFill>
                  <a:srgbClr val="B8452F"/>
                </a:solidFill>
                <a:latin typeface="Calibri" pitchFamily="34" charset="0"/>
                <a:ea typeface="Calibri" pitchFamily="34" charset="-122"/>
                <a:cs typeface="Calibri" pitchFamily="34" charset="-120"/>
              </a:rPr>
              <a:t>IN EFFECT SINCE JANUARY 2026</a:t>
            </a:r>
            <a:endParaRPr lang="en-US" sz="1000" dirty="0"/>
          </a:p>
          <a:p>
            <a:pPr algn="l" indent="0" marL="0">
              <a:spcAft>
                <a:spcPts val="800"/>
              </a:spcAft>
              <a:buNone/>
            </a:pPr>
            <a:r>
              <a:rPr lang="en-US" sz="1600" b="1" dirty="0">
                <a:solidFill>
                  <a:srgbClr val="16211E"/>
                </a:solidFill>
                <a:latin typeface="Calibri" pitchFamily="34" charset="0"/>
                <a:ea typeface="Calibri" pitchFamily="34" charset="-122"/>
                <a:cs typeface="Calibri" pitchFamily="34" charset="-120"/>
              </a:rPr>
              <a:t>Decisions have a deadline</a:t>
            </a:r>
            <a:endParaRPr lang="en-US" sz="1000" dirty="0"/>
          </a:p>
          <a:p>
            <a:pPr algn="l" marL="177800" indent="-177800">
              <a:spcAft>
                <a:spcPts val="500"/>
              </a:spcAft>
              <a:buSzPct val="100000"/>
              <a:buChar char="•"/>
            </a:pPr>
            <a:r>
              <a:rPr lang="en-US" sz="1250" dirty="0">
                <a:solidFill>
                  <a:srgbClr val="16211E"/>
                </a:solidFill>
                <a:latin typeface="Calibri" pitchFamily="34" charset="0"/>
                <a:ea typeface="Calibri" pitchFamily="34" charset="-122"/>
                <a:cs typeface="Calibri" pitchFamily="34" charset="-120"/>
              </a:rPr>
              <a:t>72 hours for expedited requests. 7 calendar days for standard ones. An approval or a denial, not a pend.</a:t>
            </a:r>
            <a:endParaRPr lang="en-US" sz="1000" dirty="0"/>
          </a:p>
          <a:p>
            <a:pPr algn="l" marL="177800" indent="-177800">
              <a:spcAft>
                <a:spcPts val="500"/>
              </a:spcAft>
              <a:buSzPct val="100000"/>
              <a:buChar char="•"/>
            </a:pPr>
            <a:r>
              <a:rPr lang="en-US" sz="1250" dirty="0">
                <a:solidFill>
                  <a:srgbClr val="16211E"/>
                </a:solidFill>
                <a:latin typeface="Calibri" pitchFamily="34" charset="0"/>
                <a:ea typeface="Calibri" pitchFamily="34" charset="-122"/>
                <a:cs typeface="Calibri" pitchFamily="34" charset="-120"/>
              </a:rPr>
              <a:t>A specific reason on every denial.</a:t>
            </a:r>
            <a:endParaRPr lang="en-US" sz="1000" dirty="0"/>
          </a:p>
          <a:p>
            <a:pPr algn="l" marL="177800" indent="-177800">
              <a:spcAft>
                <a:spcPts val="500"/>
              </a:spcAft>
              <a:buSzPct val="100000"/>
              <a:buChar char="•"/>
            </a:pPr>
            <a:r>
              <a:rPr lang="en-US" sz="1250" dirty="0">
                <a:solidFill>
                  <a:srgbClr val="16211E"/>
                </a:solidFill>
                <a:latin typeface="Calibri" pitchFamily="34" charset="0"/>
                <a:ea typeface="Calibri" pitchFamily="34" charset="-122"/>
                <a:cs typeface="Calibri" pitchFamily="34" charset="-120"/>
              </a:rPr>
              <a:t>Prior authorization results published every year. The first report was due March 31, 2026.</a:t>
            </a:r>
            <a:endParaRPr lang="en-US" sz="1000" dirty="0"/>
          </a:p>
        </p:txBody>
      </p:sp>
      <p:sp>
        <p:nvSpPr>
          <p:cNvPr id="46" name="Fed2"/>
          <p:cNvSpPr/>
          <p:nvPr/>
        </p:nvSpPr>
        <p:spPr>
          <a:xfrm>
            <a:off x="4265676" y="3090672"/>
            <a:ext cx="3657600" cy="2331720"/>
          </a:xfrm>
          <a:prstGeom prst="roundRect">
            <a:avLst>
              <a:gd name="adj" fmla="val 3137"/>
            </a:avLst>
          </a:prstGeom>
          <a:solidFill>
            <a:srgbClr val="FFFFFF"/>
          </a:solidFill>
          <a:ln w="19050">
            <a:solidFill>
              <a:srgbClr val="8A5A00"/>
            </a:solidFill>
          </a:ln>
        </p:spPr>
        <p:txBody>
          <a:bodyPr wrap="square" lIns="164592" tIns="146304" rIns="164592" bIns="91440" rtlCol="0" anchor="t"/>
          <a:lstStyle/>
          <a:p>
            <a:pPr algn="l" indent="0" marL="0">
              <a:spcAft>
                <a:spcPts val="400"/>
              </a:spcAft>
              <a:buNone/>
            </a:pPr>
            <a:r>
              <a:rPr lang="en-US" sz="1000" b="1" spc="200" kern="0" dirty="0">
                <a:solidFill>
                  <a:srgbClr val="8A5A00"/>
                </a:solidFill>
                <a:latin typeface="Calibri" pitchFamily="34" charset="0"/>
                <a:ea typeface="Calibri" pitchFamily="34" charset="-122"/>
                <a:cs typeface="Calibri" pitchFamily="34" charset="-120"/>
              </a:rPr>
              <a:t>THE RULE ON PENDING</a:t>
            </a:r>
            <a:endParaRPr lang="en-US" sz="1000" dirty="0"/>
          </a:p>
          <a:p>
            <a:pPr algn="l" indent="0" marL="0">
              <a:spcAft>
                <a:spcPts val="800"/>
              </a:spcAft>
              <a:buNone/>
            </a:pPr>
            <a:r>
              <a:rPr lang="en-US" sz="1600" b="1" dirty="0">
                <a:solidFill>
                  <a:srgbClr val="16211E"/>
                </a:solidFill>
                <a:latin typeface="Calibri" pitchFamily="34" charset="0"/>
                <a:ea typeface="Calibri" pitchFamily="34" charset="-122"/>
                <a:cs typeface="Calibri" pitchFamily="34" charset="-120"/>
              </a:rPr>
              <a:t>A pend does not stop the clock</a:t>
            </a:r>
            <a:endParaRPr lang="en-US" sz="1000" dirty="0"/>
          </a:p>
          <a:p>
            <a:pPr algn="l" marL="177800" indent="-177800">
              <a:spcAft>
                <a:spcPts val="500"/>
              </a:spcAft>
              <a:buSzPct val="100000"/>
              <a:buChar char="•"/>
            </a:pPr>
            <a:r>
              <a:rPr lang="en-US" sz="1250" dirty="0">
                <a:solidFill>
                  <a:srgbClr val="16211E"/>
                </a:solidFill>
                <a:latin typeface="Calibri" pitchFamily="34" charset="0"/>
                <a:ea typeface="Calibri" pitchFamily="34" charset="-122"/>
                <a:cs typeface="Calibri" pitchFamily="34" charset="-120"/>
              </a:rPr>
              <a:t>Asking the provider for more information does not pause it.</a:t>
            </a:r>
            <a:endParaRPr lang="en-US" sz="1000" dirty="0"/>
          </a:p>
          <a:p>
            <a:pPr algn="l" marL="177800" indent="-177800">
              <a:spcAft>
                <a:spcPts val="500"/>
              </a:spcAft>
              <a:buSzPct val="100000"/>
              <a:buChar char="•"/>
            </a:pPr>
            <a:r>
              <a:rPr lang="en-US" sz="1250" dirty="0">
                <a:solidFill>
                  <a:srgbClr val="16211E"/>
                </a:solidFill>
                <a:latin typeface="Calibri" pitchFamily="34" charset="0"/>
                <a:ea typeface="Calibri" pitchFamily="34" charset="-122"/>
                <a:cs typeface="Calibri" pitchFamily="34" charset="-120"/>
              </a:rPr>
              <a:t>The plan may extend by up to 14 calendar days.</a:t>
            </a:r>
            <a:endParaRPr lang="en-US" sz="1000" dirty="0"/>
          </a:p>
          <a:p>
            <a:pPr algn="l" marL="177800" indent="-177800">
              <a:spcAft>
                <a:spcPts val="500"/>
              </a:spcAft>
              <a:buSzPct val="100000"/>
              <a:buChar char="•"/>
            </a:pPr>
            <a:r>
              <a:rPr lang="en-US" sz="1250" dirty="0">
                <a:solidFill>
                  <a:srgbClr val="16211E"/>
                </a:solidFill>
                <a:latin typeface="Calibri" pitchFamily="34" charset="0"/>
                <a:ea typeface="Calibri" pitchFamily="34" charset="-122"/>
                <a:cs typeface="Calibri" pitchFamily="34" charset="-120"/>
              </a:rPr>
              <a:t>Only if it justifies the delay as in the member's interest, and tells the member in writing.</a:t>
            </a:r>
            <a:endParaRPr lang="en-US" sz="1000" dirty="0"/>
          </a:p>
        </p:txBody>
      </p:sp>
      <p:sp>
        <p:nvSpPr>
          <p:cNvPr id="47" name="Fed3"/>
          <p:cNvSpPr/>
          <p:nvPr/>
        </p:nvSpPr>
        <p:spPr>
          <a:xfrm>
            <a:off x="8074152" y="3090672"/>
            <a:ext cx="3657600" cy="2331720"/>
          </a:xfrm>
          <a:prstGeom prst="roundRect">
            <a:avLst>
              <a:gd name="adj" fmla="val 3137"/>
            </a:avLst>
          </a:prstGeom>
          <a:solidFill>
            <a:srgbClr val="FFFFFF"/>
          </a:solidFill>
          <a:ln w="19050">
            <a:solidFill>
              <a:srgbClr val="5F3AA8"/>
            </a:solidFill>
          </a:ln>
        </p:spPr>
        <p:txBody>
          <a:bodyPr wrap="square" lIns="164592" tIns="146304" rIns="164592" bIns="91440" rtlCol="0" anchor="t"/>
          <a:lstStyle/>
          <a:p>
            <a:pPr algn="l" indent="0" marL="0">
              <a:spcAft>
                <a:spcPts val="400"/>
              </a:spcAft>
              <a:buNone/>
            </a:pPr>
            <a:r>
              <a:rPr lang="en-US" sz="1000" b="1" spc="200" kern="0" dirty="0">
                <a:solidFill>
                  <a:srgbClr val="5F3AA8"/>
                </a:solidFill>
                <a:latin typeface="Calibri" pitchFamily="34" charset="0"/>
                <a:ea typeface="Calibri" pitchFamily="34" charset="-122"/>
                <a:cs typeface="Calibri" pitchFamily="34" charset="-120"/>
              </a:rPr>
              <a:t>COMING JANUARY 2027</a:t>
            </a:r>
            <a:endParaRPr lang="en-US" sz="1000" dirty="0"/>
          </a:p>
          <a:p>
            <a:pPr algn="l" indent="0" marL="0">
              <a:spcAft>
                <a:spcPts val="800"/>
              </a:spcAft>
              <a:buNone/>
            </a:pPr>
            <a:r>
              <a:rPr lang="en-US" sz="1600" b="1" dirty="0">
                <a:solidFill>
                  <a:srgbClr val="16211E"/>
                </a:solidFill>
                <a:latin typeface="Calibri" pitchFamily="34" charset="0"/>
                <a:ea typeface="Calibri" pitchFamily="34" charset="-122"/>
                <a:cs typeface="Calibri" pitchFamily="34" charset="-120"/>
              </a:rPr>
              <a:t>The member gets a window</a:t>
            </a:r>
            <a:endParaRPr lang="en-US" sz="1000" dirty="0"/>
          </a:p>
          <a:p>
            <a:pPr algn="l" marL="177800" indent="-177800">
              <a:spcAft>
                <a:spcPts val="500"/>
              </a:spcAft>
              <a:buSzPct val="100000"/>
              <a:buChar char="•"/>
            </a:pPr>
            <a:r>
              <a:rPr lang="en-US" sz="1250" dirty="0">
                <a:solidFill>
                  <a:srgbClr val="16211E"/>
                </a:solidFill>
                <a:latin typeface="Calibri" pitchFamily="34" charset="0"/>
                <a:ea typeface="Calibri" pitchFamily="34" charset="-122"/>
                <a:cs typeface="Calibri" pitchFamily="34" charset="-120"/>
              </a:rPr>
              <a:t>Four data interfaces (FHIR APIs) go live.</a:t>
            </a:r>
            <a:endParaRPr lang="en-US" sz="1000" dirty="0"/>
          </a:p>
          <a:p>
            <a:pPr algn="l" marL="177800" indent="-177800">
              <a:spcAft>
                <a:spcPts val="500"/>
              </a:spcAft>
              <a:buSzPct val="100000"/>
              <a:buChar char="•"/>
            </a:pPr>
            <a:r>
              <a:rPr lang="en-US" sz="1250" dirty="0">
                <a:solidFill>
                  <a:srgbClr val="16211E"/>
                </a:solidFill>
                <a:latin typeface="Calibri" pitchFamily="34" charset="0"/>
                <a:ea typeface="Calibri" pitchFamily="34" charset="-122"/>
                <a:cs typeface="Calibri" pitchFamily="34" charset="-120"/>
              </a:rPr>
              <a:t>One of them, the Patient Access API, must show the member where a prior authorization stands.</a:t>
            </a:r>
            <a:endParaRPr lang="en-US" sz="1000" dirty="0"/>
          </a:p>
        </p:txBody>
      </p:sp>
      <p:sp>
        <p:nvSpPr>
          <p:cNvPr id="48" name="Banner"/>
          <p:cNvSpPr/>
          <p:nvPr/>
        </p:nvSpPr>
        <p:spPr>
          <a:xfrm>
            <a:off x="457200" y="5577840"/>
            <a:ext cx="11274552" cy="731520"/>
          </a:xfrm>
          <a:prstGeom prst="roundRect">
            <a:avLst>
              <a:gd name="adj" fmla="val 10000"/>
            </a:avLst>
          </a:prstGeom>
          <a:solidFill>
            <a:srgbClr val="1F6F5C"/>
          </a:solidFill>
          <a:ln w="12700">
            <a:solidFill>
              <a:srgbClr val="1F6F5C"/>
            </a:solidFill>
          </a:ln>
        </p:spPr>
        <p:txBody>
          <a:bodyPr wrap="square" lIns="228600" tIns="54864" rIns="228600" bIns="54864" rtlCol="0" anchor="ctr"/>
          <a:lstStyle/>
          <a:p>
            <a:pPr algn="l" indent="0" marL="0">
              <a:buNone/>
            </a:pPr>
            <a:r>
              <a:rPr lang="en-US" sz="1400" b="1" dirty="0">
                <a:solidFill>
                  <a:srgbClr val="FFFFFF"/>
                </a:solidFill>
                <a:latin typeface="Calibri" pitchFamily="34" charset="0"/>
                <a:ea typeface="Calibri" pitchFamily="34" charset="-122"/>
                <a:cs typeface="Calibri" pitchFamily="34" charset="-120"/>
              </a:rPr>
              <a:t>These are not just frictions we feel. Federal rules now set the clock, ask for the reason, and make the results public. Getting every case to a decision inside that clock matters more than ever.</a:t>
            </a:r>
            <a:endParaRPr lang="en-US" sz="14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7" presetID="10" presetClass="entr" presetSubtype="0" fill="hold" grpId="0" nodeType="clickEffect">
                                  <p:stCondLst>
                                    <p:cond delay="0"/>
                                  </p:stCondLst>
                                  <p:childTnLst>
                                    <p:set>
                                      <p:cBhvr>
                                        <p:cTn id="5" dur="1" fill="hold">
                                          <p:stCondLst>
                                            <p:cond delay="0"/>
                                          </p:stCondLst>
                                        </p:cTn>
                                        <p:tgtEl>
                                          <p:spTgt spid="30"/>
                                        </p:tgtEl>
                                        <p:attrNameLst>
                                          <p:attrName>style.visibility</p:attrName>
                                        </p:attrNameLst>
                                      </p:cBhvr>
                                      <p:to>
                                        <p:strVal val="visible"/>
                                      </p:to>
                                    </p:set>
                                    <p:animEffect transition="in" filter="fade">
                                      <p:cBhvr>
                                        <p:cTn id="6" dur="500"/>
                                        <p:tgtEl>
                                          <p:spTgt spid="30"/>
                                        </p:tgtEl>
                                      </p:cBhvr>
                                    </p:animEffect>
                                  </p:childTnLst>
                                </p:cTn>
                              </p:par>
                              <p:par>
                                <p:cTn id="10" presetID="10" presetClass="entr" presetSubtype="0" fill="hold" grpId="0" nodeType="withEffect">
                                  <p:stCondLst>
                                    <p:cond delay="0"/>
                                  </p:stCondLst>
                                  <p:childTnLst>
                                    <p:set>
                                      <p:cBhvr>
                                        <p:cTn id="8" dur="1" fill="hold">
                                          <p:stCondLst>
                                            <p:cond delay="0"/>
                                          </p:stCondLst>
                                        </p:cTn>
                                        <p:tgtEl>
                                          <p:spTgt spid="31"/>
                                        </p:tgtEl>
                                        <p:attrNameLst>
                                          <p:attrName>style.visibility</p:attrName>
                                        </p:attrNameLst>
                                      </p:cBhvr>
                                      <p:to>
                                        <p:strVal val="visible"/>
                                      </p:to>
                                    </p:set>
                                    <p:animEffect transition="in" filter="fade">
                                      <p:cBhvr>
                                        <p:cTn id="9" dur="500"/>
                                        <p:tgtEl>
                                          <p:spTgt spid="31"/>
                                        </p:tgtEl>
                                      </p:cBhvr>
                                    </p:animEffect>
                                  </p:childTnLst>
                                </p:cTn>
                              </p:par>
                              <p:par>
                                <p:cTn id="13" presetID="10" presetClass="entr" presetSubtype="0" fill="hold" grpId="0" nodeType="withEffect">
                                  <p:stCondLst>
                                    <p:cond delay="15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500"/>
                                        <p:tgtEl>
                                          <p:spTgt spid="24"/>
                                        </p:tgtEl>
                                      </p:cBhvr>
                                    </p:animEffect>
                                  </p:childTnLst>
                                </p:cTn>
                              </p:par>
                            </p:childTnLst>
                          </p:cTn>
                        </p:par>
                      </p:childTnLst>
                    </p:cTn>
                  </p:par>
                  <p:par>
                    <p:cTn id="14" fill="hold">
                      <p:stCondLst>
                        <p:cond delay="indefinite"/>
                      </p:stCondLst>
                      <p:childTnLst>
                        <p:par>
                          <p:cTn id="15" fill="hold">
                            <p:stCondLst>
                              <p:cond delay="0"/>
                            </p:stCondLst>
                            <p:childTnLst>
                              <p:par>
                                <p:cTn id="18" presetID="10" presetClass="entr" presetSubtype="0" fill="hold" grpId="0"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500"/>
                                        <p:tgtEl>
                                          <p:spTgt spid="32"/>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33"/>
                                        </p:tgtEl>
                                        <p:attrNameLst>
                                          <p:attrName>style.visibility</p:attrName>
                                        </p:attrNameLst>
                                      </p:cBhvr>
                                      <p:to>
                                        <p:strVal val="visible"/>
                                      </p:to>
                                    </p:set>
                                    <p:animEffect transition="in" filter="fade">
                                      <p:cBhvr>
                                        <p:cTn id="20" dur="500"/>
                                        <p:tgtEl>
                                          <p:spTgt spid="33"/>
                                        </p:tgtEl>
                                      </p:cBhvr>
                                    </p:animEffect>
                                  </p:childTnLst>
                                </p:cTn>
                              </p:par>
                              <p:par>
                                <p:cTn id="24" presetID="10" presetClass="entr" presetSubtype="0" fill="hold" grpId="0" nodeType="withEffect">
                                  <p:stCondLst>
                                    <p:cond delay="15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500"/>
                                        <p:tgtEl>
                                          <p:spTgt spid="26"/>
                                        </p:tgtEl>
                                      </p:cBhvr>
                                    </p:animEffect>
                                  </p:childTnLst>
                                </p:cTn>
                              </p:par>
                            </p:childTnLst>
                          </p:cTn>
                        </p:par>
                      </p:childTnLst>
                    </p:cTn>
                  </p:par>
                  <p:par>
                    <p:cTn id="25" fill="hold">
                      <p:stCondLst>
                        <p:cond delay="indefinite"/>
                      </p:stCondLst>
                      <p:childTnLst>
                        <p:par>
                          <p:cTn id="26" fill="hold">
                            <p:stCondLst>
                              <p:cond delay="0"/>
                            </p:stCondLst>
                            <p:childTnLst>
                              <p:par>
                                <p:cTn id="29" presetID="10" presetClass="entr" presetSubtype="0" fill="hold" grpId="0" nodeType="clickEffect">
                                  <p:stCondLst>
                                    <p:cond delay="0"/>
                                  </p:stCondLst>
                                  <p:childTnLst>
                                    <p:set>
                                      <p:cBhvr>
                                        <p:cTn id="27" dur="1" fill="hold">
                                          <p:stCondLst>
                                            <p:cond delay="0"/>
                                          </p:stCondLst>
                                        </p:cTn>
                                        <p:tgtEl>
                                          <p:spTgt spid="34"/>
                                        </p:tgtEl>
                                        <p:attrNameLst>
                                          <p:attrName>style.visibility</p:attrName>
                                        </p:attrNameLst>
                                      </p:cBhvr>
                                      <p:to>
                                        <p:strVal val="visible"/>
                                      </p:to>
                                    </p:set>
                                    <p:animEffect transition="in" filter="fade">
                                      <p:cBhvr>
                                        <p:cTn id="28" dur="500"/>
                                        <p:tgtEl>
                                          <p:spTgt spid="34"/>
                                        </p:tgtEl>
                                      </p:cBhvr>
                                    </p:animEffect>
                                  </p:childTnLst>
                                </p:cTn>
                              </p:par>
                              <p:par>
                                <p:cTn id="32" presetID="10" presetClass="entr" presetSubtype="0" fill="hold" grpId="0" nodeType="withEffect">
                                  <p:stCondLst>
                                    <p:cond delay="0"/>
                                  </p:stCondLst>
                                  <p:childTnLst>
                                    <p:set>
                                      <p:cBhvr>
                                        <p:cTn id="30" dur="1" fill="hold">
                                          <p:stCondLst>
                                            <p:cond delay="0"/>
                                          </p:stCondLst>
                                        </p:cTn>
                                        <p:tgtEl>
                                          <p:spTgt spid="35"/>
                                        </p:tgtEl>
                                        <p:attrNameLst>
                                          <p:attrName>style.visibility</p:attrName>
                                        </p:attrNameLst>
                                      </p:cBhvr>
                                      <p:to>
                                        <p:strVal val="visible"/>
                                      </p:to>
                                    </p:set>
                                    <p:animEffect transition="in" filter="fade">
                                      <p:cBhvr>
                                        <p:cTn id="31" dur="500"/>
                                        <p:tgtEl>
                                          <p:spTgt spid="35"/>
                                        </p:tgtEl>
                                      </p:cBhvr>
                                    </p:animEffect>
                                  </p:childTnLst>
                                </p:cTn>
                              </p:par>
                              <p:par>
                                <p:cTn id="35" presetID="10" presetClass="entr" presetSubtype="0" fill="hold" grpId="0" nodeType="withEffect">
                                  <p:stCondLst>
                                    <p:cond delay="15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500"/>
                                        <p:tgtEl>
                                          <p:spTgt spid="25"/>
                                        </p:tgtEl>
                                      </p:cBhvr>
                                    </p:animEffect>
                                  </p:childTnLst>
                                </p:cTn>
                              </p:par>
                            </p:childTnLst>
                          </p:cTn>
                        </p:par>
                      </p:childTnLst>
                    </p:cTn>
                  </p:par>
                  <p:par>
                    <p:cTn id="36" fill="hold">
                      <p:stCondLst>
                        <p:cond delay="indefinite"/>
                      </p:stCondLst>
                      <p:childTnLst>
                        <p:par>
                          <p:cTn id="37" fill="hold">
                            <p:stCondLst>
                              <p:cond delay="0"/>
                            </p:stCondLst>
                            <p:childTnLst>
                              <p:par>
                                <p:cTn id="40" presetID="10" presetClass="entr" presetSubtype="0" fill="hold" grpId="0" nodeType="clickEffect">
                                  <p:stCondLst>
                                    <p:cond delay="0"/>
                                  </p:stCondLst>
                                  <p:childTnLst>
                                    <p:set>
                                      <p:cBhvr>
                                        <p:cTn id="38" dur="1" fill="hold">
                                          <p:stCondLst>
                                            <p:cond delay="0"/>
                                          </p:stCondLst>
                                        </p:cTn>
                                        <p:tgtEl>
                                          <p:spTgt spid="36"/>
                                        </p:tgtEl>
                                        <p:attrNameLst>
                                          <p:attrName>style.visibility</p:attrName>
                                        </p:attrNameLst>
                                      </p:cBhvr>
                                      <p:to>
                                        <p:strVal val="visible"/>
                                      </p:to>
                                    </p:set>
                                    <p:animEffect transition="in" filter="fade">
                                      <p:cBhvr>
                                        <p:cTn id="39" dur="500"/>
                                        <p:tgtEl>
                                          <p:spTgt spid="36"/>
                                        </p:tgtEl>
                                      </p:cBhvr>
                                    </p:animEffect>
                                  </p:childTnLst>
                                </p:cTn>
                              </p:par>
                              <p:par>
                                <p:cTn id="43" presetID="10" presetClass="entr" presetSubtype="0" fill="hold" grpId="0" nodeType="with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fade">
                                      <p:cBhvr>
                                        <p:cTn id="42" dur="500"/>
                                        <p:tgtEl>
                                          <p:spTgt spid="37"/>
                                        </p:tgtEl>
                                      </p:cBhvr>
                                    </p:animEffect>
                                  </p:childTnLst>
                                </p:cTn>
                              </p:par>
                              <p:par>
                                <p:cTn id="46" presetID="10" presetClass="entr" presetSubtype="0" fill="hold" grpId="0" nodeType="withEffect">
                                  <p:stCondLst>
                                    <p:cond delay="150"/>
                                  </p:stCondLst>
                                  <p:childTnLst>
                                    <p:set>
                                      <p:cBhvr>
                                        <p:cTn id="44" dur="1" fill="hold">
                                          <p:stCondLst>
                                            <p:cond delay="0"/>
                                          </p:stCondLst>
                                        </p:cTn>
                                        <p:tgtEl>
                                          <p:spTgt spid="27"/>
                                        </p:tgtEl>
                                        <p:attrNameLst>
                                          <p:attrName>style.visibility</p:attrName>
                                        </p:attrNameLst>
                                      </p:cBhvr>
                                      <p:to>
                                        <p:strVal val="visible"/>
                                      </p:to>
                                    </p:set>
                                    <p:animEffect transition="in" filter="fade">
                                      <p:cBhvr>
                                        <p:cTn id="45" dur="500"/>
                                        <p:tgtEl>
                                          <p:spTgt spid="27"/>
                                        </p:tgtEl>
                                      </p:cBhvr>
                                    </p:animEffect>
                                  </p:childTnLst>
                                </p:cTn>
                              </p:par>
                            </p:childTnLst>
                          </p:cTn>
                        </p:par>
                      </p:childTnLst>
                    </p:cTn>
                  </p:par>
                  <p:par>
                    <p:cTn id="47" fill="hold">
                      <p:stCondLst>
                        <p:cond delay="indefinite"/>
                      </p:stCondLst>
                      <p:childTnLst>
                        <p:par>
                          <p:cTn id="48" fill="hold">
                            <p:stCondLst>
                              <p:cond delay="0"/>
                            </p:stCondLst>
                            <p:childTnLst>
                              <p:par>
                                <p:cTn id="51" presetID="10" presetClass="entr" presetSubtype="0" fill="hold" grpId="0" nodeType="clickEffect">
                                  <p:stCondLst>
                                    <p:cond delay="0"/>
                                  </p:stCondLst>
                                  <p:childTnLst>
                                    <p:set>
                                      <p:cBhvr>
                                        <p:cTn id="49" dur="1" fill="hold">
                                          <p:stCondLst>
                                            <p:cond delay="0"/>
                                          </p:stCondLst>
                                        </p:cTn>
                                        <p:tgtEl>
                                          <p:spTgt spid="38"/>
                                        </p:tgtEl>
                                        <p:attrNameLst>
                                          <p:attrName>style.visibility</p:attrName>
                                        </p:attrNameLst>
                                      </p:cBhvr>
                                      <p:to>
                                        <p:strVal val="visible"/>
                                      </p:to>
                                    </p:set>
                                    <p:animEffect transition="in" filter="fade">
                                      <p:cBhvr>
                                        <p:cTn id="50" dur="500"/>
                                        <p:tgtEl>
                                          <p:spTgt spid="38"/>
                                        </p:tgtEl>
                                      </p:cBhvr>
                                    </p:animEffect>
                                  </p:childTnLst>
                                </p:cTn>
                              </p:par>
                              <p:par>
                                <p:cTn id="54" presetID="10" presetClass="entr" presetSubtype="0" fill="hold" grpId="0" nodeType="withEffect">
                                  <p:stCondLst>
                                    <p:cond delay="0"/>
                                  </p:stCondLst>
                                  <p:childTnLst>
                                    <p:set>
                                      <p:cBhvr>
                                        <p:cTn id="52" dur="1" fill="hold">
                                          <p:stCondLst>
                                            <p:cond delay="0"/>
                                          </p:stCondLst>
                                        </p:cTn>
                                        <p:tgtEl>
                                          <p:spTgt spid="39"/>
                                        </p:tgtEl>
                                        <p:attrNameLst>
                                          <p:attrName>style.visibility</p:attrName>
                                        </p:attrNameLst>
                                      </p:cBhvr>
                                      <p:to>
                                        <p:strVal val="visible"/>
                                      </p:to>
                                    </p:set>
                                    <p:animEffect transition="in" filter="fade">
                                      <p:cBhvr>
                                        <p:cTn id="53" dur="500"/>
                                        <p:tgtEl>
                                          <p:spTgt spid="39"/>
                                        </p:tgtEl>
                                      </p:cBhvr>
                                    </p:animEffect>
                                  </p:childTnLst>
                                </p:cTn>
                              </p:par>
                              <p:par>
                                <p:cTn id="57" presetID="10" presetClass="entr" presetSubtype="0" fill="hold" grpId="0" nodeType="withEffect">
                                  <p:stCondLst>
                                    <p:cond delay="150"/>
                                  </p:stCondLst>
                                  <p:childTnLst>
                                    <p:set>
                                      <p:cBhvr>
                                        <p:cTn id="55" dur="1" fill="hold">
                                          <p:stCondLst>
                                            <p:cond delay="0"/>
                                          </p:stCondLst>
                                        </p:cTn>
                                        <p:tgtEl>
                                          <p:spTgt spid="28"/>
                                        </p:tgtEl>
                                        <p:attrNameLst>
                                          <p:attrName>style.visibility</p:attrName>
                                        </p:attrNameLst>
                                      </p:cBhvr>
                                      <p:to>
                                        <p:strVal val="visible"/>
                                      </p:to>
                                    </p:set>
                                    <p:animEffect transition="in" filter="fade">
                                      <p:cBhvr>
                                        <p:cTn id="56" dur="500"/>
                                        <p:tgtEl>
                                          <p:spTgt spid="28"/>
                                        </p:tgtEl>
                                      </p:cBhvr>
                                    </p:animEffect>
                                  </p:childTnLst>
                                </p:cTn>
                              </p:par>
                            </p:childTnLst>
                          </p:cTn>
                        </p:par>
                      </p:childTnLst>
                    </p:cTn>
                  </p:par>
                  <p:par>
                    <p:cTn id="58" fill="hold">
                      <p:stCondLst>
                        <p:cond delay="indefinite"/>
                      </p:stCondLst>
                      <p:childTnLst>
                        <p:par>
                          <p:cTn id="59" fill="hold">
                            <p:stCondLst>
                              <p:cond delay="0"/>
                            </p:stCondLst>
                            <p:childTnLst>
                              <p:par>
                                <p:cTn id="62" presetID="10" presetClass="entr" presetSubtype="0" fill="hold" grpId="0" nodeType="clickEffect">
                                  <p:stCondLst>
                                    <p:cond delay="0"/>
                                  </p:stCondLst>
                                  <p:childTnLst>
                                    <p:set>
                                      <p:cBhvr>
                                        <p:cTn id="60" dur="1" fill="hold">
                                          <p:stCondLst>
                                            <p:cond delay="0"/>
                                          </p:stCondLst>
                                        </p:cTn>
                                        <p:tgtEl>
                                          <p:spTgt spid="40"/>
                                        </p:tgtEl>
                                        <p:attrNameLst>
                                          <p:attrName>style.visibility</p:attrName>
                                        </p:attrNameLst>
                                      </p:cBhvr>
                                      <p:to>
                                        <p:strVal val="visible"/>
                                      </p:to>
                                    </p:set>
                                    <p:animEffect transition="in" filter="fade">
                                      <p:cBhvr>
                                        <p:cTn id="61" dur="500"/>
                                        <p:tgtEl>
                                          <p:spTgt spid="40"/>
                                        </p:tgtEl>
                                      </p:cBhvr>
                                    </p:animEffect>
                                  </p:childTnLst>
                                </p:cTn>
                              </p:par>
                              <p:par>
                                <p:cTn id="65" presetID="10" presetClass="entr" presetSubtype="0" fill="hold" grpId="0" nodeType="withEffect">
                                  <p:stCondLst>
                                    <p:cond delay="0"/>
                                  </p:stCondLst>
                                  <p:childTnLst>
                                    <p:set>
                                      <p:cBhvr>
                                        <p:cTn id="63" dur="1" fill="hold">
                                          <p:stCondLst>
                                            <p:cond delay="0"/>
                                          </p:stCondLst>
                                        </p:cTn>
                                        <p:tgtEl>
                                          <p:spTgt spid="41"/>
                                        </p:tgtEl>
                                        <p:attrNameLst>
                                          <p:attrName>style.visibility</p:attrName>
                                        </p:attrNameLst>
                                      </p:cBhvr>
                                      <p:to>
                                        <p:strVal val="visible"/>
                                      </p:to>
                                    </p:set>
                                    <p:animEffect transition="in" filter="fade">
                                      <p:cBhvr>
                                        <p:cTn id="64" dur="500"/>
                                        <p:tgtEl>
                                          <p:spTgt spid="41"/>
                                        </p:tgtEl>
                                      </p:cBhvr>
                                    </p:animEffect>
                                  </p:childTnLst>
                                </p:cTn>
                              </p:par>
                              <p:par>
                                <p:cTn id="68" presetID="10" presetClass="entr" presetSubtype="0" fill="hold" grpId="0" nodeType="withEffect">
                                  <p:stCondLst>
                                    <p:cond delay="15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500"/>
                                        <p:tgtEl>
                                          <p:spTgt spid="29"/>
                                        </p:tgtEl>
                                      </p:cBhvr>
                                    </p:animEffect>
                                  </p:childTnLst>
                                </p:cTn>
                              </p:par>
                            </p:childTnLst>
                          </p:cTn>
                        </p:par>
                      </p:childTnLst>
                    </p:cTn>
                  </p:par>
                  <p:par>
                    <p:cTn id="69" fill="hold">
                      <p:stCondLst>
                        <p:cond delay="indefinite"/>
                      </p:stCondLst>
                      <p:childTnLst>
                        <p:par>
                          <p:cTn id="70" fill="hold">
                            <p:stCondLst>
                              <p:cond delay="0"/>
                            </p:stCondLst>
                            <p:childTnLst>
                              <p:par>
                                <p:cTn id="73" presetID="10" presetClass="exit" presetSubtype="0" fill="hold" grpId="0" nodeType="clickEffect">
                                  <p:stCondLst>
                                    <p:cond delay="0"/>
                                  </p:stCondLst>
                                  <p:childTnLst>
                                    <p:animEffect transition="out" filter="fade">
                                      <p:cBhvr>
                                        <p:cTn id="71" dur="300"/>
                                        <p:tgtEl>
                                          <p:spTgt spid="30"/>
                                        </p:tgtEl>
                                      </p:cBhvr>
                                    </p:animEffect>
                                    <p:set>
                                      <p:cBhvr>
                                        <p:cTn id="72" dur="1" fill="hold">
                                          <p:stCondLst>
                                            <p:cond delay="299"/>
                                          </p:stCondLst>
                                        </p:cTn>
                                        <p:tgtEl>
                                          <p:spTgt spid="30"/>
                                        </p:tgtEl>
                                        <p:attrNameLst>
                                          <p:attrName>style.visibility</p:attrName>
                                        </p:attrNameLst>
                                      </p:cBhvr>
                                      <p:to>
                                        <p:strVal val="hidden"/>
                                      </p:to>
                                    </p:set>
                                  </p:childTnLst>
                                </p:cTn>
                              </p:par>
                              <p:par>
                                <p:cTn id="76" presetID="10" presetClass="exit" presetSubtype="0" fill="hold" grpId="0" nodeType="withEffect">
                                  <p:stCondLst>
                                    <p:cond delay="0"/>
                                  </p:stCondLst>
                                  <p:childTnLst>
                                    <p:animEffect transition="out" filter="fade">
                                      <p:cBhvr>
                                        <p:cTn id="74" dur="300"/>
                                        <p:tgtEl>
                                          <p:spTgt spid="31"/>
                                        </p:tgtEl>
                                      </p:cBhvr>
                                    </p:animEffect>
                                    <p:set>
                                      <p:cBhvr>
                                        <p:cTn id="75" dur="1" fill="hold">
                                          <p:stCondLst>
                                            <p:cond delay="299"/>
                                          </p:stCondLst>
                                        </p:cTn>
                                        <p:tgtEl>
                                          <p:spTgt spid="31"/>
                                        </p:tgtEl>
                                        <p:attrNameLst>
                                          <p:attrName>style.visibility</p:attrName>
                                        </p:attrNameLst>
                                      </p:cBhvr>
                                      <p:to>
                                        <p:strVal val="hidden"/>
                                      </p:to>
                                    </p:set>
                                  </p:childTnLst>
                                </p:cTn>
                              </p:par>
                              <p:par>
                                <p:cTn id="79" presetID="10" presetClass="exit" presetSubtype="0" fill="hold" grpId="0" nodeType="withEffect">
                                  <p:stCondLst>
                                    <p:cond delay="0"/>
                                  </p:stCondLst>
                                  <p:childTnLst>
                                    <p:animEffect transition="out" filter="fade">
                                      <p:cBhvr>
                                        <p:cTn id="77" dur="300"/>
                                        <p:tgtEl>
                                          <p:spTgt spid="24"/>
                                        </p:tgtEl>
                                      </p:cBhvr>
                                    </p:animEffect>
                                    <p:set>
                                      <p:cBhvr>
                                        <p:cTn id="78" dur="1" fill="hold">
                                          <p:stCondLst>
                                            <p:cond delay="299"/>
                                          </p:stCondLst>
                                        </p:cTn>
                                        <p:tgtEl>
                                          <p:spTgt spid="24"/>
                                        </p:tgtEl>
                                        <p:attrNameLst>
                                          <p:attrName>style.visibility</p:attrName>
                                        </p:attrNameLst>
                                      </p:cBhvr>
                                      <p:to>
                                        <p:strVal val="hidden"/>
                                      </p:to>
                                    </p:set>
                                  </p:childTnLst>
                                </p:cTn>
                              </p:par>
                              <p:par>
                                <p:cTn id="82" presetID="10" presetClass="exit" presetSubtype="0" fill="hold" grpId="0" nodeType="withEffect">
                                  <p:stCondLst>
                                    <p:cond delay="0"/>
                                  </p:stCondLst>
                                  <p:childTnLst>
                                    <p:animEffect transition="out" filter="fade">
                                      <p:cBhvr>
                                        <p:cTn id="80" dur="300"/>
                                        <p:tgtEl>
                                          <p:spTgt spid="32"/>
                                        </p:tgtEl>
                                      </p:cBhvr>
                                    </p:animEffect>
                                    <p:set>
                                      <p:cBhvr>
                                        <p:cTn id="81" dur="1" fill="hold">
                                          <p:stCondLst>
                                            <p:cond delay="299"/>
                                          </p:stCondLst>
                                        </p:cTn>
                                        <p:tgtEl>
                                          <p:spTgt spid="32"/>
                                        </p:tgtEl>
                                        <p:attrNameLst>
                                          <p:attrName>style.visibility</p:attrName>
                                        </p:attrNameLst>
                                      </p:cBhvr>
                                      <p:to>
                                        <p:strVal val="hidden"/>
                                      </p:to>
                                    </p:set>
                                  </p:childTnLst>
                                </p:cTn>
                              </p:par>
                              <p:par>
                                <p:cTn id="85" presetID="10" presetClass="exit" presetSubtype="0" fill="hold" grpId="0" nodeType="withEffect">
                                  <p:stCondLst>
                                    <p:cond delay="0"/>
                                  </p:stCondLst>
                                  <p:childTnLst>
                                    <p:animEffect transition="out" filter="fade">
                                      <p:cBhvr>
                                        <p:cTn id="83" dur="300"/>
                                        <p:tgtEl>
                                          <p:spTgt spid="33"/>
                                        </p:tgtEl>
                                      </p:cBhvr>
                                    </p:animEffect>
                                    <p:set>
                                      <p:cBhvr>
                                        <p:cTn id="84" dur="1" fill="hold">
                                          <p:stCondLst>
                                            <p:cond delay="299"/>
                                          </p:stCondLst>
                                        </p:cTn>
                                        <p:tgtEl>
                                          <p:spTgt spid="33"/>
                                        </p:tgtEl>
                                        <p:attrNameLst>
                                          <p:attrName>style.visibility</p:attrName>
                                        </p:attrNameLst>
                                      </p:cBhvr>
                                      <p:to>
                                        <p:strVal val="hidden"/>
                                      </p:to>
                                    </p:set>
                                  </p:childTnLst>
                                </p:cTn>
                              </p:par>
                              <p:par>
                                <p:cTn id="88" presetID="10" presetClass="exit" presetSubtype="0" fill="hold" grpId="0" nodeType="withEffect">
                                  <p:stCondLst>
                                    <p:cond delay="0"/>
                                  </p:stCondLst>
                                  <p:childTnLst>
                                    <p:animEffect transition="out" filter="fade">
                                      <p:cBhvr>
                                        <p:cTn id="86" dur="300"/>
                                        <p:tgtEl>
                                          <p:spTgt spid="26"/>
                                        </p:tgtEl>
                                      </p:cBhvr>
                                    </p:animEffect>
                                    <p:set>
                                      <p:cBhvr>
                                        <p:cTn id="87" dur="1" fill="hold">
                                          <p:stCondLst>
                                            <p:cond delay="299"/>
                                          </p:stCondLst>
                                        </p:cTn>
                                        <p:tgtEl>
                                          <p:spTgt spid="26"/>
                                        </p:tgtEl>
                                        <p:attrNameLst>
                                          <p:attrName>style.visibility</p:attrName>
                                        </p:attrNameLst>
                                      </p:cBhvr>
                                      <p:to>
                                        <p:strVal val="hidden"/>
                                      </p:to>
                                    </p:set>
                                  </p:childTnLst>
                                </p:cTn>
                              </p:par>
                              <p:par>
                                <p:cTn id="91" presetID="10" presetClass="exit" presetSubtype="0" fill="hold" grpId="0" nodeType="withEffect">
                                  <p:stCondLst>
                                    <p:cond delay="0"/>
                                  </p:stCondLst>
                                  <p:childTnLst>
                                    <p:animEffect transition="out" filter="fade">
                                      <p:cBhvr>
                                        <p:cTn id="89" dur="300"/>
                                        <p:tgtEl>
                                          <p:spTgt spid="34"/>
                                        </p:tgtEl>
                                      </p:cBhvr>
                                    </p:animEffect>
                                    <p:set>
                                      <p:cBhvr>
                                        <p:cTn id="90" dur="1" fill="hold">
                                          <p:stCondLst>
                                            <p:cond delay="299"/>
                                          </p:stCondLst>
                                        </p:cTn>
                                        <p:tgtEl>
                                          <p:spTgt spid="34"/>
                                        </p:tgtEl>
                                        <p:attrNameLst>
                                          <p:attrName>style.visibility</p:attrName>
                                        </p:attrNameLst>
                                      </p:cBhvr>
                                      <p:to>
                                        <p:strVal val="hidden"/>
                                      </p:to>
                                    </p:set>
                                  </p:childTnLst>
                                </p:cTn>
                              </p:par>
                              <p:par>
                                <p:cTn id="94" presetID="10" presetClass="exit" presetSubtype="0" fill="hold" grpId="0" nodeType="withEffect">
                                  <p:stCondLst>
                                    <p:cond delay="0"/>
                                  </p:stCondLst>
                                  <p:childTnLst>
                                    <p:animEffect transition="out" filter="fade">
                                      <p:cBhvr>
                                        <p:cTn id="92" dur="300"/>
                                        <p:tgtEl>
                                          <p:spTgt spid="35"/>
                                        </p:tgtEl>
                                      </p:cBhvr>
                                    </p:animEffect>
                                    <p:set>
                                      <p:cBhvr>
                                        <p:cTn id="93" dur="1" fill="hold">
                                          <p:stCondLst>
                                            <p:cond delay="299"/>
                                          </p:stCondLst>
                                        </p:cTn>
                                        <p:tgtEl>
                                          <p:spTgt spid="35"/>
                                        </p:tgtEl>
                                        <p:attrNameLst>
                                          <p:attrName>style.visibility</p:attrName>
                                        </p:attrNameLst>
                                      </p:cBhvr>
                                      <p:to>
                                        <p:strVal val="hidden"/>
                                      </p:to>
                                    </p:set>
                                  </p:childTnLst>
                                </p:cTn>
                              </p:par>
                              <p:par>
                                <p:cTn id="97" presetID="10" presetClass="exit" presetSubtype="0" fill="hold" grpId="0" nodeType="withEffect">
                                  <p:stCondLst>
                                    <p:cond delay="0"/>
                                  </p:stCondLst>
                                  <p:childTnLst>
                                    <p:animEffect transition="out" filter="fade">
                                      <p:cBhvr>
                                        <p:cTn id="95" dur="300"/>
                                        <p:tgtEl>
                                          <p:spTgt spid="25"/>
                                        </p:tgtEl>
                                      </p:cBhvr>
                                    </p:animEffect>
                                    <p:set>
                                      <p:cBhvr>
                                        <p:cTn id="96" dur="1" fill="hold">
                                          <p:stCondLst>
                                            <p:cond delay="299"/>
                                          </p:stCondLst>
                                        </p:cTn>
                                        <p:tgtEl>
                                          <p:spTgt spid="25"/>
                                        </p:tgtEl>
                                        <p:attrNameLst>
                                          <p:attrName>style.visibility</p:attrName>
                                        </p:attrNameLst>
                                      </p:cBhvr>
                                      <p:to>
                                        <p:strVal val="hidden"/>
                                      </p:to>
                                    </p:set>
                                  </p:childTnLst>
                                </p:cTn>
                              </p:par>
                              <p:par>
                                <p:cTn id="100" presetID="10" presetClass="exit" presetSubtype="0" fill="hold" grpId="0" nodeType="withEffect">
                                  <p:stCondLst>
                                    <p:cond delay="0"/>
                                  </p:stCondLst>
                                  <p:childTnLst>
                                    <p:animEffect transition="out" filter="fade">
                                      <p:cBhvr>
                                        <p:cTn id="98" dur="300"/>
                                        <p:tgtEl>
                                          <p:spTgt spid="36"/>
                                        </p:tgtEl>
                                      </p:cBhvr>
                                    </p:animEffect>
                                    <p:set>
                                      <p:cBhvr>
                                        <p:cTn id="99" dur="1" fill="hold">
                                          <p:stCondLst>
                                            <p:cond delay="299"/>
                                          </p:stCondLst>
                                        </p:cTn>
                                        <p:tgtEl>
                                          <p:spTgt spid="36"/>
                                        </p:tgtEl>
                                        <p:attrNameLst>
                                          <p:attrName>style.visibility</p:attrName>
                                        </p:attrNameLst>
                                      </p:cBhvr>
                                      <p:to>
                                        <p:strVal val="hidden"/>
                                      </p:to>
                                    </p:set>
                                  </p:childTnLst>
                                </p:cTn>
                              </p:par>
                              <p:par>
                                <p:cTn id="103" presetID="10" presetClass="exit" presetSubtype="0" fill="hold" grpId="0" nodeType="withEffect">
                                  <p:stCondLst>
                                    <p:cond delay="0"/>
                                  </p:stCondLst>
                                  <p:childTnLst>
                                    <p:animEffect transition="out" filter="fade">
                                      <p:cBhvr>
                                        <p:cTn id="101" dur="300"/>
                                        <p:tgtEl>
                                          <p:spTgt spid="37"/>
                                        </p:tgtEl>
                                      </p:cBhvr>
                                    </p:animEffect>
                                    <p:set>
                                      <p:cBhvr>
                                        <p:cTn id="102" dur="1" fill="hold">
                                          <p:stCondLst>
                                            <p:cond delay="299"/>
                                          </p:stCondLst>
                                        </p:cTn>
                                        <p:tgtEl>
                                          <p:spTgt spid="37"/>
                                        </p:tgtEl>
                                        <p:attrNameLst>
                                          <p:attrName>style.visibility</p:attrName>
                                        </p:attrNameLst>
                                      </p:cBhvr>
                                      <p:to>
                                        <p:strVal val="hidden"/>
                                      </p:to>
                                    </p:set>
                                  </p:childTnLst>
                                </p:cTn>
                              </p:par>
                              <p:par>
                                <p:cTn id="106" presetID="10" presetClass="exit" presetSubtype="0" fill="hold" grpId="0" nodeType="withEffect">
                                  <p:stCondLst>
                                    <p:cond delay="0"/>
                                  </p:stCondLst>
                                  <p:childTnLst>
                                    <p:animEffect transition="out" filter="fade">
                                      <p:cBhvr>
                                        <p:cTn id="104" dur="300"/>
                                        <p:tgtEl>
                                          <p:spTgt spid="27"/>
                                        </p:tgtEl>
                                      </p:cBhvr>
                                    </p:animEffect>
                                    <p:set>
                                      <p:cBhvr>
                                        <p:cTn id="105" dur="1" fill="hold">
                                          <p:stCondLst>
                                            <p:cond delay="299"/>
                                          </p:stCondLst>
                                        </p:cTn>
                                        <p:tgtEl>
                                          <p:spTgt spid="27"/>
                                        </p:tgtEl>
                                        <p:attrNameLst>
                                          <p:attrName>style.visibility</p:attrName>
                                        </p:attrNameLst>
                                      </p:cBhvr>
                                      <p:to>
                                        <p:strVal val="hidden"/>
                                      </p:to>
                                    </p:set>
                                  </p:childTnLst>
                                </p:cTn>
                              </p:par>
                              <p:par>
                                <p:cTn id="109" presetID="10" presetClass="exit" presetSubtype="0" fill="hold" grpId="0" nodeType="withEffect">
                                  <p:stCondLst>
                                    <p:cond delay="0"/>
                                  </p:stCondLst>
                                  <p:childTnLst>
                                    <p:animEffect transition="out" filter="fade">
                                      <p:cBhvr>
                                        <p:cTn id="107" dur="300"/>
                                        <p:tgtEl>
                                          <p:spTgt spid="38"/>
                                        </p:tgtEl>
                                      </p:cBhvr>
                                    </p:animEffect>
                                    <p:set>
                                      <p:cBhvr>
                                        <p:cTn id="108" dur="1" fill="hold">
                                          <p:stCondLst>
                                            <p:cond delay="299"/>
                                          </p:stCondLst>
                                        </p:cTn>
                                        <p:tgtEl>
                                          <p:spTgt spid="38"/>
                                        </p:tgtEl>
                                        <p:attrNameLst>
                                          <p:attrName>style.visibility</p:attrName>
                                        </p:attrNameLst>
                                      </p:cBhvr>
                                      <p:to>
                                        <p:strVal val="hidden"/>
                                      </p:to>
                                    </p:set>
                                  </p:childTnLst>
                                </p:cTn>
                              </p:par>
                              <p:par>
                                <p:cTn id="112" presetID="10" presetClass="exit" presetSubtype="0" fill="hold" grpId="0" nodeType="withEffect">
                                  <p:stCondLst>
                                    <p:cond delay="0"/>
                                  </p:stCondLst>
                                  <p:childTnLst>
                                    <p:animEffect transition="out" filter="fade">
                                      <p:cBhvr>
                                        <p:cTn id="110" dur="300"/>
                                        <p:tgtEl>
                                          <p:spTgt spid="39"/>
                                        </p:tgtEl>
                                      </p:cBhvr>
                                    </p:animEffect>
                                    <p:set>
                                      <p:cBhvr>
                                        <p:cTn id="111" dur="1" fill="hold">
                                          <p:stCondLst>
                                            <p:cond delay="299"/>
                                          </p:stCondLst>
                                        </p:cTn>
                                        <p:tgtEl>
                                          <p:spTgt spid="39"/>
                                        </p:tgtEl>
                                        <p:attrNameLst>
                                          <p:attrName>style.visibility</p:attrName>
                                        </p:attrNameLst>
                                      </p:cBhvr>
                                      <p:to>
                                        <p:strVal val="hidden"/>
                                      </p:to>
                                    </p:set>
                                  </p:childTnLst>
                                </p:cTn>
                              </p:par>
                              <p:par>
                                <p:cTn id="115" presetID="10" presetClass="exit" presetSubtype="0" fill="hold" grpId="0" nodeType="withEffect">
                                  <p:stCondLst>
                                    <p:cond delay="0"/>
                                  </p:stCondLst>
                                  <p:childTnLst>
                                    <p:animEffect transition="out" filter="fade">
                                      <p:cBhvr>
                                        <p:cTn id="113" dur="300"/>
                                        <p:tgtEl>
                                          <p:spTgt spid="28"/>
                                        </p:tgtEl>
                                      </p:cBhvr>
                                    </p:animEffect>
                                    <p:set>
                                      <p:cBhvr>
                                        <p:cTn id="114" dur="1" fill="hold">
                                          <p:stCondLst>
                                            <p:cond delay="299"/>
                                          </p:stCondLst>
                                        </p:cTn>
                                        <p:tgtEl>
                                          <p:spTgt spid="28"/>
                                        </p:tgtEl>
                                        <p:attrNameLst>
                                          <p:attrName>style.visibility</p:attrName>
                                        </p:attrNameLst>
                                      </p:cBhvr>
                                      <p:to>
                                        <p:strVal val="hidden"/>
                                      </p:to>
                                    </p:set>
                                  </p:childTnLst>
                                </p:cTn>
                              </p:par>
                              <p:par>
                                <p:cTn id="118" presetID="10" presetClass="exit" presetSubtype="0" fill="hold" grpId="0" nodeType="withEffect">
                                  <p:stCondLst>
                                    <p:cond delay="0"/>
                                  </p:stCondLst>
                                  <p:childTnLst>
                                    <p:animEffect transition="out" filter="fade">
                                      <p:cBhvr>
                                        <p:cTn id="116" dur="300"/>
                                        <p:tgtEl>
                                          <p:spTgt spid="40"/>
                                        </p:tgtEl>
                                      </p:cBhvr>
                                    </p:animEffect>
                                    <p:set>
                                      <p:cBhvr>
                                        <p:cTn id="117" dur="1" fill="hold">
                                          <p:stCondLst>
                                            <p:cond delay="299"/>
                                          </p:stCondLst>
                                        </p:cTn>
                                        <p:tgtEl>
                                          <p:spTgt spid="40"/>
                                        </p:tgtEl>
                                        <p:attrNameLst>
                                          <p:attrName>style.visibility</p:attrName>
                                        </p:attrNameLst>
                                      </p:cBhvr>
                                      <p:to>
                                        <p:strVal val="hidden"/>
                                      </p:to>
                                    </p:set>
                                  </p:childTnLst>
                                </p:cTn>
                              </p:par>
                              <p:par>
                                <p:cTn id="121" presetID="10" presetClass="exit" presetSubtype="0" fill="hold" grpId="0" nodeType="withEffect">
                                  <p:stCondLst>
                                    <p:cond delay="0"/>
                                  </p:stCondLst>
                                  <p:childTnLst>
                                    <p:animEffect transition="out" filter="fade">
                                      <p:cBhvr>
                                        <p:cTn id="119" dur="300"/>
                                        <p:tgtEl>
                                          <p:spTgt spid="41"/>
                                        </p:tgtEl>
                                      </p:cBhvr>
                                    </p:animEffect>
                                    <p:set>
                                      <p:cBhvr>
                                        <p:cTn id="120" dur="1" fill="hold">
                                          <p:stCondLst>
                                            <p:cond delay="299"/>
                                          </p:stCondLst>
                                        </p:cTn>
                                        <p:tgtEl>
                                          <p:spTgt spid="41"/>
                                        </p:tgtEl>
                                        <p:attrNameLst>
                                          <p:attrName>style.visibility</p:attrName>
                                        </p:attrNameLst>
                                      </p:cBhvr>
                                      <p:to>
                                        <p:strVal val="hidden"/>
                                      </p:to>
                                    </p:set>
                                  </p:childTnLst>
                                </p:cTn>
                              </p:par>
                              <p:par>
                                <p:cTn id="124" presetID="10" presetClass="exit" presetSubtype="0" fill="hold" grpId="0" nodeType="withEffect">
                                  <p:stCondLst>
                                    <p:cond delay="0"/>
                                  </p:stCondLst>
                                  <p:childTnLst>
                                    <p:animEffect transition="out" filter="fade">
                                      <p:cBhvr>
                                        <p:cTn id="122" dur="300"/>
                                        <p:tgtEl>
                                          <p:spTgt spid="29"/>
                                        </p:tgtEl>
                                      </p:cBhvr>
                                    </p:animEffect>
                                    <p:set>
                                      <p:cBhvr>
                                        <p:cTn id="123" dur="1" fill="hold">
                                          <p:stCondLst>
                                            <p:cond delay="299"/>
                                          </p:stCondLst>
                                        </p:cTn>
                                        <p:tgtEl>
                                          <p:spTgt spid="29"/>
                                        </p:tgtEl>
                                        <p:attrNameLst>
                                          <p:attrName>style.visibility</p:attrName>
                                        </p:attrNameLst>
                                      </p:cBhvr>
                                      <p:to>
                                        <p:strVal val="hidden"/>
                                      </p:to>
                                    </p:set>
                                  </p:childTnLst>
                                </p:cTn>
                              </p:par>
                              <p:par>
                                <p:cTn id="127" presetID="10" presetClass="exit" presetSubtype="0" fill="hold" grpId="0" nodeType="withEffect">
                                  <p:stCondLst>
                                    <p:cond delay="0"/>
                                  </p:stCondLst>
                                  <p:childTnLst>
                                    <p:animEffect transition="out" filter="fade">
                                      <p:cBhvr>
                                        <p:cTn id="125" dur="300"/>
                                        <p:tgtEl>
                                          <p:spTgt spid="3"/>
                                        </p:tgtEl>
                                      </p:cBhvr>
                                    </p:animEffect>
                                    <p:set>
                                      <p:cBhvr>
                                        <p:cTn id="126" dur="1" fill="hold">
                                          <p:stCondLst>
                                            <p:cond delay="299"/>
                                          </p:stCondLst>
                                        </p:cTn>
                                        <p:tgtEl>
                                          <p:spTgt spid="3"/>
                                        </p:tgtEl>
                                        <p:attrNameLst>
                                          <p:attrName>style.visibility</p:attrName>
                                        </p:attrNameLst>
                                      </p:cBhvr>
                                      <p:to>
                                        <p:strVal val="hidden"/>
                                      </p:to>
                                    </p:set>
                                  </p:childTnLst>
                                </p:cTn>
                              </p:par>
                              <p:par>
                                <p:cTn id="130" presetID="10" presetClass="exit" presetSubtype="0" fill="hold" grpId="0" nodeType="withEffect">
                                  <p:stCondLst>
                                    <p:cond delay="0"/>
                                  </p:stCondLst>
                                  <p:childTnLst>
                                    <p:animEffect transition="out" filter="fade">
                                      <p:cBhvr>
                                        <p:cTn id="128" dur="300"/>
                                        <p:tgtEl>
                                          <p:spTgt spid="4"/>
                                        </p:tgtEl>
                                      </p:cBhvr>
                                    </p:animEffect>
                                    <p:set>
                                      <p:cBhvr>
                                        <p:cTn id="129" dur="1" fill="hold">
                                          <p:stCondLst>
                                            <p:cond delay="299"/>
                                          </p:stCondLst>
                                        </p:cTn>
                                        <p:tgtEl>
                                          <p:spTgt spid="4"/>
                                        </p:tgtEl>
                                        <p:attrNameLst>
                                          <p:attrName>style.visibility</p:attrName>
                                        </p:attrNameLst>
                                      </p:cBhvr>
                                      <p:to>
                                        <p:strVal val="hidden"/>
                                      </p:to>
                                    </p:set>
                                  </p:childTnLst>
                                </p:cTn>
                              </p:par>
                              <p:par>
                                <p:cTn id="133" presetID="10" presetClass="exit" presetSubtype="0" fill="hold" grpId="0" nodeType="withEffect">
                                  <p:stCondLst>
                                    <p:cond delay="0"/>
                                  </p:stCondLst>
                                  <p:childTnLst>
                                    <p:animEffect transition="out" filter="fade">
                                      <p:cBhvr>
                                        <p:cTn id="131" dur="300"/>
                                        <p:tgtEl>
                                          <p:spTgt spid="5"/>
                                        </p:tgtEl>
                                      </p:cBhvr>
                                    </p:animEffect>
                                    <p:set>
                                      <p:cBhvr>
                                        <p:cTn id="132" dur="1" fill="hold">
                                          <p:stCondLst>
                                            <p:cond delay="299"/>
                                          </p:stCondLst>
                                        </p:cTn>
                                        <p:tgtEl>
                                          <p:spTgt spid="5"/>
                                        </p:tgtEl>
                                        <p:attrNameLst>
                                          <p:attrName>style.visibility</p:attrName>
                                        </p:attrNameLst>
                                      </p:cBhvr>
                                      <p:to>
                                        <p:strVal val="hidden"/>
                                      </p:to>
                                    </p:set>
                                  </p:childTnLst>
                                </p:cTn>
                              </p:par>
                              <p:par>
                                <p:cTn id="136" presetID="10" presetClass="entr" presetSubtype="0" fill="hold" grpId="0" nodeType="withEffect">
                                  <p:stCondLst>
                                    <p:cond delay="400"/>
                                  </p:stCondLst>
                                  <p:childTnLst>
                                    <p:set>
                                      <p:cBhvr>
                                        <p:cTn id="134" dur="1" fill="hold">
                                          <p:stCondLst>
                                            <p:cond delay="0"/>
                                          </p:stCondLst>
                                        </p:cTn>
                                        <p:tgtEl>
                                          <p:spTgt spid="42"/>
                                        </p:tgtEl>
                                        <p:attrNameLst>
                                          <p:attrName>style.visibility</p:attrName>
                                        </p:attrNameLst>
                                      </p:cBhvr>
                                      <p:to>
                                        <p:strVal val="visible"/>
                                      </p:to>
                                    </p:set>
                                    <p:animEffect transition="in" filter="fade">
                                      <p:cBhvr>
                                        <p:cTn id="135" dur="500"/>
                                        <p:tgtEl>
                                          <p:spTgt spid="42"/>
                                        </p:tgtEl>
                                      </p:cBhvr>
                                    </p:animEffect>
                                  </p:childTnLst>
                                </p:cTn>
                              </p:par>
                              <p:par>
                                <p:cTn id="139" presetID="10" presetClass="entr" presetSubtype="0" fill="hold" grpId="0" nodeType="withEffect">
                                  <p:stCondLst>
                                    <p:cond delay="400"/>
                                  </p:stCondLst>
                                  <p:childTnLst>
                                    <p:set>
                                      <p:cBhvr>
                                        <p:cTn id="137" dur="1" fill="hold">
                                          <p:stCondLst>
                                            <p:cond delay="0"/>
                                          </p:stCondLst>
                                        </p:cTn>
                                        <p:tgtEl>
                                          <p:spTgt spid="43"/>
                                        </p:tgtEl>
                                        <p:attrNameLst>
                                          <p:attrName>style.visibility</p:attrName>
                                        </p:attrNameLst>
                                      </p:cBhvr>
                                      <p:to>
                                        <p:strVal val="visible"/>
                                      </p:to>
                                    </p:set>
                                    <p:animEffect transition="in" filter="fade">
                                      <p:cBhvr>
                                        <p:cTn id="138" dur="500"/>
                                        <p:tgtEl>
                                          <p:spTgt spid="43"/>
                                        </p:tgtEl>
                                      </p:cBhvr>
                                    </p:animEffect>
                                  </p:childTnLst>
                                </p:cTn>
                              </p:par>
                              <p:par>
                                <p:cTn id="142" presetID="10" presetClass="entr" presetSubtype="0" fill="hold" grpId="0" nodeType="withEffect">
                                  <p:stCondLst>
                                    <p:cond delay="400"/>
                                  </p:stCondLst>
                                  <p:childTnLst>
                                    <p:set>
                                      <p:cBhvr>
                                        <p:cTn id="140" dur="1" fill="hold">
                                          <p:stCondLst>
                                            <p:cond delay="0"/>
                                          </p:stCondLst>
                                        </p:cTn>
                                        <p:tgtEl>
                                          <p:spTgt spid="44"/>
                                        </p:tgtEl>
                                        <p:attrNameLst>
                                          <p:attrName>style.visibility</p:attrName>
                                        </p:attrNameLst>
                                      </p:cBhvr>
                                      <p:to>
                                        <p:strVal val="visible"/>
                                      </p:to>
                                    </p:set>
                                    <p:animEffect transition="in" filter="fade">
                                      <p:cBhvr>
                                        <p:cTn id="141" dur="500"/>
                                        <p:tgtEl>
                                          <p:spTgt spid="44"/>
                                        </p:tgtEl>
                                      </p:cBhvr>
                                    </p:animEffect>
                                  </p:childTnLst>
                                </p:cTn>
                              </p:par>
                              <p:par>
                                <p:cTn id="145" presetID="10" presetClass="entr" presetSubtype="0" fill="hold" grpId="0" nodeType="withEffect">
                                  <p:stCondLst>
                                    <p:cond delay="450"/>
                                  </p:stCondLst>
                                  <p:childTnLst>
                                    <p:set>
                                      <p:cBhvr>
                                        <p:cTn id="143" dur="1" fill="hold">
                                          <p:stCondLst>
                                            <p:cond delay="0"/>
                                          </p:stCondLst>
                                        </p:cTn>
                                        <p:tgtEl>
                                          <p:spTgt spid="45"/>
                                        </p:tgtEl>
                                        <p:attrNameLst>
                                          <p:attrName>style.visibility</p:attrName>
                                        </p:attrNameLst>
                                      </p:cBhvr>
                                      <p:to>
                                        <p:strVal val="visible"/>
                                      </p:to>
                                    </p:set>
                                    <p:animEffect transition="in" filter="fade">
                                      <p:cBhvr>
                                        <p:cTn id="144" dur="500"/>
                                        <p:tgtEl>
                                          <p:spTgt spid="45"/>
                                        </p:tgtEl>
                                      </p:cBhvr>
                                    </p:animEffect>
                                  </p:childTnLst>
                                </p:cTn>
                              </p:par>
                            </p:childTnLst>
                          </p:cTn>
                        </p:par>
                      </p:childTnLst>
                    </p:cTn>
                  </p:par>
                  <p:par>
                    <p:cTn id="146" fill="hold">
                      <p:stCondLst>
                        <p:cond delay="indefinite"/>
                      </p:stCondLst>
                      <p:childTnLst>
                        <p:par>
                          <p:cTn id="147" fill="hold">
                            <p:stCondLst>
                              <p:cond delay="0"/>
                            </p:stCondLst>
                            <p:childTnLst>
                              <p:par>
                                <p:cTn id="150" presetID="10" presetClass="entr" presetSubtype="0" fill="hold" grpId="0" nodeType="clickEffect">
                                  <p:stCondLst>
                                    <p:cond delay="0"/>
                                  </p:stCondLst>
                                  <p:childTnLst>
                                    <p:set>
                                      <p:cBhvr>
                                        <p:cTn id="148" dur="1" fill="hold">
                                          <p:stCondLst>
                                            <p:cond delay="0"/>
                                          </p:stCondLst>
                                        </p:cTn>
                                        <p:tgtEl>
                                          <p:spTgt spid="46"/>
                                        </p:tgtEl>
                                        <p:attrNameLst>
                                          <p:attrName>style.visibility</p:attrName>
                                        </p:attrNameLst>
                                      </p:cBhvr>
                                      <p:to>
                                        <p:strVal val="visible"/>
                                      </p:to>
                                    </p:set>
                                    <p:animEffect transition="in" filter="fade">
                                      <p:cBhvr>
                                        <p:cTn id="149" dur="500"/>
                                        <p:tgtEl>
                                          <p:spTgt spid="46"/>
                                        </p:tgtEl>
                                      </p:cBhvr>
                                    </p:animEffect>
                                  </p:childTnLst>
                                </p:cTn>
                              </p:par>
                            </p:childTnLst>
                          </p:cTn>
                        </p:par>
                      </p:childTnLst>
                    </p:cTn>
                  </p:par>
                  <p:par>
                    <p:cTn id="151" fill="hold">
                      <p:stCondLst>
                        <p:cond delay="indefinite"/>
                      </p:stCondLst>
                      <p:childTnLst>
                        <p:par>
                          <p:cTn id="152" fill="hold">
                            <p:stCondLst>
                              <p:cond delay="0"/>
                            </p:stCondLst>
                            <p:childTnLst>
                              <p:par>
                                <p:cTn id="155" presetID="10" presetClass="entr" presetSubtype="0" fill="hold" grpId="0" nodeType="clickEffect">
                                  <p:stCondLst>
                                    <p:cond delay="0"/>
                                  </p:stCondLst>
                                  <p:childTnLst>
                                    <p:set>
                                      <p:cBhvr>
                                        <p:cTn id="153" dur="1" fill="hold">
                                          <p:stCondLst>
                                            <p:cond delay="0"/>
                                          </p:stCondLst>
                                        </p:cTn>
                                        <p:tgtEl>
                                          <p:spTgt spid="47"/>
                                        </p:tgtEl>
                                        <p:attrNameLst>
                                          <p:attrName>style.visibility</p:attrName>
                                        </p:attrNameLst>
                                      </p:cBhvr>
                                      <p:to>
                                        <p:strVal val="visible"/>
                                      </p:to>
                                    </p:set>
                                    <p:animEffect transition="in" filter="fade">
                                      <p:cBhvr>
                                        <p:cTn id="154" dur="500"/>
                                        <p:tgtEl>
                                          <p:spTgt spid="47"/>
                                        </p:tgtEl>
                                      </p:cBhvr>
                                    </p:animEffect>
                                  </p:childTnLst>
                                </p:cTn>
                              </p:par>
                            </p:childTnLst>
                          </p:cTn>
                        </p:par>
                      </p:childTnLst>
                    </p:cTn>
                  </p:par>
                  <p:par>
                    <p:cTn id="156" fill="hold">
                      <p:stCondLst>
                        <p:cond delay="indefinite"/>
                      </p:stCondLst>
                      <p:childTnLst>
                        <p:par>
                          <p:cTn id="157" fill="hold">
                            <p:stCondLst>
                              <p:cond delay="0"/>
                            </p:stCondLst>
                            <p:childTnLst>
                              <p:par>
                                <p:cTn id="160" presetID="10" presetClass="entr" presetSubtype="0" fill="hold" grpId="0" nodeType="clickEffect">
                                  <p:stCondLst>
                                    <p:cond delay="0"/>
                                  </p:stCondLst>
                                  <p:childTnLst>
                                    <p:set>
                                      <p:cBhvr>
                                        <p:cTn id="158" dur="1" fill="hold">
                                          <p:stCondLst>
                                            <p:cond delay="0"/>
                                          </p:stCondLst>
                                        </p:cTn>
                                        <p:tgtEl>
                                          <p:spTgt spid="48"/>
                                        </p:tgtEl>
                                        <p:attrNameLst>
                                          <p:attrName>style.visibility</p:attrName>
                                        </p:attrNameLst>
                                      </p:cBhvr>
                                      <p:to>
                                        <p:strVal val="visible"/>
                                      </p:to>
                                    </p:set>
                                    <p:animEffect transition="in" filter="fade">
                                      <p:cBhvr>
                                        <p:cTn id="159" dur="5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24" grpId="0" animBg="1"/>
      <p:bldP spid="32" grpId="0" animBg="1"/>
      <p:bldP spid="33" grpId="0" animBg="1"/>
      <p:bldP spid="26" grpId="0" animBg="1"/>
      <p:bldP spid="34" grpId="0" animBg="1"/>
      <p:bldP spid="35" grpId="0" animBg="1"/>
      <p:bldP spid="25" grpId="0" animBg="1"/>
      <p:bldP spid="36" grpId="0" animBg="1"/>
      <p:bldP spid="37" grpId="0" animBg="1"/>
      <p:bldP spid="27" grpId="0" animBg="1"/>
      <p:bldP spid="38" grpId="0" animBg="1"/>
      <p:bldP spid="39" grpId="0" animBg="1"/>
      <p:bldP spid="28" grpId="0" animBg="1"/>
      <p:bldP spid="40" grpId="0" animBg="1"/>
      <p:bldP spid="41" grpId="0" animBg="1"/>
      <p:bldP spid="29" grpId="0" animBg="1"/>
      <p:bldP spid="3" grpId="0"/>
      <p:bldP spid="4" grpId="0"/>
      <p:bldP spid="5" grpId="0"/>
      <p:bldP spid="42" grpId="0"/>
      <p:bldP spid="43" grpId="0"/>
      <p:bldP spid="44" grpId="0"/>
      <p:bldP spid="45" grpId="0" animBg="1"/>
      <p:bldP spid="46" grpId="0" animBg="1"/>
      <p:bldP spid="47" grpId="0" animBg="1"/>
      <p:bldP spid="48"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friction points</dc:title>
  <dc:subject>PptxGenJS Presentation</dc:subject>
  <dc:creator>Nisha Mishra</dc:creator>
  <cp:lastModifiedBy>Nisha Mishra</cp:lastModifiedBy>
  <cp:revision>1</cp:revision>
  <dcterms:created xsi:type="dcterms:W3CDTF">2026-10-04T02:21:23Z</dcterms:created>
  <dcterms:modified xsi:type="dcterms:W3CDTF">2026-10-04T02:21:23Z</dcterms:modified>
</cp:coreProperties>
</file>