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builds the policy library. It happens before go-live, and it is the biggest piece of real work. There are three stages and two databases.
Stage 1, the weekly refresh. A scheduled job calls the public CMS Coverage API for three things: the billing articles, the billing codes listed on each article, and the national and local coverage policies. It compares versions and fetches only what is new or changed. It saves it all in our first database: articles, the codes on each article, and policies. Because it is stored, the owner never waits on the CMS website.
Stage 2, the owner creates a service, for example allergen immunotherapy. They use the owner screens. The app server reads the first database and suggests billing codes, ranked by how many articles each code is found in, and policies, from our library first and then from CMS. The owner picks, and the service is saved in the second database, the policy library. A code sends a packet to one service. A service can use many policies.
Stage 3, only when the policy is new. The policy source goes to Unstructured, the ETL step. It uses a partitioner to parse the document and extract elements: title, text, page number, as JSON. Claude Sonnet reads those elements with a 10-rule prompt and a fixed output form, and drafts each rule with its exact quote, the key fact to check, and the question to ask the provider if the fact is missing. The validator is code with real algorithms. It re-finds every quote in the policy text, exact first and then fuzzy, requires the same numbers, and checks every number and key fact. The owner then reviews each rule beside its quote and approves, edits or rejects. Only approved rules are saved to the policy library.
Part two only ever uses what part one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PART 1  ·  ARCHITECTURE</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Part 1 builds the policy library.</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Before go-live. The biggest piece of work.</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Billing codes and policies come from public CMS data. The AI drafts. A person approves every rule. Every billing code keeps its CMS article as its source.</a:t>
            </a:r>
            <a:endParaRPr lang="en-US" sz="900" dirty="0"/>
          </a:p>
        </p:txBody>
      </p:sp>
      <p:sp>
        <p:nvSpPr>
          <p:cNvPr id="6" name="R1"/>
          <p:cNvSpPr/>
          <p:nvPr/>
        </p:nvSpPr>
        <p:spPr>
          <a:xfrm>
            <a:off x="1737360" y="1280160"/>
            <a:ext cx="10058400" cy="1417320"/>
          </a:xfrm>
          <a:prstGeom prst="roundRect">
            <a:avLst>
              <a:gd name="adj" fmla="val 6452"/>
            </a:avLst>
          </a:prstGeom>
          <a:ln w="15875">
            <a:solidFill>
              <a:srgbClr val="1F6F5C"/>
            </a:solidFill>
            <a:prstDash val="dash"/>
          </a:ln>
        </p:spPr>
      </p:sp>
      <p:sp>
        <p:nvSpPr>
          <p:cNvPr id="7" name="R1L"/>
          <p:cNvSpPr txBox="1"/>
          <p:nvPr/>
        </p:nvSpPr>
        <p:spPr>
          <a:xfrm>
            <a:off x="5303520" y="131673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1   WEEKLY REFRESH</a:t>
            </a:r>
            <a:endParaRPr lang="en-US" sz="1100" dirty="0"/>
          </a:p>
        </p:txBody>
      </p:sp>
      <p:sp>
        <p:nvSpPr>
          <p:cNvPr id="8" name="R2"/>
          <p:cNvSpPr/>
          <p:nvPr/>
        </p:nvSpPr>
        <p:spPr>
          <a:xfrm>
            <a:off x="1737360" y="2788920"/>
            <a:ext cx="10058400" cy="1417320"/>
          </a:xfrm>
          <a:prstGeom prst="roundRect">
            <a:avLst>
              <a:gd name="adj" fmla="val 6452"/>
            </a:avLst>
          </a:prstGeom>
          <a:ln w="15875">
            <a:solidFill>
              <a:srgbClr val="8A5A00"/>
            </a:solidFill>
            <a:prstDash val="dash"/>
          </a:ln>
        </p:spPr>
      </p:sp>
      <p:sp>
        <p:nvSpPr>
          <p:cNvPr id="9" name="R2L"/>
          <p:cNvSpPr txBox="1"/>
          <p:nvPr/>
        </p:nvSpPr>
        <p:spPr>
          <a:xfrm>
            <a:off x="5303520" y="282549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2   THE OWNER CREATES A SERVICE</a:t>
            </a:r>
            <a:endParaRPr lang="en-US" sz="1100" dirty="0"/>
          </a:p>
        </p:txBody>
      </p:sp>
      <p:sp>
        <p:nvSpPr>
          <p:cNvPr id="10" name="R3"/>
          <p:cNvSpPr/>
          <p:nvPr/>
        </p:nvSpPr>
        <p:spPr>
          <a:xfrm>
            <a:off x="1737360" y="4297680"/>
            <a:ext cx="10058400" cy="2103120"/>
          </a:xfrm>
          <a:prstGeom prst="roundRect">
            <a:avLst>
              <a:gd name="adj" fmla="val 4348"/>
            </a:avLst>
          </a:prstGeom>
          <a:ln w="15875">
            <a:solidFill>
              <a:srgbClr val="5F3AA8"/>
            </a:solidFill>
            <a:prstDash val="dash"/>
          </a:ln>
        </p:spPr>
      </p:sp>
      <p:sp>
        <p:nvSpPr>
          <p:cNvPr id="11" name="R3L"/>
          <p:cNvSpPr txBox="1"/>
          <p:nvPr/>
        </p:nvSpPr>
        <p:spPr>
          <a:xfrm>
            <a:off x="4480560" y="433425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3   BUILD AND APPROVE A POLICY  (ONLY WHEN THE POLICY IS NEW)</a:t>
            </a:r>
            <a:endParaRPr lang="en-US" sz="1100" dirty="0"/>
          </a:p>
        </p:txBody>
      </p:sp>
      <p:pic>
        <p:nvPicPr>
          <p:cNvPr id="12" name="iCms" descr="preencoded.png">    </p:cNvPr>
          <p:cNvPicPr>
            <a:picLocks noChangeAspect="1"/>
          </p:cNvPicPr>
          <p:nvPr/>
        </p:nvPicPr>
        <p:blipFill>
          <a:blip r:embed="rId1"/>
          <a:stretch>
            <a:fillRect/>
          </a:stretch>
        </p:blipFill>
        <p:spPr>
          <a:xfrm>
            <a:off x="594360" y="1508760"/>
            <a:ext cx="731520" cy="731520"/>
          </a:xfrm>
          <a:prstGeom prst="rect">
            <a:avLst/>
          </a:prstGeom>
        </p:spPr>
      </p:pic>
      <p:sp>
        <p:nvSpPr>
          <p:cNvPr id="13" name="cCms"/>
          <p:cNvSpPr txBox="1"/>
          <p:nvPr/>
        </p:nvSpPr>
        <p:spPr>
          <a:xfrm>
            <a:off x="320040" y="2286000"/>
            <a:ext cx="128016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CMS Coverage API</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public CMS data</a:t>
            </a:r>
            <a:endParaRPr lang="en-US" sz="1050" dirty="0"/>
          </a:p>
        </p:txBody>
      </p:sp>
      <p:pic>
        <p:nvPicPr>
          <p:cNvPr id="14" name="iOwn" descr="preencoded.png">    </p:cNvPr>
          <p:cNvPicPr>
            <a:picLocks noChangeAspect="1"/>
          </p:cNvPicPr>
          <p:nvPr/>
        </p:nvPicPr>
        <p:blipFill>
          <a:blip r:embed="rId2"/>
          <a:stretch>
            <a:fillRect/>
          </a:stretch>
        </p:blipFill>
        <p:spPr>
          <a:xfrm>
            <a:off x="594360" y="3063240"/>
            <a:ext cx="731520" cy="731520"/>
          </a:xfrm>
          <a:prstGeom prst="rect">
            <a:avLst/>
          </a:prstGeom>
        </p:spPr>
      </p:pic>
      <p:sp>
        <p:nvSpPr>
          <p:cNvPr id="15" name="cOwn"/>
          <p:cNvSpPr txBox="1"/>
          <p:nvPr/>
        </p:nvSpPr>
        <p:spPr>
          <a:xfrm>
            <a:off x="320040" y="3840480"/>
            <a:ext cx="128016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owner</a:t>
            </a:r>
            <a:endParaRPr lang="en-US" sz="1050" dirty="0"/>
          </a:p>
        </p:txBody>
      </p:sp>
      <p:pic>
        <p:nvPicPr>
          <p:cNvPr id="16" name="iJob" descr="preencoded.png">    </p:cNvPr>
          <p:cNvPicPr>
            <a:picLocks noChangeAspect="1"/>
          </p:cNvPicPr>
          <p:nvPr/>
        </p:nvPicPr>
        <p:blipFill>
          <a:blip r:embed="rId3"/>
          <a:stretch>
            <a:fillRect/>
          </a:stretch>
        </p:blipFill>
        <p:spPr>
          <a:xfrm>
            <a:off x="2926080" y="1463040"/>
            <a:ext cx="731520" cy="731520"/>
          </a:xfrm>
          <a:prstGeom prst="rect">
            <a:avLst/>
          </a:prstGeom>
        </p:spPr>
      </p:pic>
      <p:sp>
        <p:nvSpPr>
          <p:cNvPr id="17" name="cJob"/>
          <p:cNvSpPr txBox="1"/>
          <p:nvPr/>
        </p:nvSpPr>
        <p:spPr>
          <a:xfrm>
            <a:off x="2468880" y="224028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Refresh job</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weekly, changes only</a:t>
            </a:r>
            <a:endParaRPr lang="en-US" sz="1050" dirty="0"/>
          </a:p>
        </p:txBody>
      </p:sp>
      <p:pic>
        <p:nvPicPr>
          <p:cNvPr id="18" name="iDb1" descr="preencoded.png">    </p:cNvPr>
          <p:cNvPicPr>
            <a:picLocks noChangeAspect="1"/>
          </p:cNvPicPr>
          <p:nvPr/>
        </p:nvPicPr>
        <p:blipFill>
          <a:blip r:embed="rId4"/>
          <a:stretch>
            <a:fillRect/>
          </a:stretch>
        </p:blipFill>
        <p:spPr>
          <a:xfrm>
            <a:off x="5577840" y="1472184"/>
            <a:ext cx="914400" cy="713232"/>
          </a:xfrm>
          <a:prstGeom prst="rect">
            <a:avLst/>
          </a:prstGeom>
        </p:spPr>
      </p:pic>
      <p:sp>
        <p:nvSpPr>
          <p:cNvPr id="19" name="cDb1"/>
          <p:cNvSpPr txBox="1"/>
          <p:nvPr/>
        </p:nvSpPr>
        <p:spPr>
          <a:xfrm>
            <a:off x="6629400" y="1572768"/>
            <a:ext cx="2194560" cy="822960"/>
          </a:xfrm>
          <a:prstGeom prst="rect">
            <a:avLst/>
          </a:prstGeom>
          <a:noFill/>
          <a:ln/>
        </p:spPr>
        <p:txBody>
          <a:bodyPr wrap="square" lIns="0" tIns="0" rIns="0" bIns="0" rtlCol="0" anchor="t"/>
          <a:lstStyle/>
          <a:p>
            <a:pPr algn="l" indent="0" marL="0">
              <a:buNone/>
            </a:pPr>
            <a:r>
              <a:rPr lang="en-US" sz="1050" b="1" dirty="0">
                <a:solidFill>
                  <a:srgbClr val="16211E"/>
                </a:solidFill>
                <a:latin typeface="Calibri" pitchFamily="34" charset="0"/>
                <a:ea typeface="Calibri" pitchFamily="34" charset="-122"/>
                <a:cs typeface="Calibri" pitchFamily="34" charset="-120"/>
              </a:rPr>
              <a:t>CMS database</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cms_articles</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cms_article_codes</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cms_policies</a:t>
            </a:r>
            <a:endParaRPr lang="en-US" sz="1050" dirty="0"/>
          </a:p>
        </p:txBody>
      </p:sp>
      <p:sp>
        <p:nvSpPr>
          <p:cNvPr id="20" name="n1"/>
          <p:cNvSpPr txBox="1"/>
          <p:nvPr/>
        </p:nvSpPr>
        <p:spPr>
          <a:xfrm>
            <a:off x="9052560" y="1600200"/>
            <a:ext cx="2651760" cy="82296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Compares versions and fetches only what is new or changed. The owner never waits on the CMS website.</a:t>
            </a:r>
            <a:endParaRPr lang="en-US" sz="900" dirty="0"/>
          </a:p>
        </p:txBody>
      </p:sp>
      <p:sp>
        <p:nvSpPr>
          <p:cNvPr id="21" name="a1"/>
          <p:cNvSpPr/>
          <p:nvPr/>
        </p:nvSpPr>
        <p:spPr>
          <a:xfrm>
            <a:off x="1371600" y="1828800"/>
            <a:ext cx="1508760" cy="0"/>
          </a:xfrm>
          <a:prstGeom prst="line">
            <a:avLst/>
          </a:prstGeom>
          <a:noFill/>
          <a:ln w="19050">
            <a:solidFill>
              <a:srgbClr val="16211E"/>
            </a:solidFill>
            <a:prstDash val="solid"/>
            <a:tailEnd type="triangle"/>
          </a:ln>
        </p:spPr>
      </p:sp>
      <p:sp>
        <p:nvSpPr>
          <p:cNvPr id="22" name="a1t"/>
          <p:cNvSpPr txBox="1"/>
          <p:nvPr/>
        </p:nvSpPr>
        <p:spPr>
          <a:xfrm>
            <a:off x="1325880" y="1591056"/>
            <a:ext cx="16002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articles, codes, policies</a:t>
            </a:r>
            <a:endParaRPr lang="en-US" sz="900" dirty="0"/>
          </a:p>
        </p:txBody>
      </p:sp>
      <p:sp>
        <p:nvSpPr>
          <p:cNvPr id="23" name="a2"/>
          <p:cNvSpPr/>
          <p:nvPr/>
        </p:nvSpPr>
        <p:spPr>
          <a:xfrm>
            <a:off x="3703320" y="1828800"/>
            <a:ext cx="1828800" cy="0"/>
          </a:xfrm>
          <a:prstGeom prst="line">
            <a:avLst/>
          </a:prstGeom>
          <a:noFill/>
          <a:ln w="19050">
            <a:solidFill>
              <a:srgbClr val="16211E"/>
            </a:solidFill>
            <a:prstDash val="solid"/>
            <a:tailEnd type="triangle"/>
          </a:ln>
        </p:spPr>
      </p:sp>
      <p:sp>
        <p:nvSpPr>
          <p:cNvPr id="24" name="a2t"/>
          <p:cNvSpPr txBox="1"/>
          <p:nvPr/>
        </p:nvSpPr>
        <p:spPr>
          <a:xfrm>
            <a:off x="3703320" y="1591056"/>
            <a:ext cx="18288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saves what changed</a:t>
            </a:r>
            <a:endParaRPr lang="en-US" sz="900" dirty="0"/>
          </a:p>
        </p:txBody>
      </p:sp>
      <p:pic>
        <p:nvPicPr>
          <p:cNvPr id="25" name="iScr" descr="preencoded.png">    </p:cNvPr>
          <p:cNvPicPr>
            <a:picLocks noChangeAspect="1"/>
          </p:cNvPicPr>
          <p:nvPr/>
        </p:nvPicPr>
        <p:blipFill>
          <a:blip r:embed="rId5"/>
          <a:stretch>
            <a:fillRect/>
          </a:stretch>
        </p:blipFill>
        <p:spPr>
          <a:xfrm>
            <a:off x="2926080" y="3017520"/>
            <a:ext cx="731520" cy="731520"/>
          </a:xfrm>
          <a:prstGeom prst="rect">
            <a:avLst/>
          </a:prstGeom>
        </p:spPr>
      </p:pic>
      <p:sp>
        <p:nvSpPr>
          <p:cNvPr id="26" name="cScr"/>
          <p:cNvSpPr txBox="1"/>
          <p:nvPr/>
        </p:nvSpPr>
        <p:spPr>
          <a:xfrm>
            <a:off x="2468880" y="379476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Owner screens</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services, codes, policies</a:t>
            </a:r>
            <a:endParaRPr lang="en-US" sz="1050" dirty="0"/>
          </a:p>
        </p:txBody>
      </p:sp>
      <p:pic>
        <p:nvPicPr>
          <p:cNvPr id="27" name="iApp" descr="preencoded.png">    </p:cNvPr>
          <p:cNvPicPr>
            <a:picLocks noChangeAspect="1"/>
          </p:cNvPicPr>
          <p:nvPr/>
        </p:nvPicPr>
        <p:blipFill>
          <a:blip r:embed="rId6"/>
          <a:stretch>
            <a:fillRect/>
          </a:stretch>
        </p:blipFill>
        <p:spPr>
          <a:xfrm>
            <a:off x="5669280" y="3017520"/>
            <a:ext cx="731520" cy="731520"/>
          </a:xfrm>
          <a:prstGeom prst="rect">
            <a:avLst/>
          </a:prstGeom>
        </p:spPr>
      </p:pic>
      <p:sp>
        <p:nvSpPr>
          <p:cNvPr id="28" name="cApp"/>
          <p:cNvSpPr txBox="1"/>
          <p:nvPr/>
        </p:nvSpPr>
        <p:spPr>
          <a:xfrm>
            <a:off x="5212080" y="379476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App server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suggests codes and policies</a:t>
            </a:r>
            <a:endParaRPr lang="en-US" sz="1050" dirty="0"/>
          </a:p>
        </p:txBody>
      </p:sp>
      <p:sp>
        <p:nvSpPr>
          <p:cNvPr id="29" name="b1"/>
          <p:cNvSpPr/>
          <p:nvPr/>
        </p:nvSpPr>
        <p:spPr>
          <a:xfrm>
            <a:off x="1371600" y="3429000"/>
            <a:ext cx="1508760" cy="0"/>
          </a:xfrm>
          <a:prstGeom prst="line">
            <a:avLst/>
          </a:prstGeom>
          <a:noFill/>
          <a:ln w="19050">
            <a:solidFill>
              <a:srgbClr val="16211E"/>
            </a:solidFill>
            <a:prstDash val="solid"/>
            <a:tailEnd type="triangle"/>
          </a:ln>
        </p:spPr>
      </p:sp>
      <p:sp>
        <p:nvSpPr>
          <p:cNvPr id="30" name="b1t"/>
          <p:cNvSpPr txBox="1"/>
          <p:nvPr/>
        </p:nvSpPr>
        <p:spPr>
          <a:xfrm>
            <a:off x="1325880" y="3200400"/>
            <a:ext cx="16002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creates a service</a:t>
            </a:r>
            <a:endParaRPr lang="en-US" sz="900" dirty="0"/>
          </a:p>
        </p:txBody>
      </p:sp>
      <p:sp>
        <p:nvSpPr>
          <p:cNvPr id="31" name="b2"/>
          <p:cNvSpPr/>
          <p:nvPr/>
        </p:nvSpPr>
        <p:spPr>
          <a:xfrm>
            <a:off x="3703320" y="3273552"/>
            <a:ext cx="1920240" cy="0"/>
          </a:xfrm>
          <a:prstGeom prst="line">
            <a:avLst/>
          </a:prstGeom>
          <a:noFill/>
          <a:ln w="19050">
            <a:solidFill>
              <a:srgbClr val="16211E"/>
            </a:solidFill>
            <a:prstDash val="solid"/>
            <a:tailEnd type="triangle"/>
          </a:ln>
        </p:spPr>
      </p:sp>
      <p:sp>
        <p:nvSpPr>
          <p:cNvPr id="32" name="b2t"/>
          <p:cNvSpPr txBox="1"/>
          <p:nvPr/>
        </p:nvSpPr>
        <p:spPr>
          <a:xfrm>
            <a:off x="3703320" y="3054096"/>
            <a:ext cx="19202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service and choices</a:t>
            </a:r>
            <a:endParaRPr lang="en-US" sz="900" dirty="0"/>
          </a:p>
        </p:txBody>
      </p:sp>
      <p:sp>
        <p:nvSpPr>
          <p:cNvPr id="33" name="b3"/>
          <p:cNvSpPr/>
          <p:nvPr/>
        </p:nvSpPr>
        <p:spPr>
          <a:xfrm flipH="1">
            <a:off x="3703320" y="3566160"/>
            <a:ext cx="1920240" cy="0"/>
          </a:xfrm>
          <a:prstGeom prst="line">
            <a:avLst/>
          </a:prstGeom>
          <a:noFill/>
          <a:ln w="19050">
            <a:solidFill>
              <a:srgbClr val="16211E"/>
            </a:solidFill>
            <a:prstDash val="solid"/>
            <a:tailEnd type="triangle"/>
          </a:ln>
        </p:spPr>
      </p:sp>
      <p:sp>
        <p:nvSpPr>
          <p:cNvPr id="34" name="b3t"/>
          <p:cNvSpPr txBox="1"/>
          <p:nvPr/>
        </p:nvSpPr>
        <p:spPr>
          <a:xfrm>
            <a:off x="3703320" y="3602736"/>
            <a:ext cx="19202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suggestions</a:t>
            </a:r>
            <a:endParaRPr lang="en-US" sz="900" dirty="0"/>
          </a:p>
        </p:txBody>
      </p:sp>
      <p:sp>
        <p:nvSpPr>
          <p:cNvPr id="35" name="b4"/>
          <p:cNvSpPr/>
          <p:nvPr/>
        </p:nvSpPr>
        <p:spPr>
          <a:xfrm flipV="1">
            <a:off x="6035040" y="2212848"/>
            <a:ext cx="0" cy="786384"/>
          </a:xfrm>
          <a:prstGeom prst="line">
            <a:avLst/>
          </a:prstGeom>
          <a:noFill/>
          <a:ln w="19050">
            <a:solidFill>
              <a:srgbClr val="16211E"/>
            </a:solidFill>
            <a:prstDash val="solid"/>
            <a:tailEnd type="triangle"/>
          </a:ln>
        </p:spPr>
      </p:sp>
      <p:sp>
        <p:nvSpPr>
          <p:cNvPr id="36" name="b4t"/>
          <p:cNvSpPr txBox="1"/>
          <p:nvPr/>
        </p:nvSpPr>
        <p:spPr>
          <a:xfrm>
            <a:off x="6126480" y="2578608"/>
            <a:ext cx="822960" cy="182880"/>
          </a:xfrm>
          <a:prstGeom prst="rect">
            <a:avLst/>
          </a:prstGeom>
          <a:noFill/>
          <a:ln/>
        </p:spPr>
        <p:txBody>
          <a:bodyPr wrap="square" lIns="0" tIns="0" rIns="0" bIns="0" rtlCol="0" anchor="t"/>
          <a:lstStyle/>
          <a:p>
            <a:pPr algn="l" indent="0" marL="0">
              <a:buNone/>
            </a:pPr>
            <a:r>
              <a:rPr lang="en-US" sz="900" b="1" dirty="0">
                <a:solidFill>
                  <a:srgbClr val="1F6F5C"/>
                </a:solidFill>
                <a:latin typeface="Calibri" pitchFamily="34" charset="0"/>
                <a:ea typeface="Calibri" pitchFamily="34" charset="-122"/>
                <a:cs typeface="Calibri" pitchFamily="34" charset="-120"/>
              </a:rPr>
              <a:t>reads</a:t>
            </a:r>
            <a:endParaRPr lang="en-US" sz="900" dirty="0"/>
          </a:p>
        </p:txBody>
      </p:sp>
      <p:sp>
        <p:nvSpPr>
          <p:cNvPr id="37" name="b5"/>
          <p:cNvSpPr/>
          <p:nvPr/>
        </p:nvSpPr>
        <p:spPr>
          <a:xfrm>
            <a:off x="6446520" y="3383280"/>
            <a:ext cx="4800600" cy="0"/>
          </a:xfrm>
          <a:prstGeom prst="line">
            <a:avLst/>
          </a:prstGeom>
          <a:noFill/>
          <a:ln w="19050">
            <a:solidFill>
              <a:srgbClr val="16211E"/>
            </a:solidFill>
            <a:prstDash val="solid"/>
          </a:ln>
        </p:spPr>
      </p:sp>
      <p:sp>
        <p:nvSpPr>
          <p:cNvPr id="38" name="b5b"/>
          <p:cNvSpPr/>
          <p:nvPr/>
        </p:nvSpPr>
        <p:spPr>
          <a:xfrm>
            <a:off x="11247120" y="3383280"/>
            <a:ext cx="0" cy="1280160"/>
          </a:xfrm>
          <a:prstGeom prst="line">
            <a:avLst/>
          </a:prstGeom>
          <a:noFill/>
          <a:ln w="19050">
            <a:solidFill>
              <a:srgbClr val="16211E"/>
            </a:solidFill>
            <a:prstDash val="solid"/>
            <a:tailEnd type="triangle"/>
          </a:ln>
        </p:spPr>
      </p:sp>
      <p:sp>
        <p:nvSpPr>
          <p:cNvPr id="39" name="b5t"/>
          <p:cNvSpPr txBox="1"/>
          <p:nvPr/>
        </p:nvSpPr>
        <p:spPr>
          <a:xfrm>
            <a:off x="6949440" y="3163824"/>
            <a:ext cx="41148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saves the service, its codes and policy</a:t>
            </a:r>
            <a:endParaRPr lang="en-US" sz="900" dirty="0"/>
          </a:p>
        </p:txBody>
      </p:sp>
      <p:sp>
        <p:nvSpPr>
          <p:cNvPr id="40" name="n2"/>
          <p:cNvSpPr txBox="1"/>
          <p:nvPr/>
        </p:nvSpPr>
        <p:spPr>
          <a:xfrm>
            <a:off x="7589520" y="3749040"/>
            <a:ext cx="3108960" cy="36576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A code sends a packet to one service. A service can use many policies.</a:t>
            </a:r>
            <a:endParaRPr lang="en-US" sz="900" dirty="0"/>
          </a:p>
        </p:txBody>
      </p:sp>
      <p:pic>
        <p:nvPicPr>
          <p:cNvPr id="41" name="iSrc" descr="preencoded.png">    </p:cNvPr>
          <p:cNvPicPr>
            <a:picLocks noChangeAspect="1"/>
          </p:cNvPicPr>
          <p:nvPr/>
        </p:nvPicPr>
        <p:blipFill>
          <a:blip r:embed="rId7"/>
          <a:stretch>
            <a:fillRect/>
          </a:stretch>
        </p:blipFill>
        <p:spPr>
          <a:xfrm>
            <a:off x="2148840" y="4709160"/>
            <a:ext cx="731520" cy="731520"/>
          </a:xfrm>
          <a:prstGeom prst="rect">
            <a:avLst/>
          </a:prstGeom>
        </p:spPr>
      </p:pic>
      <p:sp>
        <p:nvSpPr>
          <p:cNvPr id="42" name="cSrc"/>
          <p:cNvSpPr txBox="1"/>
          <p:nvPr/>
        </p:nvSpPr>
        <p:spPr>
          <a:xfrm>
            <a:off x="1737360" y="5486400"/>
            <a:ext cx="15544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source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CMS, eCFR or a PDF</a:t>
            </a:r>
            <a:endParaRPr lang="en-US" sz="1050" dirty="0"/>
          </a:p>
        </p:txBody>
      </p:sp>
      <p:pic>
        <p:nvPicPr>
          <p:cNvPr id="43" name="iUns" descr="preencoded.png">    </p:cNvPr>
          <p:cNvPicPr>
            <a:picLocks noChangeAspect="1"/>
          </p:cNvPicPr>
          <p:nvPr/>
        </p:nvPicPr>
        <p:blipFill>
          <a:blip r:embed="rId8"/>
          <a:stretch>
            <a:fillRect/>
          </a:stretch>
        </p:blipFill>
        <p:spPr>
          <a:xfrm>
            <a:off x="3977640" y="4709160"/>
            <a:ext cx="731520" cy="731520"/>
          </a:xfrm>
          <a:prstGeom prst="rect">
            <a:avLst/>
          </a:prstGeom>
        </p:spPr>
      </p:pic>
      <p:sp>
        <p:nvSpPr>
          <p:cNvPr id="44" name="cUns"/>
          <p:cNvSpPr txBox="1"/>
          <p:nvPr/>
        </p:nvSpPr>
        <p:spPr>
          <a:xfrm>
            <a:off x="35204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Unstructured API</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A partitioner parses it into elements: title, text, page number. JSON out.</a:t>
            </a:r>
            <a:endParaRPr lang="en-US" sz="1050" dirty="0"/>
          </a:p>
        </p:txBody>
      </p:sp>
      <p:pic>
        <p:nvPicPr>
          <p:cNvPr id="45" name="iLlm" descr="preencoded.png">    </p:cNvPr>
          <p:cNvPicPr>
            <a:picLocks noChangeAspect="1"/>
          </p:cNvPicPr>
          <p:nvPr/>
        </p:nvPicPr>
        <p:blipFill>
          <a:blip r:embed="rId9"/>
          <a:stretch>
            <a:fillRect/>
          </a:stretch>
        </p:blipFill>
        <p:spPr>
          <a:xfrm>
            <a:off x="5806440" y="4709160"/>
            <a:ext cx="731520" cy="731520"/>
          </a:xfrm>
          <a:prstGeom prst="rect">
            <a:avLst/>
          </a:prstGeom>
        </p:spPr>
      </p:pic>
      <p:sp>
        <p:nvSpPr>
          <p:cNvPr id="46" name="cLlm"/>
          <p:cNvSpPr txBox="1"/>
          <p:nvPr/>
        </p:nvSpPr>
        <p:spPr>
          <a:xfrm>
            <a:off x="53492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Claude Sonnet</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10-rule prompt, fixed output form. Rule, exact quote, key fact, question.</a:t>
            </a:r>
            <a:endParaRPr lang="en-US" sz="1050" dirty="0"/>
          </a:p>
        </p:txBody>
      </p:sp>
      <p:pic>
        <p:nvPicPr>
          <p:cNvPr id="47" name="iVal" descr="preencoded.png">    </p:cNvPr>
          <p:cNvPicPr>
            <a:picLocks noChangeAspect="1"/>
          </p:cNvPicPr>
          <p:nvPr/>
        </p:nvPicPr>
        <p:blipFill>
          <a:blip r:embed="rId10"/>
          <a:stretch>
            <a:fillRect/>
          </a:stretch>
        </p:blipFill>
        <p:spPr>
          <a:xfrm>
            <a:off x="7635240" y="4709160"/>
            <a:ext cx="731520" cy="731520"/>
          </a:xfrm>
          <a:prstGeom prst="rect">
            <a:avLst/>
          </a:prstGeom>
        </p:spPr>
      </p:pic>
      <p:sp>
        <p:nvSpPr>
          <p:cNvPr id="48" name="cVal"/>
          <p:cNvSpPr txBox="1"/>
          <p:nvPr/>
        </p:nvSpPr>
        <p:spPr>
          <a:xfrm>
            <a:off x="71780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Validator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Text matching: exact, then fuzzy. Numbers and key facts checked.</a:t>
            </a:r>
            <a:endParaRPr lang="en-US" sz="1050" dirty="0"/>
          </a:p>
        </p:txBody>
      </p:sp>
      <p:pic>
        <p:nvPicPr>
          <p:cNvPr id="49" name="iRev" descr="preencoded.png">    </p:cNvPr>
          <p:cNvPicPr>
            <a:picLocks noChangeAspect="1"/>
          </p:cNvPicPr>
          <p:nvPr/>
        </p:nvPicPr>
        <p:blipFill>
          <a:blip r:embed="rId11"/>
          <a:stretch>
            <a:fillRect/>
          </a:stretch>
        </p:blipFill>
        <p:spPr>
          <a:xfrm>
            <a:off x="9326880" y="4709160"/>
            <a:ext cx="731520" cy="731520"/>
          </a:xfrm>
          <a:prstGeom prst="rect">
            <a:avLst/>
          </a:prstGeom>
        </p:spPr>
      </p:pic>
      <p:sp>
        <p:nvSpPr>
          <p:cNvPr id="50" name="cRev"/>
          <p:cNvSpPr txBox="1"/>
          <p:nvPr/>
        </p:nvSpPr>
        <p:spPr>
          <a:xfrm>
            <a:off x="8915400" y="5486400"/>
            <a:ext cx="15544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Owner review</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Approve, edit or reject each rule beside its quote.</a:t>
            </a:r>
            <a:endParaRPr lang="en-US" sz="1050" dirty="0"/>
          </a:p>
        </p:txBody>
      </p:sp>
      <p:pic>
        <p:nvPicPr>
          <p:cNvPr id="51" name="iDb2" descr="preencoded.png">    </p:cNvPr>
          <p:cNvPicPr>
            <a:picLocks noChangeAspect="1"/>
          </p:cNvPicPr>
          <p:nvPr/>
        </p:nvPicPr>
        <p:blipFill>
          <a:blip r:embed="rId12"/>
          <a:stretch>
            <a:fillRect/>
          </a:stretch>
        </p:blipFill>
        <p:spPr>
          <a:xfrm>
            <a:off x="10812780" y="4709160"/>
            <a:ext cx="868680" cy="731520"/>
          </a:xfrm>
          <a:prstGeom prst="rect">
            <a:avLst/>
          </a:prstGeom>
        </p:spPr>
      </p:pic>
      <p:sp>
        <p:nvSpPr>
          <p:cNvPr id="52" name="cDb2"/>
          <p:cNvSpPr txBox="1"/>
          <p:nvPr/>
        </p:nvSpPr>
        <p:spPr>
          <a:xfrm>
            <a:off x="10561320" y="5486400"/>
            <a:ext cx="13716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library</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services, codes, policies, key facts, versions</a:t>
            </a:r>
            <a:endParaRPr lang="en-US" sz="1050" dirty="0"/>
          </a:p>
        </p:txBody>
      </p:sp>
      <p:sp>
        <p:nvSpPr>
          <p:cNvPr id="53" name="c1"/>
          <p:cNvSpPr/>
          <p:nvPr/>
        </p:nvSpPr>
        <p:spPr>
          <a:xfrm>
            <a:off x="2926080" y="5074920"/>
            <a:ext cx="1005840" cy="0"/>
          </a:xfrm>
          <a:prstGeom prst="line">
            <a:avLst/>
          </a:prstGeom>
          <a:noFill/>
          <a:ln w="19050">
            <a:solidFill>
              <a:srgbClr val="16211E"/>
            </a:solidFill>
            <a:prstDash val="solid"/>
            <a:tailEnd type="triangle"/>
          </a:ln>
        </p:spPr>
      </p:sp>
      <p:sp>
        <p:nvSpPr>
          <p:cNvPr id="54" name="c1t"/>
          <p:cNvSpPr txBox="1"/>
          <p:nvPr/>
        </p:nvSpPr>
        <p:spPr>
          <a:xfrm>
            <a:off x="29260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full text</a:t>
            </a:r>
            <a:endParaRPr lang="en-US" sz="900" dirty="0"/>
          </a:p>
        </p:txBody>
      </p:sp>
      <p:sp>
        <p:nvSpPr>
          <p:cNvPr id="55" name="c2"/>
          <p:cNvSpPr/>
          <p:nvPr/>
        </p:nvSpPr>
        <p:spPr>
          <a:xfrm>
            <a:off x="4754880" y="5074920"/>
            <a:ext cx="1005840" cy="0"/>
          </a:xfrm>
          <a:prstGeom prst="line">
            <a:avLst/>
          </a:prstGeom>
          <a:noFill/>
          <a:ln w="19050">
            <a:solidFill>
              <a:srgbClr val="16211E"/>
            </a:solidFill>
            <a:prstDash val="solid"/>
            <a:tailEnd type="triangle"/>
          </a:ln>
        </p:spPr>
      </p:sp>
      <p:sp>
        <p:nvSpPr>
          <p:cNvPr id="56" name="c2t"/>
          <p:cNvSpPr txBox="1"/>
          <p:nvPr/>
        </p:nvSpPr>
        <p:spPr>
          <a:xfrm>
            <a:off x="47548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elements (JSON)</a:t>
            </a:r>
            <a:endParaRPr lang="en-US" sz="900" dirty="0"/>
          </a:p>
        </p:txBody>
      </p:sp>
      <p:sp>
        <p:nvSpPr>
          <p:cNvPr id="57" name="c3"/>
          <p:cNvSpPr/>
          <p:nvPr/>
        </p:nvSpPr>
        <p:spPr>
          <a:xfrm>
            <a:off x="6583680" y="5074920"/>
            <a:ext cx="1005840" cy="0"/>
          </a:xfrm>
          <a:prstGeom prst="line">
            <a:avLst/>
          </a:prstGeom>
          <a:noFill/>
          <a:ln w="19050">
            <a:solidFill>
              <a:srgbClr val="16211E"/>
            </a:solidFill>
            <a:prstDash val="solid"/>
            <a:tailEnd type="triangle"/>
          </a:ln>
        </p:spPr>
      </p:sp>
      <p:sp>
        <p:nvSpPr>
          <p:cNvPr id="58" name="c3t"/>
          <p:cNvSpPr txBox="1"/>
          <p:nvPr/>
        </p:nvSpPr>
        <p:spPr>
          <a:xfrm>
            <a:off x="65836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draft rules</a:t>
            </a:r>
            <a:endParaRPr lang="en-US" sz="900" dirty="0"/>
          </a:p>
        </p:txBody>
      </p:sp>
      <p:sp>
        <p:nvSpPr>
          <p:cNvPr id="59" name="c4"/>
          <p:cNvSpPr/>
          <p:nvPr/>
        </p:nvSpPr>
        <p:spPr>
          <a:xfrm>
            <a:off x="8412480" y="5074920"/>
            <a:ext cx="868680" cy="0"/>
          </a:xfrm>
          <a:prstGeom prst="line">
            <a:avLst/>
          </a:prstGeom>
          <a:noFill/>
          <a:ln w="19050">
            <a:solidFill>
              <a:srgbClr val="16211E"/>
            </a:solidFill>
            <a:prstDash val="solid"/>
            <a:tailEnd type="triangle"/>
          </a:ln>
        </p:spPr>
      </p:sp>
      <p:sp>
        <p:nvSpPr>
          <p:cNvPr id="60" name="c4t"/>
          <p:cNvSpPr txBox="1"/>
          <p:nvPr/>
        </p:nvSpPr>
        <p:spPr>
          <a:xfrm>
            <a:off x="8412480" y="4846320"/>
            <a:ext cx="86868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checked draft</a:t>
            </a:r>
            <a:endParaRPr lang="en-US" sz="900" dirty="0"/>
          </a:p>
        </p:txBody>
      </p:sp>
      <p:sp>
        <p:nvSpPr>
          <p:cNvPr id="61" name="c5"/>
          <p:cNvSpPr/>
          <p:nvPr/>
        </p:nvSpPr>
        <p:spPr>
          <a:xfrm>
            <a:off x="10104120" y="5074920"/>
            <a:ext cx="667512" cy="0"/>
          </a:xfrm>
          <a:prstGeom prst="line">
            <a:avLst/>
          </a:prstGeom>
          <a:noFill/>
          <a:ln w="19050">
            <a:solidFill>
              <a:srgbClr val="16211E"/>
            </a:solidFill>
            <a:prstDash val="solid"/>
            <a:tailEnd type="triangle"/>
          </a:ln>
        </p:spPr>
      </p:sp>
      <p:sp>
        <p:nvSpPr>
          <p:cNvPr id="62" name="c5t"/>
          <p:cNvSpPr txBox="1"/>
          <p:nvPr/>
        </p:nvSpPr>
        <p:spPr>
          <a:xfrm>
            <a:off x="10058400" y="4846320"/>
            <a:ext cx="7315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approved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on one slide</dc:title>
  <dc:subject>PptxGenJS Presentation</dc:subject>
  <dc:creator>Nisha Mishra</dc:creator>
  <cp:lastModifiedBy>Nisha Mishra</cp:lastModifiedBy>
  <cp:revision>1</cp:revision>
  <dcterms:created xsi:type="dcterms:W3CDTF">2026-10-06T02:00:49Z</dcterms:created>
  <dcterms:modified xsi:type="dcterms:W3CDTF">2026-10-06T02:00:49Z</dcterms:modified>
</cp:coreProperties>
</file>