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Recall: risky cases caught</c:v>
                </c:pt>
              </c:strCache>
            </c:strRef>
          </c:tx>
          <c:spPr>
            <a:solidFill>
              <a:srgbClr val="5F3AA8"/>
            </a:solidFill>
            <a:ln w="38100" cap="flat">
              <a:solidFill>
                <a:srgbClr val="5F3AA8"/>
              </a:solidFill>
              <a:prstDash val="solid"/>
              <a:round/>
            </a:ln>
            <a:effectLst/>
          </c:spPr>
          <c:invertIfNegative val="0"/>
          <c:dLbls>
            <c:numFmt formatCode="0&quot;%&quot;" sourceLinked="0"/>
            <c:txPr>
              <a:bodyPr/>
              <a:lstStyle/>
              <a:p>
                <a:pPr>
                  <a:defRPr b="0" i="0" strike="noStrike" sz="1000" u="none">
                    <a:solidFill>
                      <a:srgbClr val="16211E"/>
                    </a:solidFill>
                    <a:latin typeface="Calibri"/>
                  </a:defRPr>
                </a:pPr>
              </a:p>
            </c:txPr>
            <c:dLblPos val="t"/>
            <c:showLegendKey val="0"/>
            <c:showVal val="1"/>
            <c:showCatName val="0"/>
            <c:showSerName val="0"/>
            <c:showPercent val="0"/>
            <c:showBubbleSize val="0"/>
            <c:showLeaderLines val="0"/>
          </c:dLbls>
          <c:marker>
            <c:symbol val="circle"/>
            <c:size val="8"/>
            <c:spPr>
              <a:solidFill>
                <a:srgbClr val="5F3AA8"/>
              </a:solidFill>
              <a:ln w="9525" cap="flat">
                <a:solidFill>
                  <a:srgbClr val="5F3AA8"/>
                </a:solidFill>
                <a:prstDash val="solid"/>
                <a:round/>
              </a:ln>
              <a:effectLst/>
            </c:spPr>
          </c:marker>
          <c:cat>
            <c:multiLvlStrRef>
              <c:f>Sheet1!$A$2:$A$6</c:f>
              <c:multiLvlStrCache>
                <c:ptCount val="5"/>
                <c:lvl>
                  <c:pt idx="0">
                    <c:v>1 First test</c:v>
                  </c:pt>
                  <c:pt idx="1">
                    <c:v>2 First fixes</c:v>
                  </c:pt>
                  <c:pt idx="2">
                    <c:v>3 Dates by code</c:v>
                  </c:pt>
                  <c:pt idx="3">
                    <c:v>4 Policy tests</c:v>
                  </c:pt>
                  <c:pt idx="4">
                    <c:v>5 Month tolerance</c:v>
                  </c:pt>
                </c:lvl>
              </c:multiLvlStrCache>
            </c:multiLvlStrRef>
          </c:cat>
          <c:val>
            <c:numRef>
              <c:f>Sheet1!$B$2:$B$6</c:f>
              <c:numCache>
                <c:formatCode>General</c:formatCode>
                <c:ptCount val="5"/>
                <c:pt idx="0">
                  <c:v>57</c:v>
                </c:pt>
                <c:pt idx="1">
                  <c:v>89</c:v>
                </c:pt>
                <c:pt idx="2">
                  <c:v>79</c:v>
                </c:pt>
                <c:pt idx="3">
                  <c:v>86</c:v>
                </c:pt>
                <c:pt idx="4">
                  <c:v>86</c:v>
                </c:pt>
              </c:numCache>
            </c:numRef>
          </c:val>
          <c:smooth val="0"/>
        </c:ser>
        <c:ser>
          <c:idx val="1"/>
          <c:order val="1"/>
          <c:tx>
            <c:strRef>
              <c:f>Sheet1!$C$1</c:f>
              <c:strCache>
                <c:ptCount val="1"/>
                <c:pt idx="0">
                  <c:v>Precision: flags that were right</c:v>
                </c:pt>
              </c:strCache>
            </c:strRef>
          </c:tx>
          <c:spPr>
            <a:solidFill>
              <a:srgbClr val="9C8BC6"/>
            </a:solidFill>
            <a:ln w="38100" cap="flat">
              <a:solidFill>
                <a:srgbClr val="9C8BC6"/>
              </a:solidFill>
              <a:prstDash val="solid"/>
              <a:round/>
            </a:ln>
            <a:effectLst/>
          </c:spPr>
          <c:invertIfNegative val="0"/>
          <c:dLbls>
            <c:numFmt formatCode="0&quot;%&quot;" sourceLinked="0"/>
            <c:txPr>
              <a:bodyPr/>
              <a:lstStyle/>
              <a:p>
                <a:pPr>
                  <a:defRPr b="0" i="0" strike="noStrike" sz="1000" u="none">
                    <a:solidFill>
                      <a:srgbClr val="16211E"/>
                    </a:solidFill>
                    <a:latin typeface="Calibri"/>
                  </a:defRPr>
                </a:pPr>
              </a:p>
            </c:txPr>
            <c:dLblPos val="t"/>
            <c:showLegendKey val="0"/>
            <c:showVal val="1"/>
            <c:showCatName val="0"/>
            <c:showSerName val="0"/>
            <c:showPercent val="0"/>
            <c:showBubbleSize val="0"/>
            <c:showLeaderLines val="0"/>
          </c:dLbls>
          <c:marker>
            <c:symbol val="circle"/>
            <c:size val="8"/>
            <c:spPr>
              <a:solidFill>
                <a:srgbClr val="9C8BC6"/>
              </a:solidFill>
              <a:ln w="9525" cap="flat">
                <a:solidFill>
                  <a:srgbClr val="9C8BC6"/>
                </a:solidFill>
                <a:prstDash val="solid"/>
                <a:round/>
              </a:ln>
              <a:effectLst/>
            </c:spPr>
          </c:marker>
          <c:cat>
            <c:multiLvlStrRef>
              <c:f>Sheet1!$A$2:$A$6</c:f>
              <c:multiLvlStrCache>
                <c:ptCount val="5"/>
                <c:lvl>
                  <c:pt idx="0">
                    <c:v>1 First test</c:v>
                  </c:pt>
                  <c:pt idx="1">
                    <c:v>2 First fixes</c:v>
                  </c:pt>
                  <c:pt idx="2">
                    <c:v>3 Dates by code</c:v>
                  </c:pt>
                  <c:pt idx="3">
                    <c:v>4 Policy tests</c:v>
                  </c:pt>
                  <c:pt idx="4">
                    <c:v>5 Month tolerance</c:v>
                  </c:pt>
                </c:lvl>
              </c:multiLvlStrCache>
            </c:multiLvlStrRef>
          </c:cat>
          <c:val>
            <c:numRef>
              <c:f>Sheet1!$C$2:$C$6</c:f>
              <c:numCache>
                <c:formatCode>General</c:formatCode>
                <c:ptCount val="5"/>
                <c:pt idx="0">
                  <c:v>94</c:v>
                </c:pt>
                <c:pt idx="1">
                  <c:v>78</c:v>
                </c:pt>
                <c:pt idx="2">
                  <c:v>96</c:v>
                </c:pt>
                <c:pt idx="3">
                  <c:v>92</c:v>
                </c:pt>
                <c:pt idx="4">
                  <c:v>92</c:v>
                </c:pt>
              </c:numCache>
            </c:numRef>
          </c:val>
          <c:smooth val="0"/>
        </c:ser>
        <c:dLbls>
          <c:numFmt formatCode="0&quot;%&quot;" sourceLinked="0"/>
          <c:txPr>
            <a:bodyPr/>
            <a:lstStyle/>
            <a:p>
              <a:pPr>
                <a:defRPr b="0" i="0" strike="noStrike" sz="1000" u="none">
                  <a:solidFill>
                    <a:srgbClr val="16211E"/>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66"/>
                </a:solidFill>
                <a:latin typeface="Calibri"/>
              </a:defRPr>
            </a:pPr>
            <a:endParaRPr lang="en-US"/>
          </a:p>
        </c:txPr>
        <c:crossAx val="2094734552"/>
        <c:crosses val="autoZero"/>
        <c:auto val="1"/>
        <c:lblAlgn val="ctr"/>
        <c:noMultiLvlLbl val="1"/>
      </c:catAx>
      <c:valAx>
        <c:axId val="2094734552"/>
        <c:scaling>
          <c:orientation val="minMax"/>
          <c:max val="100"/>
          <c:min val="40"/>
        </c:scaling>
        <c:delete val="0"/>
        <c:axPos val="l"/>
        <c:majorGridlines>
          <c:spPr>
            <a:ln w="6350" cap="flat">
              <a:solidFill>
                <a:srgbClr val="E3E7E5"/>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B66"/>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1000">
              <a:solidFill>
                <a:srgbClr val="16211E"/>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know the AI is right. I am tuning it for recall over precision, the trade-off I talked about. A miss is a wrong approval, so recall comes first.
I built about 40 hard packets, and I designed 28 of them so they should go to a person. I ran them five times, with the same model each time. Each run, I changed the prompt and the guardrails, and watched both numbers.
In run one, recall was only 57 percent. Twelve risky cases were approved.
In run two, recall jumped to 89 percent, but precision dropped. It was flagging too much.
In run three, I moved date counting into code. Before, the AI was working out things like six months of therapy from the dates, and it got some of them wrong. Now plain code does that math. Precision went back up, but recall dipped. It let a few more risky cases through.
By run four, it settled: 86 percent recall and 92 percent precision. Every miss that is left becomes a test case I fix next.
In run five, the numbers held. That is when I knew it was stable enough.
There are four numbers I keep watching: recall and precision, at two steps. First, when a policy is built. The AI drafts the key facts, and it should not miss any, so recall matters most there. Second, when a packet is decided. Risky cases have to reach a person, so recall has to get to 100 percent.
Then there is error rate, latency and cost. Zero failed calls. About 18 seconds a case. About 13 cents a case.
All of this is tracked continuously in Honeycomb, and I will show you that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7315200" cy="256032"/>
          </a:xfrm>
          <a:prstGeom prst="rect">
            <a:avLst/>
          </a:prstGeom>
          <a:noFill/>
          <a:ln/>
        </p:spPr>
        <p:txBody>
          <a:bodyPr wrap="square" lIns="0" tIns="0" rIns="0" bIns="0" rtlCol="0" anchor="t"/>
          <a:lstStyle/>
          <a:p>
            <a:pPr algn="l" indent="0" marL="0">
              <a:buNone/>
            </a:pPr>
            <a:r>
              <a:rPr lang="en-US" sz="1100" b="1" spc="300" kern="0" dirty="0">
                <a:solidFill>
                  <a:srgbClr val="5F3AA8"/>
                </a:solidFill>
                <a:latin typeface="Calibri" pitchFamily="34" charset="0"/>
                <a:ea typeface="Calibri" pitchFamily="34" charset="-122"/>
                <a:cs typeface="Calibri" pitchFamily="34" charset="-120"/>
              </a:rPr>
              <a:t>EVALS FRAMEWORK</a:t>
            </a:r>
            <a:endParaRPr lang="en-US" sz="1100" dirty="0"/>
          </a:p>
        </p:txBody>
      </p:sp>
      <p:sp>
        <p:nvSpPr>
          <p:cNvPr id="3" name="title"/>
          <p:cNvSpPr txBox="1"/>
          <p:nvPr/>
        </p:nvSpPr>
        <p:spPr>
          <a:xfrm>
            <a:off x="457200" y="502920"/>
            <a:ext cx="1124712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Tuned for recall. Measured on every run.</a:t>
            </a:r>
            <a:endParaRPr lang="en-US" sz="2600" dirty="0"/>
          </a:p>
        </p:txBody>
      </p:sp>
      <p:sp>
        <p:nvSpPr>
          <p:cNvPr id="4" name="runsBox"/>
          <p:cNvSpPr/>
          <p:nvPr/>
        </p:nvSpPr>
        <p:spPr>
          <a:xfrm>
            <a:off x="457200" y="1298448"/>
            <a:ext cx="6263640" cy="4069080"/>
          </a:xfrm>
          <a:prstGeom prst="roundRect">
            <a:avLst>
              <a:gd name="adj" fmla="val 2247"/>
            </a:avLst>
          </a:prstGeom>
          <a:solidFill>
            <a:srgbClr val="FAF8F3"/>
          </a:solidFill>
          <a:ln w="12700">
            <a:solidFill>
              <a:srgbClr val="CBD5D1"/>
            </a:solidFill>
          </a:ln>
        </p:spPr>
        <p:txBody>
          <a:bodyPr wrap="square" lIns="109728" tIns="54864" rIns="109728" bIns="54864" rtlCol="0" anchor="ctr"/>
          <a:lstStyle/>
          <a:p>
            <a:pPr algn="l" indent="0" marL="0">
              <a:buNone/>
            </a:pPr>
            <a:r>
              <a:rPr lang="en-US" sz="800" dirty="0">
                <a:solidFill>
                  <a:srgbClr val="16211E"/>
                </a:solidFill>
                <a:latin typeface="Calibri" pitchFamily="34" charset="0"/>
                <a:ea typeface="Calibri" pitchFamily="34" charset="-122"/>
                <a:cs typeface="Calibri" pitchFamily="34" charset="-120"/>
              </a:rPr>
              <a:t> </a:t>
            </a:r>
            <a:endParaRPr lang="en-US" sz="800" dirty="0"/>
          </a:p>
        </p:txBody>
      </p:sp>
      <p:sp>
        <p:nvSpPr>
          <p:cNvPr id="5" name="runsH"/>
          <p:cNvSpPr txBox="1"/>
          <p:nvPr/>
        </p:nvSpPr>
        <p:spPr>
          <a:xfrm>
            <a:off x="731520" y="1417320"/>
            <a:ext cx="5852160" cy="566928"/>
          </a:xfrm>
          <a:prstGeom prst="rect">
            <a:avLst/>
          </a:prstGeom>
          <a:noFill/>
          <a:ln/>
        </p:spPr>
        <p:txBody>
          <a:bodyPr wrap="square" lIns="0" tIns="0" rIns="0" bIns="0" rtlCol="0" anchor="t"/>
          <a:lstStyle/>
          <a:p>
            <a:pPr algn="l" indent="0" marL="0">
              <a:buNone/>
            </a:pPr>
            <a:r>
              <a:rPr lang="en-US" sz="1100" b="1" spc="200" kern="0" dirty="0">
                <a:solidFill>
                  <a:srgbClr val="5F3AA8"/>
                </a:solidFill>
                <a:latin typeface="Calibri" pitchFamily="34" charset="0"/>
                <a:ea typeface="Calibri" pitchFamily="34" charset="-122"/>
                <a:cs typeface="Calibri" pitchFamily="34" charset="-120"/>
              </a:rPr>
              <a:t>FIVE RUNS ON 40 HARD PACKETS</a:t>
            </a:r>
            <a:endParaRPr lang="en-US" sz="1100" dirty="0"/>
          </a:p>
          <a:p>
            <a:pPr algn="l" indent="0" marL="0">
              <a:buNone/>
            </a:pPr>
            <a:r>
              <a:rPr lang="en-US" sz="1050" dirty="0">
                <a:solidFill>
                  <a:srgbClr val="5C6B66"/>
                </a:solidFill>
                <a:latin typeface="Calibri" pitchFamily="34" charset="0"/>
                <a:ea typeface="Calibri" pitchFamily="34" charset="-122"/>
                <a:cs typeface="Calibri" pitchFamily="34" charset="-120"/>
              </a:rPr>
              <a:t>28 should go to a person. Same model each run. Each run changed the prompt and the guardrails.</a:t>
            </a:r>
            <a:endParaRPr lang="en-US" sz="1100" dirty="0"/>
          </a:p>
        </p:txBody>
      </p:sp>
      <p:graphicFrame>
        <p:nvGraphicFramePr>
          <p:cNvPr id="6" name="runsChart" descr=""/>
          <p:cNvGraphicFramePr/>
          <p:nvPr/>
        </p:nvGraphicFramePr>
        <p:xfrm>
          <a:off x="640080" y="2011680"/>
          <a:ext cx="5897880" cy="2606040"/>
        </p:xfrm>
        <a:graphic xmlns:a="http://schemas.openxmlformats.org/drawingml/2006/main">
          <a:graphicData uri="http://schemas.openxmlformats.org/drawingml/2006/chart">
            <c:chart xmlns:c="http://schemas.openxmlformats.org/drawingml/2006/chart" r:id="rId1"/>
          </a:graphicData>
        </a:graphic>
      </p:graphicFrame>
      <p:sp>
        <p:nvSpPr>
          <p:cNvPr id="7" name="runsWrong"/>
          <p:cNvSpPr txBox="1"/>
          <p:nvPr/>
        </p:nvSpPr>
        <p:spPr>
          <a:xfrm>
            <a:off x="731520" y="4681728"/>
            <a:ext cx="5852160" cy="548640"/>
          </a:xfrm>
          <a:prstGeom prst="rect">
            <a:avLst/>
          </a:prstGeom>
          <a:noFill/>
          <a:ln/>
        </p:spPr>
        <p:txBody>
          <a:bodyPr wrap="square" lIns="0" tIns="0" rIns="0" bIns="0" rtlCol="0" anchor="ctr"/>
          <a:lstStyle/>
          <a:p>
            <a:pPr algn="l" indent="0" marL="0">
              <a:buNone/>
            </a:pPr>
            <a:r>
              <a:rPr lang="en-US" sz="1100" b="1" dirty="0">
                <a:solidFill>
                  <a:srgbClr val="16211E"/>
                </a:solidFill>
                <a:latin typeface="Calibri" pitchFamily="34" charset="0"/>
                <a:ea typeface="Calibri" pitchFamily="34" charset="-122"/>
                <a:cs typeface="Calibri" pitchFamily="34" charset="-120"/>
              </a:rPr>
              <a:t>Wrong approvals per run:  </a:t>
            </a:r>
            <a:pPr algn="l" indent="0" marL="0">
              <a:buNone/>
            </a:pPr>
            <a:r>
              <a:rPr lang="en-US" sz="1200" b="1" dirty="0">
                <a:solidFill>
                  <a:srgbClr val="B8452F"/>
                </a:solidFill>
                <a:latin typeface="Calibri" pitchFamily="34" charset="0"/>
                <a:ea typeface="Calibri" pitchFamily="34" charset="-122"/>
                <a:cs typeface="Calibri" pitchFamily="34" charset="-120"/>
              </a:rPr>
              <a:t>12  →  3  →  6  →  4  →  4</a:t>
            </a:r>
            <a:pPr algn="l" indent="0" marL="0">
              <a:buNone/>
            </a:pPr>
            <a:r>
              <a:rPr lang="en-US" sz="1100" dirty="0">
                <a:solidFill>
                  <a:srgbClr val="5C6B66"/>
                </a:solidFill>
                <a:latin typeface="Calibri" pitchFamily="34" charset="0"/>
                <a:ea typeface="Calibri" pitchFamily="34" charset="-122"/>
                <a:cs typeface="Calibri" pitchFamily="34" charset="-120"/>
              </a:rPr>
              <a:t>.  Each one left is a test case we fix next.</a:t>
            </a:r>
            <a:endParaRPr lang="en-US" sz="1100" dirty="0"/>
          </a:p>
        </p:txBody>
      </p:sp>
      <p:sp>
        <p:nvSpPr>
          <p:cNvPr id="8" name="watch"/>
          <p:cNvSpPr/>
          <p:nvPr/>
        </p:nvSpPr>
        <p:spPr>
          <a:xfrm>
            <a:off x="6903720" y="1298448"/>
            <a:ext cx="4828032" cy="4069080"/>
          </a:xfrm>
          <a:prstGeom prst="roundRect">
            <a:avLst>
              <a:gd name="adj" fmla="val 2247"/>
            </a:avLst>
          </a:prstGeom>
          <a:solidFill>
            <a:srgbClr val="FFFFFF"/>
          </a:solidFill>
          <a:ln w="15875">
            <a:solidFill>
              <a:srgbClr val="5F3AA8"/>
            </a:solidFill>
          </a:ln>
        </p:spPr>
        <p:txBody>
          <a:bodyPr wrap="square" lIns="109728" tIns="54864" rIns="109728" bIns="54864" rtlCol="0" anchor="ctr"/>
          <a:lstStyle/>
          <a:p>
            <a:pPr algn="l" indent="0" marL="0">
              <a:buNone/>
            </a:pPr>
            <a:r>
              <a:rPr lang="en-US" sz="800" dirty="0">
                <a:solidFill>
                  <a:srgbClr val="16211E"/>
                </a:solidFill>
                <a:latin typeface="Calibri" pitchFamily="34" charset="0"/>
                <a:ea typeface="Calibri" pitchFamily="34" charset="-122"/>
                <a:cs typeface="Calibri" pitchFamily="34" charset="-120"/>
              </a:rPr>
              <a:t> </a:t>
            </a:r>
            <a:endParaRPr lang="en-US" sz="800" dirty="0"/>
          </a:p>
        </p:txBody>
      </p:sp>
      <p:sp>
        <p:nvSpPr>
          <p:cNvPr id="9" name="watchH"/>
          <p:cNvSpPr txBox="1"/>
          <p:nvPr/>
        </p:nvSpPr>
        <p:spPr>
          <a:xfrm>
            <a:off x="7178040" y="1417320"/>
            <a:ext cx="4389120" cy="320040"/>
          </a:xfrm>
          <a:prstGeom prst="rect">
            <a:avLst/>
          </a:prstGeom>
          <a:noFill/>
          <a:ln/>
        </p:spPr>
        <p:txBody>
          <a:bodyPr wrap="square" lIns="0" tIns="0" rIns="0" bIns="0" rtlCol="0" anchor="t"/>
          <a:lstStyle/>
          <a:p>
            <a:pPr algn="l" indent="0" marL="0">
              <a:buNone/>
            </a:pPr>
            <a:r>
              <a:rPr lang="en-US" sz="1100" b="1" spc="200" kern="0" dirty="0">
                <a:solidFill>
                  <a:srgbClr val="5F3AA8"/>
                </a:solidFill>
                <a:latin typeface="Calibri" pitchFamily="34" charset="0"/>
                <a:ea typeface="Calibri" pitchFamily="34" charset="-122"/>
                <a:cs typeface="Calibri" pitchFamily="34" charset="-120"/>
              </a:rPr>
              <a:t>FOUR NUMBERS WE WATCH</a:t>
            </a:r>
            <a:endParaRPr lang="en-US" sz="1100" dirty="0"/>
          </a:p>
        </p:txBody>
      </p:sp>
      <p:sp>
        <p:nvSpPr>
          <p:cNvPr id="10" name="sh0"/>
          <p:cNvSpPr txBox="1"/>
          <p:nvPr/>
        </p:nvSpPr>
        <p:spPr>
          <a:xfrm>
            <a:off x="7178040" y="1810512"/>
            <a:ext cx="4389120" cy="502920"/>
          </a:xfrm>
          <a:prstGeom prst="rect">
            <a:avLst/>
          </a:prstGeom>
          <a:noFill/>
          <a:ln/>
        </p:spPr>
        <p:txBody>
          <a:bodyPr wrap="square" lIns="0" tIns="0" rIns="0" bIns="0" rtlCol="0" anchor="t"/>
          <a:lstStyle/>
          <a:p>
            <a:pPr algn="l" indent="0" marL="0">
              <a:buNone/>
            </a:pPr>
            <a:r>
              <a:rPr lang="en-US" sz="1300" b="1" dirty="0">
                <a:solidFill>
                  <a:srgbClr val="16211E"/>
                </a:solidFill>
                <a:latin typeface="Calibri" pitchFamily="34" charset="0"/>
                <a:ea typeface="Calibri" pitchFamily="34" charset="-122"/>
                <a:cs typeface="Calibri" pitchFamily="34" charset="-120"/>
              </a:rPr>
              <a:t>When a policy is built</a:t>
            </a:r>
            <a:endParaRPr lang="en-US" sz="1300" dirty="0"/>
          </a:p>
          <a:p>
            <a:pPr algn="l" indent="0" marL="0">
              <a:buNone/>
            </a:pPr>
            <a:r>
              <a:rPr lang="en-US" sz="1050" dirty="0">
                <a:solidFill>
                  <a:srgbClr val="5C6B66"/>
                </a:solidFill>
                <a:latin typeface="Calibri" pitchFamily="34" charset="0"/>
                <a:ea typeface="Calibri" pitchFamily="34" charset="-122"/>
                <a:cs typeface="Calibri" pitchFamily="34" charset="-120"/>
              </a:rPr>
              <a:t>The AI drafts the key facts. It must not miss one.</a:t>
            </a:r>
            <a:endParaRPr lang="en-US" sz="1300" dirty="0"/>
          </a:p>
        </p:txBody>
      </p:sp>
      <p:sp>
        <p:nvSpPr>
          <p:cNvPr id="11" name="sp00"/>
          <p:cNvSpPr txBox="1"/>
          <p:nvPr/>
        </p:nvSpPr>
        <p:spPr>
          <a:xfrm>
            <a:off x="7178040" y="2359152"/>
            <a:ext cx="2148840" cy="777240"/>
          </a:xfrm>
          <a:prstGeom prst="rect">
            <a:avLst/>
          </a:prstGeom>
          <a:noFill/>
          <a:ln/>
        </p:spPr>
        <p:txBody>
          <a:bodyPr wrap="square" lIns="0" tIns="0" rIns="0" bIns="0" rtlCol="0" anchor="t"/>
          <a:lstStyle/>
          <a:p>
            <a:pPr algn="l" indent="0" marL="0">
              <a:buNone/>
            </a:pPr>
            <a:r>
              <a:rPr lang="en-US" sz="2400" dirty="0">
                <a:solidFill>
                  <a:srgbClr val="5F3AA8"/>
                </a:solidFill>
                <a:latin typeface="Cambria" pitchFamily="34" charset="0"/>
                <a:ea typeface="Cambria" pitchFamily="34" charset="-122"/>
                <a:cs typeface="Cambria" pitchFamily="34" charset="-120"/>
              </a:rPr>
              <a:t>100%</a:t>
            </a:r>
            <a:endParaRPr lang="en-US" sz="2400" dirty="0"/>
          </a:p>
          <a:p>
            <a:pPr algn="l" indent="0" marL="0">
              <a:buNone/>
            </a:pPr>
            <a:r>
              <a:rPr lang="en-US" sz="1050" b="1" dirty="0">
                <a:solidFill>
                  <a:srgbClr val="16211E"/>
                </a:solidFill>
                <a:latin typeface="Calibri" pitchFamily="34" charset="0"/>
                <a:ea typeface="Calibri" pitchFamily="34" charset="-122"/>
                <a:cs typeface="Calibri" pitchFamily="34" charset="-120"/>
              </a:rPr>
              <a:t>Recall: </a:t>
            </a:r>
            <a:pPr algn="l" indent="0" marL="0">
              <a:buNone/>
            </a:pPr>
            <a:r>
              <a:rPr lang="en-US" sz="1050" dirty="0">
                <a:solidFill>
                  <a:srgbClr val="5C6B66"/>
                </a:solidFill>
                <a:latin typeface="Calibri" pitchFamily="34" charset="0"/>
                <a:ea typeface="Calibri" pitchFamily="34" charset="-122"/>
                <a:cs typeface="Calibri" pitchFamily="34" charset="-120"/>
              </a:rPr>
              <a:t>key facts found</a:t>
            </a:r>
            <a:endParaRPr lang="en-US" sz="2400" dirty="0"/>
          </a:p>
        </p:txBody>
      </p:sp>
      <p:sp>
        <p:nvSpPr>
          <p:cNvPr id="12" name="sp01"/>
          <p:cNvSpPr txBox="1"/>
          <p:nvPr/>
        </p:nvSpPr>
        <p:spPr>
          <a:xfrm>
            <a:off x="9418320" y="2359152"/>
            <a:ext cx="2148840" cy="777240"/>
          </a:xfrm>
          <a:prstGeom prst="rect">
            <a:avLst/>
          </a:prstGeom>
          <a:noFill/>
          <a:ln/>
        </p:spPr>
        <p:txBody>
          <a:bodyPr wrap="square" lIns="0" tIns="0" rIns="0" bIns="0" rtlCol="0" anchor="t"/>
          <a:lstStyle/>
          <a:p>
            <a:pPr algn="l" indent="0" marL="0">
              <a:buNone/>
            </a:pPr>
            <a:r>
              <a:rPr lang="en-US" sz="2400" dirty="0">
                <a:solidFill>
                  <a:srgbClr val="5F3AA8"/>
                </a:solidFill>
                <a:latin typeface="Cambria" pitchFamily="34" charset="0"/>
                <a:ea typeface="Cambria" pitchFamily="34" charset="-122"/>
                <a:cs typeface="Cambria" pitchFamily="34" charset="-120"/>
              </a:rPr>
              <a:t>73%</a:t>
            </a:r>
            <a:endParaRPr lang="en-US" sz="2400" dirty="0"/>
          </a:p>
          <a:p>
            <a:pPr algn="l" indent="0" marL="0">
              <a:buNone/>
            </a:pPr>
            <a:r>
              <a:rPr lang="en-US" sz="1050" b="1" dirty="0">
                <a:solidFill>
                  <a:srgbClr val="16211E"/>
                </a:solidFill>
                <a:latin typeface="Calibri" pitchFamily="34" charset="0"/>
                <a:ea typeface="Calibri" pitchFamily="34" charset="-122"/>
                <a:cs typeface="Calibri" pitchFamily="34" charset="-120"/>
              </a:rPr>
              <a:t>Precision: </a:t>
            </a:r>
            <a:pPr algn="l" indent="0" marL="0">
              <a:buNone/>
            </a:pPr>
            <a:r>
              <a:rPr lang="en-US" sz="1050" dirty="0">
                <a:solidFill>
                  <a:srgbClr val="5C6B66"/>
                </a:solidFill>
                <a:latin typeface="Calibri" pitchFamily="34" charset="0"/>
                <a:ea typeface="Calibri" pitchFamily="34" charset="-122"/>
                <a:cs typeface="Calibri" pitchFamily="34" charset="-120"/>
              </a:rPr>
              <a:t>approved by the owner</a:t>
            </a:r>
            <a:endParaRPr lang="en-US" sz="2400" dirty="0"/>
          </a:p>
        </p:txBody>
      </p:sp>
      <p:sp>
        <p:nvSpPr>
          <p:cNvPr id="13" name="sh1"/>
          <p:cNvSpPr txBox="1"/>
          <p:nvPr/>
        </p:nvSpPr>
        <p:spPr>
          <a:xfrm>
            <a:off x="7178040" y="3291840"/>
            <a:ext cx="4389120" cy="502920"/>
          </a:xfrm>
          <a:prstGeom prst="rect">
            <a:avLst/>
          </a:prstGeom>
          <a:noFill/>
          <a:ln/>
        </p:spPr>
        <p:txBody>
          <a:bodyPr wrap="square" lIns="0" tIns="0" rIns="0" bIns="0" rtlCol="0" anchor="t"/>
          <a:lstStyle/>
          <a:p>
            <a:pPr algn="l" indent="0" marL="0">
              <a:buNone/>
            </a:pPr>
            <a:r>
              <a:rPr lang="en-US" sz="1300" b="1" dirty="0">
                <a:solidFill>
                  <a:srgbClr val="16211E"/>
                </a:solidFill>
                <a:latin typeface="Calibri" pitchFamily="34" charset="0"/>
                <a:ea typeface="Calibri" pitchFamily="34" charset="-122"/>
                <a:cs typeface="Calibri" pitchFamily="34" charset="-120"/>
              </a:rPr>
              <a:t>When a packet is decided</a:t>
            </a:r>
            <a:endParaRPr lang="en-US" sz="1300" dirty="0"/>
          </a:p>
          <a:p>
            <a:pPr algn="l" indent="0" marL="0">
              <a:buNone/>
            </a:pPr>
            <a:r>
              <a:rPr lang="en-US" sz="1050" dirty="0">
                <a:solidFill>
                  <a:srgbClr val="5C6B66"/>
                </a:solidFill>
                <a:latin typeface="Calibri" pitchFamily="34" charset="0"/>
                <a:ea typeface="Calibri" pitchFamily="34" charset="-122"/>
                <a:cs typeface="Calibri" pitchFamily="34" charset="-120"/>
              </a:rPr>
              <a:t>Risky cases must reach a person. Goal: 100%.</a:t>
            </a:r>
            <a:endParaRPr lang="en-US" sz="1300" dirty="0"/>
          </a:p>
        </p:txBody>
      </p:sp>
      <p:sp>
        <p:nvSpPr>
          <p:cNvPr id="14" name="sp10"/>
          <p:cNvSpPr txBox="1"/>
          <p:nvPr/>
        </p:nvSpPr>
        <p:spPr>
          <a:xfrm>
            <a:off x="7178040" y="3840480"/>
            <a:ext cx="2148840" cy="777240"/>
          </a:xfrm>
          <a:prstGeom prst="rect">
            <a:avLst/>
          </a:prstGeom>
          <a:noFill/>
          <a:ln/>
        </p:spPr>
        <p:txBody>
          <a:bodyPr wrap="square" lIns="0" tIns="0" rIns="0" bIns="0" rtlCol="0" anchor="t"/>
          <a:lstStyle/>
          <a:p>
            <a:pPr algn="l" indent="0" marL="0">
              <a:buNone/>
            </a:pPr>
            <a:r>
              <a:rPr lang="en-US" sz="2400" dirty="0">
                <a:solidFill>
                  <a:srgbClr val="5F3AA8"/>
                </a:solidFill>
                <a:latin typeface="Cambria" pitchFamily="34" charset="0"/>
                <a:ea typeface="Cambria" pitchFamily="34" charset="-122"/>
                <a:cs typeface="Cambria" pitchFamily="34" charset="-120"/>
              </a:rPr>
              <a:t>86%</a:t>
            </a:r>
            <a:endParaRPr lang="en-US" sz="2400" dirty="0"/>
          </a:p>
          <a:p>
            <a:pPr algn="l" indent="0" marL="0">
              <a:buNone/>
            </a:pPr>
            <a:r>
              <a:rPr lang="en-US" sz="1050" b="1" dirty="0">
                <a:solidFill>
                  <a:srgbClr val="16211E"/>
                </a:solidFill>
                <a:latin typeface="Calibri" pitchFamily="34" charset="0"/>
                <a:ea typeface="Calibri" pitchFamily="34" charset="-122"/>
                <a:cs typeface="Calibri" pitchFamily="34" charset="-120"/>
              </a:rPr>
              <a:t>Recall: </a:t>
            </a:r>
            <a:pPr algn="l" indent="0" marL="0">
              <a:buNone/>
            </a:pPr>
            <a:r>
              <a:rPr lang="en-US" sz="1050" dirty="0">
                <a:solidFill>
                  <a:srgbClr val="5C6B66"/>
                </a:solidFill>
                <a:latin typeface="Calibri" pitchFamily="34" charset="0"/>
                <a:ea typeface="Calibri" pitchFamily="34" charset="-122"/>
                <a:cs typeface="Calibri" pitchFamily="34" charset="-120"/>
              </a:rPr>
              <a:t>risky cases caught</a:t>
            </a:r>
            <a:endParaRPr lang="en-US" sz="2400" dirty="0"/>
          </a:p>
        </p:txBody>
      </p:sp>
      <p:sp>
        <p:nvSpPr>
          <p:cNvPr id="15" name="sp11"/>
          <p:cNvSpPr txBox="1"/>
          <p:nvPr/>
        </p:nvSpPr>
        <p:spPr>
          <a:xfrm>
            <a:off x="9418320" y="3840480"/>
            <a:ext cx="2148840" cy="777240"/>
          </a:xfrm>
          <a:prstGeom prst="rect">
            <a:avLst/>
          </a:prstGeom>
          <a:noFill/>
          <a:ln/>
        </p:spPr>
        <p:txBody>
          <a:bodyPr wrap="square" lIns="0" tIns="0" rIns="0" bIns="0" rtlCol="0" anchor="t"/>
          <a:lstStyle/>
          <a:p>
            <a:pPr algn="l" indent="0" marL="0">
              <a:buNone/>
            </a:pPr>
            <a:r>
              <a:rPr lang="en-US" sz="2400" dirty="0">
                <a:solidFill>
                  <a:srgbClr val="5F3AA8"/>
                </a:solidFill>
                <a:latin typeface="Cambria" pitchFamily="34" charset="0"/>
                <a:ea typeface="Cambria" pitchFamily="34" charset="-122"/>
                <a:cs typeface="Cambria" pitchFamily="34" charset="-120"/>
              </a:rPr>
              <a:t>92%</a:t>
            </a:r>
            <a:endParaRPr lang="en-US" sz="2400" dirty="0"/>
          </a:p>
          <a:p>
            <a:pPr algn="l" indent="0" marL="0">
              <a:buNone/>
            </a:pPr>
            <a:r>
              <a:rPr lang="en-US" sz="1050" b="1" dirty="0">
                <a:solidFill>
                  <a:srgbClr val="16211E"/>
                </a:solidFill>
                <a:latin typeface="Calibri" pitchFamily="34" charset="0"/>
                <a:ea typeface="Calibri" pitchFamily="34" charset="-122"/>
                <a:cs typeface="Calibri" pitchFamily="34" charset="-120"/>
              </a:rPr>
              <a:t>Precision: </a:t>
            </a:r>
            <a:pPr algn="l" indent="0" marL="0">
              <a:buNone/>
            </a:pPr>
            <a:r>
              <a:rPr lang="en-US" sz="1050" dirty="0">
                <a:solidFill>
                  <a:srgbClr val="5C6B66"/>
                </a:solidFill>
                <a:latin typeface="Calibri" pitchFamily="34" charset="0"/>
                <a:ea typeface="Calibri" pitchFamily="34" charset="-122"/>
                <a:cs typeface="Calibri" pitchFamily="34" charset="-120"/>
              </a:rPr>
              <a:t>flags that were right</a:t>
            </a:r>
            <a:endParaRPr lang="en-US" sz="2400" dirty="0"/>
          </a:p>
        </p:txBody>
      </p:sp>
      <p:sp>
        <p:nvSpPr>
          <p:cNvPr id="16" name="more"/>
          <p:cNvSpPr txBox="1"/>
          <p:nvPr/>
        </p:nvSpPr>
        <p:spPr>
          <a:xfrm>
            <a:off x="7178040" y="4773168"/>
            <a:ext cx="4389120" cy="502920"/>
          </a:xfrm>
          <a:prstGeom prst="rect">
            <a:avLst/>
          </a:prstGeom>
          <a:noFill/>
          <a:ln/>
        </p:spPr>
        <p:txBody>
          <a:bodyPr wrap="square" lIns="0" tIns="0" rIns="0" bIns="0" rtlCol="0" anchor="ctr"/>
          <a:lstStyle/>
          <a:p>
            <a:pPr algn="l" indent="0" marL="0">
              <a:buNone/>
            </a:pPr>
            <a:r>
              <a:rPr lang="en-US" sz="950" b="1" spc="200" kern="0" dirty="0">
                <a:solidFill>
                  <a:srgbClr val="5F3AA8"/>
                </a:solidFill>
                <a:latin typeface="Calibri" pitchFamily="34" charset="0"/>
                <a:ea typeface="Calibri" pitchFamily="34" charset="-122"/>
                <a:cs typeface="Calibri" pitchFamily="34" charset="-120"/>
              </a:rPr>
              <a:t>ALSO TRACKED  </a:t>
            </a:r>
            <a:pPr algn="l" indent="0" marL="0">
              <a:buNone/>
            </a:pPr>
            <a:r>
              <a:rPr lang="en-US" sz="1050" dirty="0">
                <a:solidFill>
                  <a:srgbClr val="16211E"/>
                </a:solidFill>
                <a:latin typeface="Calibri" pitchFamily="34" charset="0"/>
                <a:ea typeface="Calibri" pitchFamily="34" charset="-122"/>
                <a:cs typeface="Calibri" pitchFamily="34" charset="-120"/>
              </a:rPr>
              <a:t>Errors 0% (0.6% retried)  ·  Speed 18 s typical, 35 s slow  ·  Cost 13 cents a case</a:t>
            </a:r>
            <a:endParaRPr lang="en-US" sz="950" dirty="0"/>
          </a:p>
        </p:txBody>
      </p:sp>
      <p:sp>
        <p:nvSpPr>
          <p:cNvPr id="17" name="rule"/>
          <p:cNvSpPr/>
          <p:nvPr/>
        </p:nvSpPr>
        <p:spPr>
          <a:xfrm>
            <a:off x="457200" y="5486400"/>
            <a:ext cx="11274552" cy="457200"/>
          </a:xfrm>
          <a:prstGeom prst="roundRect">
            <a:avLst>
              <a:gd name="adj" fmla="val 16000"/>
            </a:avLst>
          </a:prstGeom>
          <a:solidFill>
            <a:srgbClr val="EBE2F8"/>
          </a:solidFill>
          <a:ln w="12700">
            <a:solidFill>
              <a:srgbClr val="5F3AA8"/>
            </a:solidFill>
          </a:ln>
        </p:spPr>
        <p:txBody>
          <a:bodyPr wrap="square" lIns="201168" tIns="36576" rIns="182880" bIns="36576" rtlCol="0" anchor="ctr"/>
          <a:lstStyle/>
          <a:p>
            <a:pPr algn="l" indent="0" marL="0">
              <a:buNone/>
            </a:pPr>
            <a:r>
              <a:rPr lang="en-US" sz="1050" b="1" spc="200" kern="0" dirty="0">
                <a:solidFill>
                  <a:srgbClr val="5F3AA8"/>
                </a:solidFill>
                <a:latin typeface="Calibri" pitchFamily="34" charset="0"/>
                <a:ea typeface="Calibri" pitchFamily="34" charset="-122"/>
                <a:cs typeface="Calibri" pitchFamily="34" charset="-120"/>
              </a:rPr>
              <a:t>ALL LIVE IN HONEYCOMB   </a:t>
            </a:r>
            <a:pPr algn="l" indent="0" marL="0">
              <a:buNone/>
            </a:pPr>
            <a:r>
              <a:rPr lang="en-US" sz="1150" dirty="0">
                <a:solidFill>
                  <a:srgbClr val="16211E"/>
                </a:solidFill>
                <a:latin typeface="Calibri" pitchFamily="34" charset="0"/>
                <a:ea typeface="Calibri" pitchFamily="34" charset="-122"/>
                <a:cs typeface="Calibri" pitchFamily="34" charset="-120"/>
              </a:rPr>
              <a:t>Every run and every human decision is tracked continuously. A human check is relaxed only when recall stays at 100%.</a:t>
            </a:r>
            <a:endParaRPr lang="en-US" sz="1050" dirty="0"/>
          </a:p>
        </p:txBody>
      </p:sp>
      <p:sp>
        <p:nvSpPr>
          <p:cNvPr id="18" name="footer"/>
          <p:cNvSpPr txBox="1"/>
          <p:nvPr/>
        </p:nvSpPr>
        <p:spPr>
          <a:xfrm>
            <a:off x="457200" y="6080760"/>
            <a:ext cx="11274552" cy="4572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Packets are made up. Policy-build numbers are from the owner's live reviews; the nurse numbers are still too few to show. Next: de-identified real cases, labelled by senior nurses first.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Evals framework</dc:title>
  <dc:subject>PptxGenJS Presentation</dc:subject>
  <dc:creator>Nisha Mishra</dc:creator>
  <cp:lastModifiedBy>Nisha Mishra</cp:lastModifiedBy>
  <cp:revision>1</cp:revision>
  <dcterms:created xsi:type="dcterms:W3CDTF">2026-10-07T01:31:57Z</dcterms:created>
  <dcterms:modified xsi:type="dcterms:W3CDTF">2026-10-07T01:31:57Z</dcterms:modified>
</cp:coreProperties>
</file>