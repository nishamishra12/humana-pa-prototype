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your talking point, then click.
Click 1: Here is the choice I made, and why. The group that matters is cases that need a person: anything the tool should pend, escalate or send to a nurse to check. Recall asks: of the cases that needed a person, how many did I flag. If I miss one, the tool approves something that needed a human. That is a wrong approval, and it is the dangerous failure. Precision asks the opposite: of the cases I flagged, how many really needed a person. If I miss there, it is an extra flag. A nurse spends a few minutes on a case that was fine. That costs time, not safety. So I push recall up and I accept more extra flags. That is also why flagging early with a person in the loop fits right-first-time. A quick check now is better than a wrong approval that comes back as an appeal.
Click 2: So I watch quality on every run. Recall, first. Wrong approvals, which is the alarm number, and the goal is zero. Precision and extra flags, which tell me what the caution costs. Whether it finds the details that are in the packet, and whether it ever makes one up. And whether the nurse's first action matches the recommendation. My release rule is simple: if wrong approvals go up, I do not ship.
Click 3: And I watch speed and health on every packet, in Honeycomb. Every packet is a trace, so I can see how long each step takes at the 95th and 99th percentile, not just the average. Step errors show up at once. I track when the three reads of the AI disagree, which is the AI changing its mind. I track cost per packet. And I track cases that arrived with no policy, because that is demand for a new service.
Click 4: So far this is proof on made-up packets. On 40 hard packets from another author, recall rose from 57 to 86 percent, and wrong approvals fell from 12 to 4. The standard nine were 45 of 45. I tuned on that set, so the later numbers show what I improved, not a clean accuracy. A fresh set is the final test, and the real test is real, de-identified cases labeled by senior nurses before the tool sees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54864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EVALS AND OBSERVABILITY</a:t>
            </a:r>
            <a:endParaRPr lang="en-US" sz="1100" dirty="0"/>
          </a:p>
        </p:txBody>
      </p:sp>
      <p:sp>
        <p:nvSpPr>
          <p:cNvPr id="3" name="title"/>
          <p:cNvSpPr txBox="1"/>
          <p:nvPr/>
        </p:nvSpPr>
        <p:spPr>
          <a:xfrm>
            <a:off x="457200" y="502920"/>
            <a:ext cx="841248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We optimize for recall, and watch it every day.</a:t>
            </a:r>
            <a:endParaRPr lang="en-US" sz="2600" dirty="0"/>
          </a:p>
        </p:txBody>
      </p:sp>
      <p:sp>
        <p:nvSpPr>
          <p:cNvPr id="4" name="sub"/>
          <p:cNvSpPr txBox="1"/>
          <p:nvPr/>
        </p:nvSpPr>
        <p:spPr>
          <a:xfrm>
            <a:off x="8595360" y="502920"/>
            <a:ext cx="313639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Not precision, and here is why</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The positive group is 'needs a person': pend, escalate or verify. Numbers come from the eval scorecard on made-up packets. The live ones are in Honeycomb.</a:t>
            </a:r>
            <a:endParaRPr lang="en-US" sz="900" dirty="0"/>
          </a:p>
        </p:txBody>
      </p:sp>
      <p:sp>
        <p:nvSpPr>
          <p:cNvPr id="6" name="W"/>
          <p:cNvSpPr/>
          <p:nvPr/>
        </p:nvSpPr>
        <p:spPr>
          <a:xfrm>
            <a:off x="457200" y="1325880"/>
            <a:ext cx="4206240" cy="3520440"/>
          </a:xfrm>
          <a:prstGeom prst="roundRect">
            <a:avLst>
              <a:gd name="adj" fmla="val 2597"/>
            </a:avLst>
          </a:prstGeom>
          <a:solidFill>
            <a:srgbClr val="FFFFFF"/>
          </a:solidFill>
          <a:ln w="15875">
            <a:solidFill>
              <a:srgbClr val="CBD5D1"/>
            </a:solidFill>
          </a:ln>
        </p:spPr>
        <p:txBody>
          <a:bodyPr wrap="square" lIns="182880" tIns="146304" rIns="182880" bIns="73152" rtlCol="0" anchor="t"/>
          <a:lstStyle/>
          <a:p>
            <a:pPr algn="l" indent="0" marL="0">
              <a:spcAft>
                <a:spcPts val="600"/>
              </a:spcAft>
              <a:buNone/>
            </a:pPr>
            <a:r>
              <a:rPr lang="en-US" sz="950" b="1" spc="150" kern="0" dirty="0">
                <a:solidFill>
                  <a:srgbClr val="1F6F5C"/>
                </a:solidFill>
                <a:latin typeface="Calibri" pitchFamily="34" charset="0"/>
                <a:ea typeface="Calibri" pitchFamily="34" charset="-122"/>
                <a:cs typeface="Calibri" pitchFamily="34" charset="-120"/>
              </a:rPr>
              <a:t>WHY RECALL, NOT PRECISION</a:t>
            </a:r>
            <a:endParaRPr lang="en-US" sz="950" dirty="0"/>
          </a:p>
          <a:p>
            <a:pPr algn="l" indent="0" marL="0">
              <a:spcAft>
                <a:spcPts val="1400"/>
              </a:spcAft>
              <a:buNone/>
            </a:pPr>
            <a:r>
              <a:rPr lang="en-US" sz="1400" b="1" dirty="0">
                <a:solidFill>
                  <a:srgbClr val="16211E"/>
                </a:solidFill>
                <a:latin typeface="Calibri" pitchFamily="34" charset="0"/>
                <a:ea typeface="Calibri" pitchFamily="34" charset="-122"/>
                <a:cs typeface="Calibri" pitchFamily="34" charset="-120"/>
              </a:rPr>
              <a:t>The group that matters: cases that need a person.</a:t>
            </a:r>
            <a:endParaRPr lang="en-US" sz="950" dirty="0"/>
          </a:p>
          <a:p>
            <a:pPr algn="l" indent="0" marL="0">
              <a:spcAft>
                <a:spcPts val="200"/>
              </a:spcAft>
              <a:buNone/>
            </a:pPr>
            <a:r>
              <a:rPr lang="en-US" sz="1800" b="1" dirty="0">
                <a:solidFill>
                  <a:srgbClr val="18764A"/>
                </a:solidFill>
                <a:latin typeface="Calibri" pitchFamily="34" charset="0"/>
                <a:ea typeface="Calibri" pitchFamily="34" charset="-122"/>
                <a:cs typeface="Calibri" pitchFamily="34" charset="-120"/>
              </a:rPr>
              <a:t>Recall</a:t>
            </a:r>
            <a:endParaRPr lang="en-US" sz="950" dirty="0"/>
          </a:p>
          <a:p>
            <a:pPr algn="l" indent="0" marL="0">
              <a:spcAft>
                <a:spcPts val="1400"/>
              </a:spcAft>
              <a:buNone/>
            </a:pPr>
            <a:r>
              <a:rPr lang="en-US" sz="1350" dirty="0">
                <a:solidFill>
                  <a:srgbClr val="5C6B66"/>
                </a:solidFill>
                <a:latin typeface="Calibri" pitchFamily="34" charset="0"/>
                <a:ea typeface="Calibri" pitchFamily="34" charset="-122"/>
                <a:cs typeface="Calibri" pitchFamily="34" charset="-120"/>
              </a:rPr>
              <a:t>Of the cases that needed a person, how many we flagged. A miss is a wrong approval. That is the dangerous failure.</a:t>
            </a:r>
            <a:endParaRPr lang="en-US" sz="950" dirty="0"/>
          </a:p>
          <a:p>
            <a:pPr algn="l" indent="0" marL="0">
              <a:spcAft>
                <a:spcPts val="200"/>
              </a:spcAft>
              <a:buNone/>
            </a:pPr>
            <a:r>
              <a:rPr lang="en-US" sz="1800" b="1" dirty="0">
                <a:solidFill>
                  <a:srgbClr val="8A5A00"/>
                </a:solidFill>
                <a:latin typeface="Calibri" pitchFamily="34" charset="0"/>
                <a:ea typeface="Calibri" pitchFamily="34" charset="-122"/>
                <a:cs typeface="Calibri" pitchFamily="34" charset="-120"/>
              </a:rPr>
              <a:t>Precision</a:t>
            </a:r>
            <a:endParaRPr lang="en-US" sz="950" dirty="0"/>
          </a:p>
          <a:p>
            <a:pPr algn="l" indent="0" marL="0">
              <a:spcAft>
                <a:spcPts val="1400"/>
              </a:spcAft>
              <a:buNone/>
            </a:pPr>
            <a:r>
              <a:rPr lang="en-US" sz="1350" dirty="0">
                <a:solidFill>
                  <a:srgbClr val="5C6B66"/>
                </a:solidFill>
                <a:latin typeface="Calibri" pitchFamily="34" charset="0"/>
                <a:ea typeface="Calibri" pitchFamily="34" charset="-122"/>
                <a:cs typeface="Calibri" pitchFamily="34" charset="-120"/>
              </a:rPr>
              <a:t>Of the cases we flagged, how many really needed a person. A miss is an extra flag. It costs a few minutes of nurse time.</a:t>
            </a:r>
            <a:endParaRPr lang="en-US" sz="950" dirty="0"/>
          </a:p>
          <a:p>
            <a:pPr algn="l" indent="0" marL="0">
              <a:buNone/>
            </a:pPr>
            <a:r>
              <a:rPr lang="en-US" sz="1450" b="1" dirty="0">
                <a:solidFill>
                  <a:srgbClr val="16211E"/>
                </a:solidFill>
                <a:latin typeface="Calibri" pitchFamily="34" charset="0"/>
                <a:ea typeface="Calibri" pitchFamily="34" charset="-122"/>
                <a:cs typeface="Calibri" pitchFamily="34" charset="-120"/>
              </a:rPr>
              <a:t>So we push recall up, and we accept more extra flags.</a:t>
            </a:r>
            <a:endParaRPr lang="en-US" sz="950" dirty="0"/>
          </a:p>
        </p:txBody>
      </p:sp>
      <p:sp>
        <p:nvSpPr>
          <p:cNvPr id="7" name="Q"/>
          <p:cNvSpPr/>
          <p:nvPr/>
        </p:nvSpPr>
        <p:spPr>
          <a:xfrm>
            <a:off x="4846320" y="1325880"/>
            <a:ext cx="3429000" cy="3520440"/>
          </a:xfrm>
          <a:prstGeom prst="roundRect">
            <a:avLst>
              <a:gd name="adj" fmla="val 2667"/>
            </a:avLst>
          </a:prstGeom>
          <a:solidFill>
            <a:srgbClr val="E3F0EB"/>
          </a:solidFill>
          <a:ln w="15875">
            <a:solidFill>
              <a:srgbClr val="1F6F5C"/>
            </a:solidFill>
          </a:ln>
        </p:spPr>
        <p:txBody>
          <a:bodyPr wrap="square" lIns="182880" tIns="146304" rIns="182880" bIns="73152" rtlCol="0" anchor="t"/>
          <a:lstStyle/>
          <a:p>
            <a:pPr algn="l" indent="0" marL="0">
              <a:spcAft>
                <a:spcPts val="600"/>
              </a:spcAft>
              <a:buNone/>
            </a:pPr>
            <a:r>
              <a:rPr lang="en-US" sz="950" b="1" spc="150" kern="0" dirty="0">
                <a:solidFill>
                  <a:srgbClr val="1F6F5C"/>
                </a:solidFill>
                <a:latin typeface="Calibri" pitchFamily="34" charset="0"/>
                <a:ea typeface="Calibri" pitchFamily="34" charset="-122"/>
                <a:cs typeface="Calibri" pitchFamily="34" charset="-120"/>
              </a:rPr>
              <a:t>QUALITY, EVERY RUN</a:t>
            </a:r>
            <a:endParaRPr lang="en-US" sz="950" dirty="0"/>
          </a:p>
          <a:p>
            <a:pPr algn="l" indent="0" marL="0">
              <a:spcAft>
                <a:spcPts val="100"/>
              </a:spcAft>
              <a:buNone/>
            </a:pPr>
            <a:r>
              <a:rPr lang="en-US" sz="1500" b="1" dirty="0">
                <a:solidFill>
                  <a:srgbClr val="16211E"/>
                </a:solidFill>
                <a:latin typeface="Calibri" pitchFamily="34" charset="0"/>
                <a:ea typeface="Calibri" pitchFamily="34" charset="-122"/>
                <a:cs typeface="Calibri" pitchFamily="34" charset="-120"/>
              </a:rPr>
              <a:t>Recall</a:t>
            </a:r>
            <a:endParaRPr lang="en-US" sz="950" dirty="0"/>
          </a:p>
          <a:p>
            <a:pPr algn="l" indent="0" marL="0">
              <a:spcAft>
                <a:spcPts val="1400"/>
              </a:spcAft>
              <a:buNone/>
            </a:pPr>
            <a:r>
              <a:rPr lang="en-US" sz="1300" dirty="0">
                <a:solidFill>
                  <a:srgbClr val="5C6B66"/>
                </a:solidFill>
                <a:latin typeface="Calibri" pitchFamily="34" charset="0"/>
                <a:ea typeface="Calibri" pitchFamily="34" charset="-122"/>
                <a:cs typeface="Calibri" pitchFamily="34" charset="-120"/>
              </a:rPr>
              <a:t>Needs a person, caught.</a:t>
            </a:r>
            <a:endParaRPr lang="en-US" sz="950" dirty="0"/>
          </a:p>
          <a:p>
            <a:pPr algn="l" indent="0" marL="0">
              <a:spcAft>
                <a:spcPts val="100"/>
              </a:spcAft>
              <a:buNone/>
            </a:pPr>
            <a:r>
              <a:rPr lang="en-US" sz="1500" b="1" dirty="0">
                <a:solidFill>
                  <a:srgbClr val="16211E"/>
                </a:solidFill>
                <a:latin typeface="Calibri" pitchFamily="34" charset="0"/>
                <a:ea typeface="Calibri" pitchFamily="34" charset="-122"/>
                <a:cs typeface="Calibri" pitchFamily="34" charset="-120"/>
              </a:rPr>
              <a:t>Wrong approvals</a:t>
            </a:r>
            <a:endParaRPr lang="en-US" sz="950" dirty="0"/>
          </a:p>
          <a:p>
            <a:pPr algn="l" indent="0" marL="0">
              <a:spcAft>
                <a:spcPts val="1400"/>
              </a:spcAft>
              <a:buNone/>
            </a:pPr>
            <a:r>
              <a:rPr lang="en-US" sz="1300" dirty="0">
                <a:solidFill>
                  <a:srgbClr val="5C6B66"/>
                </a:solidFill>
                <a:latin typeface="Calibri" pitchFamily="34" charset="0"/>
                <a:ea typeface="Calibri" pitchFamily="34" charset="-122"/>
                <a:cs typeface="Calibri" pitchFamily="34" charset="-120"/>
              </a:rPr>
              <a:t>The alarm number. The goal is zero.</a:t>
            </a:r>
            <a:endParaRPr lang="en-US" sz="950" dirty="0"/>
          </a:p>
          <a:p>
            <a:pPr algn="l" indent="0" marL="0">
              <a:spcAft>
                <a:spcPts val="100"/>
              </a:spcAft>
              <a:buNone/>
            </a:pPr>
            <a:r>
              <a:rPr lang="en-US" sz="1500" b="1" dirty="0">
                <a:solidFill>
                  <a:srgbClr val="16211E"/>
                </a:solidFill>
                <a:latin typeface="Calibri" pitchFamily="34" charset="0"/>
                <a:ea typeface="Calibri" pitchFamily="34" charset="-122"/>
                <a:cs typeface="Calibri" pitchFamily="34" charset="-120"/>
              </a:rPr>
              <a:t>Precision and extra flags</a:t>
            </a:r>
            <a:endParaRPr lang="en-US" sz="950" dirty="0"/>
          </a:p>
          <a:p>
            <a:pPr algn="l" indent="0" marL="0">
              <a:spcAft>
                <a:spcPts val="1400"/>
              </a:spcAft>
              <a:buNone/>
            </a:pPr>
            <a:r>
              <a:rPr lang="en-US" sz="1300" dirty="0">
                <a:solidFill>
                  <a:srgbClr val="5C6B66"/>
                </a:solidFill>
                <a:latin typeface="Calibri" pitchFamily="34" charset="0"/>
                <a:ea typeface="Calibri" pitchFamily="34" charset="-122"/>
                <a:cs typeface="Calibri" pitchFamily="34" charset="-120"/>
              </a:rPr>
              <a:t>The cost of being careful.</a:t>
            </a:r>
            <a:endParaRPr lang="en-US" sz="950" dirty="0"/>
          </a:p>
          <a:p>
            <a:pPr algn="l" indent="0" marL="0">
              <a:spcAft>
                <a:spcPts val="100"/>
              </a:spcAft>
              <a:buNone/>
            </a:pPr>
            <a:r>
              <a:rPr lang="en-US" sz="1500" b="1" dirty="0">
                <a:solidFill>
                  <a:srgbClr val="16211E"/>
                </a:solidFill>
                <a:latin typeface="Calibri" pitchFamily="34" charset="0"/>
                <a:ea typeface="Calibri" pitchFamily="34" charset="-122"/>
                <a:cs typeface="Calibri" pitchFamily="34" charset="-120"/>
              </a:rPr>
              <a:t>Details found, details made up</a:t>
            </a:r>
            <a:endParaRPr lang="en-US" sz="950" dirty="0"/>
          </a:p>
          <a:p>
            <a:pPr algn="l" indent="0" marL="0">
              <a:spcAft>
                <a:spcPts val="1400"/>
              </a:spcAft>
              <a:buNone/>
            </a:pPr>
            <a:r>
              <a:rPr lang="en-US" sz="1300" dirty="0">
                <a:solidFill>
                  <a:srgbClr val="5C6B66"/>
                </a:solidFill>
                <a:latin typeface="Calibri" pitchFamily="34" charset="0"/>
                <a:ea typeface="Calibri" pitchFamily="34" charset="-122"/>
                <a:cs typeface="Calibri" pitchFamily="34" charset="-120"/>
              </a:rPr>
              <a:t>Is it finding what is there, and nothing else.</a:t>
            </a:r>
            <a:endParaRPr lang="en-US" sz="950" dirty="0"/>
          </a:p>
          <a:p>
            <a:pPr algn="l" indent="0" marL="0">
              <a:spcAft>
                <a:spcPts val="100"/>
              </a:spcAft>
              <a:buNone/>
            </a:pPr>
            <a:r>
              <a:rPr lang="en-US" sz="1500" b="1" dirty="0">
                <a:solidFill>
                  <a:srgbClr val="16211E"/>
                </a:solidFill>
                <a:latin typeface="Calibri" pitchFamily="34" charset="0"/>
                <a:ea typeface="Calibri" pitchFamily="34" charset="-122"/>
                <a:cs typeface="Calibri" pitchFamily="34" charset="-120"/>
              </a:rPr>
              <a:t>Nurse agrees</a:t>
            </a:r>
            <a:endParaRPr lang="en-US" sz="950" dirty="0"/>
          </a:p>
          <a:p>
            <a:pPr algn="l" indent="0" marL="0">
              <a:buNone/>
            </a:pPr>
            <a:r>
              <a:rPr lang="en-US" sz="1300" dirty="0">
                <a:solidFill>
                  <a:srgbClr val="5C6B66"/>
                </a:solidFill>
                <a:latin typeface="Calibri" pitchFamily="34" charset="0"/>
                <a:ea typeface="Calibri" pitchFamily="34" charset="-122"/>
                <a:cs typeface="Calibri" pitchFamily="34" charset="-120"/>
              </a:rPr>
              <a:t>Did the nurse's first action match.</a:t>
            </a:r>
            <a:endParaRPr lang="en-US" sz="950" dirty="0"/>
          </a:p>
        </p:txBody>
      </p:sp>
      <p:sp>
        <p:nvSpPr>
          <p:cNvPr id="8" name="S"/>
          <p:cNvSpPr/>
          <p:nvPr/>
        </p:nvSpPr>
        <p:spPr>
          <a:xfrm>
            <a:off x="8458200" y="1325880"/>
            <a:ext cx="3273552" cy="3520440"/>
          </a:xfrm>
          <a:prstGeom prst="roundRect">
            <a:avLst>
              <a:gd name="adj" fmla="val 2793"/>
            </a:avLst>
          </a:prstGeom>
          <a:solidFill>
            <a:srgbClr val="EBE2F8"/>
          </a:solidFill>
          <a:ln w="15875">
            <a:solidFill>
              <a:srgbClr val="5F3AA8"/>
            </a:solidFill>
          </a:ln>
        </p:spPr>
        <p:txBody>
          <a:bodyPr wrap="square" lIns="182880" tIns="146304" rIns="182880" bIns="73152" rtlCol="0" anchor="t"/>
          <a:lstStyle/>
          <a:p>
            <a:pPr algn="l" indent="0" marL="0">
              <a:spcAft>
                <a:spcPts val="600"/>
              </a:spcAft>
              <a:buNone/>
            </a:pPr>
            <a:r>
              <a:rPr lang="en-US" sz="950" b="1" spc="150" kern="0" dirty="0">
                <a:solidFill>
                  <a:srgbClr val="5F3AA8"/>
                </a:solidFill>
                <a:latin typeface="Calibri" pitchFamily="34" charset="0"/>
                <a:ea typeface="Calibri" pitchFamily="34" charset="-122"/>
                <a:cs typeface="Calibri" pitchFamily="34" charset="-120"/>
              </a:rPr>
              <a:t>SPEED AND HEALTH, EVERY PACKET</a:t>
            </a:r>
            <a:endParaRPr lang="en-US" sz="950" dirty="0"/>
          </a:p>
          <a:p>
            <a:pPr algn="l" indent="0" marL="0">
              <a:spcAft>
                <a:spcPts val="100"/>
              </a:spcAft>
              <a:buNone/>
            </a:pPr>
            <a:r>
              <a:rPr lang="en-US" sz="1500" b="1" dirty="0">
                <a:solidFill>
                  <a:srgbClr val="16211E"/>
                </a:solidFill>
                <a:latin typeface="Calibri" pitchFamily="34" charset="0"/>
                <a:ea typeface="Calibri" pitchFamily="34" charset="-122"/>
                <a:cs typeface="Calibri" pitchFamily="34" charset="-120"/>
              </a:rPr>
              <a:t>Seconds per step</a:t>
            </a:r>
            <a:endParaRPr lang="en-US" sz="950" dirty="0"/>
          </a:p>
          <a:p>
            <a:pPr algn="l" indent="0" marL="0">
              <a:spcAft>
                <a:spcPts val="1400"/>
              </a:spcAft>
              <a:buNone/>
            </a:pPr>
            <a:r>
              <a:rPr lang="en-US" sz="1300" dirty="0">
                <a:solidFill>
                  <a:srgbClr val="5C6B66"/>
                </a:solidFill>
                <a:latin typeface="Calibri" pitchFamily="34" charset="0"/>
                <a:ea typeface="Calibri" pitchFamily="34" charset="-122"/>
                <a:cs typeface="Calibri" pitchFamily="34" charset="-120"/>
              </a:rPr>
              <a:t>p95 and p99, step by step.</a:t>
            </a:r>
            <a:endParaRPr lang="en-US" sz="950" dirty="0"/>
          </a:p>
          <a:p>
            <a:pPr algn="l" indent="0" marL="0">
              <a:spcAft>
                <a:spcPts val="100"/>
              </a:spcAft>
              <a:buNone/>
            </a:pPr>
            <a:r>
              <a:rPr lang="en-US" sz="1500" b="1" dirty="0">
                <a:solidFill>
                  <a:srgbClr val="16211E"/>
                </a:solidFill>
                <a:latin typeface="Calibri" pitchFamily="34" charset="0"/>
                <a:ea typeface="Calibri" pitchFamily="34" charset="-122"/>
                <a:cs typeface="Calibri" pitchFamily="34" charset="-120"/>
              </a:rPr>
              <a:t>Step errors</a:t>
            </a:r>
            <a:endParaRPr lang="en-US" sz="950" dirty="0"/>
          </a:p>
          <a:p>
            <a:pPr algn="l" indent="0" marL="0">
              <a:spcAft>
                <a:spcPts val="1400"/>
              </a:spcAft>
              <a:buNone/>
            </a:pPr>
            <a:r>
              <a:rPr lang="en-US" sz="1300" dirty="0">
                <a:solidFill>
                  <a:srgbClr val="5C6B66"/>
                </a:solidFill>
                <a:latin typeface="Calibri" pitchFamily="34" charset="0"/>
                <a:ea typeface="Calibri" pitchFamily="34" charset="-122"/>
                <a:cs typeface="Calibri" pitchFamily="34" charset="-120"/>
              </a:rPr>
              <a:t>A failure shows at once.</a:t>
            </a:r>
            <a:endParaRPr lang="en-US" sz="950" dirty="0"/>
          </a:p>
          <a:p>
            <a:pPr algn="l" indent="0" marL="0">
              <a:spcAft>
                <a:spcPts val="100"/>
              </a:spcAft>
              <a:buNone/>
            </a:pPr>
            <a:r>
              <a:rPr lang="en-US" sz="1500" b="1" dirty="0">
                <a:solidFill>
                  <a:srgbClr val="16211E"/>
                </a:solidFill>
                <a:latin typeface="Calibri" pitchFamily="34" charset="0"/>
                <a:ea typeface="Calibri" pitchFamily="34" charset="-122"/>
                <a:cs typeface="Calibri" pitchFamily="34" charset="-120"/>
              </a:rPr>
              <a:t>Reads that disagree</a:t>
            </a:r>
            <a:endParaRPr lang="en-US" sz="950" dirty="0"/>
          </a:p>
          <a:p>
            <a:pPr algn="l" indent="0" marL="0">
              <a:spcAft>
                <a:spcPts val="1400"/>
              </a:spcAft>
              <a:buNone/>
            </a:pPr>
            <a:r>
              <a:rPr lang="en-US" sz="1300" dirty="0">
                <a:solidFill>
                  <a:srgbClr val="5C6B66"/>
                </a:solidFill>
                <a:latin typeface="Calibri" pitchFamily="34" charset="0"/>
                <a:ea typeface="Calibri" pitchFamily="34" charset="-122"/>
                <a:cs typeface="Calibri" pitchFamily="34" charset="-120"/>
              </a:rPr>
              <a:t>The AI changing its mind.</a:t>
            </a:r>
            <a:endParaRPr lang="en-US" sz="950" dirty="0"/>
          </a:p>
          <a:p>
            <a:pPr algn="l" indent="0" marL="0">
              <a:spcAft>
                <a:spcPts val="100"/>
              </a:spcAft>
              <a:buNone/>
            </a:pPr>
            <a:r>
              <a:rPr lang="en-US" sz="1500" b="1" dirty="0">
                <a:solidFill>
                  <a:srgbClr val="16211E"/>
                </a:solidFill>
                <a:latin typeface="Calibri" pitchFamily="34" charset="0"/>
                <a:ea typeface="Calibri" pitchFamily="34" charset="-122"/>
                <a:cs typeface="Calibri" pitchFamily="34" charset="-120"/>
              </a:rPr>
              <a:t>Cost per packet</a:t>
            </a:r>
            <a:endParaRPr lang="en-US" sz="950" dirty="0"/>
          </a:p>
          <a:p>
            <a:pPr algn="l" indent="0" marL="0">
              <a:spcAft>
                <a:spcPts val="1400"/>
              </a:spcAft>
              <a:buNone/>
            </a:pPr>
            <a:r>
              <a:rPr lang="en-US" sz="1300" dirty="0">
                <a:solidFill>
                  <a:srgbClr val="5C6B66"/>
                </a:solidFill>
                <a:latin typeface="Calibri" pitchFamily="34" charset="0"/>
                <a:ea typeface="Calibri" pitchFamily="34" charset="-122"/>
                <a:cs typeface="Calibri" pitchFamily="34" charset="-120"/>
              </a:rPr>
              <a:t>Tokens in and out.</a:t>
            </a:r>
            <a:endParaRPr lang="en-US" sz="950" dirty="0"/>
          </a:p>
          <a:p>
            <a:pPr algn="l" indent="0" marL="0">
              <a:spcAft>
                <a:spcPts val="100"/>
              </a:spcAft>
              <a:buNone/>
            </a:pPr>
            <a:r>
              <a:rPr lang="en-US" sz="1500" b="1" dirty="0">
                <a:solidFill>
                  <a:srgbClr val="16211E"/>
                </a:solidFill>
                <a:latin typeface="Calibri" pitchFamily="34" charset="0"/>
                <a:ea typeface="Calibri" pitchFamily="34" charset="-122"/>
                <a:cs typeface="Calibri" pitchFamily="34" charset="-120"/>
              </a:rPr>
              <a:t>Cases with no policy</a:t>
            </a:r>
            <a:endParaRPr lang="en-US" sz="950" dirty="0"/>
          </a:p>
          <a:p>
            <a:pPr algn="l" indent="0" marL="0">
              <a:buNone/>
            </a:pPr>
            <a:r>
              <a:rPr lang="en-US" sz="1300" dirty="0">
                <a:solidFill>
                  <a:srgbClr val="5C6B66"/>
                </a:solidFill>
                <a:latin typeface="Calibri" pitchFamily="34" charset="0"/>
                <a:ea typeface="Calibri" pitchFamily="34" charset="-122"/>
                <a:cs typeface="Calibri" pitchFamily="34" charset="-120"/>
              </a:rPr>
              <a:t>Demand for a new service.</a:t>
            </a:r>
            <a:endParaRPr lang="en-US" sz="950" dirty="0"/>
          </a:p>
        </p:txBody>
      </p:sp>
      <p:sp>
        <p:nvSpPr>
          <p:cNvPr id="9" name="Proof"/>
          <p:cNvSpPr/>
          <p:nvPr/>
        </p:nvSpPr>
        <p:spPr>
          <a:xfrm>
            <a:off x="457200" y="4983480"/>
            <a:ext cx="11274552" cy="777240"/>
          </a:xfrm>
          <a:prstGeom prst="roundRect">
            <a:avLst>
              <a:gd name="adj" fmla="val 9412"/>
            </a:avLst>
          </a:prstGeom>
          <a:solidFill>
            <a:srgbClr val="FCEFD0"/>
          </a:solidFill>
          <a:ln w="9525">
            <a:solidFill>
              <a:srgbClr val="8A5A00"/>
            </a:solidFill>
          </a:ln>
        </p:spPr>
        <p:txBody>
          <a:bodyPr wrap="square" lIns="182880" tIns="45720" rIns="182880" bIns="45720" rtlCol="0" anchor="ctr"/>
          <a:lstStyle/>
          <a:p>
            <a:pPr algn="l" indent="0" marL="0">
              <a:buNone/>
            </a:pPr>
            <a:r>
              <a:rPr lang="en-US" sz="1250" b="1" dirty="0">
                <a:solidFill>
                  <a:srgbClr val="8A5A00"/>
                </a:solidFill>
                <a:latin typeface="Calibri" pitchFamily="34" charset="0"/>
                <a:ea typeface="Calibri" pitchFamily="34" charset="-122"/>
                <a:cs typeface="Calibri" pitchFamily="34" charset="-120"/>
              </a:rPr>
              <a:t>Proof so far, on made-up packets  </a:t>
            </a:r>
            <a:pPr algn="l" indent="0" marL="0">
              <a:buNone/>
            </a:pPr>
            <a:r>
              <a:rPr lang="en-US" sz="1250" dirty="0">
                <a:solidFill>
                  <a:srgbClr val="16211E"/>
                </a:solidFill>
                <a:latin typeface="Calibri" pitchFamily="34" charset="0"/>
                <a:ea typeface="Calibri" pitchFamily="34" charset="-122"/>
                <a:cs typeface="Calibri" pitchFamily="34" charset="-120"/>
              </a:rPr>
              <a:t>On 40 hard packets from another author, recall rose from 57% to 86%, and wrong approvals fell from 12 to 4. The standard nine were 45 of 45 right. I tuned on that set, so a fresh set is the final test.</a:t>
            </a:r>
            <a:endParaRPr lang="en-US" sz="1250" dirty="0"/>
          </a:p>
        </p:txBody>
      </p:sp>
      <p:sp>
        <p:nvSpPr>
          <p:cNvPr id="10" name="c1"/>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The group that matters is cases that need a person. I optimize for recall: catch every one. A miss is a wrong approval, the dangerous failure.</a:t>
            </a:r>
            <a:endParaRPr lang="en-US" sz="1600" dirty="0"/>
          </a:p>
        </p:txBody>
      </p:sp>
      <p:sp>
        <p:nvSpPr>
          <p:cNvPr id="11" name="c2"/>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Quality, every run: recall, wrong approvals, extra flags, details found and made up, and whether the nurse agrees.</a:t>
            </a:r>
            <a:endParaRPr lang="en-US" sz="1600" dirty="0"/>
          </a:p>
        </p:txBody>
      </p:sp>
      <p:sp>
        <p:nvSpPr>
          <p:cNvPr id="12" name="c3"/>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Speed and health, every packet, in Honeycomb: time per step, errors, reads that disagree, cost, and cases with no policy.</a:t>
            </a:r>
            <a:endParaRPr lang="en-US" sz="1600" dirty="0"/>
          </a:p>
        </p:txBody>
      </p:sp>
      <p:sp>
        <p:nvSpPr>
          <p:cNvPr id="13" name="c4"/>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600" dirty="0">
                <a:solidFill>
                  <a:srgbClr val="16211E"/>
                </a:solidFill>
                <a:latin typeface="Calibri" pitchFamily="34" charset="0"/>
                <a:ea typeface="Calibri" pitchFamily="34" charset="-122"/>
                <a:cs typeface="Calibri" pitchFamily="34" charset="-120"/>
              </a:rPr>
              <a:t>So far this is proof on made-up packets. The real test is real cases labeled by senior nurses.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5" presetID="10" presetClass="exit" presetSubtype="0" fill="hold" grpId="0" nodeType="clickEffect">
                                  <p:stCondLst>
                                    <p:cond delay="0"/>
                                  </p:stCondLst>
                                  <p:childTnLst>
                                    <p:animEffect transition="out" filter="fade">
                                      <p:cBhvr>
                                        <p:cTn id="13" dur="300"/>
                                        <p:tgtEl>
                                          <p:spTgt spid="10"/>
                                        </p:tgtEl>
                                      </p:cBhvr>
                                    </p:animEffect>
                                    <p:set>
                                      <p:cBhvr>
                                        <p:cTn id="14" dur="1" fill="hold">
                                          <p:stCondLst>
                                            <p:cond delay="299"/>
                                          </p:stCondLst>
                                        </p:cTn>
                                        <p:tgtEl>
                                          <p:spTgt spid="10"/>
                                        </p:tgtEl>
                                        <p:attrNameLst>
                                          <p:attrName>style.visibility</p:attrName>
                                        </p:attrNameLst>
                                      </p:cBhvr>
                                      <p:to>
                                        <p:strVal val="hidden"/>
                                      </p:to>
                                    </p:set>
                                  </p:childTnLst>
                                </p:cTn>
                              </p:par>
                              <p:par>
                                <p:cTn id="18" presetID="10" presetClass="entr" presetSubtype="0" fill="hold" grpId="0" nodeType="withEffect">
                                  <p:stCondLst>
                                    <p:cond delay="3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21" presetID="10" presetClass="entr" presetSubtype="0" fill="hold" grpId="0" nodeType="withEffect">
                                  <p:stCondLst>
                                    <p:cond delay="30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6" presetID="10" presetClass="exit" presetSubtype="0" fill="hold" grpId="0" nodeType="clickEffect">
                                  <p:stCondLst>
                                    <p:cond delay="0"/>
                                  </p:stCondLst>
                                  <p:childTnLst>
                                    <p:animEffect transition="out" filter="fade">
                                      <p:cBhvr>
                                        <p:cTn id="24" dur="300"/>
                                        <p:tgtEl>
                                          <p:spTgt spid="11"/>
                                        </p:tgtEl>
                                      </p:cBhvr>
                                    </p:animEffect>
                                    <p:set>
                                      <p:cBhvr>
                                        <p:cTn id="25" dur="1" fill="hold">
                                          <p:stCondLst>
                                            <p:cond delay="299"/>
                                          </p:stCondLst>
                                        </p:cTn>
                                        <p:tgtEl>
                                          <p:spTgt spid="11"/>
                                        </p:tgtEl>
                                        <p:attrNameLst>
                                          <p:attrName>style.visibility</p:attrName>
                                        </p:attrNameLst>
                                      </p:cBhvr>
                                      <p:to>
                                        <p:strVal val="hidden"/>
                                      </p:to>
                                    </p:set>
                                  </p:childTnLst>
                                </p:cTn>
                              </p:par>
                              <p:par>
                                <p:cTn id="29" presetID="10" presetClass="entr" presetSubtype="0" fill="hold" grpId="0" nodeType="withEffect">
                                  <p:stCondLst>
                                    <p:cond delay="30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par>
                                <p:cTn id="32" presetID="10" presetClass="entr" presetSubtype="0" fill="hold" grpId="0" nodeType="withEffect">
                                  <p:stCondLst>
                                    <p:cond delay="3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7" presetID="10" presetClass="exit" presetSubtype="0" fill="hold" grpId="0" nodeType="clickEffect">
                                  <p:stCondLst>
                                    <p:cond delay="0"/>
                                  </p:stCondLst>
                                  <p:childTnLst>
                                    <p:animEffect transition="out" filter="fade">
                                      <p:cBhvr>
                                        <p:cTn id="35" dur="300"/>
                                        <p:tgtEl>
                                          <p:spTgt spid="12"/>
                                        </p:tgtEl>
                                      </p:cBhvr>
                                    </p:animEffect>
                                    <p:set>
                                      <p:cBhvr>
                                        <p:cTn id="36" dur="1" fill="hold">
                                          <p:stCondLst>
                                            <p:cond delay="299"/>
                                          </p:stCondLst>
                                        </p:cTn>
                                        <p:tgtEl>
                                          <p:spTgt spid="12"/>
                                        </p:tgtEl>
                                        <p:attrNameLst>
                                          <p:attrName>style.visibility</p:attrName>
                                        </p:attrNameLst>
                                      </p:cBhvr>
                                      <p:to>
                                        <p:strVal val="hidden"/>
                                      </p:to>
                                    </p:set>
                                  </p:childTnLst>
                                </p:cTn>
                              </p:par>
                              <p:par>
                                <p:cTn id="40" presetID="10" presetClass="entr" presetSubtype="0" fill="hold" grpId="0" nodeType="withEffect">
                                  <p:stCondLst>
                                    <p:cond delay="30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childTnLst>
                                </p:cTn>
                              </p:par>
                              <p:par>
                                <p:cTn id="43" presetID="10" presetClass="entr" presetSubtype="0" fill="hold" grpId="0" nodeType="withEffect">
                                  <p:stCondLst>
                                    <p:cond delay="30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7" grpId="0" animBg="1"/>
      <p:bldP spid="11" grpId="0"/>
      <p:bldP spid="8" grpId="0" animBg="1"/>
      <p:bldP spid="12" grpId="0"/>
      <p:bldP spid="9" grpId="0" animBg="1"/>
      <p:bldP spid="1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Evals and observability</dc:title>
  <dc:subject>PptxGenJS Presentation</dc:subject>
  <dc:creator>Nisha Mishra</dc:creator>
  <cp:lastModifiedBy>Nisha Mishra</cp:lastModifiedBy>
  <cp:revision>1</cp:revision>
  <dcterms:created xsi:type="dcterms:W3CDTF">2026-10-04T22:55:30Z</dcterms:created>
  <dcterms:modified xsi:type="dcterms:W3CDTF">2026-10-04T22:55:30Z</dcterms:modified>
</cp:coreProperties>
</file>