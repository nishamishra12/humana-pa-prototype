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slide. Click once per point. Finish your talking point, then click.
Click 1: Here is why this is not just our problem. Since January 2026, a decision is due in 72 hours for an expedited request and 7 calendar days for a standard one. That means an approval or a denial. Every denial needs a specific reason. And plans must publish their prior authorization results every year. The first report was due in March.
Click 2: And a pend does not stop that clock. A plan can extend by up to 14 calendar days, but only if it justifies the delay as in the member's interest and tells the member in writing. So every avoidable pend is a documented delay, not a quiet pause.
Click 3: Then in January 2027, about three months from now, four data interfaces go live. One of them, the Patient Access API, must show the member where a prior authorization stands. The member will finally have a window into the process.
Click 4: So these are not just frictions we feel inside the process. Federal rules now set the clock, ask for the reason, and make the results public. Getting every case to a decision inside that clock matters more than ever.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eyebrow"/>
          <p:cNvSpPr txBox="1"/>
          <p:nvPr/>
        </p:nvSpPr>
        <p:spPr>
          <a:xfrm>
            <a:off x="457200" y="274320"/>
            <a:ext cx="3657600" cy="256032"/>
          </a:xfrm>
          <a:prstGeom prst="rect">
            <a:avLst/>
          </a:prstGeom>
          <a:noFill/>
          <a:ln/>
        </p:spPr>
        <p:txBody>
          <a:bodyPr wrap="square" lIns="0" tIns="0" rIns="0" bIns="0" rtlCol="0" anchor="t"/>
          <a:lstStyle/>
          <a:p>
            <a:pPr algn="l" indent="0" marL="0">
              <a:buNone/>
            </a:pPr>
            <a:r>
              <a:rPr lang="en-US" sz="1100" b="1" spc="300" kern="0" dirty="0">
                <a:solidFill>
                  <a:srgbClr val="1F6F5C"/>
                </a:solidFill>
                <a:latin typeface="Calibri" pitchFamily="34" charset="0"/>
                <a:ea typeface="Calibri" pitchFamily="34" charset="-122"/>
                <a:cs typeface="Calibri" pitchFamily="34" charset="-120"/>
              </a:rPr>
              <a:t>THE RULES</a:t>
            </a:r>
            <a:endParaRPr lang="en-US" sz="1100" dirty="0"/>
          </a:p>
        </p:txBody>
      </p:sp>
      <p:sp>
        <p:nvSpPr>
          <p:cNvPr id="3" name="title"/>
          <p:cNvSpPr txBox="1"/>
          <p:nvPr/>
        </p:nvSpPr>
        <p:spPr>
          <a:xfrm>
            <a:off x="457200" y="502920"/>
            <a:ext cx="7863840" cy="685800"/>
          </a:xfrm>
          <a:prstGeom prst="rect">
            <a:avLst/>
          </a:prstGeom>
          <a:noFill/>
          <a:ln/>
        </p:spPr>
        <p:txBody>
          <a:bodyPr wrap="square" lIns="0" tIns="0" rIns="0" bIns="0" rtlCol="0" anchor="ctr"/>
          <a:lstStyle/>
          <a:p>
            <a:pPr algn="l" indent="0" marL="0">
              <a:buNone/>
            </a:pPr>
            <a:r>
              <a:rPr lang="en-US" sz="2600" dirty="0">
                <a:solidFill>
                  <a:srgbClr val="16211E"/>
                </a:solidFill>
                <a:latin typeface="Cambria" pitchFamily="34" charset="0"/>
                <a:ea typeface="Cambria" pitchFamily="34" charset="-122"/>
                <a:cs typeface="Cambria" pitchFamily="34" charset="-120"/>
              </a:rPr>
              <a:t>Federal rules now put a clock on all of this.</a:t>
            </a:r>
            <a:endParaRPr lang="en-US" sz="2600" dirty="0"/>
          </a:p>
        </p:txBody>
      </p:sp>
      <p:sp>
        <p:nvSpPr>
          <p:cNvPr id="4" name="sub"/>
          <p:cNvSpPr txBox="1"/>
          <p:nvPr/>
        </p:nvSpPr>
        <p:spPr>
          <a:xfrm>
            <a:off x="7589520" y="502920"/>
            <a:ext cx="4142232" cy="685800"/>
          </a:xfrm>
          <a:prstGeom prst="rect">
            <a:avLst/>
          </a:prstGeom>
          <a:noFill/>
          <a:ln/>
        </p:spPr>
        <p:txBody>
          <a:bodyPr wrap="square" lIns="0" tIns="0" rIns="0" bIns="0" rtlCol="0" anchor="ctr"/>
          <a:lstStyle/>
          <a:p>
            <a:pPr algn="r" indent="0" marL="0">
              <a:buNone/>
            </a:pPr>
            <a:r>
              <a:rPr lang="en-US" sz="1300" dirty="0">
                <a:solidFill>
                  <a:srgbClr val="5C6B66"/>
                </a:solidFill>
                <a:latin typeface="Calibri" pitchFamily="34" charset="0"/>
                <a:ea typeface="Calibri" pitchFamily="34" charset="-122"/>
                <a:cs typeface="Calibri" pitchFamily="34" charset="-120"/>
              </a:rPr>
              <a:t>Applies to Medicare Advantage plans, including Humana's.</a:t>
            </a:r>
            <a:endParaRPr lang="en-US" sz="1300" dirty="0"/>
          </a:p>
        </p:txBody>
      </p:sp>
      <p:sp>
        <p:nvSpPr>
          <p:cNvPr id="5" name="footer"/>
          <p:cNvSpPr txBox="1"/>
          <p:nvPr/>
        </p:nvSpPr>
        <p:spPr>
          <a:xfrm>
            <a:off x="457200" y="6492240"/>
            <a:ext cx="11274552" cy="228600"/>
          </a:xfrm>
          <a:prstGeom prst="rect">
            <a:avLst/>
          </a:prstGeom>
          <a:noFill/>
          <a:ln/>
        </p:spPr>
        <p:txBody>
          <a:bodyPr wrap="square" lIns="0" tIns="0" rIns="0" bIns="0" rtlCol="0" anchor="t"/>
          <a:lstStyle/>
          <a:p>
            <a:pPr algn="l" indent="0" marL="0">
              <a:buNone/>
            </a:pPr>
            <a:r>
              <a:rPr lang="en-US" sz="900" dirty="0">
                <a:solidFill>
                  <a:srgbClr val="5C6B66"/>
                </a:solidFill>
                <a:latin typeface="Calibri" pitchFamily="34" charset="0"/>
                <a:ea typeface="Calibri" pitchFamily="34" charset="-122"/>
                <a:cs typeface="Calibri" pitchFamily="34" charset="-120"/>
              </a:rPr>
              <a:t>Sources: CMS-0057-F final rule and fact sheet (cms.gov). 42 CFR 422.568(b).</a:t>
            </a:r>
            <a:endParaRPr lang="en-US" sz="900" dirty="0"/>
          </a:p>
        </p:txBody>
      </p:sp>
      <p:sp>
        <p:nvSpPr>
          <p:cNvPr id="6" name="Fed1"/>
          <p:cNvSpPr/>
          <p:nvPr/>
        </p:nvSpPr>
        <p:spPr>
          <a:xfrm>
            <a:off x="457200" y="1463040"/>
            <a:ext cx="3657600" cy="3611880"/>
          </a:xfrm>
          <a:prstGeom prst="roundRect">
            <a:avLst>
              <a:gd name="adj" fmla="val 2025"/>
            </a:avLst>
          </a:prstGeom>
          <a:solidFill>
            <a:srgbClr val="FFFFFF"/>
          </a:solidFill>
          <a:ln w="22225">
            <a:solidFill>
              <a:srgbClr val="B8452F"/>
            </a:solidFill>
          </a:ln>
        </p:spPr>
        <p:txBody>
          <a:bodyPr wrap="square" lIns="201168" tIns="182880" rIns="201168" bIns="109728" rtlCol="0" anchor="ctr"/>
          <a:lstStyle/>
          <a:p>
            <a:pPr algn="l" indent="0" marL="0">
              <a:spcAft>
                <a:spcPts val="800"/>
              </a:spcAft>
              <a:buNone/>
            </a:pPr>
            <a:r>
              <a:rPr lang="en-US" sz="1050" b="1" spc="200" kern="0" dirty="0">
                <a:solidFill>
                  <a:srgbClr val="B8452F"/>
                </a:solidFill>
                <a:latin typeface="Calibri" pitchFamily="34" charset="0"/>
                <a:ea typeface="Calibri" pitchFamily="34" charset="-122"/>
                <a:cs typeface="Calibri" pitchFamily="34" charset="-120"/>
              </a:rPr>
              <a:t>IN EFFECT SINCE JANUARY 2026</a:t>
            </a:r>
            <a:endParaRPr lang="en-US" sz="1050" dirty="0"/>
          </a:p>
          <a:p>
            <a:pPr algn="l" indent="0" marL="0">
              <a:buNone/>
            </a:pPr>
            <a:r>
              <a:rPr lang="en-US" sz="4000" dirty="0">
                <a:solidFill>
                  <a:srgbClr val="B8452F"/>
                </a:solidFill>
                <a:latin typeface="Cambria" pitchFamily="34" charset="0"/>
                <a:ea typeface="Cambria" pitchFamily="34" charset="-122"/>
                <a:cs typeface="Cambria" pitchFamily="34" charset="-120"/>
              </a:rPr>
              <a:t>72 hours</a:t>
            </a:r>
            <a:endParaRPr lang="en-US" sz="1050" dirty="0"/>
          </a:p>
          <a:p>
            <a:pPr algn="l" indent="0" marL="0">
              <a:spcAft>
                <a:spcPts val="1000"/>
              </a:spcAft>
              <a:buNone/>
            </a:pPr>
            <a:r>
              <a:rPr lang="en-US" sz="1400" b="1" dirty="0">
                <a:solidFill>
                  <a:srgbClr val="16211E"/>
                </a:solidFill>
                <a:latin typeface="Calibri" pitchFamily="34" charset="0"/>
                <a:ea typeface="Calibri" pitchFamily="34" charset="-122"/>
                <a:cs typeface="Calibri" pitchFamily="34" charset="-120"/>
              </a:rPr>
              <a:t>for expedited requests. Standard: 7 calendar days.</a:t>
            </a:r>
            <a:endParaRPr lang="en-US" sz="1050" dirty="0"/>
          </a:p>
          <a:p>
            <a:pPr algn="l" marL="177800" indent="-177800">
              <a:spcAft>
                <a:spcPts val="600"/>
              </a:spcAft>
              <a:buSzPct val="100000"/>
              <a:buChar char="•"/>
            </a:pPr>
            <a:r>
              <a:rPr lang="en-US" sz="1350" dirty="0">
                <a:solidFill>
                  <a:srgbClr val="16211E"/>
                </a:solidFill>
                <a:latin typeface="Calibri" pitchFamily="34" charset="0"/>
                <a:ea typeface="Calibri" pitchFamily="34" charset="-122"/>
                <a:cs typeface="Calibri" pitchFamily="34" charset="-120"/>
              </a:rPr>
              <a:t>An approval or a denial. Not a pend.</a:t>
            </a:r>
            <a:endParaRPr lang="en-US" sz="1050" dirty="0"/>
          </a:p>
          <a:p>
            <a:pPr algn="l" marL="177800" indent="-177800">
              <a:spcAft>
                <a:spcPts val="600"/>
              </a:spcAft>
              <a:buSzPct val="100000"/>
              <a:buChar char="•"/>
            </a:pPr>
            <a:r>
              <a:rPr lang="en-US" sz="1350" dirty="0">
                <a:solidFill>
                  <a:srgbClr val="16211E"/>
                </a:solidFill>
                <a:latin typeface="Calibri" pitchFamily="34" charset="0"/>
                <a:ea typeface="Calibri" pitchFamily="34" charset="-122"/>
                <a:cs typeface="Calibri" pitchFamily="34" charset="-120"/>
              </a:rPr>
              <a:t>A specific reason on every denial.</a:t>
            </a:r>
            <a:endParaRPr lang="en-US" sz="1050" dirty="0"/>
          </a:p>
          <a:p>
            <a:pPr algn="l" marL="177800" indent="-177800">
              <a:spcAft>
                <a:spcPts val="600"/>
              </a:spcAft>
              <a:buSzPct val="100000"/>
              <a:buChar char="•"/>
            </a:pPr>
            <a:r>
              <a:rPr lang="en-US" sz="1350" dirty="0">
                <a:solidFill>
                  <a:srgbClr val="16211E"/>
                </a:solidFill>
                <a:latin typeface="Calibri" pitchFamily="34" charset="0"/>
                <a:ea typeface="Calibri" pitchFamily="34" charset="-122"/>
                <a:cs typeface="Calibri" pitchFamily="34" charset="-120"/>
              </a:rPr>
              <a:t>Results published every year. The first report was due March 31, 2026.</a:t>
            </a:r>
            <a:endParaRPr lang="en-US" sz="1050" dirty="0"/>
          </a:p>
        </p:txBody>
      </p:sp>
      <p:sp>
        <p:nvSpPr>
          <p:cNvPr id="7" name="Fed2"/>
          <p:cNvSpPr/>
          <p:nvPr/>
        </p:nvSpPr>
        <p:spPr>
          <a:xfrm>
            <a:off x="4265676" y="1463040"/>
            <a:ext cx="3657600" cy="3611880"/>
          </a:xfrm>
          <a:prstGeom prst="roundRect">
            <a:avLst>
              <a:gd name="adj" fmla="val 2025"/>
            </a:avLst>
          </a:prstGeom>
          <a:solidFill>
            <a:srgbClr val="FFFFFF"/>
          </a:solidFill>
          <a:ln w="22225">
            <a:solidFill>
              <a:srgbClr val="8A5A00"/>
            </a:solidFill>
          </a:ln>
        </p:spPr>
        <p:txBody>
          <a:bodyPr wrap="square" lIns="201168" tIns="182880" rIns="201168" bIns="109728" rtlCol="0" anchor="ctr"/>
          <a:lstStyle/>
          <a:p>
            <a:pPr algn="l" indent="0" marL="0">
              <a:spcAft>
                <a:spcPts val="800"/>
              </a:spcAft>
              <a:buNone/>
            </a:pPr>
            <a:r>
              <a:rPr lang="en-US" sz="1050" b="1" spc="200" kern="0" dirty="0">
                <a:solidFill>
                  <a:srgbClr val="8A5A00"/>
                </a:solidFill>
                <a:latin typeface="Calibri" pitchFamily="34" charset="0"/>
                <a:ea typeface="Calibri" pitchFamily="34" charset="-122"/>
                <a:cs typeface="Calibri" pitchFamily="34" charset="-120"/>
              </a:rPr>
              <a:t>THE RULE ON PENDING</a:t>
            </a:r>
            <a:endParaRPr lang="en-US" sz="1050" dirty="0"/>
          </a:p>
          <a:p>
            <a:pPr algn="l" indent="0" marL="0">
              <a:buNone/>
            </a:pPr>
            <a:r>
              <a:rPr lang="en-US" sz="4000" dirty="0">
                <a:solidFill>
                  <a:srgbClr val="8A5A00"/>
                </a:solidFill>
                <a:latin typeface="Cambria" pitchFamily="34" charset="0"/>
                <a:ea typeface="Cambria" pitchFamily="34" charset="-122"/>
                <a:cs typeface="Cambria" pitchFamily="34" charset="-120"/>
              </a:rPr>
              <a:t>+14 days</a:t>
            </a:r>
            <a:endParaRPr lang="en-US" sz="1050" dirty="0"/>
          </a:p>
          <a:p>
            <a:pPr algn="l" indent="0" marL="0">
              <a:spcAft>
                <a:spcPts val="1000"/>
              </a:spcAft>
              <a:buNone/>
            </a:pPr>
            <a:r>
              <a:rPr lang="en-US" sz="1400" b="1" dirty="0">
                <a:solidFill>
                  <a:srgbClr val="16211E"/>
                </a:solidFill>
                <a:latin typeface="Calibri" pitchFamily="34" charset="0"/>
                <a:ea typeface="Calibri" pitchFamily="34" charset="-122"/>
                <a:cs typeface="Calibri" pitchFamily="34" charset="-120"/>
              </a:rPr>
              <a:t>the most a pend can add.</a:t>
            </a:r>
            <a:endParaRPr lang="en-US" sz="1050" dirty="0"/>
          </a:p>
          <a:p>
            <a:pPr algn="l" marL="177800" indent="-177800">
              <a:spcAft>
                <a:spcPts val="600"/>
              </a:spcAft>
              <a:buSzPct val="100000"/>
              <a:buChar char="•"/>
            </a:pPr>
            <a:r>
              <a:rPr lang="en-US" sz="1350" dirty="0">
                <a:solidFill>
                  <a:srgbClr val="16211E"/>
                </a:solidFill>
                <a:latin typeface="Calibri" pitchFamily="34" charset="0"/>
                <a:ea typeface="Calibri" pitchFamily="34" charset="-122"/>
                <a:cs typeface="Calibri" pitchFamily="34" charset="-120"/>
              </a:rPr>
              <a:t>A pend does not stop the clock.</a:t>
            </a:r>
            <a:endParaRPr lang="en-US" sz="1050" dirty="0"/>
          </a:p>
          <a:p>
            <a:pPr algn="l" marL="177800" indent="-177800">
              <a:spcAft>
                <a:spcPts val="600"/>
              </a:spcAft>
              <a:buSzPct val="100000"/>
              <a:buChar char="•"/>
            </a:pPr>
            <a:r>
              <a:rPr lang="en-US" sz="1350" dirty="0">
                <a:solidFill>
                  <a:srgbClr val="16211E"/>
                </a:solidFill>
                <a:latin typeface="Calibri" pitchFamily="34" charset="0"/>
                <a:ea typeface="Calibri" pitchFamily="34" charset="-122"/>
                <a:cs typeface="Calibri" pitchFamily="34" charset="-120"/>
              </a:rPr>
              <a:t>The plan must justify the delay as in the member's interest.</a:t>
            </a:r>
            <a:endParaRPr lang="en-US" sz="1050" dirty="0"/>
          </a:p>
          <a:p>
            <a:pPr algn="l" marL="177800" indent="-177800">
              <a:spcAft>
                <a:spcPts val="600"/>
              </a:spcAft>
              <a:buSzPct val="100000"/>
              <a:buChar char="•"/>
            </a:pPr>
            <a:r>
              <a:rPr lang="en-US" sz="1350" dirty="0">
                <a:solidFill>
                  <a:srgbClr val="16211E"/>
                </a:solidFill>
                <a:latin typeface="Calibri" pitchFamily="34" charset="0"/>
                <a:ea typeface="Calibri" pitchFamily="34" charset="-122"/>
                <a:cs typeface="Calibri" pitchFamily="34" charset="-120"/>
              </a:rPr>
              <a:t>And tell the member in writing.</a:t>
            </a:r>
            <a:endParaRPr lang="en-US" sz="1050" dirty="0"/>
          </a:p>
        </p:txBody>
      </p:sp>
      <p:sp>
        <p:nvSpPr>
          <p:cNvPr id="8" name="Fed3"/>
          <p:cNvSpPr/>
          <p:nvPr/>
        </p:nvSpPr>
        <p:spPr>
          <a:xfrm>
            <a:off x="8074152" y="1463040"/>
            <a:ext cx="3657600" cy="3611880"/>
          </a:xfrm>
          <a:prstGeom prst="roundRect">
            <a:avLst>
              <a:gd name="adj" fmla="val 2025"/>
            </a:avLst>
          </a:prstGeom>
          <a:solidFill>
            <a:srgbClr val="FFFFFF"/>
          </a:solidFill>
          <a:ln w="22225">
            <a:solidFill>
              <a:srgbClr val="5F3AA8"/>
            </a:solidFill>
          </a:ln>
        </p:spPr>
        <p:txBody>
          <a:bodyPr wrap="square" lIns="201168" tIns="182880" rIns="201168" bIns="109728" rtlCol="0" anchor="ctr"/>
          <a:lstStyle/>
          <a:p>
            <a:pPr algn="l" indent="0" marL="0">
              <a:spcAft>
                <a:spcPts val="800"/>
              </a:spcAft>
              <a:buNone/>
            </a:pPr>
            <a:r>
              <a:rPr lang="en-US" sz="1050" b="1" spc="200" kern="0" dirty="0">
                <a:solidFill>
                  <a:srgbClr val="5F3AA8"/>
                </a:solidFill>
                <a:latin typeface="Calibri" pitchFamily="34" charset="0"/>
                <a:ea typeface="Calibri" pitchFamily="34" charset="-122"/>
                <a:cs typeface="Calibri" pitchFamily="34" charset="-120"/>
              </a:rPr>
              <a:t>COMING JANUARY 2027</a:t>
            </a:r>
            <a:endParaRPr lang="en-US" sz="1050" dirty="0"/>
          </a:p>
          <a:p>
            <a:pPr algn="l" indent="0" marL="0">
              <a:buNone/>
            </a:pPr>
            <a:r>
              <a:rPr lang="en-US" sz="4000" dirty="0">
                <a:solidFill>
                  <a:srgbClr val="5F3AA8"/>
                </a:solidFill>
                <a:latin typeface="Cambria" pitchFamily="34" charset="0"/>
                <a:ea typeface="Cambria" pitchFamily="34" charset="-122"/>
                <a:cs typeface="Cambria" pitchFamily="34" charset="-120"/>
              </a:rPr>
              <a:t>Jan 2027</a:t>
            </a:r>
            <a:endParaRPr lang="en-US" sz="1050" dirty="0"/>
          </a:p>
          <a:p>
            <a:pPr algn="l" indent="0" marL="0">
              <a:spcAft>
                <a:spcPts val="1000"/>
              </a:spcAft>
              <a:buNone/>
            </a:pPr>
            <a:r>
              <a:rPr lang="en-US" sz="1400" b="1" dirty="0">
                <a:solidFill>
                  <a:srgbClr val="16211E"/>
                </a:solidFill>
                <a:latin typeface="Calibri" pitchFamily="34" charset="0"/>
                <a:ea typeface="Calibri" pitchFamily="34" charset="-122"/>
                <a:cs typeface="Calibri" pitchFamily="34" charset="-120"/>
              </a:rPr>
              <a:t>the member gets a window. About three months from now.</a:t>
            </a:r>
            <a:endParaRPr lang="en-US" sz="1050" dirty="0"/>
          </a:p>
          <a:p>
            <a:pPr algn="l" marL="177800" indent="-177800">
              <a:spcAft>
                <a:spcPts val="600"/>
              </a:spcAft>
              <a:buSzPct val="100000"/>
              <a:buChar char="•"/>
            </a:pPr>
            <a:r>
              <a:rPr lang="en-US" sz="1350" dirty="0">
                <a:solidFill>
                  <a:srgbClr val="16211E"/>
                </a:solidFill>
                <a:latin typeface="Calibri" pitchFamily="34" charset="0"/>
                <a:ea typeface="Calibri" pitchFamily="34" charset="-122"/>
                <a:cs typeface="Calibri" pitchFamily="34" charset="-120"/>
              </a:rPr>
              <a:t>Four data interfaces (FHIR APIs) go live.</a:t>
            </a:r>
            <a:endParaRPr lang="en-US" sz="1050" dirty="0"/>
          </a:p>
          <a:p>
            <a:pPr algn="l" marL="177800" indent="-177800">
              <a:spcAft>
                <a:spcPts val="600"/>
              </a:spcAft>
              <a:buSzPct val="100000"/>
              <a:buChar char="•"/>
            </a:pPr>
            <a:r>
              <a:rPr lang="en-US" sz="1350" dirty="0">
                <a:solidFill>
                  <a:srgbClr val="16211E"/>
                </a:solidFill>
                <a:latin typeface="Calibri" pitchFamily="34" charset="0"/>
                <a:ea typeface="Calibri" pitchFamily="34" charset="-122"/>
                <a:cs typeface="Calibri" pitchFamily="34" charset="-120"/>
              </a:rPr>
              <a:t>The Patient Access API must show the member where a prior authorization stands.</a:t>
            </a:r>
            <a:endParaRPr lang="en-US" sz="1050" dirty="0"/>
          </a:p>
        </p:txBody>
      </p:sp>
      <p:sp>
        <p:nvSpPr>
          <p:cNvPr id="9" name="Banner"/>
          <p:cNvSpPr/>
          <p:nvPr/>
        </p:nvSpPr>
        <p:spPr>
          <a:xfrm>
            <a:off x="457200" y="5257800"/>
            <a:ext cx="11274552" cy="1005840"/>
          </a:xfrm>
          <a:prstGeom prst="roundRect">
            <a:avLst>
              <a:gd name="adj" fmla="val 7273"/>
            </a:avLst>
          </a:prstGeom>
          <a:solidFill>
            <a:srgbClr val="1F6F5C"/>
          </a:solidFill>
          <a:ln w="12700">
            <a:solidFill>
              <a:srgbClr val="1F6F5C"/>
            </a:solidFill>
          </a:ln>
        </p:spPr>
        <p:txBody>
          <a:bodyPr wrap="square" lIns="274320" tIns="73152" rIns="274320" bIns="73152" rtlCol="0" anchor="ctr"/>
          <a:lstStyle/>
          <a:p>
            <a:pPr algn="l" indent="0" marL="0">
              <a:spcAft>
                <a:spcPts val="400"/>
              </a:spcAft>
              <a:buNone/>
            </a:pPr>
            <a:r>
              <a:rPr lang="en-US" sz="1700" b="1" dirty="0">
                <a:solidFill>
                  <a:srgbClr val="FFFFFF"/>
                </a:solidFill>
                <a:latin typeface="Calibri" pitchFamily="34" charset="0"/>
                <a:ea typeface="Calibri" pitchFamily="34" charset="-122"/>
                <a:cs typeface="Calibri" pitchFamily="34" charset="-120"/>
              </a:rPr>
              <a:t>These are not just frictions we feel. Federal rules now set the clock, ask for the reason, and make the results public.</a:t>
            </a:r>
            <a:endParaRPr lang="en-US" sz="1700" dirty="0"/>
          </a:p>
          <a:p>
            <a:pPr algn="l" indent="0" marL="0">
              <a:buNone/>
            </a:pPr>
            <a:r>
              <a:rPr lang="en-US" sz="1400" dirty="0">
                <a:solidFill>
                  <a:srgbClr val="D5EBE3"/>
                </a:solidFill>
                <a:latin typeface="Calibri" pitchFamily="34" charset="0"/>
                <a:ea typeface="Calibri" pitchFamily="34" charset="-122"/>
                <a:cs typeface="Calibri" pitchFamily="34" charset="-120"/>
              </a:rPr>
              <a:t>Getting every case to a decision inside that clock matters more than ever.</a:t>
            </a:r>
            <a:endParaRPr lang="en-US" sz="1700" dirty="0"/>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7" presetID="10" presetClass="entr" presetSubtype="0" fill="hold" grpId="0" nodeType="clickEffect">
                                  <p:stCondLst>
                                    <p:cond delay="0"/>
                                  </p:stCondLst>
                                  <p:childTnLst>
                                    <p:set>
                                      <p:cBhvr>
                                        <p:cTn id="5" dur="1" fill="hold">
                                          <p:stCondLst>
                                            <p:cond delay="0"/>
                                          </p:stCondLst>
                                        </p:cTn>
                                        <p:tgtEl>
                                          <p:spTgt spid="6"/>
                                        </p:tgtEl>
                                        <p:attrNameLst>
                                          <p:attrName>style.visibility</p:attrName>
                                        </p:attrNameLst>
                                      </p:cBhvr>
                                      <p:to>
                                        <p:strVal val="visible"/>
                                      </p:to>
                                    </p:set>
                                    <p:animEffect transition="in" filter="fade">
                                      <p:cBhvr>
                                        <p:cTn id="6" dur="500"/>
                                        <p:tgtEl>
                                          <p:spTgt spid="6"/>
                                        </p:tgtEl>
                                      </p:cBhvr>
                                    </p:animEffect>
                                  </p:childTnLst>
                                </p:cTn>
                              </p:par>
                            </p:childTnLst>
                          </p:cTn>
                        </p:par>
                      </p:childTnLst>
                    </p:cTn>
                  </p:par>
                  <p:par>
                    <p:cTn id="8" fill="hold">
                      <p:stCondLst>
                        <p:cond delay="indefinite"/>
                      </p:stCondLst>
                      <p:childTnLst>
                        <p:par>
                          <p:cTn id="9" fill="hold">
                            <p:stCondLst>
                              <p:cond delay="0"/>
                            </p:stCondLst>
                            <p:childTnLst>
                              <p:par>
                                <p:cTn id="12" presetID="10"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animEffect transition="in" filter="fade">
                                      <p:cBhvr>
                                        <p:cTn id="11" dur="500"/>
                                        <p:tgtEl>
                                          <p:spTgt spid="7"/>
                                        </p:tgtEl>
                                      </p:cBhvr>
                                    </p:animEffect>
                                  </p:childTnLst>
                                </p:cTn>
                              </p:par>
                            </p:childTnLst>
                          </p:cTn>
                        </p:par>
                      </p:childTnLst>
                    </p:cTn>
                  </p:par>
                  <p:par>
                    <p:cTn id="13" fill="hold">
                      <p:stCondLst>
                        <p:cond delay="indefinite"/>
                      </p:stCondLst>
                      <p:childTnLst>
                        <p:par>
                          <p:cTn id="14" fill="hold">
                            <p:stCondLst>
                              <p:cond delay="0"/>
                            </p:stCondLst>
                            <p:childTnLst>
                              <p:par>
                                <p:cTn id="17" presetID="10" presetClass="entr" presetSubtype="0" fill="hold" grpId="0" nodeType="clickEffect">
                                  <p:stCondLst>
                                    <p:cond delay="0"/>
                                  </p:stCondLst>
                                  <p:childTnLst>
                                    <p:set>
                                      <p:cBhvr>
                                        <p:cTn id="15" dur="1" fill="hold">
                                          <p:stCondLst>
                                            <p:cond delay="0"/>
                                          </p:stCondLst>
                                        </p:cTn>
                                        <p:tgtEl>
                                          <p:spTgt spid="8"/>
                                        </p:tgtEl>
                                        <p:attrNameLst>
                                          <p:attrName>style.visibility</p:attrName>
                                        </p:attrNameLst>
                                      </p:cBhvr>
                                      <p:to>
                                        <p:strVal val="visible"/>
                                      </p:to>
                                    </p:set>
                                    <p:animEffect transition="in" filter="fade">
                                      <p:cBhvr>
                                        <p:cTn id="16"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2" presetID="10" presetClass="entr" presetSubtype="0" fill="hold" grpId="0" nodeType="clickEffect">
                                  <p:stCondLst>
                                    <p:cond delay="0"/>
                                  </p:stCondLst>
                                  <p:childTnLst>
                                    <p:set>
                                      <p:cBhvr>
                                        <p:cTn id="20" dur="1" fill="hold">
                                          <p:stCondLst>
                                            <p:cond delay="0"/>
                                          </p:stCondLst>
                                        </p:cTn>
                                        <p:tgtEl>
                                          <p:spTgt spid="9"/>
                                        </p:tgtEl>
                                        <p:attrNameLst>
                                          <p:attrName>style.visibility</p:attrName>
                                        </p:attrNameLst>
                                      </p:cBhvr>
                                      <p:to>
                                        <p:strVal val="visible"/>
                                      </p:to>
                                    </p:set>
                                    <p:animEffect transition="in" filter="fade">
                                      <p:cBhvr>
                                        <p:cTn id="21" dur="500"/>
                                        <p:tgtEl>
                                          <p:spTgt spid="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federal rules</dc:title>
  <dc:subject>PptxGenJS Presentation</dc:subject>
  <dc:creator>Nisha Mishra</dc:creator>
  <cp:lastModifiedBy>Nisha Mishra</cp:lastModifiedBy>
  <cp:revision>1</cp:revision>
  <dcterms:created xsi:type="dcterms:W3CDTF">2026-10-04T02:24:02Z</dcterms:created>
  <dcterms:modified xsi:type="dcterms:W3CDTF">2026-10-04T02:24:02Z</dcterms:modified>
</cp:coreProperties>
</file>