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runs every time a request comes in. The provider sends a packet. The intake coordinator uploads it as one PDF and assigns a nurse.
Our system gets that API call and runs the packet through a pipeline very similar to Part 1. In Part 1, a policy goes in and key facts with rules come out. In Part 2, a packet goes in and the values for those key facts come out, each with evidence.
Stage 1: parse and find the service
Same ETL. The PDF goes through the Unstructured API. Its partitioner extracts the elements, with text and page number, as JSON.
Then plain pattern matching finds the billing code, and we look it up in the library to find the service. That is why we collected codes in Part 1. No service means "no policy yet". We never guess.
Stage 2: the AI and the validator
The JSON goes to Claude Sonnet. This is a different job from Part 1. It reads a patient's packet and fills in values.
It has two guardrails. First, the output dictionary. The keys are the key facts from Part 1. If the service has several policies, it is the unique key facts across them. For each key, it fills in the status, the value, the exact quotes and a note. Second, eight prompt rules: negation, conflicts, exact quotes, never guess, this patient only, planned is not done, ambiguous is rare, and dates. The AI reads the dates. Our code counts them.
It runs three times, in parallel, because a model can answer differently each time. All three must agree on status and value. If one differs, there is no majority vote. The fact is marked unsure, and the nurse checks it.
If all three are wrong the same way, the validator catches it. It checks the answers against the packet. Code finds each quote, exact first, then fuzzy with the same numbers. A quote that isn't in the packet goes to unsure. Then Claude Haiku checks that the quote really supports the fact.
Stage 3: decide
The rules engine is code. Unsure means verify. Missing means pend, with the exact question from Part 1. A rule not met means escalate. All met means approve. It never denies.
The nurse sees the evidence beside each item and decides. The director decides escalations, and is the only one who can deny.
That is Part 2. The AI reads and recommends. A person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PART 2  ·  ARCHITECTURE</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Part 2 decides every packet.</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Every request. The AI helps. A person decides.</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All patient data is made up. The AI reads, finds the evidence and recommends. A person decides. The system never denies on its own.</a:t>
            </a:r>
            <a:endParaRPr lang="en-US" sz="900" dirty="0"/>
          </a:p>
        </p:txBody>
      </p:sp>
      <p:sp>
        <p:nvSpPr>
          <p:cNvPr id="6" name="R1"/>
          <p:cNvSpPr/>
          <p:nvPr/>
        </p:nvSpPr>
        <p:spPr>
          <a:xfrm>
            <a:off x="1737360" y="1280160"/>
            <a:ext cx="10058400" cy="1554480"/>
          </a:xfrm>
          <a:prstGeom prst="roundRect">
            <a:avLst>
              <a:gd name="adj" fmla="val 5882"/>
            </a:avLst>
          </a:prstGeom>
          <a:ln w="15875">
            <a:solidFill>
              <a:srgbClr val="1F6F5C"/>
            </a:solidFill>
            <a:prstDash val="dash"/>
          </a:ln>
        </p:spPr>
      </p:sp>
      <p:sp>
        <p:nvSpPr>
          <p:cNvPr id="7" name="R1L"/>
          <p:cNvSpPr txBox="1"/>
          <p:nvPr/>
        </p:nvSpPr>
        <p:spPr>
          <a:xfrm>
            <a:off x="5303520" y="131673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1   THE PACKET COMES IN. SAME ETL AS PART 1.</a:t>
            </a:r>
            <a:endParaRPr lang="en-US" sz="1100" dirty="0"/>
          </a:p>
        </p:txBody>
      </p:sp>
      <p:sp>
        <p:nvSpPr>
          <p:cNvPr id="8" name="R2"/>
          <p:cNvSpPr/>
          <p:nvPr/>
        </p:nvSpPr>
        <p:spPr>
          <a:xfrm>
            <a:off x="1737360" y="2926080"/>
            <a:ext cx="10058400" cy="1600200"/>
          </a:xfrm>
          <a:prstGeom prst="roundRect">
            <a:avLst>
              <a:gd name="adj" fmla="val 5714"/>
            </a:avLst>
          </a:prstGeom>
          <a:ln w="15875">
            <a:solidFill>
              <a:srgbClr val="5F3AA8"/>
            </a:solidFill>
            <a:prstDash val="dash"/>
          </a:ln>
        </p:spPr>
      </p:sp>
      <p:sp>
        <p:nvSpPr>
          <p:cNvPr id="9" name="R2L"/>
          <p:cNvSpPr txBox="1"/>
          <p:nvPr/>
        </p:nvSpPr>
        <p:spPr>
          <a:xfrm>
            <a:off x="5303520" y="296265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2   THE AI READS, THEN CHECKS ITS OWN WORK</a:t>
            </a:r>
            <a:endParaRPr lang="en-US" sz="1100" dirty="0"/>
          </a:p>
        </p:txBody>
      </p:sp>
      <p:sp>
        <p:nvSpPr>
          <p:cNvPr id="10" name="R3"/>
          <p:cNvSpPr/>
          <p:nvPr/>
        </p:nvSpPr>
        <p:spPr>
          <a:xfrm>
            <a:off x="1737360" y="4617720"/>
            <a:ext cx="10058400" cy="1783080"/>
          </a:xfrm>
          <a:prstGeom prst="roundRect">
            <a:avLst>
              <a:gd name="adj" fmla="val 5128"/>
            </a:avLst>
          </a:prstGeom>
          <a:ln w="15875">
            <a:solidFill>
              <a:srgbClr val="8A5A00"/>
            </a:solidFill>
            <a:prstDash val="dash"/>
          </a:ln>
        </p:spPr>
      </p:sp>
      <p:sp>
        <p:nvSpPr>
          <p:cNvPr id="11" name="R3L"/>
          <p:cNvSpPr txBox="1"/>
          <p:nvPr/>
        </p:nvSpPr>
        <p:spPr>
          <a:xfrm>
            <a:off x="5303520" y="465429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3   DECIDE</a:t>
            </a:r>
            <a:endParaRPr lang="en-US" sz="1100" dirty="0"/>
          </a:p>
        </p:txBody>
      </p:sp>
      <p:pic>
        <p:nvPicPr>
          <p:cNvPr id="12" name="iPrv" descr="preencoded.png">    </p:cNvPr>
          <p:cNvPicPr>
            <a:picLocks noChangeAspect="1"/>
          </p:cNvPicPr>
          <p:nvPr/>
        </p:nvPicPr>
        <p:blipFill>
          <a:blip r:embed="rId1"/>
          <a:stretch>
            <a:fillRect/>
          </a:stretch>
        </p:blipFill>
        <p:spPr>
          <a:xfrm>
            <a:off x="594360" y="1463040"/>
            <a:ext cx="731520" cy="731520"/>
          </a:xfrm>
          <a:prstGeom prst="rect">
            <a:avLst/>
          </a:prstGeom>
        </p:spPr>
      </p:pic>
      <p:sp>
        <p:nvSpPr>
          <p:cNvPr id="13" name="cPrv"/>
          <p:cNvSpPr txBox="1"/>
          <p:nvPr/>
        </p:nvSpPr>
        <p:spPr>
          <a:xfrm>
            <a:off x="320040" y="2240280"/>
            <a:ext cx="128016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Provider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fax or portal</a:t>
            </a:r>
            <a:endParaRPr lang="en-US" sz="1050" dirty="0"/>
          </a:p>
        </p:txBody>
      </p:sp>
      <p:pic>
        <p:nvPicPr>
          <p:cNvPr id="14" name="iInt" descr="preencoded.png">    </p:cNvPr>
          <p:cNvPicPr>
            <a:picLocks noChangeAspect="1"/>
          </p:cNvPicPr>
          <p:nvPr/>
        </p:nvPicPr>
        <p:blipFill>
          <a:blip r:embed="rId2"/>
          <a:stretch>
            <a:fillRect/>
          </a:stretch>
        </p:blipFill>
        <p:spPr>
          <a:xfrm>
            <a:off x="2331720" y="1463040"/>
            <a:ext cx="731520" cy="731520"/>
          </a:xfrm>
          <a:prstGeom prst="rect">
            <a:avLst/>
          </a:prstGeom>
        </p:spPr>
      </p:pic>
      <p:sp>
        <p:nvSpPr>
          <p:cNvPr id="15" name="cInt"/>
          <p:cNvSpPr txBox="1"/>
          <p:nvPr/>
        </p:nvSpPr>
        <p:spPr>
          <a:xfrm>
            <a:off x="1965960" y="2240280"/>
            <a:ext cx="146304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Intake coordinator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uploads, assigns a nurse</a:t>
            </a:r>
            <a:endParaRPr lang="en-US" sz="1050" dirty="0"/>
          </a:p>
        </p:txBody>
      </p:sp>
      <p:pic>
        <p:nvPicPr>
          <p:cNvPr id="16" name="iApp" descr="preencoded.png">    </p:cNvPr>
          <p:cNvPicPr>
            <a:picLocks noChangeAspect="1"/>
          </p:cNvPicPr>
          <p:nvPr/>
        </p:nvPicPr>
        <p:blipFill>
          <a:blip r:embed="rId3"/>
          <a:stretch>
            <a:fillRect/>
          </a:stretch>
        </p:blipFill>
        <p:spPr>
          <a:xfrm>
            <a:off x="4023360" y="1463040"/>
            <a:ext cx="731520" cy="731520"/>
          </a:xfrm>
          <a:prstGeom prst="rect">
            <a:avLst/>
          </a:prstGeom>
        </p:spPr>
      </p:pic>
      <p:sp>
        <p:nvSpPr>
          <p:cNvPr id="17" name="cApp"/>
          <p:cNvSpPr txBox="1"/>
          <p:nvPr/>
        </p:nvSpPr>
        <p:spPr>
          <a:xfrm>
            <a:off x="3657600" y="2240280"/>
            <a:ext cx="146304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App server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new packet API call</a:t>
            </a:r>
            <a:endParaRPr lang="en-US" sz="1050" dirty="0"/>
          </a:p>
        </p:txBody>
      </p:sp>
      <p:pic>
        <p:nvPicPr>
          <p:cNvPr id="18" name="iUns" descr="preencoded.png">    </p:cNvPr>
          <p:cNvPicPr>
            <a:picLocks noChangeAspect="1"/>
          </p:cNvPicPr>
          <p:nvPr/>
        </p:nvPicPr>
        <p:blipFill>
          <a:blip r:embed="rId4"/>
          <a:stretch>
            <a:fillRect/>
          </a:stretch>
        </p:blipFill>
        <p:spPr>
          <a:xfrm>
            <a:off x="5715000" y="1463040"/>
            <a:ext cx="731520" cy="731520"/>
          </a:xfrm>
          <a:prstGeom prst="rect">
            <a:avLst/>
          </a:prstGeom>
        </p:spPr>
      </p:pic>
      <p:sp>
        <p:nvSpPr>
          <p:cNvPr id="19" name="cUns"/>
          <p:cNvSpPr txBox="1"/>
          <p:nvPr/>
        </p:nvSpPr>
        <p:spPr>
          <a:xfrm>
            <a:off x="5349240" y="2240280"/>
            <a:ext cx="146304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Unstructured API</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pages to elements, with page numbers</a:t>
            </a:r>
            <a:endParaRPr lang="en-US" sz="1050" dirty="0"/>
          </a:p>
        </p:txBody>
      </p:sp>
      <p:pic>
        <p:nvPicPr>
          <p:cNvPr id="20" name="iKey" descr="preencoded.png">    </p:cNvPr>
          <p:cNvPicPr>
            <a:picLocks noChangeAspect="1"/>
          </p:cNvPicPr>
          <p:nvPr/>
        </p:nvPicPr>
        <p:blipFill>
          <a:blip r:embed="rId5"/>
          <a:stretch>
            <a:fillRect/>
          </a:stretch>
        </p:blipFill>
        <p:spPr>
          <a:xfrm>
            <a:off x="7406640" y="1463040"/>
            <a:ext cx="731520" cy="731520"/>
          </a:xfrm>
          <a:prstGeom prst="rect">
            <a:avLst/>
          </a:prstGeom>
        </p:spPr>
      </p:pic>
      <p:sp>
        <p:nvSpPr>
          <p:cNvPr id="21" name="cKey"/>
          <p:cNvSpPr txBox="1"/>
          <p:nvPr/>
        </p:nvSpPr>
        <p:spPr>
          <a:xfrm>
            <a:off x="6789420" y="2240280"/>
            <a:ext cx="13258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Billing code to service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pattern match, then library lookup</a:t>
            </a:r>
            <a:endParaRPr lang="en-US" sz="1050" dirty="0"/>
          </a:p>
        </p:txBody>
      </p:sp>
      <p:pic>
        <p:nvPicPr>
          <p:cNvPr id="22" name="iLib" descr="preencoded.png">    </p:cNvPr>
          <p:cNvPicPr>
            <a:picLocks noChangeAspect="1"/>
          </p:cNvPicPr>
          <p:nvPr/>
        </p:nvPicPr>
        <p:blipFill>
          <a:blip r:embed="rId6"/>
          <a:stretch>
            <a:fillRect/>
          </a:stretch>
        </p:blipFill>
        <p:spPr>
          <a:xfrm>
            <a:off x="10058400" y="1426464"/>
            <a:ext cx="914400" cy="713232"/>
          </a:xfrm>
          <a:prstGeom prst="rect">
            <a:avLst/>
          </a:prstGeom>
        </p:spPr>
      </p:pic>
      <p:sp>
        <p:nvSpPr>
          <p:cNvPr id="23" name="cLib"/>
          <p:cNvSpPr txBox="1"/>
          <p:nvPr/>
        </p:nvSpPr>
        <p:spPr>
          <a:xfrm>
            <a:off x="9738360" y="2194560"/>
            <a:ext cx="15544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library</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from Part 1</a:t>
            </a:r>
            <a:endParaRPr lang="en-US" sz="1050" dirty="0"/>
          </a:p>
        </p:txBody>
      </p:sp>
      <p:sp>
        <p:nvSpPr>
          <p:cNvPr id="24" name="a1"/>
          <p:cNvSpPr/>
          <p:nvPr/>
        </p:nvSpPr>
        <p:spPr>
          <a:xfrm>
            <a:off x="1371600" y="1828800"/>
            <a:ext cx="914400" cy="0"/>
          </a:xfrm>
          <a:prstGeom prst="line">
            <a:avLst/>
          </a:prstGeom>
          <a:noFill/>
          <a:ln w="19050">
            <a:solidFill>
              <a:srgbClr val="16211E"/>
            </a:solidFill>
            <a:prstDash val="solid"/>
            <a:tailEnd type="triangle"/>
          </a:ln>
        </p:spPr>
      </p:sp>
      <p:sp>
        <p:nvSpPr>
          <p:cNvPr id="25" name="a1t"/>
          <p:cNvSpPr txBox="1"/>
          <p:nvPr/>
        </p:nvSpPr>
        <p:spPr>
          <a:xfrm>
            <a:off x="1325880" y="1591056"/>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packet PDF</a:t>
            </a:r>
            <a:endParaRPr lang="en-US" sz="900" dirty="0"/>
          </a:p>
        </p:txBody>
      </p:sp>
      <p:sp>
        <p:nvSpPr>
          <p:cNvPr id="26" name="a2"/>
          <p:cNvSpPr/>
          <p:nvPr/>
        </p:nvSpPr>
        <p:spPr>
          <a:xfrm>
            <a:off x="3108960" y="1828800"/>
            <a:ext cx="868680" cy="0"/>
          </a:xfrm>
          <a:prstGeom prst="line">
            <a:avLst/>
          </a:prstGeom>
          <a:noFill/>
          <a:ln w="19050">
            <a:solidFill>
              <a:srgbClr val="16211E"/>
            </a:solidFill>
            <a:prstDash val="solid"/>
            <a:tailEnd type="triangle"/>
          </a:ln>
        </p:spPr>
      </p:sp>
      <p:sp>
        <p:nvSpPr>
          <p:cNvPr id="27" name="a2t"/>
          <p:cNvSpPr txBox="1"/>
          <p:nvPr/>
        </p:nvSpPr>
        <p:spPr>
          <a:xfrm>
            <a:off x="3017520" y="1591056"/>
            <a:ext cx="105156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API call</a:t>
            </a:r>
            <a:endParaRPr lang="en-US" sz="900" dirty="0"/>
          </a:p>
        </p:txBody>
      </p:sp>
      <p:sp>
        <p:nvSpPr>
          <p:cNvPr id="28" name="a3"/>
          <p:cNvSpPr/>
          <p:nvPr/>
        </p:nvSpPr>
        <p:spPr>
          <a:xfrm>
            <a:off x="4800600" y="1828800"/>
            <a:ext cx="868680" cy="0"/>
          </a:xfrm>
          <a:prstGeom prst="line">
            <a:avLst/>
          </a:prstGeom>
          <a:noFill/>
          <a:ln w="19050">
            <a:solidFill>
              <a:srgbClr val="16211E"/>
            </a:solidFill>
            <a:prstDash val="solid"/>
            <a:tailEnd type="triangle"/>
          </a:ln>
        </p:spPr>
      </p:sp>
      <p:sp>
        <p:nvSpPr>
          <p:cNvPr id="29" name="a3t"/>
          <p:cNvSpPr txBox="1"/>
          <p:nvPr/>
        </p:nvSpPr>
        <p:spPr>
          <a:xfrm>
            <a:off x="4754880" y="1591056"/>
            <a:ext cx="9601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pages</a:t>
            </a:r>
            <a:endParaRPr lang="en-US" sz="900" dirty="0"/>
          </a:p>
        </p:txBody>
      </p:sp>
      <p:sp>
        <p:nvSpPr>
          <p:cNvPr id="30" name="a4"/>
          <p:cNvSpPr/>
          <p:nvPr/>
        </p:nvSpPr>
        <p:spPr>
          <a:xfrm>
            <a:off x="6492240" y="1828800"/>
            <a:ext cx="868680" cy="0"/>
          </a:xfrm>
          <a:prstGeom prst="line">
            <a:avLst/>
          </a:prstGeom>
          <a:noFill/>
          <a:ln w="19050">
            <a:solidFill>
              <a:srgbClr val="16211E"/>
            </a:solidFill>
            <a:prstDash val="solid"/>
            <a:tailEnd type="triangle"/>
          </a:ln>
        </p:spPr>
      </p:sp>
      <p:sp>
        <p:nvSpPr>
          <p:cNvPr id="31" name="a4t"/>
          <p:cNvSpPr txBox="1"/>
          <p:nvPr/>
        </p:nvSpPr>
        <p:spPr>
          <a:xfrm>
            <a:off x="6446520" y="1591056"/>
            <a:ext cx="9601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elements, JSON</a:t>
            </a:r>
            <a:endParaRPr lang="en-US" sz="900" dirty="0"/>
          </a:p>
        </p:txBody>
      </p:sp>
      <p:sp>
        <p:nvSpPr>
          <p:cNvPr id="32" name="a5"/>
          <p:cNvSpPr/>
          <p:nvPr/>
        </p:nvSpPr>
        <p:spPr>
          <a:xfrm flipH="1">
            <a:off x="8183880" y="1783080"/>
            <a:ext cx="1874520" cy="0"/>
          </a:xfrm>
          <a:prstGeom prst="line">
            <a:avLst/>
          </a:prstGeom>
          <a:noFill/>
          <a:ln w="19050">
            <a:solidFill>
              <a:srgbClr val="16211E"/>
            </a:solidFill>
            <a:prstDash val="solid"/>
            <a:tailEnd type="triangle"/>
          </a:ln>
        </p:spPr>
      </p:sp>
      <p:sp>
        <p:nvSpPr>
          <p:cNvPr id="33" name="a5t"/>
          <p:cNvSpPr txBox="1"/>
          <p:nvPr/>
        </p:nvSpPr>
        <p:spPr>
          <a:xfrm>
            <a:off x="8229600" y="1545336"/>
            <a:ext cx="18288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service, key facts, rules</a:t>
            </a:r>
            <a:endParaRPr lang="en-US" sz="900" dirty="0"/>
          </a:p>
        </p:txBody>
      </p:sp>
      <p:sp>
        <p:nvSpPr>
          <p:cNvPr id="34" name="n1"/>
          <p:cNvSpPr txBox="1"/>
          <p:nvPr/>
        </p:nvSpPr>
        <p:spPr>
          <a:xfrm>
            <a:off x="8686800" y="2578608"/>
            <a:ext cx="3017520" cy="27432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No service for the code: it says no policy yet. It never guesses.</a:t>
            </a:r>
            <a:endParaRPr lang="en-US" sz="900" dirty="0"/>
          </a:p>
        </p:txBody>
      </p:sp>
      <p:sp>
        <p:nvSpPr>
          <p:cNvPr id="35" name="l1"/>
          <p:cNvSpPr/>
          <p:nvPr/>
        </p:nvSpPr>
        <p:spPr>
          <a:xfrm>
            <a:off x="8046720" y="2212848"/>
            <a:ext cx="0" cy="941832"/>
          </a:xfrm>
          <a:prstGeom prst="line">
            <a:avLst/>
          </a:prstGeom>
          <a:noFill/>
          <a:ln w="19050">
            <a:solidFill>
              <a:srgbClr val="16211E"/>
            </a:solidFill>
            <a:prstDash val="solid"/>
            <a:tailEnd type="triangle"/>
          </a:ln>
        </p:spPr>
      </p:sp>
      <p:sp>
        <p:nvSpPr>
          <p:cNvPr id="36" name="l1t"/>
          <p:cNvSpPr txBox="1"/>
          <p:nvPr/>
        </p:nvSpPr>
        <p:spPr>
          <a:xfrm>
            <a:off x="8138160" y="2286000"/>
            <a:ext cx="2194560" cy="182880"/>
          </a:xfrm>
          <a:prstGeom prst="rect">
            <a:avLst/>
          </a:prstGeom>
          <a:noFill/>
          <a:ln/>
        </p:spPr>
        <p:txBody>
          <a:bodyPr wrap="square" lIns="0" tIns="0" rIns="0" bIns="0" rtlCol="0" anchor="t"/>
          <a:lstStyle/>
          <a:p>
            <a:pPr algn="l" indent="0" marL="0">
              <a:buNone/>
            </a:pPr>
            <a:r>
              <a:rPr lang="en-US" sz="900" b="1" dirty="0">
                <a:solidFill>
                  <a:srgbClr val="1F6F5C"/>
                </a:solidFill>
                <a:latin typeface="Calibri" pitchFamily="34" charset="0"/>
                <a:ea typeface="Calibri" pitchFamily="34" charset="-122"/>
                <a:cs typeface="Calibri" pitchFamily="34" charset="-120"/>
              </a:rPr>
              <a:t>elements and key facts</a:t>
            </a:r>
            <a:endParaRPr lang="en-US" sz="900" dirty="0"/>
          </a:p>
        </p:txBody>
      </p:sp>
      <p:pic>
        <p:nvPicPr>
          <p:cNvPr id="37" name="iSon" descr="preencoded.png">    </p:cNvPr>
          <p:cNvPicPr>
            <a:picLocks noChangeAspect="1"/>
          </p:cNvPicPr>
          <p:nvPr/>
        </p:nvPicPr>
        <p:blipFill>
          <a:blip r:embed="rId7"/>
          <a:stretch>
            <a:fillRect/>
          </a:stretch>
        </p:blipFill>
        <p:spPr>
          <a:xfrm>
            <a:off x="7680960" y="3200400"/>
            <a:ext cx="731520" cy="731520"/>
          </a:xfrm>
          <a:prstGeom prst="rect">
            <a:avLst/>
          </a:prstGeom>
        </p:spPr>
      </p:pic>
      <p:sp>
        <p:nvSpPr>
          <p:cNvPr id="38" name="cSon"/>
          <p:cNvSpPr txBox="1"/>
          <p:nvPr/>
        </p:nvSpPr>
        <p:spPr>
          <a:xfrm>
            <a:off x="7246620" y="397764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Claude Sonnet</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reads it 3 times and fills one entry per key fact</a:t>
            </a:r>
            <a:endParaRPr lang="en-US" sz="1050" dirty="0"/>
          </a:p>
        </p:txBody>
      </p:sp>
      <p:pic>
        <p:nvPicPr>
          <p:cNvPr id="39" name="iAgr" descr="preencoded.png">    </p:cNvPr>
          <p:cNvPicPr>
            <a:picLocks noChangeAspect="1"/>
          </p:cNvPicPr>
          <p:nvPr/>
        </p:nvPicPr>
        <p:blipFill>
          <a:blip r:embed="rId8"/>
          <a:stretch>
            <a:fillRect/>
          </a:stretch>
        </p:blipFill>
        <p:spPr>
          <a:xfrm>
            <a:off x="5852160" y="3200400"/>
            <a:ext cx="731520" cy="731520"/>
          </a:xfrm>
          <a:prstGeom prst="rect">
            <a:avLst/>
          </a:prstGeom>
        </p:spPr>
      </p:pic>
      <p:sp>
        <p:nvSpPr>
          <p:cNvPr id="40" name="cAgr"/>
          <p:cNvSpPr txBox="1"/>
          <p:nvPr/>
        </p:nvSpPr>
        <p:spPr>
          <a:xfrm>
            <a:off x="5417820" y="397764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Three reads must agree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if not, the key fact is marked unsure</a:t>
            </a:r>
            <a:endParaRPr lang="en-US" sz="1050" dirty="0"/>
          </a:p>
        </p:txBody>
      </p:sp>
      <p:pic>
        <p:nvPicPr>
          <p:cNvPr id="41" name="iEvi" descr="preencoded.png">    </p:cNvPr>
          <p:cNvPicPr>
            <a:picLocks noChangeAspect="1"/>
          </p:cNvPicPr>
          <p:nvPr/>
        </p:nvPicPr>
        <p:blipFill>
          <a:blip r:embed="rId9"/>
          <a:stretch>
            <a:fillRect/>
          </a:stretch>
        </p:blipFill>
        <p:spPr>
          <a:xfrm>
            <a:off x="4023360" y="3200400"/>
            <a:ext cx="731520" cy="731520"/>
          </a:xfrm>
          <a:prstGeom prst="rect">
            <a:avLst/>
          </a:prstGeom>
        </p:spPr>
      </p:pic>
      <p:sp>
        <p:nvSpPr>
          <p:cNvPr id="42" name="cEvi"/>
          <p:cNvSpPr txBox="1"/>
          <p:nvPr/>
        </p:nvSpPr>
        <p:spPr>
          <a:xfrm>
            <a:off x="3589020" y="397764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Evidence matcher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finds the exact quote: exact, then fuzzy. Gives the page.</a:t>
            </a:r>
            <a:endParaRPr lang="en-US" sz="1050" dirty="0"/>
          </a:p>
        </p:txBody>
      </p:sp>
      <p:pic>
        <p:nvPicPr>
          <p:cNvPr id="43" name="iHai" descr="preencoded.png">    </p:cNvPr>
          <p:cNvPicPr>
            <a:picLocks noChangeAspect="1"/>
          </p:cNvPicPr>
          <p:nvPr/>
        </p:nvPicPr>
        <p:blipFill>
          <a:blip r:embed="rId10"/>
          <a:stretch>
            <a:fillRect/>
          </a:stretch>
        </p:blipFill>
        <p:spPr>
          <a:xfrm>
            <a:off x="2194560" y="3200400"/>
            <a:ext cx="731520" cy="731520"/>
          </a:xfrm>
          <a:prstGeom prst="rect">
            <a:avLst/>
          </a:prstGeom>
        </p:spPr>
      </p:pic>
      <p:sp>
        <p:nvSpPr>
          <p:cNvPr id="44" name="cHai"/>
          <p:cNvSpPr txBox="1"/>
          <p:nvPr/>
        </p:nvSpPr>
        <p:spPr>
          <a:xfrm>
            <a:off x="1943100" y="3977640"/>
            <a:ext cx="14173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Claude Haiku</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checks the quote really supports the fact</a:t>
            </a:r>
            <a:endParaRPr lang="en-US" sz="1050" dirty="0"/>
          </a:p>
        </p:txBody>
      </p:sp>
      <p:sp>
        <p:nvSpPr>
          <p:cNvPr id="45" name="m1"/>
          <p:cNvSpPr/>
          <p:nvPr/>
        </p:nvSpPr>
        <p:spPr>
          <a:xfrm flipH="1">
            <a:off x="6629400" y="3566160"/>
            <a:ext cx="1005840" cy="0"/>
          </a:xfrm>
          <a:prstGeom prst="line">
            <a:avLst/>
          </a:prstGeom>
          <a:noFill/>
          <a:ln w="19050">
            <a:solidFill>
              <a:srgbClr val="16211E"/>
            </a:solidFill>
            <a:prstDash val="solid"/>
            <a:tailEnd type="triangle"/>
          </a:ln>
        </p:spPr>
      </p:sp>
      <p:sp>
        <p:nvSpPr>
          <p:cNvPr id="46" name="m1t"/>
          <p:cNvSpPr txBox="1"/>
          <p:nvPr/>
        </p:nvSpPr>
        <p:spPr>
          <a:xfrm>
            <a:off x="6629400" y="3328416"/>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3 reads</a:t>
            </a:r>
            <a:endParaRPr lang="en-US" sz="900" dirty="0"/>
          </a:p>
        </p:txBody>
      </p:sp>
      <p:sp>
        <p:nvSpPr>
          <p:cNvPr id="47" name="m2"/>
          <p:cNvSpPr/>
          <p:nvPr/>
        </p:nvSpPr>
        <p:spPr>
          <a:xfrm flipH="1">
            <a:off x="4800600" y="3566160"/>
            <a:ext cx="1005840" cy="0"/>
          </a:xfrm>
          <a:prstGeom prst="line">
            <a:avLst/>
          </a:prstGeom>
          <a:noFill/>
          <a:ln w="19050">
            <a:solidFill>
              <a:srgbClr val="16211E"/>
            </a:solidFill>
            <a:prstDash val="solid"/>
            <a:tailEnd type="triangle"/>
          </a:ln>
        </p:spPr>
      </p:sp>
      <p:sp>
        <p:nvSpPr>
          <p:cNvPr id="48" name="m2t"/>
          <p:cNvSpPr txBox="1"/>
          <p:nvPr/>
        </p:nvSpPr>
        <p:spPr>
          <a:xfrm>
            <a:off x="4800600" y="3328416"/>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agreed facts</a:t>
            </a:r>
            <a:endParaRPr lang="en-US" sz="900" dirty="0"/>
          </a:p>
        </p:txBody>
      </p:sp>
      <p:sp>
        <p:nvSpPr>
          <p:cNvPr id="49" name="m3"/>
          <p:cNvSpPr/>
          <p:nvPr/>
        </p:nvSpPr>
        <p:spPr>
          <a:xfrm flipH="1">
            <a:off x="2971800" y="3566160"/>
            <a:ext cx="1005840" cy="0"/>
          </a:xfrm>
          <a:prstGeom prst="line">
            <a:avLst/>
          </a:prstGeom>
          <a:noFill/>
          <a:ln w="19050">
            <a:solidFill>
              <a:srgbClr val="16211E"/>
            </a:solidFill>
            <a:prstDash val="solid"/>
            <a:tailEnd type="triangle"/>
          </a:ln>
        </p:spPr>
      </p:sp>
      <p:sp>
        <p:nvSpPr>
          <p:cNvPr id="50" name="m3t"/>
          <p:cNvSpPr txBox="1"/>
          <p:nvPr/>
        </p:nvSpPr>
        <p:spPr>
          <a:xfrm>
            <a:off x="2971800" y="3328416"/>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quotes found</a:t>
            </a:r>
            <a:endParaRPr lang="en-US" sz="900" dirty="0"/>
          </a:p>
        </p:txBody>
      </p:sp>
      <p:sp>
        <p:nvSpPr>
          <p:cNvPr id="51" name="n2"/>
          <p:cNvSpPr txBox="1"/>
          <p:nvPr/>
        </p:nvSpPr>
        <p:spPr>
          <a:xfrm>
            <a:off x="9144000" y="3246120"/>
            <a:ext cx="2560320" cy="64008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Each key fact comes out with its status, value, page and exact quote.</a:t>
            </a:r>
            <a:endParaRPr lang="en-US" sz="900" dirty="0"/>
          </a:p>
        </p:txBody>
      </p:sp>
      <p:sp>
        <p:nvSpPr>
          <p:cNvPr id="52" name="m4"/>
          <p:cNvSpPr/>
          <p:nvPr/>
        </p:nvSpPr>
        <p:spPr>
          <a:xfrm flipH="1">
            <a:off x="1810512" y="3566160"/>
            <a:ext cx="338328" cy="0"/>
          </a:xfrm>
          <a:prstGeom prst="line">
            <a:avLst/>
          </a:prstGeom>
          <a:noFill/>
          <a:ln w="19050">
            <a:solidFill>
              <a:srgbClr val="16211E"/>
            </a:solidFill>
            <a:prstDash val="solid"/>
          </a:ln>
        </p:spPr>
      </p:sp>
      <p:sp>
        <p:nvSpPr>
          <p:cNvPr id="53" name="m4b"/>
          <p:cNvSpPr/>
          <p:nvPr/>
        </p:nvSpPr>
        <p:spPr>
          <a:xfrm>
            <a:off x="1810512" y="3566160"/>
            <a:ext cx="0" cy="1783080"/>
          </a:xfrm>
          <a:prstGeom prst="line">
            <a:avLst/>
          </a:prstGeom>
          <a:noFill/>
          <a:ln w="19050">
            <a:solidFill>
              <a:srgbClr val="16211E"/>
            </a:solidFill>
            <a:prstDash val="solid"/>
          </a:ln>
        </p:spPr>
      </p:sp>
      <p:sp>
        <p:nvSpPr>
          <p:cNvPr id="54" name="m4c"/>
          <p:cNvSpPr/>
          <p:nvPr/>
        </p:nvSpPr>
        <p:spPr>
          <a:xfrm>
            <a:off x="1810512" y="5349240"/>
            <a:ext cx="521208" cy="0"/>
          </a:xfrm>
          <a:prstGeom prst="line">
            <a:avLst/>
          </a:prstGeom>
          <a:noFill/>
          <a:ln w="19050">
            <a:solidFill>
              <a:srgbClr val="16211E"/>
            </a:solidFill>
            <a:prstDash val="solid"/>
            <a:tailEnd type="triangle"/>
          </a:ln>
        </p:spPr>
      </p:sp>
      <p:pic>
        <p:nvPicPr>
          <p:cNvPr id="55" name="iEng" descr="preencoded.png">    </p:cNvPr>
          <p:cNvPicPr>
            <a:picLocks noChangeAspect="1"/>
          </p:cNvPicPr>
          <p:nvPr/>
        </p:nvPicPr>
        <p:blipFill>
          <a:blip r:embed="rId11"/>
          <a:stretch>
            <a:fillRect/>
          </a:stretch>
        </p:blipFill>
        <p:spPr>
          <a:xfrm>
            <a:off x="2377440" y="4983480"/>
            <a:ext cx="731520" cy="731520"/>
          </a:xfrm>
          <a:prstGeom prst="rect">
            <a:avLst/>
          </a:prstGeom>
        </p:spPr>
      </p:pic>
      <p:sp>
        <p:nvSpPr>
          <p:cNvPr id="56" name="cEng"/>
          <p:cNvSpPr txBox="1"/>
          <p:nvPr/>
        </p:nvSpPr>
        <p:spPr>
          <a:xfrm>
            <a:off x="1943100" y="576072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Rules engine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Missing: pend. Unsure: verify. Not met: escalate. All met: approve.</a:t>
            </a:r>
            <a:endParaRPr lang="en-US" sz="1050" dirty="0"/>
          </a:p>
        </p:txBody>
      </p:sp>
      <p:pic>
        <p:nvPicPr>
          <p:cNvPr id="57" name="iNur" descr="preencoded.png">    </p:cNvPr>
          <p:cNvPicPr>
            <a:picLocks noChangeAspect="1"/>
          </p:cNvPicPr>
          <p:nvPr/>
        </p:nvPicPr>
        <p:blipFill>
          <a:blip r:embed="rId12"/>
          <a:stretch>
            <a:fillRect/>
          </a:stretch>
        </p:blipFill>
        <p:spPr>
          <a:xfrm>
            <a:off x="4389120" y="4983480"/>
            <a:ext cx="731520" cy="731520"/>
          </a:xfrm>
          <a:prstGeom prst="rect">
            <a:avLst/>
          </a:prstGeom>
        </p:spPr>
      </p:pic>
      <p:sp>
        <p:nvSpPr>
          <p:cNvPr id="58" name="cNur"/>
          <p:cNvSpPr txBox="1"/>
          <p:nvPr/>
        </p:nvSpPr>
        <p:spPr>
          <a:xfrm>
            <a:off x="3954780" y="576072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UM nurse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reviews the evidence. Approves, pends, or escalates.</a:t>
            </a:r>
            <a:endParaRPr lang="en-US" sz="1050" dirty="0"/>
          </a:p>
        </p:txBody>
      </p:sp>
      <p:pic>
        <p:nvPicPr>
          <p:cNvPr id="59" name="iDir" descr="preencoded.png">    </p:cNvPr>
          <p:cNvPicPr>
            <a:picLocks noChangeAspect="1"/>
          </p:cNvPicPr>
          <p:nvPr/>
        </p:nvPicPr>
        <p:blipFill>
          <a:blip r:embed="rId13"/>
          <a:stretch>
            <a:fillRect/>
          </a:stretch>
        </p:blipFill>
        <p:spPr>
          <a:xfrm>
            <a:off x="6400800" y="4983480"/>
            <a:ext cx="731520" cy="731520"/>
          </a:xfrm>
          <a:prstGeom prst="rect">
            <a:avLst/>
          </a:prstGeom>
        </p:spPr>
      </p:pic>
      <p:sp>
        <p:nvSpPr>
          <p:cNvPr id="60" name="cDir"/>
          <p:cNvSpPr txBox="1"/>
          <p:nvPr/>
        </p:nvSpPr>
        <p:spPr>
          <a:xfrm>
            <a:off x="5966460" y="576072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Medical director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decides escalations. The only one who can deny.</a:t>
            </a:r>
            <a:endParaRPr lang="en-US" sz="1050" dirty="0"/>
          </a:p>
        </p:txBody>
      </p:sp>
      <p:pic>
        <p:nvPicPr>
          <p:cNvPr id="61" name="iCas" descr="preencoded.png">    </p:cNvPr>
          <p:cNvPicPr>
            <a:picLocks noChangeAspect="1"/>
          </p:cNvPicPr>
          <p:nvPr/>
        </p:nvPicPr>
        <p:blipFill>
          <a:blip r:embed="rId14"/>
          <a:stretch>
            <a:fillRect/>
          </a:stretch>
        </p:blipFill>
        <p:spPr>
          <a:xfrm>
            <a:off x="8321040" y="4946904"/>
            <a:ext cx="914400" cy="713232"/>
          </a:xfrm>
          <a:prstGeom prst="rect">
            <a:avLst/>
          </a:prstGeom>
        </p:spPr>
      </p:pic>
      <p:sp>
        <p:nvSpPr>
          <p:cNvPr id="62" name="cCas"/>
          <p:cNvSpPr txBox="1"/>
          <p:nvPr/>
        </p:nvSpPr>
        <p:spPr>
          <a:xfrm>
            <a:off x="7978140" y="5760720"/>
            <a:ext cx="16002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Case database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cases, evidence, comments, audit trail</a:t>
            </a:r>
            <a:endParaRPr lang="en-US" sz="1050" dirty="0"/>
          </a:p>
        </p:txBody>
      </p:sp>
      <p:pic>
        <p:nvPicPr>
          <p:cNvPr id="63" name="iDsh" descr="preencoded.png">    </p:cNvPr>
          <p:cNvPicPr>
            <a:picLocks noChangeAspect="1"/>
          </p:cNvPicPr>
          <p:nvPr/>
        </p:nvPicPr>
        <p:blipFill>
          <a:blip r:embed="rId15"/>
          <a:stretch>
            <a:fillRect/>
          </a:stretch>
        </p:blipFill>
        <p:spPr>
          <a:xfrm>
            <a:off x="10424160" y="4983480"/>
            <a:ext cx="731520" cy="731520"/>
          </a:xfrm>
          <a:prstGeom prst="rect">
            <a:avLst/>
          </a:prstGeom>
        </p:spPr>
      </p:pic>
      <p:sp>
        <p:nvSpPr>
          <p:cNvPr id="64" name="cDsh"/>
          <p:cNvSpPr txBox="1"/>
          <p:nvPr/>
        </p:nvSpPr>
        <p:spPr>
          <a:xfrm>
            <a:off x="10058400" y="5760720"/>
            <a:ext cx="146304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Live dashboard</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for intake and directors</a:t>
            </a:r>
            <a:endParaRPr lang="en-US" sz="1050" dirty="0"/>
          </a:p>
        </p:txBody>
      </p:sp>
      <p:sp>
        <p:nvSpPr>
          <p:cNvPr id="65" name="d1"/>
          <p:cNvSpPr/>
          <p:nvPr/>
        </p:nvSpPr>
        <p:spPr>
          <a:xfrm>
            <a:off x="3154680" y="5349240"/>
            <a:ext cx="1188720" cy="0"/>
          </a:xfrm>
          <a:prstGeom prst="line">
            <a:avLst/>
          </a:prstGeom>
          <a:noFill/>
          <a:ln w="19050">
            <a:solidFill>
              <a:srgbClr val="16211E"/>
            </a:solidFill>
            <a:prstDash val="solid"/>
            <a:tailEnd type="triangle"/>
          </a:ln>
        </p:spPr>
      </p:sp>
      <p:sp>
        <p:nvSpPr>
          <p:cNvPr id="66" name="d1t"/>
          <p:cNvSpPr txBox="1"/>
          <p:nvPr/>
        </p:nvSpPr>
        <p:spPr>
          <a:xfrm>
            <a:off x="3154680" y="5102352"/>
            <a:ext cx="11887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recommendation</a:t>
            </a:r>
            <a:endParaRPr lang="en-US" sz="900" dirty="0"/>
          </a:p>
        </p:txBody>
      </p:sp>
      <p:sp>
        <p:nvSpPr>
          <p:cNvPr id="67" name="d2"/>
          <p:cNvSpPr/>
          <p:nvPr/>
        </p:nvSpPr>
        <p:spPr>
          <a:xfrm>
            <a:off x="5166360" y="5349240"/>
            <a:ext cx="1188720" cy="0"/>
          </a:xfrm>
          <a:prstGeom prst="line">
            <a:avLst/>
          </a:prstGeom>
          <a:noFill/>
          <a:ln w="19050">
            <a:solidFill>
              <a:srgbClr val="16211E"/>
            </a:solidFill>
            <a:prstDash val="solid"/>
            <a:tailEnd type="triangle"/>
          </a:ln>
        </p:spPr>
      </p:sp>
      <p:sp>
        <p:nvSpPr>
          <p:cNvPr id="68" name="d2t"/>
          <p:cNvSpPr txBox="1"/>
          <p:nvPr/>
        </p:nvSpPr>
        <p:spPr>
          <a:xfrm>
            <a:off x="5166360" y="5102352"/>
            <a:ext cx="11887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escalate</a:t>
            </a:r>
            <a:endParaRPr lang="en-US" sz="900" dirty="0"/>
          </a:p>
        </p:txBody>
      </p:sp>
      <p:sp>
        <p:nvSpPr>
          <p:cNvPr id="69" name="d3"/>
          <p:cNvSpPr/>
          <p:nvPr/>
        </p:nvSpPr>
        <p:spPr>
          <a:xfrm>
            <a:off x="7178040" y="5349240"/>
            <a:ext cx="1143000" cy="0"/>
          </a:xfrm>
          <a:prstGeom prst="line">
            <a:avLst/>
          </a:prstGeom>
          <a:noFill/>
          <a:ln w="19050">
            <a:solidFill>
              <a:srgbClr val="16211E"/>
            </a:solidFill>
            <a:prstDash val="solid"/>
            <a:tailEnd type="triangle"/>
          </a:ln>
        </p:spPr>
      </p:sp>
      <p:sp>
        <p:nvSpPr>
          <p:cNvPr id="70" name="d3t"/>
          <p:cNvSpPr txBox="1"/>
          <p:nvPr/>
        </p:nvSpPr>
        <p:spPr>
          <a:xfrm>
            <a:off x="7178040" y="5102352"/>
            <a:ext cx="11430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decision, reason</a:t>
            </a:r>
            <a:endParaRPr lang="en-US" sz="900" dirty="0"/>
          </a:p>
        </p:txBody>
      </p:sp>
      <p:sp>
        <p:nvSpPr>
          <p:cNvPr id="71" name="d4"/>
          <p:cNvSpPr/>
          <p:nvPr/>
        </p:nvSpPr>
        <p:spPr>
          <a:xfrm>
            <a:off x="9235440" y="5349240"/>
            <a:ext cx="1143000" cy="0"/>
          </a:xfrm>
          <a:prstGeom prst="line">
            <a:avLst/>
          </a:prstGeom>
          <a:noFill/>
          <a:ln w="19050">
            <a:solidFill>
              <a:srgbClr val="16211E"/>
            </a:solidFill>
            <a:prstDash val="solid"/>
            <a:tailEnd type="triangle"/>
          </a:ln>
        </p:spPr>
      </p:sp>
      <p:sp>
        <p:nvSpPr>
          <p:cNvPr id="72" name="d4t"/>
          <p:cNvSpPr txBox="1"/>
          <p:nvPr/>
        </p:nvSpPr>
        <p:spPr>
          <a:xfrm>
            <a:off x="9235440" y="5102352"/>
            <a:ext cx="11430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live numbers</a:t>
            </a:r>
            <a:endParaRPr lang="en-US" sz="900" dirty="0"/>
          </a:p>
        </p:txBody>
      </p:sp>
      <p:sp>
        <p:nvSpPr>
          <p:cNvPr id="73" name="n3"/>
          <p:cNvSpPr txBox="1"/>
          <p:nvPr/>
        </p:nvSpPr>
        <p:spPr>
          <a:xfrm>
            <a:off x="2514600" y="4663440"/>
            <a:ext cx="5486400" cy="36576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Pend sends the provider one precise question. The reply is read again and comes back to the nurse.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on one slide</dc:title>
  <dc:subject>PptxGenJS Presentation</dc:subject>
  <dc:creator>Nisha Mishra</dc:creator>
  <cp:lastModifiedBy>Nisha Mishra</cp:lastModifiedBy>
  <cp:revision>1</cp:revision>
  <dcterms:created xsi:type="dcterms:W3CDTF">2026-10-06T02:59:37Z</dcterms:created>
  <dcterms:modified xsi:type="dcterms:W3CDTF">2026-10-06T02:59:37Z</dcterms:modified>
</cp:coreProperties>
</file>