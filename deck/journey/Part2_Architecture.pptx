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gave us the library. Part 2 is what happens every time a request comes in. A packet arrives, and the system helps the nurse decide.
Quick reminder. For each service, the library has a list of key facts, with a rule attached to each one. Part 2 checks every incoming packet against that list. The AI reads. Code checks. A person decides.
Stage 1: intake and read
The provider sends the packet by fax or portal. The intake coordinator uploads it as one PDF and assigns it to a nurse. They can see each nurse's workload, so they pick the nurse with room.
The first thing the app does is the same ETL step we saw in Part 1. The PDF goes through the Unstructured API. It reads every page and gives back elements as JSON. Each element keeps its text and its page number. That page number is how a nurse later sees "page 6 of 14".
Then we find the billing code. Plain pattern matching finds the code on the request. We look that code up in the library to find the service that owns it. This is why we collected the billing codes in Part 1. The code is the doorway. It sends the packet to the right service.
If no service owns the code, the system doesn't guess. It says "no policy yet". That request shows up on the policy owner's list as the next service to build.
When a service is found, we pull its key facts and the rules attached to them from the library.
Stage 2: the AI reads the packet and checks its own work
Now the AI part. Claude Sonnet reads the packet. It has a prompt and a fixed output form. The form is built from that service's key facts. So the AI fills in one entry per key fact. It does not go looking for anything else.
The prompt has guardrails, same idea as Part 1:
- Be literal and conservative.
- Negation counts. "No evidence of instability" means absent, not found.
- If the packet says the same thing twice with different values, the later, dated one wins.
- Copy the exact sentence word for word.
- Never guess a value that isn't written.
- This patient only. A page about someone else is not evidence.
- Planned is not done. A scheduled visit hasn't happened.
- For dates, the AI reads them and our code does the counting.
It reads the packet three times, in parallel. All three reads must agree on the status and on the value. If they don't, we don't take a majority vote. We mark that fact unsure and the nurse checks it. I did this because a language model can answer differently on each run, and I don't want one lucky read to decide a case.
Then we check its work, in two steps.
- **Step one is code.** For each key fact, it finds the exact quote in the packet. It tries an exact match first, then fuzzy matching with the same numbers. It gives us the page and the real text from the packet. So the nurse sees what the packet says, not the AI's version.
- **Step two is a second, smaller model, Claude Haiku.** It reads the quote in its page and says whether it supports the fact, contradicts it, is unrelated, or isn't enough. This catches a quote like "no evidence of instability" being used as evidence of instability. If this check ever fails to run, we keep the exact-text result. We never block a case because the checker was down.
Stage 3: decide
Now the rules engine. This is code, not AI. For each rule, it looks at the key fact and says met, not met, missing, or unsure. Then it picks the next step:
- If a key fact is unsure, it says verify. The nurse confirms it before anything else.
- If a key fact is missing, it says pend. And here is the question from Part 1. The system tells the nurse this was required for the policy and it is missing. She sends the provider that exact question.
- If everything is there but a rule isn't met, it escalates to a medical director.
- If everything is there and every rule is met, it recommends approve.
It never denies.
The nurse sees a checklist with the evidence beside each item. She isn't hunting through fourteen pages. She can follow the recommendation or override it, and an override is recorded. If she pends, the provider's reply comes in, the packet is read again, and it comes back to her.
The medical director gets the escalated cases, with the evidence and the nurse's note attached. They approve, send it back with a reason, or deny with a written reason. They are the only role that can deny.
Everything is saved in the case database: the cases, the evidence, the comments and the audit trail. A live dashboard shows intake and the directors what is happening. And every step is traced so we can open a wrong answer and read it step by step.
That is Part 2. The AI reads, finds the evidence and recommends.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64008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PART 2  ·  ARCHITECTURE</a:t>
            </a:r>
            <a:endParaRPr lang="en-US" sz="1100" dirty="0"/>
          </a:p>
        </p:txBody>
      </p:sp>
      <p:sp>
        <p:nvSpPr>
          <p:cNvPr id="3" name="title"/>
          <p:cNvSpPr txBox="1"/>
          <p:nvPr/>
        </p:nvSpPr>
        <p:spPr>
          <a:xfrm>
            <a:off x="457200" y="502920"/>
            <a:ext cx="804672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Part 2 decides every packet.</a:t>
            </a:r>
            <a:endParaRPr lang="en-US" sz="2600" dirty="0"/>
          </a:p>
        </p:txBody>
      </p:sp>
      <p:sp>
        <p:nvSpPr>
          <p:cNvPr id="4" name="sub"/>
          <p:cNvSpPr txBox="1"/>
          <p:nvPr/>
        </p:nvSpPr>
        <p:spPr>
          <a:xfrm>
            <a:off x="8412480" y="502920"/>
            <a:ext cx="3319272" cy="685800"/>
          </a:xfrm>
          <a:prstGeom prst="rect">
            <a:avLst/>
          </a:prstGeom>
          <a:noFill/>
          <a:ln/>
        </p:spPr>
        <p:txBody>
          <a:bodyPr wrap="square" lIns="0" tIns="0" rIns="0" bIns="0" rtlCol="0" anchor="ctr"/>
          <a:lstStyle/>
          <a:p>
            <a:pPr algn="r" indent="0" marL="0">
              <a:buNone/>
            </a:pPr>
            <a:r>
              <a:rPr lang="en-US" sz="1400" dirty="0">
                <a:solidFill>
                  <a:srgbClr val="5C6B66"/>
                </a:solidFill>
                <a:latin typeface="Calibri" pitchFamily="34" charset="0"/>
                <a:ea typeface="Calibri" pitchFamily="34" charset="-122"/>
                <a:cs typeface="Calibri" pitchFamily="34" charset="-120"/>
              </a:rPr>
              <a:t>Every request. The AI helps. A person decides.</a:t>
            </a:r>
            <a:endParaRPr lang="en-US" sz="14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All patient data is made up. The AI reads, finds the evidence and recommends. A person decides. The system never denies on its own.</a:t>
            </a:r>
            <a:endParaRPr lang="en-US" sz="900" dirty="0"/>
          </a:p>
        </p:txBody>
      </p:sp>
      <p:sp>
        <p:nvSpPr>
          <p:cNvPr id="6" name="R1"/>
          <p:cNvSpPr/>
          <p:nvPr/>
        </p:nvSpPr>
        <p:spPr>
          <a:xfrm>
            <a:off x="1737360" y="1280160"/>
            <a:ext cx="10058400" cy="1554480"/>
          </a:xfrm>
          <a:prstGeom prst="roundRect">
            <a:avLst>
              <a:gd name="adj" fmla="val 5882"/>
            </a:avLst>
          </a:prstGeom>
          <a:ln w="15875">
            <a:solidFill>
              <a:srgbClr val="1F6F5C"/>
            </a:solidFill>
            <a:prstDash val="dash"/>
          </a:ln>
        </p:spPr>
      </p:sp>
      <p:sp>
        <p:nvSpPr>
          <p:cNvPr id="7" name="R1L"/>
          <p:cNvSpPr txBox="1"/>
          <p:nvPr/>
        </p:nvSpPr>
        <p:spPr>
          <a:xfrm>
            <a:off x="5303520" y="1316736"/>
            <a:ext cx="6400800" cy="228600"/>
          </a:xfrm>
          <a:prstGeom prst="rect">
            <a:avLst/>
          </a:prstGeom>
          <a:noFill/>
          <a:ln/>
        </p:spPr>
        <p:txBody>
          <a:bodyPr wrap="square" lIns="0" tIns="0" rIns="0" bIns="0" rtlCol="0" anchor="t"/>
          <a:lstStyle/>
          <a:p>
            <a:pPr algn="r" indent="0" marL="0">
              <a:buNone/>
            </a:pPr>
            <a:r>
              <a:rPr lang="en-US" sz="1100" b="1" dirty="0">
                <a:solidFill>
                  <a:srgbClr val="16211E"/>
                </a:solidFill>
                <a:latin typeface="Calibri" pitchFamily="34" charset="0"/>
                <a:ea typeface="Calibri" pitchFamily="34" charset="-122"/>
                <a:cs typeface="Calibri" pitchFamily="34" charset="-120"/>
              </a:rPr>
              <a:t>1   INTAKE AND READ</a:t>
            </a:r>
            <a:endParaRPr lang="en-US" sz="1100" dirty="0"/>
          </a:p>
        </p:txBody>
      </p:sp>
      <p:sp>
        <p:nvSpPr>
          <p:cNvPr id="8" name="R2"/>
          <p:cNvSpPr/>
          <p:nvPr/>
        </p:nvSpPr>
        <p:spPr>
          <a:xfrm>
            <a:off x="1737360" y="2926080"/>
            <a:ext cx="10058400" cy="1600200"/>
          </a:xfrm>
          <a:prstGeom prst="roundRect">
            <a:avLst>
              <a:gd name="adj" fmla="val 5714"/>
            </a:avLst>
          </a:prstGeom>
          <a:ln w="15875">
            <a:solidFill>
              <a:srgbClr val="5F3AA8"/>
            </a:solidFill>
            <a:prstDash val="dash"/>
          </a:ln>
        </p:spPr>
      </p:sp>
      <p:sp>
        <p:nvSpPr>
          <p:cNvPr id="9" name="R2L"/>
          <p:cNvSpPr txBox="1"/>
          <p:nvPr/>
        </p:nvSpPr>
        <p:spPr>
          <a:xfrm>
            <a:off x="5303520" y="2962656"/>
            <a:ext cx="6400800" cy="228600"/>
          </a:xfrm>
          <a:prstGeom prst="rect">
            <a:avLst/>
          </a:prstGeom>
          <a:noFill/>
          <a:ln/>
        </p:spPr>
        <p:txBody>
          <a:bodyPr wrap="square" lIns="0" tIns="0" rIns="0" bIns="0" rtlCol="0" anchor="t"/>
          <a:lstStyle/>
          <a:p>
            <a:pPr algn="r" indent="0" marL="0">
              <a:buNone/>
            </a:pPr>
            <a:r>
              <a:rPr lang="en-US" sz="1100" b="1" dirty="0">
                <a:solidFill>
                  <a:srgbClr val="16211E"/>
                </a:solidFill>
                <a:latin typeface="Calibri" pitchFamily="34" charset="0"/>
                <a:ea typeface="Calibri" pitchFamily="34" charset="-122"/>
                <a:cs typeface="Calibri" pitchFamily="34" charset="-120"/>
              </a:rPr>
              <a:t>2   THE AI READS, THEN CHECKS ITS OWN WORK</a:t>
            </a:r>
            <a:endParaRPr lang="en-US" sz="1100" dirty="0"/>
          </a:p>
        </p:txBody>
      </p:sp>
      <p:sp>
        <p:nvSpPr>
          <p:cNvPr id="10" name="R3"/>
          <p:cNvSpPr/>
          <p:nvPr/>
        </p:nvSpPr>
        <p:spPr>
          <a:xfrm>
            <a:off x="1737360" y="4617720"/>
            <a:ext cx="10058400" cy="1783080"/>
          </a:xfrm>
          <a:prstGeom prst="roundRect">
            <a:avLst>
              <a:gd name="adj" fmla="val 5128"/>
            </a:avLst>
          </a:prstGeom>
          <a:ln w="15875">
            <a:solidFill>
              <a:srgbClr val="8A5A00"/>
            </a:solidFill>
            <a:prstDash val="dash"/>
          </a:ln>
        </p:spPr>
      </p:sp>
      <p:sp>
        <p:nvSpPr>
          <p:cNvPr id="11" name="R3L"/>
          <p:cNvSpPr txBox="1"/>
          <p:nvPr/>
        </p:nvSpPr>
        <p:spPr>
          <a:xfrm>
            <a:off x="5303520" y="4654296"/>
            <a:ext cx="6400800" cy="228600"/>
          </a:xfrm>
          <a:prstGeom prst="rect">
            <a:avLst/>
          </a:prstGeom>
          <a:noFill/>
          <a:ln/>
        </p:spPr>
        <p:txBody>
          <a:bodyPr wrap="square" lIns="0" tIns="0" rIns="0" bIns="0" rtlCol="0" anchor="t"/>
          <a:lstStyle/>
          <a:p>
            <a:pPr algn="r" indent="0" marL="0">
              <a:buNone/>
            </a:pPr>
            <a:r>
              <a:rPr lang="en-US" sz="1100" b="1" dirty="0">
                <a:solidFill>
                  <a:srgbClr val="16211E"/>
                </a:solidFill>
                <a:latin typeface="Calibri" pitchFamily="34" charset="0"/>
                <a:ea typeface="Calibri" pitchFamily="34" charset="-122"/>
                <a:cs typeface="Calibri" pitchFamily="34" charset="-120"/>
              </a:rPr>
              <a:t>3   DECIDE</a:t>
            </a:r>
            <a:endParaRPr lang="en-US" sz="1100" dirty="0"/>
          </a:p>
        </p:txBody>
      </p:sp>
      <p:pic>
        <p:nvPicPr>
          <p:cNvPr id="12" name="iPrv" descr="preencoded.png">    </p:cNvPr>
          <p:cNvPicPr>
            <a:picLocks noChangeAspect="1"/>
          </p:cNvPicPr>
          <p:nvPr/>
        </p:nvPicPr>
        <p:blipFill>
          <a:blip r:embed="rId1"/>
          <a:stretch>
            <a:fillRect/>
          </a:stretch>
        </p:blipFill>
        <p:spPr>
          <a:xfrm>
            <a:off x="594360" y="1463040"/>
            <a:ext cx="731520" cy="731520"/>
          </a:xfrm>
          <a:prstGeom prst="rect">
            <a:avLst/>
          </a:prstGeom>
        </p:spPr>
      </p:pic>
      <p:sp>
        <p:nvSpPr>
          <p:cNvPr id="13" name="cPrv"/>
          <p:cNvSpPr txBox="1"/>
          <p:nvPr/>
        </p:nvSpPr>
        <p:spPr>
          <a:xfrm>
            <a:off x="320040" y="2240280"/>
            <a:ext cx="128016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Provider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fax or portal</a:t>
            </a:r>
            <a:endParaRPr lang="en-US" sz="1050" dirty="0"/>
          </a:p>
        </p:txBody>
      </p:sp>
      <p:pic>
        <p:nvPicPr>
          <p:cNvPr id="14" name="iInt" descr="preencoded.png">    </p:cNvPr>
          <p:cNvPicPr>
            <a:picLocks noChangeAspect="1"/>
          </p:cNvPicPr>
          <p:nvPr/>
        </p:nvPicPr>
        <p:blipFill>
          <a:blip r:embed="rId2"/>
          <a:stretch>
            <a:fillRect/>
          </a:stretch>
        </p:blipFill>
        <p:spPr>
          <a:xfrm>
            <a:off x="2331720" y="1463040"/>
            <a:ext cx="731520" cy="731520"/>
          </a:xfrm>
          <a:prstGeom prst="rect">
            <a:avLst/>
          </a:prstGeom>
        </p:spPr>
      </p:pic>
      <p:sp>
        <p:nvSpPr>
          <p:cNvPr id="15" name="cInt"/>
          <p:cNvSpPr txBox="1"/>
          <p:nvPr/>
        </p:nvSpPr>
        <p:spPr>
          <a:xfrm>
            <a:off x="1965960" y="224028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Intake coordinator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uploads, assigns a nurse</a:t>
            </a:r>
            <a:endParaRPr lang="en-US" sz="1050" dirty="0"/>
          </a:p>
        </p:txBody>
      </p:sp>
      <p:pic>
        <p:nvPicPr>
          <p:cNvPr id="16" name="iApp" descr="preencoded.png">    </p:cNvPr>
          <p:cNvPicPr>
            <a:picLocks noChangeAspect="1"/>
          </p:cNvPicPr>
          <p:nvPr/>
        </p:nvPicPr>
        <p:blipFill>
          <a:blip r:embed="rId3"/>
          <a:stretch>
            <a:fillRect/>
          </a:stretch>
        </p:blipFill>
        <p:spPr>
          <a:xfrm>
            <a:off x="4023360" y="1463040"/>
            <a:ext cx="731520" cy="731520"/>
          </a:xfrm>
          <a:prstGeom prst="rect">
            <a:avLst/>
          </a:prstGeom>
        </p:spPr>
      </p:pic>
      <p:sp>
        <p:nvSpPr>
          <p:cNvPr id="17" name="cApp"/>
          <p:cNvSpPr txBox="1"/>
          <p:nvPr/>
        </p:nvSpPr>
        <p:spPr>
          <a:xfrm>
            <a:off x="3657600" y="224028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App server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upload, assign, progress</a:t>
            </a:r>
            <a:endParaRPr lang="en-US" sz="1050" dirty="0"/>
          </a:p>
        </p:txBody>
      </p:sp>
      <p:pic>
        <p:nvPicPr>
          <p:cNvPr id="18" name="iUns" descr="preencoded.png">    </p:cNvPr>
          <p:cNvPicPr>
            <a:picLocks noChangeAspect="1"/>
          </p:cNvPicPr>
          <p:nvPr/>
        </p:nvPicPr>
        <p:blipFill>
          <a:blip r:embed="rId4"/>
          <a:stretch>
            <a:fillRect/>
          </a:stretch>
        </p:blipFill>
        <p:spPr>
          <a:xfrm>
            <a:off x="5715000" y="1463040"/>
            <a:ext cx="731520" cy="731520"/>
          </a:xfrm>
          <a:prstGeom prst="rect">
            <a:avLst/>
          </a:prstGeom>
        </p:spPr>
      </p:pic>
      <p:sp>
        <p:nvSpPr>
          <p:cNvPr id="19" name="cUns"/>
          <p:cNvSpPr txBox="1"/>
          <p:nvPr/>
        </p:nvSpPr>
        <p:spPr>
          <a:xfrm>
            <a:off x="5349240" y="224028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Unstructured API</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pages to elements, with page numbers</a:t>
            </a:r>
            <a:endParaRPr lang="en-US" sz="1050" dirty="0"/>
          </a:p>
        </p:txBody>
      </p:sp>
      <p:pic>
        <p:nvPicPr>
          <p:cNvPr id="20" name="iKey" descr="preencoded.png">    </p:cNvPr>
          <p:cNvPicPr>
            <a:picLocks noChangeAspect="1"/>
          </p:cNvPicPr>
          <p:nvPr/>
        </p:nvPicPr>
        <p:blipFill>
          <a:blip r:embed="rId5"/>
          <a:stretch>
            <a:fillRect/>
          </a:stretch>
        </p:blipFill>
        <p:spPr>
          <a:xfrm>
            <a:off x="7406640" y="1463040"/>
            <a:ext cx="731520" cy="731520"/>
          </a:xfrm>
          <a:prstGeom prst="rect">
            <a:avLst/>
          </a:prstGeom>
        </p:spPr>
      </p:pic>
      <p:sp>
        <p:nvSpPr>
          <p:cNvPr id="21" name="cKey"/>
          <p:cNvSpPr txBox="1"/>
          <p:nvPr/>
        </p:nvSpPr>
        <p:spPr>
          <a:xfrm>
            <a:off x="6789420" y="2240280"/>
            <a:ext cx="132588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Billing code to service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pattern match, then library lookup</a:t>
            </a:r>
            <a:endParaRPr lang="en-US" sz="1050" dirty="0"/>
          </a:p>
        </p:txBody>
      </p:sp>
      <p:pic>
        <p:nvPicPr>
          <p:cNvPr id="22" name="iLib" descr="preencoded.png">    </p:cNvPr>
          <p:cNvPicPr>
            <a:picLocks noChangeAspect="1"/>
          </p:cNvPicPr>
          <p:nvPr/>
        </p:nvPicPr>
        <p:blipFill>
          <a:blip r:embed="rId6"/>
          <a:stretch>
            <a:fillRect/>
          </a:stretch>
        </p:blipFill>
        <p:spPr>
          <a:xfrm>
            <a:off x="10058400" y="1426464"/>
            <a:ext cx="914400" cy="713232"/>
          </a:xfrm>
          <a:prstGeom prst="rect">
            <a:avLst/>
          </a:prstGeom>
        </p:spPr>
      </p:pic>
      <p:sp>
        <p:nvSpPr>
          <p:cNvPr id="23" name="cLib"/>
          <p:cNvSpPr txBox="1"/>
          <p:nvPr/>
        </p:nvSpPr>
        <p:spPr>
          <a:xfrm>
            <a:off x="9738360" y="2194560"/>
            <a:ext cx="155448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Policy library</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from Part 1</a:t>
            </a:r>
            <a:endParaRPr lang="en-US" sz="1050" dirty="0"/>
          </a:p>
        </p:txBody>
      </p:sp>
      <p:sp>
        <p:nvSpPr>
          <p:cNvPr id="24" name="a1"/>
          <p:cNvSpPr/>
          <p:nvPr/>
        </p:nvSpPr>
        <p:spPr>
          <a:xfrm>
            <a:off x="1371600" y="1828800"/>
            <a:ext cx="914400" cy="0"/>
          </a:xfrm>
          <a:prstGeom prst="line">
            <a:avLst/>
          </a:prstGeom>
          <a:noFill/>
          <a:ln w="19050">
            <a:solidFill>
              <a:srgbClr val="16211E"/>
            </a:solidFill>
            <a:prstDash val="solid"/>
            <a:tailEnd type="triangle"/>
          </a:ln>
        </p:spPr>
      </p:sp>
      <p:sp>
        <p:nvSpPr>
          <p:cNvPr id="25" name="a1t"/>
          <p:cNvSpPr txBox="1"/>
          <p:nvPr/>
        </p:nvSpPr>
        <p:spPr>
          <a:xfrm>
            <a:off x="1325880" y="159105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packet PDF</a:t>
            </a:r>
            <a:endParaRPr lang="en-US" sz="900" dirty="0"/>
          </a:p>
        </p:txBody>
      </p:sp>
      <p:sp>
        <p:nvSpPr>
          <p:cNvPr id="26" name="a2"/>
          <p:cNvSpPr/>
          <p:nvPr/>
        </p:nvSpPr>
        <p:spPr>
          <a:xfrm>
            <a:off x="3108960" y="1828800"/>
            <a:ext cx="868680" cy="0"/>
          </a:xfrm>
          <a:prstGeom prst="line">
            <a:avLst/>
          </a:prstGeom>
          <a:noFill/>
          <a:ln w="19050">
            <a:solidFill>
              <a:srgbClr val="16211E"/>
            </a:solidFill>
            <a:prstDash val="solid"/>
            <a:tailEnd type="triangle"/>
          </a:ln>
        </p:spPr>
      </p:sp>
      <p:sp>
        <p:nvSpPr>
          <p:cNvPr id="27" name="a2t"/>
          <p:cNvSpPr txBox="1"/>
          <p:nvPr/>
        </p:nvSpPr>
        <p:spPr>
          <a:xfrm>
            <a:off x="3063240" y="1591056"/>
            <a:ext cx="9601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upload</a:t>
            </a:r>
            <a:endParaRPr lang="en-US" sz="900" dirty="0"/>
          </a:p>
        </p:txBody>
      </p:sp>
      <p:sp>
        <p:nvSpPr>
          <p:cNvPr id="28" name="a3"/>
          <p:cNvSpPr/>
          <p:nvPr/>
        </p:nvSpPr>
        <p:spPr>
          <a:xfrm>
            <a:off x="4800600" y="1828800"/>
            <a:ext cx="868680" cy="0"/>
          </a:xfrm>
          <a:prstGeom prst="line">
            <a:avLst/>
          </a:prstGeom>
          <a:noFill/>
          <a:ln w="19050">
            <a:solidFill>
              <a:srgbClr val="16211E"/>
            </a:solidFill>
            <a:prstDash val="solid"/>
            <a:tailEnd type="triangle"/>
          </a:ln>
        </p:spPr>
      </p:sp>
      <p:sp>
        <p:nvSpPr>
          <p:cNvPr id="29" name="a3t"/>
          <p:cNvSpPr txBox="1"/>
          <p:nvPr/>
        </p:nvSpPr>
        <p:spPr>
          <a:xfrm>
            <a:off x="4754880" y="1591056"/>
            <a:ext cx="9601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pages</a:t>
            </a:r>
            <a:endParaRPr lang="en-US" sz="900" dirty="0"/>
          </a:p>
        </p:txBody>
      </p:sp>
      <p:sp>
        <p:nvSpPr>
          <p:cNvPr id="30" name="a4"/>
          <p:cNvSpPr/>
          <p:nvPr/>
        </p:nvSpPr>
        <p:spPr>
          <a:xfrm>
            <a:off x="6492240" y="1828800"/>
            <a:ext cx="868680" cy="0"/>
          </a:xfrm>
          <a:prstGeom prst="line">
            <a:avLst/>
          </a:prstGeom>
          <a:noFill/>
          <a:ln w="19050">
            <a:solidFill>
              <a:srgbClr val="16211E"/>
            </a:solidFill>
            <a:prstDash val="solid"/>
            <a:tailEnd type="triangle"/>
          </a:ln>
        </p:spPr>
      </p:sp>
      <p:sp>
        <p:nvSpPr>
          <p:cNvPr id="31" name="a4t"/>
          <p:cNvSpPr txBox="1"/>
          <p:nvPr/>
        </p:nvSpPr>
        <p:spPr>
          <a:xfrm>
            <a:off x="6446520" y="1591056"/>
            <a:ext cx="9601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elements, JSON</a:t>
            </a:r>
            <a:endParaRPr lang="en-US" sz="900" dirty="0"/>
          </a:p>
        </p:txBody>
      </p:sp>
      <p:sp>
        <p:nvSpPr>
          <p:cNvPr id="32" name="a5"/>
          <p:cNvSpPr/>
          <p:nvPr/>
        </p:nvSpPr>
        <p:spPr>
          <a:xfrm flipH="1">
            <a:off x="8183880" y="1783080"/>
            <a:ext cx="1874520" cy="0"/>
          </a:xfrm>
          <a:prstGeom prst="line">
            <a:avLst/>
          </a:prstGeom>
          <a:noFill/>
          <a:ln w="19050">
            <a:solidFill>
              <a:srgbClr val="16211E"/>
            </a:solidFill>
            <a:prstDash val="solid"/>
            <a:tailEnd type="triangle"/>
          </a:ln>
        </p:spPr>
      </p:sp>
      <p:sp>
        <p:nvSpPr>
          <p:cNvPr id="33" name="a5t"/>
          <p:cNvSpPr txBox="1"/>
          <p:nvPr/>
        </p:nvSpPr>
        <p:spPr>
          <a:xfrm>
            <a:off x="8229600" y="1545336"/>
            <a:ext cx="182880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service, key facts, rules</a:t>
            </a:r>
            <a:endParaRPr lang="en-US" sz="900" dirty="0"/>
          </a:p>
        </p:txBody>
      </p:sp>
      <p:sp>
        <p:nvSpPr>
          <p:cNvPr id="34" name="n1"/>
          <p:cNvSpPr txBox="1"/>
          <p:nvPr/>
        </p:nvSpPr>
        <p:spPr>
          <a:xfrm>
            <a:off x="8686800" y="2578608"/>
            <a:ext cx="3017520" cy="274320"/>
          </a:xfrm>
          <a:prstGeom prst="rect">
            <a:avLst/>
          </a:prstGeom>
          <a:noFill/>
          <a:ln/>
        </p:spPr>
        <p:txBody>
          <a:bodyPr wrap="square" lIns="0" tIns="0" rIns="0" bIns="0" rtlCol="0" anchor="t"/>
          <a:lstStyle/>
          <a:p>
            <a:pPr algn="l" indent="0" marL="0">
              <a:buNone/>
            </a:pPr>
            <a:r>
              <a:rPr lang="en-US" sz="900" i="1" dirty="0">
                <a:solidFill>
                  <a:srgbClr val="5C6B66"/>
                </a:solidFill>
                <a:latin typeface="Calibri" pitchFamily="34" charset="0"/>
                <a:ea typeface="Calibri" pitchFamily="34" charset="-122"/>
                <a:cs typeface="Calibri" pitchFamily="34" charset="-120"/>
              </a:rPr>
              <a:t>No service for the code: it says no policy yet. It never guesses.</a:t>
            </a:r>
            <a:endParaRPr lang="en-US" sz="900" dirty="0"/>
          </a:p>
        </p:txBody>
      </p:sp>
      <p:sp>
        <p:nvSpPr>
          <p:cNvPr id="35" name="l1"/>
          <p:cNvSpPr/>
          <p:nvPr/>
        </p:nvSpPr>
        <p:spPr>
          <a:xfrm>
            <a:off x="8046720" y="2212848"/>
            <a:ext cx="0" cy="941832"/>
          </a:xfrm>
          <a:prstGeom prst="line">
            <a:avLst/>
          </a:prstGeom>
          <a:noFill/>
          <a:ln w="19050">
            <a:solidFill>
              <a:srgbClr val="16211E"/>
            </a:solidFill>
            <a:prstDash val="solid"/>
            <a:tailEnd type="triangle"/>
          </a:ln>
        </p:spPr>
      </p:sp>
      <p:sp>
        <p:nvSpPr>
          <p:cNvPr id="36" name="l1t"/>
          <p:cNvSpPr txBox="1"/>
          <p:nvPr/>
        </p:nvSpPr>
        <p:spPr>
          <a:xfrm>
            <a:off x="8138160" y="2286000"/>
            <a:ext cx="2194560" cy="182880"/>
          </a:xfrm>
          <a:prstGeom prst="rect">
            <a:avLst/>
          </a:prstGeom>
          <a:noFill/>
          <a:ln/>
        </p:spPr>
        <p:txBody>
          <a:bodyPr wrap="square" lIns="0" tIns="0" rIns="0" bIns="0" rtlCol="0" anchor="t"/>
          <a:lstStyle/>
          <a:p>
            <a:pPr algn="l" indent="0" marL="0">
              <a:buNone/>
            </a:pPr>
            <a:r>
              <a:rPr lang="en-US" sz="900" b="1" dirty="0">
                <a:solidFill>
                  <a:srgbClr val="1F6F5C"/>
                </a:solidFill>
                <a:latin typeface="Calibri" pitchFamily="34" charset="0"/>
                <a:ea typeface="Calibri" pitchFamily="34" charset="-122"/>
                <a:cs typeface="Calibri" pitchFamily="34" charset="-120"/>
              </a:rPr>
              <a:t>elements and key facts</a:t>
            </a:r>
            <a:endParaRPr lang="en-US" sz="900" dirty="0"/>
          </a:p>
        </p:txBody>
      </p:sp>
      <p:pic>
        <p:nvPicPr>
          <p:cNvPr id="37" name="iSon" descr="preencoded.png">    </p:cNvPr>
          <p:cNvPicPr>
            <a:picLocks noChangeAspect="1"/>
          </p:cNvPicPr>
          <p:nvPr/>
        </p:nvPicPr>
        <p:blipFill>
          <a:blip r:embed="rId7"/>
          <a:stretch>
            <a:fillRect/>
          </a:stretch>
        </p:blipFill>
        <p:spPr>
          <a:xfrm>
            <a:off x="7680960" y="3200400"/>
            <a:ext cx="731520" cy="731520"/>
          </a:xfrm>
          <a:prstGeom prst="rect">
            <a:avLst/>
          </a:prstGeom>
        </p:spPr>
      </p:pic>
      <p:sp>
        <p:nvSpPr>
          <p:cNvPr id="38" name="cSon"/>
          <p:cNvSpPr txBox="1"/>
          <p:nvPr/>
        </p:nvSpPr>
        <p:spPr>
          <a:xfrm>
            <a:off x="7246620" y="397764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Claude Sonnet</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reads it 3 times and fills one entry per key fact</a:t>
            </a:r>
            <a:endParaRPr lang="en-US" sz="1050" dirty="0"/>
          </a:p>
        </p:txBody>
      </p:sp>
      <p:pic>
        <p:nvPicPr>
          <p:cNvPr id="39" name="iAgr" descr="preencoded.png">    </p:cNvPr>
          <p:cNvPicPr>
            <a:picLocks noChangeAspect="1"/>
          </p:cNvPicPr>
          <p:nvPr/>
        </p:nvPicPr>
        <p:blipFill>
          <a:blip r:embed="rId8"/>
          <a:stretch>
            <a:fillRect/>
          </a:stretch>
        </p:blipFill>
        <p:spPr>
          <a:xfrm>
            <a:off x="5852160" y="3200400"/>
            <a:ext cx="731520" cy="731520"/>
          </a:xfrm>
          <a:prstGeom prst="rect">
            <a:avLst/>
          </a:prstGeom>
        </p:spPr>
      </p:pic>
      <p:sp>
        <p:nvSpPr>
          <p:cNvPr id="40" name="cAgr"/>
          <p:cNvSpPr txBox="1"/>
          <p:nvPr/>
        </p:nvSpPr>
        <p:spPr>
          <a:xfrm>
            <a:off x="5417820" y="397764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Three reads must agree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if not, the key fact is marked unsure</a:t>
            </a:r>
            <a:endParaRPr lang="en-US" sz="1050" dirty="0"/>
          </a:p>
        </p:txBody>
      </p:sp>
      <p:pic>
        <p:nvPicPr>
          <p:cNvPr id="41" name="iEvi" descr="preencoded.png">    </p:cNvPr>
          <p:cNvPicPr>
            <a:picLocks noChangeAspect="1"/>
          </p:cNvPicPr>
          <p:nvPr/>
        </p:nvPicPr>
        <p:blipFill>
          <a:blip r:embed="rId9"/>
          <a:stretch>
            <a:fillRect/>
          </a:stretch>
        </p:blipFill>
        <p:spPr>
          <a:xfrm>
            <a:off x="4023360" y="3200400"/>
            <a:ext cx="731520" cy="731520"/>
          </a:xfrm>
          <a:prstGeom prst="rect">
            <a:avLst/>
          </a:prstGeom>
        </p:spPr>
      </p:pic>
      <p:sp>
        <p:nvSpPr>
          <p:cNvPr id="42" name="cEvi"/>
          <p:cNvSpPr txBox="1"/>
          <p:nvPr/>
        </p:nvSpPr>
        <p:spPr>
          <a:xfrm>
            <a:off x="3589020" y="397764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Evidence matcher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finds the exact quote: exact, then fuzzy. Gives the page.</a:t>
            </a:r>
            <a:endParaRPr lang="en-US" sz="1050" dirty="0"/>
          </a:p>
        </p:txBody>
      </p:sp>
      <p:pic>
        <p:nvPicPr>
          <p:cNvPr id="43" name="iHai" descr="preencoded.png">    </p:cNvPr>
          <p:cNvPicPr>
            <a:picLocks noChangeAspect="1"/>
          </p:cNvPicPr>
          <p:nvPr/>
        </p:nvPicPr>
        <p:blipFill>
          <a:blip r:embed="rId10"/>
          <a:stretch>
            <a:fillRect/>
          </a:stretch>
        </p:blipFill>
        <p:spPr>
          <a:xfrm>
            <a:off x="2194560" y="3200400"/>
            <a:ext cx="731520" cy="731520"/>
          </a:xfrm>
          <a:prstGeom prst="rect">
            <a:avLst/>
          </a:prstGeom>
        </p:spPr>
      </p:pic>
      <p:sp>
        <p:nvSpPr>
          <p:cNvPr id="44" name="cHai"/>
          <p:cNvSpPr txBox="1"/>
          <p:nvPr/>
        </p:nvSpPr>
        <p:spPr>
          <a:xfrm>
            <a:off x="1943100" y="3977640"/>
            <a:ext cx="141732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Claude Haiku</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checks the quote really supports the fact</a:t>
            </a:r>
            <a:endParaRPr lang="en-US" sz="1050" dirty="0"/>
          </a:p>
        </p:txBody>
      </p:sp>
      <p:sp>
        <p:nvSpPr>
          <p:cNvPr id="45" name="m1"/>
          <p:cNvSpPr/>
          <p:nvPr/>
        </p:nvSpPr>
        <p:spPr>
          <a:xfrm flipH="1">
            <a:off x="6629400" y="3566160"/>
            <a:ext cx="1005840" cy="0"/>
          </a:xfrm>
          <a:prstGeom prst="line">
            <a:avLst/>
          </a:prstGeom>
          <a:noFill/>
          <a:ln w="19050">
            <a:solidFill>
              <a:srgbClr val="16211E"/>
            </a:solidFill>
            <a:prstDash val="solid"/>
            <a:tailEnd type="triangle"/>
          </a:ln>
        </p:spPr>
      </p:sp>
      <p:sp>
        <p:nvSpPr>
          <p:cNvPr id="46" name="m1t"/>
          <p:cNvSpPr txBox="1"/>
          <p:nvPr/>
        </p:nvSpPr>
        <p:spPr>
          <a:xfrm>
            <a:off x="6629400" y="332841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3 reads</a:t>
            </a:r>
            <a:endParaRPr lang="en-US" sz="900" dirty="0"/>
          </a:p>
        </p:txBody>
      </p:sp>
      <p:sp>
        <p:nvSpPr>
          <p:cNvPr id="47" name="m2"/>
          <p:cNvSpPr/>
          <p:nvPr/>
        </p:nvSpPr>
        <p:spPr>
          <a:xfrm flipH="1">
            <a:off x="4800600" y="3566160"/>
            <a:ext cx="1005840" cy="0"/>
          </a:xfrm>
          <a:prstGeom prst="line">
            <a:avLst/>
          </a:prstGeom>
          <a:noFill/>
          <a:ln w="19050">
            <a:solidFill>
              <a:srgbClr val="16211E"/>
            </a:solidFill>
            <a:prstDash val="solid"/>
            <a:tailEnd type="triangle"/>
          </a:ln>
        </p:spPr>
      </p:sp>
      <p:sp>
        <p:nvSpPr>
          <p:cNvPr id="48" name="m2t"/>
          <p:cNvSpPr txBox="1"/>
          <p:nvPr/>
        </p:nvSpPr>
        <p:spPr>
          <a:xfrm>
            <a:off x="4800600" y="332841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agreed facts</a:t>
            </a:r>
            <a:endParaRPr lang="en-US" sz="900" dirty="0"/>
          </a:p>
        </p:txBody>
      </p:sp>
      <p:sp>
        <p:nvSpPr>
          <p:cNvPr id="49" name="m3"/>
          <p:cNvSpPr/>
          <p:nvPr/>
        </p:nvSpPr>
        <p:spPr>
          <a:xfrm flipH="1">
            <a:off x="2971800" y="3566160"/>
            <a:ext cx="1005840" cy="0"/>
          </a:xfrm>
          <a:prstGeom prst="line">
            <a:avLst/>
          </a:prstGeom>
          <a:noFill/>
          <a:ln w="19050">
            <a:solidFill>
              <a:srgbClr val="16211E"/>
            </a:solidFill>
            <a:prstDash val="solid"/>
            <a:tailEnd type="triangle"/>
          </a:ln>
        </p:spPr>
      </p:sp>
      <p:sp>
        <p:nvSpPr>
          <p:cNvPr id="50" name="m3t"/>
          <p:cNvSpPr txBox="1"/>
          <p:nvPr/>
        </p:nvSpPr>
        <p:spPr>
          <a:xfrm>
            <a:off x="2971800" y="332841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quotes found</a:t>
            </a:r>
            <a:endParaRPr lang="en-US" sz="900" dirty="0"/>
          </a:p>
        </p:txBody>
      </p:sp>
      <p:sp>
        <p:nvSpPr>
          <p:cNvPr id="51" name="n2"/>
          <p:cNvSpPr txBox="1"/>
          <p:nvPr/>
        </p:nvSpPr>
        <p:spPr>
          <a:xfrm>
            <a:off x="9144000" y="3246120"/>
            <a:ext cx="2560320" cy="640080"/>
          </a:xfrm>
          <a:prstGeom prst="rect">
            <a:avLst/>
          </a:prstGeom>
          <a:noFill/>
          <a:ln/>
        </p:spPr>
        <p:txBody>
          <a:bodyPr wrap="square" lIns="0" tIns="0" rIns="0" bIns="0" rtlCol="0" anchor="t"/>
          <a:lstStyle/>
          <a:p>
            <a:pPr algn="l" indent="0" marL="0">
              <a:buNone/>
            </a:pPr>
            <a:r>
              <a:rPr lang="en-US" sz="900" i="1" dirty="0">
                <a:solidFill>
                  <a:srgbClr val="5C6B66"/>
                </a:solidFill>
                <a:latin typeface="Calibri" pitchFamily="34" charset="0"/>
                <a:ea typeface="Calibri" pitchFamily="34" charset="-122"/>
                <a:cs typeface="Calibri" pitchFamily="34" charset="-120"/>
              </a:rPr>
              <a:t>Each key fact comes out with its status, value, page and exact quote.</a:t>
            </a:r>
            <a:endParaRPr lang="en-US" sz="900" dirty="0"/>
          </a:p>
        </p:txBody>
      </p:sp>
      <p:sp>
        <p:nvSpPr>
          <p:cNvPr id="52" name="m4"/>
          <p:cNvSpPr/>
          <p:nvPr/>
        </p:nvSpPr>
        <p:spPr>
          <a:xfrm flipH="1">
            <a:off x="1810512" y="3566160"/>
            <a:ext cx="338328" cy="0"/>
          </a:xfrm>
          <a:prstGeom prst="line">
            <a:avLst/>
          </a:prstGeom>
          <a:noFill/>
          <a:ln w="19050">
            <a:solidFill>
              <a:srgbClr val="16211E"/>
            </a:solidFill>
            <a:prstDash val="solid"/>
          </a:ln>
        </p:spPr>
      </p:sp>
      <p:sp>
        <p:nvSpPr>
          <p:cNvPr id="53" name="m4b"/>
          <p:cNvSpPr/>
          <p:nvPr/>
        </p:nvSpPr>
        <p:spPr>
          <a:xfrm>
            <a:off x="1810512" y="3566160"/>
            <a:ext cx="0" cy="1783080"/>
          </a:xfrm>
          <a:prstGeom prst="line">
            <a:avLst/>
          </a:prstGeom>
          <a:noFill/>
          <a:ln w="19050">
            <a:solidFill>
              <a:srgbClr val="16211E"/>
            </a:solidFill>
            <a:prstDash val="solid"/>
          </a:ln>
        </p:spPr>
      </p:sp>
      <p:sp>
        <p:nvSpPr>
          <p:cNvPr id="54" name="m4c"/>
          <p:cNvSpPr/>
          <p:nvPr/>
        </p:nvSpPr>
        <p:spPr>
          <a:xfrm>
            <a:off x="1810512" y="5349240"/>
            <a:ext cx="521208" cy="0"/>
          </a:xfrm>
          <a:prstGeom prst="line">
            <a:avLst/>
          </a:prstGeom>
          <a:noFill/>
          <a:ln w="19050">
            <a:solidFill>
              <a:srgbClr val="16211E"/>
            </a:solidFill>
            <a:prstDash val="solid"/>
            <a:tailEnd type="triangle"/>
          </a:ln>
        </p:spPr>
      </p:sp>
      <p:pic>
        <p:nvPicPr>
          <p:cNvPr id="55" name="iEng" descr="preencoded.png">    </p:cNvPr>
          <p:cNvPicPr>
            <a:picLocks noChangeAspect="1"/>
          </p:cNvPicPr>
          <p:nvPr/>
        </p:nvPicPr>
        <p:blipFill>
          <a:blip r:embed="rId11"/>
          <a:stretch>
            <a:fillRect/>
          </a:stretch>
        </p:blipFill>
        <p:spPr>
          <a:xfrm>
            <a:off x="2377440" y="4983480"/>
            <a:ext cx="731520" cy="731520"/>
          </a:xfrm>
          <a:prstGeom prst="rect">
            <a:avLst/>
          </a:prstGeom>
        </p:spPr>
      </p:pic>
      <p:sp>
        <p:nvSpPr>
          <p:cNvPr id="56" name="cEng"/>
          <p:cNvSpPr txBox="1"/>
          <p:nvPr/>
        </p:nvSpPr>
        <p:spPr>
          <a:xfrm>
            <a:off x="194310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Rules engine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Missing: pend. Unsure: verify. Not met: escalate. All met: approve.</a:t>
            </a:r>
            <a:endParaRPr lang="en-US" sz="1050" dirty="0"/>
          </a:p>
        </p:txBody>
      </p:sp>
      <p:pic>
        <p:nvPicPr>
          <p:cNvPr id="57" name="iNur" descr="preencoded.png">    </p:cNvPr>
          <p:cNvPicPr>
            <a:picLocks noChangeAspect="1"/>
          </p:cNvPicPr>
          <p:nvPr/>
        </p:nvPicPr>
        <p:blipFill>
          <a:blip r:embed="rId12"/>
          <a:stretch>
            <a:fillRect/>
          </a:stretch>
        </p:blipFill>
        <p:spPr>
          <a:xfrm>
            <a:off x="4389120" y="4983480"/>
            <a:ext cx="731520" cy="731520"/>
          </a:xfrm>
          <a:prstGeom prst="rect">
            <a:avLst/>
          </a:prstGeom>
        </p:spPr>
      </p:pic>
      <p:sp>
        <p:nvSpPr>
          <p:cNvPr id="58" name="cNur"/>
          <p:cNvSpPr txBox="1"/>
          <p:nvPr/>
        </p:nvSpPr>
        <p:spPr>
          <a:xfrm>
            <a:off x="395478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UM nurse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reviews the evidence. Approves, pends, or escalates.</a:t>
            </a:r>
            <a:endParaRPr lang="en-US" sz="1050" dirty="0"/>
          </a:p>
        </p:txBody>
      </p:sp>
      <p:pic>
        <p:nvPicPr>
          <p:cNvPr id="59" name="iDir" descr="preencoded.png">    </p:cNvPr>
          <p:cNvPicPr>
            <a:picLocks noChangeAspect="1"/>
          </p:cNvPicPr>
          <p:nvPr/>
        </p:nvPicPr>
        <p:blipFill>
          <a:blip r:embed="rId13"/>
          <a:stretch>
            <a:fillRect/>
          </a:stretch>
        </p:blipFill>
        <p:spPr>
          <a:xfrm>
            <a:off x="6400800" y="4983480"/>
            <a:ext cx="731520" cy="731520"/>
          </a:xfrm>
          <a:prstGeom prst="rect">
            <a:avLst/>
          </a:prstGeom>
        </p:spPr>
      </p:pic>
      <p:sp>
        <p:nvSpPr>
          <p:cNvPr id="60" name="cDir"/>
          <p:cNvSpPr txBox="1"/>
          <p:nvPr/>
        </p:nvSpPr>
        <p:spPr>
          <a:xfrm>
            <a:off x="596646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Medical director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decides escalations. The only one who can deny.</a:t>
            </a:r>
            <a:endParaRPr lang="en-US" sz="1050" dirty="0"/>
          </a:p>
        </p:txBody>
      </p:sp>
      <p:pic>
        <p:nvPicPr>
          <p:cNvPr id="61" name="iCas" descr="preencoded.png">    </p:cNvPr>
          <p:cNvPicPr>
            <a:picLocks noChangeAspect="1"/>
          </p:cNvPicPr>
          <p:nvPr/>
        </p:nvPicPr>
        <p:blipFill>
          <a:blip r:embed="rId14"/>
          <a:stretch>
            <a:fillRect/>
          </a:stretch>
        </p:blipFill>
        <p:spPr>
          <a:xfrm>
            <a:off x="8321040" y="4946904"/>
            <a:ext cx="914400" cy="713232"/>
          </a:xfrm>
          <a:prstGeom prst="rect">
            <a:avLst/>
          </a:prstGeom>
        </p:spPr>
      </p:pic>
      <p:sp>
        <p:nvSpPr>
          <p:cNvPr id="62" name="cCas"/>
          <p:cNvSpPr txBox="1"/>
          <p:nvPr/>
        </p:nvSpPr>
        <p:spPr>
          <a:xfrm>
            <a:off x="797814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Case database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cases, evidence, comments, audit trail</a:t>
            </a:r>
            <a:endParaRPr lang="en-US" sz="1050" dirty="0"/>
          </a:p>
        </p:txBody>
      </p:sp>
      <p:pic>
        <p:nvPicPr>
          <p:cNvPr id="63" name="iDsh" descr="preencoded.png">    </p:cNvPr>
          <p:cNvPicPr>
            <a:picLocks noChangeAspect="1"/>
          </p:cNvPicPr>
          <p:nvPr/>
        </p:nvPicPr>
        <p:blipFill>
          <a:blip r:embed="rId15"/>
          <a:stretch>
            <a:fillRect/>
          </a:stretch>
        </p:blipFill>
        <p:spPr>
          <a:xfrm>
            <a:off x="10424160" y="4983480"/>
            <a:ext cx="731520" cy="731520"/>
          </a:xfrm>
          <a:prstGeom prst="rect">
            <a:avLst/>
          </a:prstGeom>
        </p:spPr>
      </p:pic>
      <p:sp>
        <p:nvSpPr>
          <p:cNvPr id="64" name="cDsh"/>
          <p:cNvSpPr txBox="1"/>
          <p:nvPr/>
        </p:nvSpPr>
        <p:spPr>
          <a:xfrm>
            <a:off x="10058400" y="576072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Live dashboard</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for intake and directors</a:t>
            </a:r>
            <a:endParaRPr lang="en-US" sz="1050" dirty="0"/>
          </a:p>
        </p:txBody>
      </p:sp>
      <p:sp>
        <p:nvSpPr>
          <p:cNvPr id="65" name="d1"/>
          <p:cNvSpPr/>
          <p:nvPr/>
        </p:nvSpPr>
        <p:spPr>
          <a:xfrm>
            <a:off x="3154680" y="5349240"/>
            <a:ext cx="1188720" cy="0"/>
          </a:xfrm>
          <a:prstGeom prst="line">
            <a:avLst/>
          </a:prstGeom>
          <a:noFill/>
          <a:ln w="19050">
            <a:solidFill>
              <a:srgbClr val="16211E"/>
            </a:solidFill>
            <a:prstDash val="solid"/>
            <a:tailEnd type="triangle"/>
          </a:ln>
        </p:spPr>
      </p:sp>
      <p:sp>
        <p:nvSpPr>
          <p:cNvPr id="66" name="d1t"/>
          <p:cNvSpPr txBox="1"/>
          <p:nvPr/>
        </p:nvSpPr>
        <p:spPr>
          <a:xfrm>
            <a:off x="3154680" y="5102352"/>
            <a:ext cx="11887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recommendation</a:t>
            </a:r>
            <a:endParaRPr lang="en-US" sz="900" dirty="0"/>
          </a:p>
        </p:txBody>
      </p:sp>
      <p:sp>
        <p:nvSpPr>
          <p:cNvPr id="67" name="d2"/>
          <p:cNvSpPr/>
          <p:nvPr/>
        </p:nvSpPr>
        <p:spPr>
          <a:xfrm>
            <a:off x="5166360" y="5349240"/>
            <a:ext cx="1188720" cy="0"/>
          </a:xfrm>
          <a:prstGeom prst="line">
            <a:avLst/>
          </a:prstGeom>
          <a:noFill/>
          <a:ln w="19050">
            <a:solidFill>
              <a:srgbClr val="16211E"/>
            </a:solidFill>
            <a:prstDash val="solid"/>
            <a:tailEnd type="triangle"/>
          </a:ln>
        </p:spPr>
      </p:sp>
      <p:sp>
        <p:nvSpPr>
          <p:cNvPr id="68" name="d2t"/>
          <p:cNvSpPr txBox="1"/>
          <p:nvPr/>
        </p:nvSpPr>
        <p:spPr>
          <a:xfrm>
            <a:off x="5166360" y="5102352"/>
            <a:ext cx="11887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escalate</a:t>
            </a:r>
            <a:endParaRPr lang="en-US" sz="900" dirty="0"/>
          </a:p>
        </p:txBody>
      </p:sp>
      <p:sp>
        <p:nvSpPr>
          <p:cNvPr id="69" name="d3"/>
          <p:cNvSpPr/>
          <p:nvPr/>
        </p:nvSpPr>
        <p:spPr>
          <a:xfrm>
            <a:off x="7178040" y="5349240"/>
            <a:ext cx="1143000" cy="0"/>
          </a:xfrm>
          <a:prstGeom prst="line">
            <a:avLst/>
          </a:prstGeom>
          <a:noFill/>
          <a:ln w="19050">
            <a:solidFill>
              <a:srgbClr val="16211E"/>
            </a:solidFill>
            <a:prstDash val="solid"/>
            <a:tailEnd type="triangle"/>
          </a:ln>
        </p:spPr>
      </p:sp>
      <p:sp>
        <p:nvSpPr>
          <p:cNvPr id="70" name="d3t"/>
          <p:cNvSpPr txBox="1"/>
          <p:nvPr/>
        </p:nvSpPr>
        <p:spPr>
          <a:xfrm>
            <a:off x="7178040" y="5102352"/>
            <a:ext cx="114300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decision, reason</a:t>
            </a:r>
            <a:endParaRPr lang="en-US" sz="900" dirty="0"/>
          </a:p>
        </p:txBody>
      </p:sp>
      <p:sp>
        <p:nvSpPr>
          <p:cNvPr id="71" name="d4"/>
          <p:cNvSpPr/>
          <p:nvPr/>
        </p:nvSpPr>
        <p:spPr>
          <a:xfrm>
            <a:off x="9235440" y="5349240"/>
            <a:ext cx="1143000" cy="0"/>
          </a:xfrm>
          <a:prstGeom prst="line">
            <a:avLst/>
          </a:prstGeom>
          <a:noFill/>
          <a:ln w="19050">
            <a:solidFill>
              <a:srgbClr val="16211E"/>
            </a:solidFill>
            <a:prstDash val="solid"/>
            <a:tailEnd type="triangle"/>
          </a:ln>
        </p:spPr>
      </p:sp>
      <p:sp>
        <p:nvSpPr>
          <p:cNvPr id="72" name="d4t"/>
          <p:cNvSpPr txBox="1"/>
          <p:nvPr/>
        </p:nvSpPr>
        <p:spPr>
          <a:xfrm>
            <a:off x="9235440" y="5102352"/>
            <a:ext cx="114300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live numbers</a:t>
            </a:r>
            <a:endParaRPr lang="en-US" sz="900" dirty="0"/>
          </a:p>
        </p:txBody>
      </p:sp>
      <p:sp>
        <p:nvSpPr>
          <p:cNvPr id="73" name="n3"/>
          <p:cNvSpPr txBox="1"/>
          <p:nvPr/>
        </p:nvSpPr>
        <p:spPr>
          <a:xfrm>
            <a:off x="2514600" y="4663440"/>
            <a:ext cx="5486400" cy="365760"/>
          </a:xfrm>
          <a:prstGeom prst="rect">
            <a:avLst/>
          </a:prstGeom>
          <a:noFill/>
          <a:ln/>
        </p:spPr>
        <p:txBody>
          <a:bodyPr wrap="square" lIns="0" tIns="0" rIns="0" bIns="0" rtlCol="0" anchor="t"/>
          <a:lstStyle/>
          <a:p>
            <a:pPr algn="l" indent="0" marL="0">
              <a:buNone/>
            </a:pPr>
            <a:r>
              <a:rPr lang="en-US" sz="900" i="1" dirty="0">
                <a:solidFill>
                  <a:srgbClr val="5C6B66"/>
                </a:solidFill>
                <a:latin typeface="Calibri" pitchFamily="34" charset="0"/>
                <a:ea typeface="Calibri" pitchFamily="34" charset="-122"/>
                <a:cs typeface="Calibri" pitchFamily="34" charset="-120"/>
              </a:rPr>
              <a:t>Pend sends the provider one precise question. The reply is read again and comes back to the nurse.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 2 on one slide</dc:title>
  <dc:subject>PptxGenJS Presentation</dc:subject>
  <dc:creator>Nisha Mishra</dc:creator>
  <cp:lastModifiedBy>Nisha Mishra</cp:lastModifiedBy>
  <cp:revision>1</cp:revision>
  <dcterms:created xsi:type="dcterms:W3CDTF">2026-10-06T02:44:02Z</dcterms:created>
  <dcterms:modified xsi:type="dcterms:W3CDTF">2026-10-06T02:44:02Z</dcterms:modified>
</cp:coreProperties>
</file>