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surgeon decides the patient needs a lumbar spinal fusion. The office assembles a packet of clinical documents: notes, imaging, history. Meet John Doe, 71. He is waiting and sees none of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fax the packet to the plan. Fourteen pages. Fax is still how most of this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plan side, intake checks the member, the form, and the codes. That is a paperwork check. Nobody has read the clinical pages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Intake assigns the packet to a UM nurse. She picks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reads all fourteen pages. She is hunting for four facts: the expected stay, the risk factors, the imaging evidence, and the conservative treatment. Then she checks each one against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she finishes, there are three ways out: approve, pend, or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one. Every fact is there and every criterion is met. She approves. This is the good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two. A fact is missing. She pends the case and it goes back to the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provider has to work out what is missing. Nobody tells them in plain terms. A pend does not stop the CMS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find it and resend. The packet goes through the fax all over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at intake, the case starts from zero. Maybe a different nurse reads it. The clock never stopped.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three. The facts are there, but the case is borderline. It goes to a medical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medical director can deny. A denial can be appealed, and many are overturned. That is the cost of getting it wrong the first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this: every step is somebody doing their job correctly. The delay is built into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P1"/>
          <p:cNvSpPr/>
          <p:nvPr/>
        </p:nvSpPr>
        <p:spPr>
          <a:xfrm>
            <a:off x="32461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2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3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4" name="c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surgeon decides a patient needs a lumbar fusion. The office assembles a packet of clinical documents.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14" name="IcFa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15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16" name="c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packet is faxed to the plan. Fourteen pages.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P2"/>
          <p:cNvSpPr/>
          <p:nvPr/>
        </p:nvSpPr>
        <p:spPr>
          <a:xfrm>
            <a:off x="75895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6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17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18" name="IcFa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19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20" name="c3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checks the member, the form, and the codes. That is a paperwork check, not a clinical one.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16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7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8" name="P3"/>
          <p:cNvSpPr/>
          <p:nvPr/>
        </p:nvSpPr>
        <p:spPr>
          <a:xfrm>
            <a:off x="7589520" y="29900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9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20" name="IcFa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21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22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3" name="c4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UM nurse picks it up and reads all fourteen pages.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16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7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8" name="P3"/>
          <p:cNvSpPr/>
          <p:nvPr/>
        </p:nvSpPr>
        <p:spPr>
          <a:xfrm>
            <a:off x="7589520" y="29900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9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20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21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2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3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4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25" name="IcFa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26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27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28" name="c5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hunts for four facts and checks each one against policy.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16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7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8" name="P3"/>
          <p:cNvSpPr/>
          <p:nvPr/>
        </p:nvSpPr>
        <p:spPr>
          <a:xfrm>
            <a:off x="7589520" y="29900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9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20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21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2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3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4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5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6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27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28" name="IcFa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29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0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1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2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3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4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6" name="c6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there are three ways out.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16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7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8" name="P3"/>
          <p:cNvSpPr/>
          <p:nvPr/>
        </p:nvSpPr>
        <p:spPr>
          <a:xfrm>
            <a:off x="7589520" y="29900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9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20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21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2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3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4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5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6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27" name="RingApprove"/>
          <p:cNvSpPr/>
          <p:nvPr/>
        </p:nvSpPr>
        <p:spPr>
          <a:xfrm>
            <a:off x="726033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18764A"/>
            </a:solidFill>
            <a:prstDash val="solid"/>
          </a:ln>
        </p:spPr>
      </p:sp>
      <p:sp>
        <p:nvSpPr>
          <p:cNvPr id="28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29" name="IcFa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30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1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2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3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4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6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7" name="LabelA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 ·  A COMPLETE PACKET</a:t>
            </a:r>
            <a:endParaRPr lang="en-US" sz="1400" dirty="0"/>
          </a:p>
        </p:txBody>
      </p:sp>
      <p:sp>
        <p:nvSpPr>
          <p:cNvPr id="38" name="c7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1. Every fact is there and every criterion is met. She approves.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16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7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8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19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20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1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2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3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4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5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26" name="RingPend"/>
          <p:cNvSpPr/>
          <p:nvPr/>
        </p:nvSpPr>
        <p:spPr>
          <a:xfrm>
            <a:off x="524865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8A5A00"/>
            </a:solidFill>
            <a:prstDash val="solid"/>
          </a:ln>
        </p:spPr>
      </p:sp>
      <p:sp>
        <p:nvSpPr>
          <p:cNvPr id="27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28" name="IcFa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29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0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1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2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3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4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6" name="LabelB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 ·  SOMETHING IS MISSING</a:t>
            </a:r>
            <a:endParaRPr lang="en-US" sz="1400" dirty="0"/>
          </a:p>
        </p:txBody>
      </p:sp>
      <p:sp>
        <p:nvSpPr>
          <p:cNvPr id="37" name="c8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2. A fact is missing. She pends the case and sends it back to the provider.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L3"/>
          <p:cNvSpPr/>
          <p:nvPr/>
        </p:nvSpPr>
        <p:spPr>
          <a:xfrm>
            <a:off x="777240" y="434340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777240" tIns="36576" rIns="109728" bIns="3657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decodes the pend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is missing.</a:t>
            </a:r>
            <a:endParaRPr lang="en-US" sz="1200" dirty="0"/>
          </a:p>
        </p:txBody>
      </p:sp>
      <p:pic>
        <p:nvPicPr>
          <p:cNvPr id="14" name="AvL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16552"/>
            <a:ext cx="493776" cy="493776"/>
          </a:xfrm>
          <a:prstGeom prst="rect">
            <a:avLst/>
          </a:prstGeom>
        </p:spPr>
      </p:pic>
      <p:sp>
        <p:nvSpPr>
          <p:cNvPr id="15" name="PL3"/>
          <p:cNvSpPr/>
          <p:nvPr/>
        </p:nvSpPr>
        <p:spPr>
          <a:xfrm>
            <a:off x="3246120" y="481888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6" name="T3"/>
          <p:cNvSpPr/>
          <p:nvPr/>
        </p:nvSpPr>
        <p:spPr>
          <a:xfrm>
            <a:off x="777240" y="5193792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 does not stop the clock.</a:t>
            </a:r>
            <a:endParaRPr lang="en-US" sz="1100" dirty="0"/>
          </a:p>
        </p:txBody>
      </p:sp>
      <p:sp>
        <p:nvSpPr>
          <p:cNvPr id="17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8" name="AvIntak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9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20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21" name="AvNur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22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23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24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5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6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7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8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9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30" name="RingPend"/>
          <p:cNvSpPr/>
          <p:nvPr/>
        </p:nvSpPr>
        <p:spPr>
          <a:xfrm>
            <a:off x="524865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8A5A00"/>
            </a:solidFill>
            <a:prstDash val="solid"/>
          </a:ln>
        </p:spPr>
      </p:sp>
      <p:sp>
        <p:nvSpPr>
          <p:cNvPr id="31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32" name="IcFa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33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4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6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7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8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9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0" name="ArrPend"/>
          <p:cNvSpPr/>
          <p:nvPr/>
        </p:nvSpPr>
        <p:spPr>
          <a:xfrm flipH="1">
            <a:off x="4297680" y="4663440"/>
            <a:ext cx="1005840" cy="0"/>
          </a:xfrm>
          <a:prstGeom prst="line">
            <a:avLst/>
          </a:prstGeom>
          <a:noFill/>
          <a:ln w="25400">
            <a:solidFill>
              <a:srgbClr val="8A5A00"/>
            </a:solidFill>
            <a:prstDash val="solid"/>
            <a:tailEnd type="triangle"/>
          </a:ln>
        </p:spPr>
      </p:sp>
      <p:sp>
        <p:nvSpPr>
          <p:cNvPr id="41" name="LabelB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 ·  SOMETHING IS MISSING</a:t>
            </a:r>
            <a:endParaRPr lang="en-US" sz="1400" dirty="0"/>
          </a:p>
        </p:txBody>
      </p:sp>
      <p:sp>
        <p:nvSpPr>
          <p:cNvPr id="42" name="c9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has to work out what is missing.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P1b"/>
          <p:cNvSpPr/>
          <p:nvPr/>
        </p:nvSpPr>
        <p:spPr>
          <a:xfrm>
            <a:off x="32461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2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3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4" name="L3"/>
          <p:cNvSpPr/>
          <p:nvPr/>
        </p:nvSpPr>
        <p:spPr>
          <a:xfrm>
            <a:off x="777240" y="434340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777240" tIns="36576" rIns="109728" bIns="3657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decodes the pend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is missing.</a:t>
            </a:r>
            <a:endParaRPr lang="en-US" sz="1200" dirty="0"/>
          </a:p>
        </p:txBody>
      </p:sp>
      <p:pic>
        <p:nvPicPr>
          <p:cNvPr id="15" name="AvL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16552"/>
            <a:ext cx="493776" cy="493776"/>
          </a:xfrm>
          <a:prstGeom prst="rect">
            <a:avLst/>
          </a:prstGeom>
        </p:spPr>
      </p:pic>
      <p:sp>
        <p:nvSpPr>
          <p:cNvPr id="16" name="T3"/>
          <p:cNvSpPr/>
          <p:nvPr/>
        </p:nvSpPr>
        <p:spPr>
          <a:xfrm>
            <a:off x="777240" y="5193792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 does not stop the clock.</a:t>
            </a:r>
            <a:endParaRPr lang="en-US" sz="1100" dirty="0"/>
          </a:p>
        </p:txBody>
      </p:sp>
      <p:sp>
        <p:nvSpPr>
          <p:cNvPr id="17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8" name="AvIntak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9" name="T1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read the clinical pages yet.</a:t>
            </a:r>
            <a:endParaRPr lang="en-US" sz="1100" dirty="0"/>
          </a:p>
        </p:txBody>
      </p:sp>
      <p:sp>
        <p:nvSpPr>
          <p:cNvPr id="20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21" name="AvNur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22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23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24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5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6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7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8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9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30" name="RingPend"/>
          <p:cNvSpPr/>
          <p:nvPr/>
        </p:nvSpPr>
        <p:spPr>
          <a:xfrm>
            <a:off x="524865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8A5A00"/>
            </a:solidFill>
            <a:prstDash val="solid"/>
          </a:ln>
        </p:spPr>
      </p:sp>
      <p:sp>
        <p:nvSpPr>
          <p:cNvPr id="31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32" name="IcFa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33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4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6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7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8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9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0" name="ArrPend"/>
          <p:cNvSpPr/>
          <p:nvPr/>
        </p:nvSpPr>
        <p:spPr>
          <a:xfrm flipH="1">
            <a:off x="4297680" y="4663440"/>
            <a:ext cx="1005840" cy="0"/>
          </a:xfrm>
          <a:prstGeom prst="line">
            <a:avLst/>
          </a:prstGeom>
          <a:noFill/>
          <a:ln w="25400">
            <a:solidFill>
              <a:srgbClr val="8A5A00"/>
            </a:solidFill>
            <a:prstDash val="solid"/>
            <a:tailEnd type="triangle"/>
          </a:ln>
        </p:spPr>
      </p:sp>
      <p:sp>
        <p:nvSpPr>
          <p:cNvPr id="41" name="ResA"/>
          <p:cNvSpPr/>
          <p:nvPr/>
        </p:nvSpPr>
        <p:spPr>
          <a:xfrm>
            <a:off x="603504" y="4663440"/>
            <a:ext cx="173736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</a:ln>
        </p:spPr>
      </p:sp>
      <p:sp>
        <p:nvSpPr>
          <p:cNvPr id="42" name="ResB"/>
          <p:cNvSpPr/>
          <p:nvPr/>
        </p:nvSpPr>
        <p:spPr>
          <a:xfrm>
            <a:off x="603504" y="2446020"/>
            <a:ext cx="0" cy="221742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</a:ln>
        </p:spPr>
      </p:sp>
      <p:sp>
        <p:nvSpPr>
          <p:cNvPr id="43" name="ResC"/>
          <p:cNvSpPr/>
          <p:nvPr/>
        </p:nvSpPr>
        <p:spPr>
          <a:xfrm>
            <a:off x="603504" y="2446020"/>
            <a:ext cx="173736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  <a:tailEnd type="triangle"/>
          </a:ln>
        </p:spPr>
      </p:sp>
      <p:sp>
        <p:nvSpPr>
          <p:cNvPr id="44" name="LabelB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 ·  SOMETHING IS MISSING</a:t>
            </a:r>
            <a:endParaRPr lang="en-US" sz="1400" dirty="0"/>
          </a:p>
        </p:txBody>
      </p:sp>
      <p:sp>
        <p:nvSpPr>
          <p:cNvPr id="45" name="c9b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find it and resend the packet. It goes through the fax all over again.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L3"/>
          <p:cNvSpPr/>
          <p:nvPr/>
        </p:nvSpPr>
        <p:spPr>
          <a:xfrm>
            <a:off x="777240" y="434340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777240" tIns="36576" rIns="109728" bIns="36576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decodes the pend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is missing.</a:t>
            </a:r>
            <a:endParaRPr lang="en-US" sz="1200" dirty="0"/>
          </a:p>
        </p:txBody>
      </p:sp>
      <p:pic>
        <p:nvPicPr>
          <p:cNvPr id="14" name="AvL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16552"/>
            <a:ext cx="493776" cy="493776"/>
          </a:xfrm>
          <a:prstGeom prst="rect">
            <a:avLst/>
          </a:prstGeom>
        </p:spPr>
      </p:pic>
      <p:sp>
        <p:nvSpPr>
          <p:cNvPr id="15" name="T3"/>
          <p:cNvSpPr/>
          <p:nvPr/>
        </p:nvSpPr>
        <p:spPr>
          <a:xfrm>
            <a:off x="777240" y="5193792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 does not stop the clock.</a:t>
            </a:r>
            <a:endParaRPr lang="en-US" sz="1100" dirty="0"/>
          </a:p>
        </p:txBody>
      </p:sp>
      <p:sp>
        <p:nvSpPr>
          <p:cNvPr id="16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7" name="AvIntak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8" name="P2b"/>
          <p:cNvSpPr/>
          <p:nvPr/>
        </p:nvSpPr>
        <p:spPr>
          <a:xfrm>
            <a:off x="7589520" y="271576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B845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000" dirty="0"/>
          </a:p>
        </p:txBody>
      </p:sp>
      <p:sp>
        <p:nvSpPr>
          <p:cNvPr id="19" name="T5"/>
          <p:cNvSpPr/>
          <p:nvPr/>
        </p:nvSpPr>
        <p:spPr>
          <a:xfrm>
            <a:off x="8686800" y="20116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start of the line. Maybe a different nurse.</a:t>
            </a:r>
            <a:endParaRPr lang="en-US" sz="1100" dirty="0"/>
          </a:p>
        </p:txBody>
      </p:sp>
      <p:sp>
        <p:nvSpPr>
          <p:cNvPr id="20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21" name="AvNurs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22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23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24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5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6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7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8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9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30" name="RingPend"/>
          <p:cNvSpPr/>
          <p:nvPr/>
        </p:nvSpPr>
        <p:spPr>
          <a:xfrm>
            <a:off x="5248656" y="4288536"/>
            <a:ext cx="2029968" cy="749808"/>
          </a:xfrm>
          <a:prstGeom prst="roundRect">
            <a:avLst>
              <a:gd name="adj" fmla="val 12195"/>
            </a:avLst>
          </a:prstGeom>
          <a:ln w="38100">
            <a:solidFill>
              <a:srgbClr val="8A5A00"/>
            </a:solidFill>
            <a:prstDash val="solid"/>
          </a:ln>
        </p:spPr>
      </p:sp>
      <p:sp>
        <p:nvSpPr>
          <p:cNvPr id="31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32" name="IcFa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33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4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6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7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8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9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40" name="ArrPend"/>
          <p:cNvSpPr/>
          <p:nvPr/>
        </p:nvSpPr>
        <p:spPr>
          <a:xfrm flipH="1">
            <a:off x="4297680" y="4663440"/>
            <a:ext cx="1005840" cy="0"/>
          </a:xfrm>
          <a:prstGeom prst="line">
            <a:avLst/>
          </a:prstGeom>
          <a:noFill/>
          <a:ln w="25400">
            <a:solidFill>
              <a:srgbClr val="8A5A00"/>
            </a:solidFill>
            <a:prstDash val="solid"/>
            <a:tailEnd type="triangle"/>
          </a:ln>
        </p:spPr>
      </p:sp>
      <p:sp>
        <p:nvSpPr>
          <p:cNvPr id="41" name="ResA"/>
          <p:cNvSpPr/>
          <p:nvPr/>
        </p:nvSpPr>
        <p:spPr>
          <a:xfrm>
            <a:off x="603504" y="4663440"/>
            <a:ext cx="173736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</a:ln>
        </p:spPr>
      </p:sp>
      <p:sp>
        <p:nvSpPr>
          <p:cNvPr id="42" name="ResB"/>
          <p:cNvSpPr/>
          <p:nvPr/>
        </p:nvSpPr>
        <p:spPr>
          <a:xfrm>
            <a:off x="603504" y="2446020"/>
            <a:ext cx="0" cy="221742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</a:ln>
        </p:spPr>
      </p:sp>
      <p:sp>
        <p:nvSpPr>
          <p:cNvPr id="43" name="ResC"/>
          <p:cNvSpPr/>
          <p:nvPr/>
        </p:nvSpPr>
        <p:spPr>
          <a:xfrm>
            <a:off x="603504" y="2446020"/>
            <a:ext cx="173736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solid"/>
            <a:tailEnd type="triangle"/>
          </a:ln>
        </p:spPr>
      </p:sp>
      <p:sp>
        <p:nvSpPr>
          <p:cNvPr id="44" name="LabelB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 ·  SOMETHING IS MISSING</a:t>
            </a:r>
            <a:endParaRPr lang="en-US" sz="1400" dirty="0"/>
          </a:p>
        </p:txBody>
      </p:sp>
      <p:sp>
        <p:nvSpPr>
          <p:cNvPr id="45" name="c9c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intake, the case starts from zero. The clock never stopped.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6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7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18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19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0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1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2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3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4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25" name="RingEsc"/>
          <p:cNvSpPr/>
          <p:nvPr/>
        </p:nvSpPr>
        <p:spPr>
          <a:xfrm>
            <a:off x="9317736" y="4288536"/>
            <a:ext cx="2212848" cy="749808"/>
          </a:xfrm>
          <a:prstGeom prst="roundRect">
            <a:avLst>
              <a:gd name="adj" fmla="val 12195"/>
            </a:avLst>
          </a:prstGeom>
          <a:ln w="38100">
            <a:solidFill>
              <a:srgbClr val="5F3AA8"/>
            </a:solidFill>
            <a:prstDash val="solid"/>
          </a:ln>
        </p:spPr>
      </p:sp>
      <p:sp>
        <p:nvSpPr>
          <p:cNvPr id="26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27" name="IcFa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28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29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0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1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2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3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4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LabelC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 ·  NEEDS A PHYSICIAN</a:t>
            </a:r>
            <a:endParaRPr lang="en-US" sz="1400" dirty="0"/>
          </a:p>
        </p:txBody>
      </p:sp>
      <p:sp>
        <p:nvSpPr>
          <p:cNvPr id="36" name="c10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3. The facts are there but the case is borderline. It goes to a medical director.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6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7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18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19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0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1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2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3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4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25" name="RingEsc"/>
          <p:cNvSpPr/>
          <p:nvPr/>
        </p:nvSpPr>
        <p:spPr>
          <a:xfrm>
            <a:off x="9317736" y="4288536"/>
            <a:ext cx="2212848" cy="749808"/>
          </a:xfrm>
          <a:prstGeom prst="roundRect">
            <a:avLst>
              <a:gd name="adj" fmla="val 12195"/>
            </a:avLst>
          </a:prstGeom>
          <a:ln w="38100">
            <a:solidFill>
              <a:srgbClr val="5F3AA8"/>
            </a:solidFill>
            <a:prstDash val="solid"/>
          </a:ln>
        </p:spPr>
      </p:sp>
      <p:sp>
        <p:nvSpPr>
          <p:cNvPr id="26" name="MD"/>
          <p:cNvSpPr/>
          <p:nvPr/>
        </p:nvSpPr>
        <p:spPr>
          <a:xfrm>
            <a:off x="8321040" y="513892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731520" tIns="27432" rIns="91440" bIns="27432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Decides. Only role that can deny.</a:t>
            </a:r>
            <a:endParaRPr lang="en-US" sz="1200" dirty="0"/>
          </a:p>
        </p:txBody>
      </p:sp>
      <p:pic>
        <p:nvPicPr>
          <p:cNvPr id="27" name="AvM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5184648"/>
            <a:ext cx="475488" cy="475488"/>
          </a:xfrm>
          <a:prstGeom prst="rect">
            <a:avLst/>
          </a:prstGeom>
        </p:spPr>
      </p:pic>
      <p:sp>
        <p:nvSpPr>
          <p:cNvPr id="28" name="T4"/>
          <p:cNvSpPr/>
          <p:nvPr/>
        </p:nvSpPr>
        <p:spPr>
          <a:xfrm>
            <a:off x="5303520" y="513892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denial can be appealed, and many are overturned.</a:t>
            </a:r>
            <a:endParaRPr lang="en-US" sz="1100" dirty="0"/>
          </a:p>
        </p:txBody>
      </p:sp>
      <p:sp>
        <p:nvSpPr>
          <p:cNvPr id="29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30" name="IcFa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31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2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3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4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5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6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7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8" name="ArrMD"/>
          <p:cNvSpPr/>
          <p:nvPr/>
        </p:nvSpPr>
        <p:spPr>
          <a:xfrm>
            <a:off x="10424160" y="4983480"/>
            <a:ext cx="0" cy="155448"/>
          </a:xfrm>
          <a:prstGeom prst="line">
            <a:avLst/>
          </a:prstGeom>
          <a:noFill/>
          <a:ln w="25400">
            <a:solidFill>
              <a:srgbClr val="5F3AA8"/>
            </a:solidFill>
            <a:prstDash val="solid"/>
            <a:tailEnd type="triangle"/>
          </a:ln>
        </p:spPr>
      </p:sp>
      <p:sp>
        <p:nvSpPr>
          <p:cNvPr id="39" name="LabelC"/>
          <p:cNvSpPr txBox="1"/>
          <p:nvPr/>
        </p:nvSpPr>
        <p:spPr>
          <a:xfrm>
            <a:off x="6675120" y="45720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 ·  NEEDS A PHYSICIAN</a:t>
            </a:r>
            <a:endParaRPr lang="en-US" sz="1400" dirty="0"/>
          </a:p>
        </p:txBody>
      </p:sp>
      <p:sp>
        <p:nvSpPr>
          <p:cNvPr id="40" name="c11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medical director can deny. A denial can be appealed, and many are overturned.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029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prior authorization moves today.</a:t>
            </a:r>
            <a:endParaRPr lang="en-US" sz="2600" dirty="0"/>
          </a:p>
        </p:txBody>
      </p:sp>
      <p:sp>
        <p:nvSpPr>
          <p:cNvPr id="4" name="panelProv"/>
          <p:cNvSpPr/>
          <p:nvPr/>
        </p:nvSpPr>
        <p:spPr>
          <a:xfrm>
            <a:off x="457200" y="1325880"/>
            <a:ext cx="4069080" cy="4434840"/>
          </a:xfrm>
          <a:prstGeom prst="roundRect">
            <a:avLst>
              <a:gd name="adj" fmla="val 2247"/>
            </a:avLst>
          </a:prstGeom>
          <a:solidFill>
            <a:srgbClr val="F5F3EE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5" name="panelPay"/>
          <p:cNvSpPr/>
          <p:nvPr/>
        </p:nvSpPr>
        <p:spPr>
          <a:xfrm>
            <a:off x="5074920" y="1325880"/>
            <a:ext cx="6656832" cy="4434840"/>
          </a:xfrm>
          <a:prstGeom prst="roundRect">
            <a:avLst>
              <a:gd name="adj" fmla="val 2062"/>
            </a:avLst>
          </a:prstGeom>
          <a:solidFill>
            <a:srgbClr val="EEF5F2"/>
          </a:solidFill>
          <a:ln w="12700">
            <a:solidFill>
              <a:srgbClr val="CBD5D1"/>
            </a:solidFill>
          </a:ln>
        </p:spPr>
        <p:txBody>
          <a:bodyPr wrap="square" lIns="109728" tIns="54864" rIns="109728" bIns="54864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800" dirty="0"/>
          </a:p>
        </p:txBody>
      </p:sp>
      <p:sp>
        <p:nvSpPr>
          <p:cNvPr id="6" name="hdrProv"/>
          <p:cNvSpPr txBox="1"/>
          <p:nvPr/>
        </p:nvSpPr>
        <p:spPr>
          <a:xfrm>
            <a:off x="777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or physician office</a:t>
            </a:r>
            <a:endParaRPr lang="en-US" sz="1100" dirty="0"/>
          </a:p>
        </p:txBody>
      </p:sp>
      <p:sp>
        <p:nvSpPr>
          <p:cNvPr id="7" name="hdrPay"/>
          <p:cNvSpPr txBox="1"/>
          <p:nvPr/>
        </p:nvSpPr>
        <p:spPr>
          <a:xfrm>
            <a:off x="5303520" y="13898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plan: Utilization Management (UM)</a:t>
            </a:r>
            <a:endParaRPr lang="en-US" sz="1100" dirty="0"/>
          </a:p>
        </p:txBody>
      </p:sp>
      <p:sp>
        <p:nvSpPr>
          <p:cNvPr id="8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elective inpatient lumbar spinal fusion request, as it works today.</a:t>
            </a:r>
            <a:endParaRPr lang="en-US" sz="900" dirty="0"/>
          </a:p>
        </p:txBody>
      </p:sp>
      <p:sp>
        <p:nvSpPr>
          <p:cNvPr id="9" name="L1"/>
          <p:cNvSpPr/>
          <p:nvPr/>
        </p:nvSpPr>
        <p:spPr>
          <a:xfrm>
            <a:off x="777240" y="2011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Surgeon's office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assemble the packet.</a:t>
            </a:r>
            <a:endParaRPr lang="en-US" sz="1300" dirty="0"/>
          </a:p>
        </p:txBody>
      </p:sp>
      <p:pic>
        <p:nvPicPr>
          <p:cNvPr id="10" name="AvL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649224" cy="649224"/>
          </a:xfrm>
          <a:prstGeom prst="rect">
            <a:avLst/>
          </a:prstGeom>
        </p:spPr>
      </p:pic>
      <p:sp>
        <p:nvSpPr>
          <p:cNvPr id="11" name="Member"/>
          <p:cNvSpPr/>
          <p:nvPr/>
        </p:nvSpPr>
        <p:spPr>
          <a:xfrm>
            <a:off x="777240" y="31546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member: John Doe, 71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the surgery. Sees none of this.</a:t>
            </a:r>
            <a:endParaRPr lang="en-US" sz="1300" dirty="0"/>
          </a:p>
        </p:txBody>
      </p:sp>
      <p:pic>
        <p:nvPicPr>
          <p:cNvPr id="12" name="Av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264408"/>
            <a:ext cx="649224" cy="649224"/>
          </a:xfrm>
          <a:prstGeom prst="rect">
            <a:avLst/>
          </a:prstGeom>
        </p:spPr>
      </p:pic>
      <p:sp>
        <p:nvSpPr>
          <p:cNvPr id="13" name="Intake"/>
          <p:cNvSpPr/>
          <p:nvPr/>
        </p:nvSpPr>
        <p:spPr>
          <a:xfrm>
            <a:off x="5303520" y="2011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member, form, and codes. Not a clinical check.</a:t>
            </a:r>
            <a:endParaRPr lang="en-US" sz="1300" dirty="0"/>
          </a:p>
        </p:txBody>
      </p:sp>
      <p:pic>
        <p:nvPicPr>
          <p:cNvPr id="14" name="AvIn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121408"/>
            <a:ext cx="649224" cy="649224"/>
          </a:xfrm>
          <a:prstGeom prst="rect">
            <a:avLst/>
          </a:prstGeom>
        </p:spPr>
      </p:pic>
      <p:sp>
        <p:nvSpPr>
          <p:cNvPr id="15" name="Nurse"/>
          <p:cNvSpPr/>
          <p:nvPr/>
        </p:nvSpPr>
        <p:spPr>
          <a:xfrm>
            <a:off x="5303520" y="31546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D1"/>
            </a:solidFill>
          </a:ln>
        </p:spPr>
        <p:txBody>
          <a:bodyPr wrap="square" lIns="914400" tIns="54864" rIns="109728" bIns="54864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nurse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14 pages and checks them against policy.</a:t>
            </a:r>
            <a:endParaRPr lang="en-US" sz="1300" dirty="0"/>
          </a:p>
        </p:txBody>
      </p:sp>
      <p:pic>
        <p:nvPicPr>
          <p:cNvPr id="16" name="AvNur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264408"/>
            <a:ext cx="649224" cy="649224"/>
          </a:xfrm>
          <a:prstGeom prst="rect">
            <a:avLst/>
          </a:prstGeom>
        </p:spPr>
      </p:pic>
      <p:sp>
        <p:nvSpPr>
          <p:cNvPr id="17" name="T2"/>
          <p:cNvSpPr txBox="1"/>
          <p:nvPr/>
        </p:nvSpPr>
        <p:spPr>
          <a:xfrm>
            <a:off x="868680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hidden in 14 pages</a:t>
            </a:r>
            <a:endParaRPr lang="en-US" sz="1100" dirty="0"/>
          </a:p>
        </p:txBody>
      </p:sp>
      <p:sp>
        <p:nvSpPr>
          <p:cNvPr id="18" name="Chip1"/>
          <p:cNvSpPr/>
          <p:nvPr/>
        </p:nvSpPr>
        <p:spPr>
          <a:xfrm>
            <a:off x="868680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stay</a:t>
            </a:r>
            <a:endParaRPr lang="en-US" sz="1000" dirty="0"/>
          </a:p>
        </p:txBody>
      </p:sp>
      <p:sp>
        <p:nvSpPr>
          <p:cNvPr id="19" name="Chip2"/>
          <p:cNvSpPr/>
          <p:nvPr/>
        </p:nvSpPr>
        <p:spPr>
          <a:xfrm>
            <a:off x="10149840" y="3401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000" dirty="0"/>
          </a:p>
        </p:txBody>
      </p:sp>
      <p:sp>
        <p:nvSpPr>
          <p:cNvPr id="20" name="Chip3"/>
          <p:cNvSpPr/>
          <p:nvPr/>
        </p:nvSpPr>
        <p:spPr>
          <a:xfrm>
            <a:off x="868680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00" dirty="0"/>
          </a:p>
        </p:txBody>
      </p:sp>
      <p:sp>
        <p:nvSpPr>
          <p:cNvPr id="21" name="Chip4"/>
          <p:cNvSpPr/>
          <p:nvPr/>
        </p:nvSpPr>
        <p:spPr>
          <a:xfrm>
            <a:off x="10149840" y="371246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F6F5C"/>
            </a:solidFill>
          </a:ln>
        </p:spPr>
        <p:txBody>
          <a:bodyPr wrap="square" lIns="36576" tIns="0" rIns="36576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care</a:t>
            </a:r>
            <a:endParaRPr lang="en-US" sz="1000" dirty="0"/>
          </a:p>
        </p:txBody>
      </p:sp>
      <p:sp>
        <p:nvSpPr>
          <p:cNvPr id="22" name="OutPend"/>
          <p:cNvSpPr/>
          <p:nvPr/>
        </p:nvSpPr>
        <p:spPr>
          <a:xfrm>
            <a:off x="530352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CEFD0"/>
          </a:solidFill>
          <a:ln w="12700">
            <a:solidFill>
              <a:srgbClr val="8A5A00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provider</a:t>
            </a:r>
            <a:endParaRPr lang="en-US" sz="1300" dirty="0"/>
          </a:p>
        </p:txBody>
      </p:sp>
      <p:sp>
        <p:nvSpPr>
          <p:cNvPr id="23" name="OutApprove"/>
          <p:cNvSpPr/>
          <p:nvPr/>
        </p:nvSpPr>
        <p:spPr>
          <a:xfrm>
            <a:off x="7315200" y="43434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DDF3E7"/>
          </a:solidFill>
          <a:ln w="12700">
            <a:solidFill>
              <a:srgbClr val="18764A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87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is complete</a:t>
            </a:r>
            <a:endParaRPr lang="en-US" sz="1300" dirty="0"/>
          </a:p>
        </p:txBody>
      </p:sp>
      <p:sp>
        <p:nvSpPr>
          <p:cNvPr id="24" name="OutEsc"/>
          <p:cNvSpPr/>
          <p:nvPr/>
        </p:nvSpPr>
        <p:spPr>
          <a:xfrm>
            <a:off x="9372600" y="43434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128016" tIns="36576" rIns="109728" bIns="3657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physician</a:t>
            </a:r>
            <a:endParaRPr lang="en-US" sz="1300" dirty="0"/>
          </a:p>
        </p:txBody>
      </p:sp>
      <p:sp>
        <p:nvSpPr>
          <p:cNvPr id="25" name="MD"/>
          <p:cNvSpPr/>
          <p:nvPr/>
        </p:nvSpPr>
        <p:spPr>
          <a:xfrm>
            <a:off x="8321040" y="5138928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BE2F8"/>
          </a:solidFill>
          <a:ln w="12700">
            <a:solidFill>
              <a:srgbClr val="5F3AA8"/>
            </a:solidFill>
          </a:ln>
        </p:spPr>
        <p:txBody>
          <a:bodyPr wrap="square" lIns="731520" tIns="27432" rIns="91440" bIns="27432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F3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Decides. Only role that can deny.</a:t>
            </a:r>
            <a:endParaRPr lang="en-US" sz="1200" dirty="0"/>
          </a:p>
        </p:txBody>
      </p:sp>
      <p:pic>
        <p:nvPicPr>
          <p:cNvPr id="26" name="AvM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5184648"/>
            <a:ext cx="475488" cy="475488"/>
          </a:xfrm>
          <a:prstGeom prst="rect">
            <a:avLst/>
          </a:prstGeom>
        </p:spPr>
      </p:pic>
      <p:sp>
        <p:nvSpPr>
          <p:cNvPr id="27" name="T4"/>
          <p:cNvSpPr/>
          <p:nvPr/>
        </p:nvSpPr>
        <p:spPr>
          <a:xfrm>
            <a:off x="5303520" y="513892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BE9E4"/>
          </a:solidFill>
          <a:ln w="12700">
            <a:solidFill>
              <a:srgbClr val="B8452F"/>
            </a:solidFill>
          </a:ln>
        </p:spPr>
        <p:txBody>
          <a:bodyPr wrap="square" lIns="109728" tIns="45720" rIns="109728" bIns="4572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denial can be appealed, and many are overturned.</a:t>
            </a:r>
            <a:endParaRPr lang="en-US" sz="1100" dirty="0"/>
          </a:p>
        </p:txBody>
      </p:sp>
      <p:sp>
        <p:nvSpPr>
          <p:cNvPr id="28" name="ArrFax"/>
          <p:cNvSpPr/>
          <p:nvPr/>
        </p:nvSpPr>
        <p:spPr>
          <a:xfrm>
            <a:off x="4297680" y="2446020"/>
            <a:ext cx="1005840" cy="0"/>
          </a:xfrm>
          <a:prstGeom prst="line">
            <a:avLst/>
          </a:prstGeom>
          <a:noFill/>
          <a:ln w="25400">
            <a:solidFill>
              <a:srgbClr val="B8452F"/>
            </a:solidFill>
            <a:prstDash val="dash"/>
            <a:tailEnd type="triangle"/>
          </a:ln>
        </p:spPr>
      </p:sp>
      <p:pic>
        <p:nvPicPr>
          <p:cNvPr id="29" name="IcFa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1901952"/>
            <a:ext cx="493776" cy="493776"/>
          </a:xfrm>
          <a:prstGeom prst="rect">
            <a:avLst/>
          </a:prstGeom>
        </p:spPr>
      </p:pic>
      <p:sp>
        <p:nvSpPr>
          <p:cNvPr id="30" name="LblFax"/>
          <p:cNvSpPr txBox="1"/>
          <p:nvPr/>
        </p:nvSpPr>
        <p:spPr>
          <a:xfrm>
            <a:off x="4315968" y="248716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</a:t>
            </a:r>
            <a:endParaRPr lang="en-US" sz="1100" dirty="0"/>
          </a:p>
        </p:txBody>
      </p:sp>
      <p:sp>
        <p:nvSpPr>
          <p:cNvPr id="31" name="ArrIn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2" name="ForkStub"/>
          <p:cNvSpPr/>
          <p:nvPr/>
        </p:nvSpPr>
        <p:spPr>
          <a:xfrm>
            <a:off x="6903720" y="4023360"/>
            <a:ext cx="0" cy="13716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3" name="ForkBar"/>
          <p:cNvSpPr/>
          <p:nvPr/>
        </p:nvSpPr>
        <p:spPr>
          <a:xfrm>
            <a:off x="6263640" y="4160520"/>
            <a:ext cx="4160520" cy="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</a:ln>
        </p:spPr>
      </p:sp>
      <p:sp>
        <p:nvSpPr>
          <p:cNvPr id="34" name="DropPend"/>
          <p:cNvSpPr/>
          <p:nvPr/>
        </p:nvSpPr>
        <p:spPr>
          <a:xfrm>
            <a:off x="626364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5" name="DropApprove"/>
          <p:cNvSpPr/>
          <p:nvPr/>
        </p:nvSpPr>
        <p:spPr>
          <a:xfrm>
            <a:off x="827532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6" name="DropEsc"/>
          <p:cNvSpPr/>
          <p:nvPr/>
        </p:nvSpPr>
        <p:spPr>
          <a:xfrm>
            <a:off x="10424160" y="4160520"/>
            <a:ext cx="0" cy="182880"/>
          </a:xfrm>
          <a:prstGeom prst="line">
            <a:avLst/>
          </a:prstGeom>
          <a:noFill/>
          <a:ln w="25400">
            <a:solidFill>
              <a:srgbClr val="5C6B66"/>
            </a:solidFill>
            <a:prstDash val="solid"/>
            <a:tailEnd type="triangle"/>
          </a:ln>
        </p:spPr>
      </p:sp>
      <p:sp>
        <p:nvSpPr>
          <p:cNvPr id="37" name="ArrMD"/>
          <p:cNvSpPr/>
          <p:nvPr/>
        </p:nvSpPr>
        <p:spPr>
          <a:xfrm>
            <a:off x="10424160" y="4983480"/>
            <a:ext cx="0" cy="155448"/>
          </a:xfrm>
          <a:prstGeom prst="line">
            <a:avLst/>
          </a:prstGeom>
          <a:noFill/>
          <a:ln w="25400">
            <a:solidFill>
              <a:srgbClr val="5F3AA8"/>
            </a:solidFill>
            <a:prstDash val="solid"/>
            <a:tailEnd type="triangle"/>
          </a:ln>
        </p:spPr>
      </p:sp>
      <p:sp>
        <p:nvSpPr>
          <p:cNvPr id="38" name="c12"/>
          <p:cNvSpPr txBox="1"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somebody doing their job correctly. The delay is built into the process.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prior authorization moves today</dc:title>
  <dc:subject>PptxGenJS Presentation</dc:subject>
  <dc:creator>Nisha Mishra</dc:creator>
  <cp:lastModifiedBy>Nisha Mishra</cp:lastModifiedBy>
  <cp:revision>1</cp:revision>
  <dcterms:created xsi:type="dcterms:W3CDTF">2026-10-04T01:24:40Z</dcterms:created>
  <dcterms:modified xsi:type="dcterms:W3CDTF">2026-10-04T01:24:40Z</dcterms:modified>
</cp:coreProperties>
</file>