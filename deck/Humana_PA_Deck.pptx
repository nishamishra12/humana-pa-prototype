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time. I'm going to walk through Prior Authorization Decision Support -- the use case I picked out of the seven options in the brief.
Before I show you anything I built, I want to spend the first part of this making sure we agree on the problem, because I think once you see the state of this today, the shape of the solution stops needing much of a sales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outside our specific case, with how big this problem already is. This comes from the American Medical Association's own physician survey -- a thousand physicians, surveyed December 2025, published this year. And I want to be precise about whose numbers these are: this is the provider's side. The hospital, the physician's office, the side submitting the request -- not the plan's side reviewing it. That matters, because it means this is real, external pressure the industry already recognizes, not something I'm asserting.
Here's what they said, and I want you to hear it as one story, not three numbers. Physicians spend thirteen hours a week on prior authorization paperwork -- that's the cost. Ninety-three percent say that cost becomes a delay for the patient on the other end -- that's the consequence. And twenty-six percent, one in four, say that delay has gone further than inconvenience, into a serious adverse event: hospitalization, permanent impairment, or death. That's the worst case, and it isn't rare enough to dismiss.
I'm showing you the provider's pain first, deliberately, because in a minute I'm going to show you the plan's side of this exact same transaction -- and it rhymes.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mechanism generating that cost, specifically inside Utilization Management. Walk it in ninety seconds, left to right.
Five lanes. Provider staff assemble a fourteen-page packet and fax it in. Intake runs an administrative check -- member, form, codes -- not a clinical one. It queues for a nurse. She reads all fourteen pages, and from there, three exits: approve, pend, or escalate.
I want to stop on the pend, because that loop is the one that costs days and adds nothing to the decision. The case goes back to the provider, they have to decode what's actually missing, resend it, and it re-enters the queue from zero -- sometimes read by a different nurse the second time.
Every box on this diagram is somebody doing their job correctly. The delay is structural. Nobody here is making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just watched the process end to end. Four people actually live inside it, and it's worth being precise about each one, because the solution has to work for all four, not just the nurse.
The UM nurse is the primary user. She reads the packet, applies policy, and decides or pends. She cannot issue a denial -- that's not in her authority.
Provider staff sit on the other end of that pend loop. They receive it, have to work out what's actually missing, and resend.
The medical director is where escalation goes -- the only person in this entire process who can actually deny a case.
And then there's the member -- John Doe, seventy-one, waiting on an elective lumbar spinal fusion. He has no visibility into any of this. I'm going to come back to that later as a deliberate scope decision,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that current state actually cause? Not hypothetically -- documented, this year. The HHS Office of Inspector General reviewed nineteen of the largest Medicare Advantage organizations, in two reports released June twenty twenty-six, using data from June twenty twenty-four.
Ninety-five percent of appealed skilled nursing facility denials were overturned. Forty-three percent of appealed inpatient rehab denials, up to eighty-six percent at some plans. Thirty-six percent of appealed long-term acute care denials.
Say that plainly: a denial overturned on appeal means the member should have been approved the first time. This isn't a hypothetical risk we're guarding against with design choices later. It's a documented, current failure, in this exact plan type,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walls closing at once here, and I want to walk through why each one matters, not just what it says.
First, January twenty twenty-six, live now. CMS-0057-F requires decisions within seventy-two hours for expedited requests and seven calendar days for standard ones, a specific reason on every denial, and prior authorization metrics reported publicly every year.
Second, January twenty twenty-seven, fifteen months out. Four FHIR APIs go live, including a Patient Access API that has to expose prior authorization status directly to the member.
And third -- the wall most people miss. California and Texas already prohibit AI from being the sole basis of a denial. Eleven or more states have introduced similar bills.
Put those together and turnaround stops being an efficiency number and starts being something you have to report. And here's the detail that changes the math on pending: pending a case does not stop that clock. A plan can take an extension of up to fourteen days, but only by justifying that the delay is in the member's interest, and notifying the member in writing. So if a case is sitting pended because of missing or confusing information, the clock is still running the entire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tell you what we should build, I want to show you what the industry has already concluded, because I don't think we should reinvent this part.
R1 RCM, one of the largest revenue cycle companies in the country, describes utilization management maturing in three stages. Fragmented -- review, escalation and appeals run as separate workflows, information doesn't reliably follow the case. That's today, and it's almost exactly the diagram I showed you earlier. Managed -- standardized timelines and shared visibility, but still learning retrospectively. And Intelligent -- connected context, earlier intervention, and a real feedback loop from denial and appeal outcomes.
On the payer side specifically, Cohere Health is the direct comparable. They automate up to ninety percent of requests and report a thirty-five to forty percent reduction in clinical review time. And their own public positioning says this, word for word: no request is denied exclusively by AI, only human clinical experts can make that call.
That's not caution I'm adding. That's the market leader's own headline. Every serious player here has already converged on the same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everything I've just walked through, here's what we're actually targeting.
The north star is the percentage of cases determined within the CMS clock -- the one number the member, the provider, the plan, and the regulator all care about simultaneously, and the one Humana now has to report publicly.
Underneath it, three levers. Avoidable pend rate -- pends caused by a fact that was determinable at submission. That one's sampled monthly, because someone has to judge whether a pend was actually avoidable. First-pass determination rate -- cases that reach a decision without a pend cycle at all, measured continuously. And reviewer minutes on clear-cut cases -- today a straightforward case costs almost as much as a hard one. I've marked that one Phase 2, because we haven't earned the trust to claim it yet.
And one guardrail, which matters more than any of the three levers: no increase in determinations overturned on appeal. Every one of those three levers can be gamed by just approving more. This is the number that stops that from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precise about where the money actually is, because it's easy to overstate this.
CMS pays Humana a fixed amount per member, per month -- in this illustration, a thousand dollars. That's revenue. It doesn't move based on how well UM runs. Medical Loss Ratio requires at least eighty-five percent of that go out as actual medical care -- not optional. What's left, at most fifteen percent, covers everything else: running the company, staff, UM, and profit. That's the only part our work touches. Cutting UM cost from, say, thirty dollars to ten inside that fifteen percent doesn't bring in a single extra dollar of revenue. It turns twenty dollars of cost into twenty dollars of margin, on the exact same thousand.
So how does improving UM efficiency actually get to that margin? A case decided right the first time never enters the expensive path -- review, denial, appeal, reversal. Every step of that path costs money inside that same fifteen percent. And we know how often that path gets walked anyway, because the OIG data already showed us: ninety-five percent of appealed SNF denials end up overturned. Every one of those was money spent on a decision that should have taken one step instead of four. That's the actual lever -- not the volume of approvals or denials, needing fewer of those extra steps at all.
One footnote, held lightly: appeals-related measures used to feed Star Ratings, and a higher Star Rating is real revenue, not just margin. CMS is retiring that specific measure for Star Year twenty twenty-nine, because plans got too uniformly good at it to differentiate -- but they've been asked to find a replacement that measures this same thing. I wouldn't build the case on that alone, but it's a real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directly onto the maturity model I just showed you. Today, we're Fragmented -- that's the diagram from earlier. This prototype is the deliberate move to Managed: the completeness gate, targeting avoidable pend rate and first-pass determination rate specifically.
Intelligent is Phase 2 and beyond, and it's three things, not one. Gated auto-approve, once evals prove it out, targets reviewer minutes. A true feedback loop from denial and appeal outcomes is the fully realized version of this. And member-facing visibility, which the 2027 Patient Access API requires anyway, belongs here too -- not bolted onto Phase 1, where we haven't earned the operational maturity for it yet.
I'll say the honest part again: Phase 1 does not claim reviewer-time savings. We don't have evals data to back that claim on day one. Phase 2 earns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aspirations, they're the acceptance bar. If the prototype violates any one of these, it doesn't ship, no matter how good the demo looks otherwise.
First: never recommend or execute a denial. Escalation only -- a human, the medical director, decides every single denial. That's not a design choice, that's the law in at least two states already, as we just saw.
Second: every recommendation has to name its source -- which tier of the hierarchy drove it, NCD, LCD, Humana policy, or MCG. CMS specifically restricts what MCG and InterQual are allowed to do relative to Medicare's own criteria, so this isn't optional either.
Third, and this is where precision and recall actually live: two separate signals, both tuned for recall, not one blanket target. Completeness detection and criteria-met detection both have to err toward catching a gap or catching supporting evidence, never missing one. Missing supporting evidence is exactly the mechanism behind a wrongful escalation, and potentially a wrongful denial.
Fourth: the approve action itself is gated separately, on precision. High recall on detection underneath, but a stricter confidence bar before the system ever actually recommends approving something. Two different jobs, two different tolerances, and they don't conflict, because they sit at different points in the pipeline.
Fifth: when a fact is missing, the system drafts one targeted question, derived from the specific policy that applies, not a generic pend notice. That's the mechanism that actually closes the loop we saw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constraints that decide whether those five requirements are even achievable.
Auditability -- every output has to be traceable to its source page and its citation. Regulatory, not a nice-to-have, given everything we just covered.
Latency -- this is an interactive review. Seconds, not minutes, or the nurse simply stops using it.
Confidence as a first-class state -- uncertain has to be a real, distinct output. Never forced into a false met or not-met.
Reproducibility -- same packet, same policy version, same output. Matters the moment any of this is ever audited, which given the regulatory environment, it will be.
And last: human-in-the-loop is architectural, not a setting. It can't be something that gets quietly switched off under pressure eighteen months from now. It has to be load-bearing in the design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we're deliberately not building, and I'd rather tell you than have you find the gaps yourselves.
The AI may auto-approve. It may never auto-deny. A wrong approval means paying for care that probably met criteria anyway -- recoverable. A wrong denial means a member is denied care they were entitled to -- irreversible, appealable, and a regulated event. California and Texas already prohibit AI from being the sole basis of a denial, which keeps us ahead of where the law is going, not just cautious.
Appeals and peer-to-peer review stay out of scope. That's a separate, regulated process with its own timeline under 42 CFR 422. I'm naming that boundary rather than letting you assume we solved it.
We're not solving reviewer-to-reviewer variability. Citations should help, since two reviewers looking at the same cited criteria should land closer together, but consistency isn't what we're optimising for here, and I don't want to claim it.
And the member stays out of version one. Visibility is the right thing, and it's coming anyway under the 2027 Patient Access API -- it's a named later phase, not a gap we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piece of context before the prototype. This hierarchy isn't a design preference we invented -- it's a legal constraint. CMS-4201-F specifically says Medicare Advantage plans may not use MCG or InterQual to change coverage criteria already established under Traditional Medicare. Those commercial tools can only help build internal criteria where Medicare's own guidance is silent.
So if an NCD or an LCD covers the service, that governs, full stop. Which is why every recommendation in what I'm about to show you names which source drove it. Citation isn't a trust feature we added for polish. It's a compliance requirement.
Let's look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E33"/>
        </a:solidFill>
      </p:bgPr>
    </p:bg>
    <p:spTree>
      <p:nvGrpSpPr>
        <p:cNvPr id="1" name=""/>
        <p:cNvGrpSpPr/>
        <p:nvPr/>
      </p:nvGrpSpPr>
      <p:grpSpPr>
        <a:xfrm>
          <a:off x="0" y="0"/>
          <a:ext cx="0" cy="0"/>
          <a:chOff x="0" y="0"/>
          <a:chExt cx="0" cy="0"/>
        </a:xfrm>
      </p:grpSpPr>
      <p:sp>
        <p:nvSpPr>
          <p:cNvPr id="2" name="Text 0"/>
          <p:cNvSpPr txBox="1"/>
          <p:nvPr/>
        </p:nvSpPr>
        <p:spPr>
          <a:xfrm>
            <a:off x="640080" y="1234440"/>
            <a:ext cx="10908792" cy="274320"/>
          </a:xfrm>
          <a:prstGeom prst="rect">
            <a:avLst/>
          </a:prstGeom>
          <a:noFill/>
          <a:ln/>
        </p:spPr>
        <p:txBody>
          <a:bodyPr wrap="square" lIns="0" tIns="0" rIns="0" bIns="0" rtlCol="0" anchor="ctr"/>
          <a:lstStyle/>
          <a:p>
            <a:pPr indent="0" marL="0">
              <a:buNone/>
            </a:pPr>
            <a:r>
              <a:rPr lang="en-US" sz="1150" b="1" spc="260" kern="0" dirty="0">
                <a:solidFill>
                  <a:srgbClr val="8FC9B5"/>
                </a:solidFill>
                <a:latin typeface="Calibri" pitchFamily="34" charset="0"/>
                <a:ea typeface="Calibri" pitchFamily="34" charset="-122"/>
                <a:cs typeface="Calibri" pitchFamily="34" charset="-120"/>
              </a:rPr>
              <a:t>USE CASE 1   /   UTILIZATION MANAGEMENT</a:t>
            </a:r>
            <a:endParaRPr lang="en-US" sz="1150" dirty="0"/>
          </a:p>
        </p:txBody>
      </p:sp>
      <p:sp>
        <p:nvSpPr>
          <p:cNvPr id="3" name="Text 1"/>
          <p:cNvSpPr txBox="1"/>
          <p:nvPr/>
        </p:nvSpPr>
        <p:spPr>
          <a:xfrm>
            <a:off x="640080" y="1645920"/>
            <a:ext cx="8727034" cy="1737360"/>
          </a:xfrm>
          <a:prstGeom prst="rect">
            <a:avLst/>
          </a:prstGeom>
          <a:noFill/>
          <a:ln/>
        </p:spPr>
        <p:txBody>
          <a:bodyPr wrap="square" lIns="0" tIns="0" rIns="0" bIns="0" rtlCol="0" anchor="ctr"/>
          <a:lstStyle/>
          <a:p>
            <a:pPr indent="0" marL="0">
              <a:lnSpc>
                <a:spcPct val="102000"/>
              </a:lnSpc>
              <a:buNone/>
            </a:pPr>
            <a:r>
              <a:rPr lang="en-US" sz="4600" dirty="0">
                <a:solidFill>
                  <a:srgbClr val="FFFFFF"/>
                </a:solidFill>
                <a:latin typeface="Cambria" pitchFamily="34" charset="0"/>
                <a:ea typeface="Cambria" pitchFamily="34" charset="-122"/>
                <a:cs typeface="Cambria" pitchFamily="34" charset="-120"/>
              </a:rPr>
              <a:t>Prior Authorization</a:t>
            </a:r>
            <a:endParaRPr lang="en-US" sz="4600" dirty="0"/>
          </a:p>
          <a:p>
            <a:pPr indent="0" marL="0">
              <a:lnSpc>
                <a:spcPct val="102000"/>
              </a:lnSpc>
              <a:buNone/>
            </a:pPr>
            <a:r>
              <a:rPr lang="en-US" sz="4600" dirty="0">
                <a:solidFill>
                  <a:srgbClr val="FFFFFF"/>
                </a:solidFill>
                <a:latin typeface="Cambria" pitchFamily="34" charset="0"/>
                <a:ea typeface="Cambria" pitchFamily="34" charset="-122"/>
                <a:cs typeface="Cambria" pitchFamily="34" charset="-120"/>
              </a:rPr>
              <a:t>Decision Support</a:t>
            </a:r>
            <a:endParaRPr lang="en-US" sz="4600" dirty="0"/>
          </a:p>
        </p:txBody>
      </p:sp>
      <p:sp>
        <p:nvSpPr>
          <p:cNvPr id="4" name="Text 2"/>
          <p:cNvSpPr txBox="1"/>
          <p:nvPr/>
        </p:nvSpPr>
        <p:spPr>
          <a:xfrm>
            <a:off x="640080" y="3474720"/>
            <a:ext cx="6763451" cy="685800"/>
          </a:xfrm>
          <a:prstGeom prst="rect">
            <a:avLst/>
          </a:prstGeom>
          <a:noFill/>
          <a:ln/>
        </p:spPr>
        <p:txBody>
          <a:bodyPr wrap="square" lIns="0" tIns="0" rIns="0" bIns="0" rtlCol="0" anchor="ctr"/>
          <a:lstStyle/>
          <a:p>
            <a:pPr indent="0" marL="0">
              <a:buNone/>
            </a:pPr>
            <a:r>
              <a:rPr lang="en-US" sz="1600" dirty="0">
                <a:solidFill>
                  <a:srgbClr val="CFE3DA"/>
                </a:solidFill>
                <a:latin typeface="Calibri" pitchFamily="34" charset="0"/>
                <a:ea typeface="Calibri" pitchFamily="34" charset="-122"/>
                <a:cs typeface="Calibri" pitchFamily="34" charset="-120"/>
              </a:rPr>
              <a:t>Turning a stack of faxed clinical documents into a cited coverage decision, with a human in charge of every hard call.</a:t>
            </a:r>
            <a:endParaRPr lang="en-US" sz="1600" dirty="0"/>
          </a:p>
        </p:txBody>
      </p:sp>
      <p:sp>
        <p:nvSpPr>
          <p:cNvPr id="5" name="Text 3"/>
          <p:cNvSpPr txBox="1"/>
          <p:nvPr/>
        </p:nvSpPr>
        <p:spPr>
          <a:xfrm>
            <a:off x="640080" y="4462272"/>
            <a:ext cx="6327099" cy="640080"/>
          </a:xfrm>
          <a:prstGeom prst="rect">
            <a:avLst/>
          </a:prstGeom>
          <a:noFill/>
          <a:ln/>
        </p:spPr>
        <p:txBody>
          <a:bodyPr wrap="square" lIns="0" tIns="0" rIns="0" bIns="0" rtlCol="0" anchor="ctr"/>
          <a:lstStyle/>
          <a:p>
            <a:pPr indent="0" marL="0">
              <a:buNone/>
            </a:pPr>
            <a:r>
              <a:rPr lang="en-US" sz="1250" i="1" dirty="0">
                <a:solidFill>
                  <a:srgbClr val="9CBCB0"/>
                </a:solidFill>
                <a:latin typeface="Calibri" pitchFamily="34" charset="0"/>
                <a:ea typeface="Calibri" pitchFamily="34" charset="-122"/>
                <a:cs typeface="Calibri" pitchFamily="34" charset="-120"/>
              </a:rPr>
              <a:t>Chosen because the hardest part is not the clinical judgement. It is that the judgement cannot start until someone has found four facts in fourteen pages.</a:t>
            </a:r>
            <a:endParaRPr lang="en-US" sz="1250" dirty="0"/>
          </a:p>
        </p:txBody>
      </p:sp>
      <p:sp>
        <p:nvSpPr>
          <p:cNvPr id="6" name="Text 4"/>
          <p:cNvSpPr txBox="1"/>
          <p:nvPr/>
        </p:nvSpPr>
        <p:spPr>
          <a:xfrm>
            <a:off x="640080" y="5989320"/>
            <a:ext cx="3657600" cy="274320"/>
          </a:xfrm>
          <a:prstGeom prst="rect">
            <a:avLst/>
          </a:prstGeom>
          <a:noFill/>
          <a:ln/>
        </p:spPr>
        <p:txBody>
          <a:bodyPr wrap="square" lIns="0" tIns="0" rIns="0" bIns="0" rtlCol="0" anchor="ctr"/>
          <a:lstStyle/>
          <a:p>
            <a:pPr indent="0" marL="0">
              <a:buNone/>
            </a:pPr>
            <a:r>
              <a:rPr lang="en-US" sz="1200" dirty="0">
                <a:solidFill>
                  <a:srgbClr val="8FC9B5"/>
                </a:solidFill>
                <a:latin typeface="Calibri" pitchFamily="34" charset="0"/>
                <a:ea typeface="Calibri" pitchFamily="34" charset="-122"/>
                <a:cs typeface="Calibri" pitchFamily="34" charset="-120"/>
              </a:rPr>
              <a:t>Nisha Mishra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41512"/>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40" kern="0" dirty="0">
                <a:solidFill>
                  <a:srgbClr val="C79F94"/>
                </a:solidFill>
                <a:latin typeface="Calibri" pitchFamily="34" charset="0"/>
                <a:ea typeface="Calibri" pitchFamily="34" charset="-122"/>
                <a:cs typeface="Calibri" pitchFamily="34" charset="-120"/>
              </a:rPr>
              <a:t>THE PROBLEM, INDUSTRY-WIDE</a:t>
            </a:r>
            <a:endParaRPr lang="en-US" sz="1100" dirty="0"/>
          </a:p>
        </p:txBody>
      </p:sp>
      <p:sp>
        <p:nvSpPr>
          <p:cNvPr id="3" name="Text 1"/>
          <p:cNvSpPr txBox="1"/>
          <p:nvPr/>
        </p:nvSpPr>
        <p:spPr>
          <a:xfrm>
            <a:off x="640080" y="749808"/>
            <a:ext cx="10908792" cy="502920"/>
          </a:xfrm>
          <a:prstGeom prst="rect">
            <a:avLst/>
          </a:prstGeom>
          <a:noFill/>
          <a:ln/>
        </p:spPr>
        <p:txBody>
          <a:bodyPr wrap="square" lIns="0" tIns="0" rIns="0" bIns="0" rtlCol="0" anchor="ctr"/>
          <a:lstStyle/>
          <a:p>
            <a:pPr indent="0" marL="0">
              <a:buNone/>
            </a:pPr>
            <a:r>
              <a:rPr lang="en-US" sz="2700" dirty="0">
                <a:solidFill>
                  <a:srgbClr val="FFFFFF"/>
                </a:solidFill>
                <a:latin typeface="Cambria" pitchFamily="34" charset="0"/>
                <a:ea typeface="Cambria" pitchFamily="34" charset="-122"/>
                <a:cs typeface="Cambria" pitchFamily="34" charset="-120"/>
              </a:rPr>
              <a:t>Prior authorization is already a national problem.</a:t>
            </a:r>
            <a:endParaRPr lang="en-US" sz="2700" dirty="0"/>
          </a:p>
        </p:txBody>
      </p:sp>
      <p:sp>
        <p:nvSpPr>
          <p:cNvPr id="4" name="Text 2"/>
          <p:cNvSpPr txBox="1"/>
          <p:nvPr/>
        </p:nvSpPr>
        <p:spPr>
          <a:xfrm>
            <a:off x="640080" y="1353312"/>
            <a:ext cx="10036089" cy="548640"/>
          </a:xfrm>
          <a:prstGeom prst="rect">
            <a:avLst/>
          </a:prstGeom>
          <a:noFill/>
          <a:ln/>
        </p:spPr>
        <p:txBody>
          <a:bodyPr wrap="square" lIns="0" tIns="0" rIns="0" bIns="0" rtlCol="0" anchor="ctr"/>
          <a:lstStyle/>
          <a:p>
            <a:pPr indent="0" marL="0">
              <a:buNone/>
            </a:pPr>
            <a:r>
              <a:rPr lang="en-US" sz="1250" i="1" dirty="0">
                <a:solidFill>
                  <a:srgbClr val="B39F98"/>
                </a:solidFill>
                <a:latin typeface="Calibri" pitchFamily="34" charset="0"/>
                <a:ea typeface="Calibri" pitchFamily="34" charset="-122"/>
                <a:cs typeface="Calibri" pitchFamily="34" charset="-120"/>
              </a:rPr>
              <a:t>The American Medical Association surveyed 1,000 physicians in December 2025, published 2026. This is the provider's side of the transaction — the side submitting requests, not the plan's side deciding them.</a:t>
            </a:r>
            <a:endParaRPr lang="en-US" sz="1250" dirty="0"/>
          </a:p>
        </p:txBody>
      </p:sp>
      <p:sp>
        <p:nvSpPr>
          <p:cNvPr id="5" name="Text 3"/>
          <p:cNvSpPr txBox="1"/>
          <p:nvPr/>
        </p:nvSpPr>
        <p:spPr>
          <a:xfrm>
            <a:off x="640080" y="2148840"/>
            <a:ext cx="3657600" cy="219456"/>
          </a:xfrm>
          <a:prstGeom prst="rect">
            <a:avLst/>
          </a:prstGeom>
          <a:noFill/>
          <a:ln/>
        </p:spPr>
        <p:txBody>
          <a:bodyPr wrap="square" lIns="0" tIns="0" rIns="0" bIns="0" rtlCol="0" anchor="ctr"/>
          <a:lstStyle/>
          <a:p>
            <a:pPr indent="0" marL="0">
              <a:buNone/>
            </a:pPr>
            <a:r>
              <a:rPr lang="en-US" sz="900" b="1" spc="160" kern="0" dirty="0">
                <a:solidFill>
                  <a:srgbClr val="8C6E66"/>
                </a:solidFill>
                <a:latin typeface="Calibri" pitchFamily="34" charset="0"/>
                <a:ea typeface="Calibri" pitchFamily="34" charset="-122"/>
                <a:cs typeface="Calibri" pitchFamily="34" charset="-120"/>
              </a:rPr>
              <a:t>THE COST</a:t>
            </a:r>
            <a:endParaRPr lang="en-US" sz="900" dirty="0"/>
          </a:p>
        </p:txBody>
      </p:sp>
      <p:sp>
        <p:nvSpPr>
          <p:cNvPr id="6" name="Text 4"/>
          <p:cNvSpPr txBox="1"/>
          <p:nvPr/>
        </p:nvSpPr>
        <p:spPr>
          <a:xfrm>
            <a:off x="640080" y="2350008"/>
            <a:ext cx="3931920" cy="777240"/>
          </a:xfrm>
          <a:prstGeom prst="rect">
            <a:avLst/>
          </a:prstGeom>
          <a:noFill/>
          <a:ln/>
        </p:spPr>
        <p:txBody>
          <a:bodyPr wrap="square" lIns="0" tIns="0" rIns="0" bIns="0" rtlCol="0" anchor="t"/>
          <a:lstStyle/>
          <a:p>
            <a:pPr indent="0" marL="0">
              <a:buNone/>
            </a:pPr>
            <a:r>
              <a:rPr lang="en-US" sz="4000" dirty="0">
                <a:solidFill>
                  <a:srgbClr val="FFFFFF"/>
                </a:solidFill>
                <a:latin typeface="Cambria" pitchFamily="34" charset="0"/>
                <a:ea typeface="Cambria" pitchFamily="34" charset="-122"/>
                <a:cs typeface="Cambria" pitchFamily="34" charset="-120"/>
              </a:rPr>
              <a:t>13 hours</a:t>
            </a:r>
            <a:endParaRPr lang="en-US" sz="4000" dirty="0"/>
          </a:p>
        </p:txBody>
      </p:sp>
      <p:sp>
        <p:nvSpPr>
          <p:cNvPr id="7" name="Text 5"/>
          <p:cNvSpPr txBox="1"/>
          <p:nvPr/>
        </p:nvSpPr>
        <p:spPr>
          <a:xfrm>
            <a:off x="4800600" y="2423160"/>
            <a:ext cx="6748272" cy="777240"/>
          </a:xfrm>
          <a:prstGeom prst="rect">
            <a:avLst/>
          </a:prstGeom>
          <a:noFill/>
          <a:ln/>
        </p:spPr>
        <p:txBody>
          <a:bodyPr wrap="square" lIns="0" tIns="0" rIns="0" bIns="0" rtlCol="0" anchor="t"/>
          <a:lstStyle/>
          <a:p>
            <a:pPr indent="0" marL="0">
              <a:buNone/>
            </a:pPr>
            <a:r>
              <a:rPr lang="en-US" sz="1400" dirty="0">
                <a:solidFill>
                  <a:srgbClr val="D8CFC9"/>
                </a:solidFill>
                <a:latin typeface="Calibri" pitchFamily="34" charset="0"/>
                <a:ea typeface="Calibri" pitchFamily="34" charset="-122"/>
                <a:cs typeface="Calibri" pitchFamily="34" charset="-120"/>
              </a:rPr>
              <a:t>a week spent on prior authorization paperwork — before a request even reaches a plan</a:t>
            </a:r>
            <a:endParaRPr lang="en-US" sz="1400" dirty="0"/>
          </a:p>
        </p:txBody>
      </p:sp>
      <p:sp>
        <p:nvSpPr>
          <p:cNvPr id="8" name="Shape 6"/>
          <p:cNvSpPr/>
          <p:nvPr/>
        </p:nvSpPr>
        <p:spPr>
          <a:xfrm>
            <a:off x="640080" y="3081528"/>
            <a:ext cx="10908792" cy="0"/>
          </a:xfrm>
          <a:prstGeom prst="line">
            <a:avLst/>
          </a:prstGeom>
          <a:noFill/>
          <a:ln w="9525">
            <a:solidFill>
              <a:srgbClr val="3A2B26"/>
            </a:solidFill>
            <a:prstDash val="solid"/>
          </a:ln>
        </p:spPr>
      </p:sp>
      <p:sp>
        <p:nvSpPr>
          <p:cNvPr id="9" name="Text 7"/>
          <p:cNvSpPr txBox="1"/>
          <p:nvPr/>
        </p:nvSpPr>
        <p:spPr>
          <a:xfrm>
            <a:off x="640080" y="3355848"/>
            <a:ext cx="3657600" cy="219456"/>
          </a:xfrm>
          <a:prstGeom prst="rect">
            <a:avLst/>
          </a:prstGeom>
          <a:noFill/>
          <a:ln/>
        </p:spPr>
        <p:txBody>
          <a:bodyPr wrap="square" lIns="0" tIns="0" rIns="0" bIns="0" rtlCol="0" anchor="ctr"/>
          <a:lstStyle/>
          <a:p>
            <a:pPr indent="0" marL="0">
              <a:buNone/>
            </a:pPr>
            <a:r>
              <a:rPr lang="en-US" sz="900" b="1" spc="160" kern="0" dirty="0">
                <a:solidFill>
                  <a:srgbClr val="8C6E66"/>
                </a:solidFill>
                <a:latin typeface="Calibri" pitchFamily="34" charset="0"/>
                <a:ea typeface="Calibri" pitchFamily="34" charset="-122"/>
                <a:cs typeface="Calibri" pitchFamily="34" charset="-120"/>
              </a:rPr>
              <a:t>THE CONSEQUENCE</a:t>
            </a:r>
            <a:endParaRPr lang="en-US" sz="900" dirty="0"/>
          </a:p>
        </p:txBody>
      </p:sp>
      <p:sp>
        <p:nvSpPr>
          <p:cNvPr id="10" name="Text 8"/>
          <p:cNvSpPr txBox="1"/>
          <p:nvPr/>
        </p:nvSpPr>
        <p:spPr>
          <a:xfrm>
            <a:off x="640080" y="3557016"/>
            <a:ext cx="3931920" cy="777240"/>
          </a:xfrm>
          <a:prstGeom prst="rect">
            <a:avLst/>
          </a:prstGeom>
          <a:noFill/>
          <a:ln/>
        </p:spPr>
        <p:txBody>
          <a:bodyPr wrap="square" lIns="0" tIns="0" rIns="0" bIns="0" rtlCol="0" anchor="t"/>
          <a:lstStyle/>
          <a:p>
            <a:pPr indent="0" marL="0">
              <a:buNone/>
            </a:pPr>
            <a:r>
              <a:rPr lang="en-US" sz="4000" dirty="0">
                <a:solidFill>
                  <a:srgbClr val="FFFFFF"/>
                </a:solidFill>
                <a:latin typeface="Cambria" pitchFamily="34" charset="0"/>
                <a:ea typeface="Cambria" pitchFamily="34" charset="-122"/>
                <a:cs typeface="Cambria" pitchFamily="34" charset="-120"/>
              </a:rPr>
              <a:t>93%</a:t>
            </a:r>
            <a:endParaRPr lang="en-US" sz="4000" dirty="0"/>
          </a:p>
        </p:txBody>
      </p:sp>
      <p:sp>
        <p:nvSpPr>
          <p:cNvPr id="11" name="Text 9"/>
          <p:cNvSpPr txBox="1"/>
          <p:nvPr/>
        </p:nvSpPr>
        <p:spPr>
          <a:xfrm>
            <a:off x="4800600" y="3630168"/>
            <a:ext cx="6748272" cy="777240"/>
          </a:xfrm>
          <a:prstGeom prst="rect">
            <a:avLst/>
          </a:prstGeom>
          <a:noFill/>
          <a:ln/>
        </p:spPr>
        <p:txBody>
          <a:bodyPr wrap="square" lIns="0" tIns="0" rIns="0" bIns="0" rtlCol="0" anchor="t"/>
          <a:lstStyle/>
          <a:p>
            <a:pPr indent="0" marL="0">
              <a:buNone/>
            </a:pPr>
            <a:r>
              <a:rPr lang="en-US" sz="1400" dirty="0">
                <a:solidFill>
                  <a:srgbClr val="D8CFC9"/>
                </a:solidFill>
                <a:latin typeface="Calibri" pitchFamily="34" charset="0"/>
                <a:ea typeface="Calibri" pitchFamily="34" charset="-122"/>
                <a:cs typeface="Calibri" pitchFamily="34" charset="-120"/>
              </a:rPr>
              <a:t>say that cost becomes a delay for the patient on the other end</a:t>
            </a:r>
            <a:endParaRPr lang="en-US" sz="1400" dirty="0"/>
          </a:p>
        </p:txBody>
      </p:sp>
      <p:sp>
        <p:nvSpPr>
          <p:cNvPr id="12" name="Shape 10"/>
          <p:cNvSpPr/>
          <p:nvPr/>
        </p:nvSpPr>
        <p:spPr>
          <a:xfrm>
            <a:off x="640080" y="4288536"/>
            <a:ext cx="10908792" cy="0"/>
          </a:xfrm>
          <a:prstGeom prst="line">
            <a:avLst/>
          </a:prstGeom>
          <a:noFill/>
          <a:ln w="9525">
            <a:solidFill>
              <a:srgbClr val="3A2B26"/>
            </a:solidFill>
            <a:prstDash val="solid"/>
          </a:ln>
        </p:spPr>
      </p:sp>
      <p:sp>
        <p:nvSpPr>
          <p:cNvPr id="13" name="Text 11"/>
          <p:cNvSpPr txBox="1"/>
          <p:nvPr/>
        </p:nvSpPr>
        <p:spPr>
          <a:xfrm>
            <a:off x="640080" y="4562856"/>
            <a:ext cx="3657600" cy="219456"/>
          </a:xfrm>
          <a:prstGeom prst="rect">
            <a:avLst/>
          </a:prstGeom>
          <a:noFill/>
          <a:ln/>
        </p:spPr>
        <p:txBody>
          <a:bodyPr wrap="square" lIns="0" tIns="0" rIns="0" bIns="0" rtlCol="0" anchor="ctr"/>
          <a:lstStyle/>
          <a:p>
            <a:pPr indent="0" marL="0">
              <a:buNone/>
            </a:pPr>
            <a:r>
              <a:rPr lang="en-US" sz="900" b="1" spc="160" kern="0" dirty="0">
                <a:solidFill>
                  <a:srgbClr val="8C6E66"/>
                </a:solidFill>
                <a:latin typeface="Calibri" pitchFamily="34" charset="0"/>
                <a:ea typeface="Calibri" pitchFamily="34" charset="-122"/>
                <a:cs typeface="Calibri" pitchFamily="34" charset="-120"/>
              </a:rPr>
              <a:t>THE WORST CASE</a:t>
            </a:r>
            <a:endParaRPr lang="en-US" sz="900" dirty="0"/>
          </a:p>
        </p:txBody>
      </p:sp>
      <p:sp>
        <p:nvSpPr>
          <p:cNvPr id="14" name="Text 12"/>
          <p:cNvSpPr txBox="1"/>
          <p:nvPr/>
        </p:nvSpPr>
        <p:spPr>
          <a:xfrm>
            <a:off x="640080" y="4764024"/>
            <a:ext cx="3931920" cy="777240"/>
          </a:xfrm>
          <a:prstGeom prst="rect">
            <a:avLst/>
          </a:prstGeom>
          <a:noFill/>
          <a:ln/>
        </p:spPr>
        <p:txBody>
          <a:bodyPr wrap="square" lIns="0" tIns="0" rIns="0" bIns="0" rtlCol="0" anchor="t"/>
          <a:lstStyle/>
          <a:p>
            <a:pPr indent="0" marL="0">
              <a:buNone/>
            </a:pPr>
            <a:r>
              <a:rPr lang="en-US" sz="4600" dirty="0">
                <a:solidFill>
                  <a:srgbClr val="E08B7E"/>
                </a:solidFill>
                <a:latin typeface="Cambria" pitchFamily="34" charset="0"/>
                <a:ea typeface="Cambria" pitchFamily="34" charset="-122"/>
                <a:cs typeface="Cambria" pitchFamily="34" charset="-120"/>
              </a:rPr>
              <a:t>26%</a:t>
            </a:r>
            <a:endParaRPr lang="en-US" sz="4600" dirty="0"/>
          </a:p>
        </p:txBody>
      </p:sp>
      <p:sp>
        <p:nvSpPr>
          <p:cNvPr id="15" name="Text 13"/>
          <p:cNvSpPr txBox="1"/>
          <p:nvPr/>
        </p:nvSpPr>
        <p:spPr>
          <a:xfrm>
            <a:off x="4800600" y="4837176"/>
            <a:ext cx="6748272" cy="777240"/>
          </a:xfrm>
          <a:prstGeom prst="rect">
            <a:avLst/>
          </a:prstGeom>
          <a:noFill/>
          <a:ln/>
        </p:spPr>
        <p:txBody>
          <a:bodyPr wrap="square" lIns="0" tIns="0" rIns="0" bIns="0" rtlCol="0" anchor="t"/>
          <a:lstStyle/>
          <a:p>
            <a:pPr indent="0" marL="0">
              <a:buNone/>
            </a:pPr>
            <a:r>
              <a:rPr lang="en-US" sz="1400" dirty="0">
                <a:solidFill>
                  <a:srgbClr val="E9C2BA"/>
                </a:solidFill>
                <a:latin typeface="Calibri" pitchFamily="34" charset="0"/>
                <a:ea typeface="Calibri" pitchFamily="34" charset="-122"/>
                <a:cs typeface="Calibri" pitchFamily="34" charset="-120"/>
              </a:rPr>
              <a:t>say that delay has gone further than inconvenience — a serious adverse event: hospitalization, permanent impairment, or death</a:t>
            </a:r>
            <a:endParaRPr lang="en-US" sz="1400" dirty="0"/>
          </a:p>
        </p:txBody>
      </p:sp>
      <p:sp>
        <p:nvSpPr>
          <p:cNvPr id="16" name="Text 14"/>
          <p:cNvSpPr txBox="1"/>
          <p:nvPr/>
        </p:nvSpPr>
        <p:spPr>
          <a:xfrm>
            <a:off x="640080" y="6400800"/>
            <a:ext cx="10908792" cy="274320"/>
          </a:xfrm>
          <a:prstGeom prst="rect">
            <a:avLst/>
          </a:prstGeom>
          <a:noFill/>
          <a:ln/>
        </p:spPr>
        <p:txBody>
          <a:bodyPr wrap="square" lIns="0" tIns="0" rIns="0" bIns="0" rtlCol="0" anchor="ctr"/>
          <a:lstStyle/>
          <a:p>
            <a:pPr indent="0" marL="0">
              <a:buNone/>
            </a:pPr>
            <a:r>
              <a:rPr lang="en-US" sz="900" b="1" spc="120" kern="0" dirty="0">
                <a:solidFill>
                  <a:srgbClr val="8C6E66"/>
                </a:solidFill>
                <a:latin typeface="Calibri" pitchFamily="34" charset="0"/>
                <a:ea typeface="Calibri" pitchFamily="34" charset="-122"/>
                <a:cs typeface="Calibri" pitchFamily="34" charset="-120"/>
              </a:rPr>
              <a:t>SOURCE   American Medical Association, 2025 Prior Authorization Physician Survey (published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1F6F5C"/>
                </a:solidFill>
                <a:latin typeface="Calibri" pitchFamily="34" charset="0"/>
                <a:ea typeface="Calibri" pitchFamily="34" charset="-122"/>
                <a:cs typeface="Calibri" pitchFamily="34" charset="-120"/>
              </a:rPr>
              <a:t>CURRENT STATE</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How a prior authorization moves today.</a:t>
            </a:r>
            <a:endParaRPr lang="en-US" sz="3200" dirty="0"/>
          </a:p>
        </p:txBody>
      </p:sp>
      <p:sp>
        <p:nvSpPr>
          <p:cNvPr id="4" name="Text 2"/>
          <p:cNvSpPr txBox="1"/>
          <p:nvPr/>
        </p:nvSpPr>
        <p:spPr>
          <a:xfrm>
            <a:off x="640080" y="1371600"/>
            <a:ext cx="9272473" cy="384048"/>
          </a:xfrm>
          <a:prstGeom prst="rect">
            <a:avLst/>
          </a:prstGeom>
          <a:noFill/>
          <a:ln/>
        </p:spPr>
        <p:txBody>
          <a:bodyPr wrap="square" lIns="0" tIns="0" rIns="0" bIns="0" rtlCol="0" anchor="ctr"/>
          <a:lstStyle/>
          <a:p>
            <a:pPr indent="0" marL="0">
              <a:buNone/>
            </a:pPr>
            <a:r>
              <a:rPr lang="en-US" sz="1400" dirty="0">
                <a:solidFill>
                  <a:srgbClr val="5C6B66"/>
                </a:solidFill>
                <a:latin typeface="Calibri" pitchFamily="34" charset="0"/>
                <a:ea typeface="Calibri" pitchFamily="34" charset="-122"/>
                <a:cs typeface="Calibri" pitchFamily="34" charset="-120"/>
              </a:rPr>
              <a:t>The provider's side just showed the cost. This is the specific process generating it.</a:t>
            </a:r>
            <a:endParaRPr lang="en-US" sz="1400" dirty="0"/>
          </a:p>
        </p:txBody>
      </p:sp>
      <p:pic>
        <p:nvPicPr>
          <p:cNvPr id="5" name="Image 0" descr="C:\Users\prans\AppData\Local\Temp\claude\C--Users-prans-Documents-Nisha-Job-2-0\e15f1d2a-8cde-4a91-8a55-843515c17dfb\images\1.png">    </p:cNvPr>
          <p:cNvPicPr>
            <a:picLocks noChangeAspect="1"/>
          </p:cNvPicPr>
          <p:nvPr/>
        </p:nvPicPr>
        <p:blipFill>
          <a:blip r:embed="rId1"/>
          <a:stretch>
            <a:fillRect/>
          </a:stretch>
        </p:blipFill>
        <p:spPr>
          <a:xfrm>
            <a:off x="2864034" y="1920240"/>
            <a:ext cx="6460884" cy="3520440"/>
          </a:xfrm>
          <a:prstGeom prst="rect">
            <a:avLst/>
          </a:prstGeom>
        </p:spPr>
      </p:pic>
      <p:sp>
        <p:nvSpPr>
          <p:cNvPr id="6" name="Text 3"/>
          <p:cNvSpPr txBox="1"/>
          <p:nvPr/>
        </p:nvSpPr>
        <p:spPr>
          <a:xfrm>
            <a:off x="640080" y="5623560"/>
            <a:ext cx="10908792" cy="365760"/>
          </a:xfrm>
          <a:prstGeom prst="rect">
            <a:avLst/>
          </a:prstGeom>
          <a:noFill/>
          <a:ln/>
        </p:spPr>
        <p:txBody>
          <a:bodyPr wrap="square" lIns="0" tIns="0" rIns="0" bIns="0" rtlCol="0" anchor="ctr"/>
          <a:lstStyle/>
          <a:p>
            <a:pPr indent="0" marL="0">
              <a:buNone/>
            </a:pPr>
            <a:r>
              <a:rPr lang="en-US" sz="1300" b="1" dirty="0">
                <a:solidFill>
                  <a:srgbClr val="16211E"/>
                </a:solidFill>
                <a:latin typeface="Calibri" pitchFamily="34" charset="0"/>
                <a:ea typeface="Calibri" pitchFamily="34" charset="-122"/>
                <a:cs typeface="Calibri" pitchFamily="34" charset="-120"/>
              </a:rPr>
              <a:t>Every box is somebody doing their job correctly. The delay is structural, not human error.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1F6F5C"/>
                </a:solidFill>
                <a:latin typeface="Calibri" pitchFamily="34" charset="0"/>
                <a:ea typeface="Calibri" pitchFamily="34" charset="-122"/>
                <a:cs typeface="Calibri" pitchFamily="34" charset="-120"/>
              </a:rPr>
              <a:t>USER PERSONAS</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Four people live inside that process.</a:t>
            </a:r>
            <a:endParaRPr lang="en-US" sz="3200" dirty="0"/>
          </a:p>
        </p:txBody>
      </p:sp>
      <p:sp>
        <p:nvSpPr>
          <p:cNvPr id="4" name="Text 2"/>
          <p:cNvSpPr txBox="1"/>
          <p:nvPr/>
        </p:nvSpPr>
        <p:spPr>
          <a:xfrm>
            <a:off x="640080" y="1371600"/>
            <a:ext cx="9272473" cy="384048"/>
          </a:xfrm>
          <a:prstGeom prst="rect">
            <a:avLst/>
          </a:prstGeom>
          <a:noFill/>
          <a:ln/>
        </p:spPr>
        <p:txBody>
          <a:bodyPr wrap="square" lIns="0" tIns="0" rIns="0" bIns="0" rtlCol="0" anchor="ctr"/>
          <a:lstStyle/>
          <a:p>
            <a:pPr indent="0" marL="0">
              <a:buNone/>
            </a:pPr>
            <a:r>
              <a:rPr lang="en-US" sz="1400" dirty="0">
                <a:solidFill>
                  <a:srgbClr val="5C6B66"/>
                </a:solidFill>
                <a:latin typeface="Calibri" pitchFamily="34" charset="0"/>
                <a:ea typeface="Calibri" pitchFamily="34" charset="-122"/>
                <a:cs typeface="Calibri" pitchFamily="34" charset="-120"/>
              </a:rPr>
              <a:t>You just watched the process. Here is who is actually in it.</a:t>
            </a:r>
            <a:endParaRPr lang="en-US" sz="1400" dirty="0"/>
          </a:p>
        </p:txBody>
      </p:sp>
      <p:sp>
        <p:nvSpPr>
          <p:cNvPr id="5" name="Shape 3"/>
          <p:cNvSpPr/>
          <p:nvPr/>
        </p:nvSpPr>
        <p:spPr>
          <a:xfrm>
            <a:off x="640080" y="1965960"/>
            <a:ext cx="2555748" cy="2651760"/>
          </a:xfrm>
          <a:prstGeom prst="roundRect">
            <a:avLst>
              <a:gd name="adj" fmla="val 1789"/>
            </a:avLst>
          </a:prstGeom>
          <a:solidFill>
            <a:srgbClr val="EFF4F1"/>
          </a:solidFill>
          <a:ln w="9525">
            <a:solidFill>
              <a:srgbClr val="D9E1DD"/>
            </a:solidFill>
            <a:prstDash val="solid"/>
          </a:ln>
        </p:spPr>
      </p:sp>
      <p:sp>
        <p:nvSpPr>
          <p:cNvPr id="6" name="Text 4"/>
          <p:cNvSpPr txBox="1"/>
          <p:nvPr/>
        </p:nvSpPr>
        <p:spPr>
          <a:xfrm>
            <a:off x="896112" y="2221992"/>
            <a:ext cx="2043684" cy="566928"/>
          </a:xfrm>
          <a:prstGeom prst="rect">
            <a:avLst/>
          </a:prstGeom>
          <a:noFill/>
          <a:ln/>
        </p:spPr>
        <p:txBody>
          <a:bodyPr wrap="square" lIns="0" tIns="0" rIns="0" bIns="0" rtlCol="0" anchor="ctr"/>
          <a:lstStyle/>
          <a:p>
            <a:pPr indent="0" marL="0">
              <a:buNone/>
            </a:pPr>
            <a:r>
              <a:rPr lang="en-US" sz="1800" dirty="0">
                <a:solidFill>
                  <a:srgbClr val="16211E"/>
                </a:solidFill>
                <a:latin typeface="Cambria" pitchFamily="34" charset="0"/>
                <a:ea typeface="Cambria" pitchFamily="34" charset="-122"/>
                <a:cs typeface="Cambria" pitchFamily="34" charset="-120"/>
              </a:rPr>
              <a:t>UM nurse</a:t>
            </a:r>
            <a:endParaRPr lang="en-US" sz="1800" dirty="0"/>
          </a:p>
        </p:txBody>
      </p:sp>
      <p:sp>
        <p:nvSpPr>
          <p:cNvPr id="7" name="Text 5"/>
          <p:cNvSpPr txBox="1"/>
          <p:nvPr/>
        </p:nvSpPr>
        <p:spPr>
          <a:xfrm>
            <a:off x="896112" y="2880360"/>
            <a:ext cx="2043684" cy="1143000"/>
          </a:xfrm>
          <a:prstGeom prst="rect">
            <a:avLst/>
          </a:prstGeom>
          <a:noFill/>
          <a:ln/>
        </p:spPr>
        <p:txBody>
          <a:bodyPr wrap="square" lIns="0" tIns="0" rIns="0" bIns="0" rtlCol="0" anchor="ctr"/>
          <a:lstStyle/>
          <a:p>
            <a:pPr indent="0" marL="0">
              <a:buNone/>
            </a:pPr>
            <a:r>
              <a:rPr lang="en-US" sz="1300" dirty="0">
                <a:solidFill>
                  <a:srgbClr val="5C6B66"/>
                </a:solidFill>
                <a:latin typeface="Calibri" pitchFamily="34" charset="0"/>
                <a:ea typeface="Calibri" pitchFamily="34" charset="-122"/>
                <a:cs typeface="Calibri" pitchFamily="34" charset="-120"/>
              </a:rPr>
              <a:t>Reads the packet, applies policy, decides or pends. Cannot issue a denial.</a:t>
            </a:r>
            <a:endParaRPr lang="en-US" sz="1300" dirty="0"/>
          </a:p>
        </p:txBody>
      </p:sp>
      <p:sp>
        <p:nvSpPr>
          <p:cNvPr id="8" name="Text 6"/>
          <p:cNvSpPr txBox="1"/>
          <p:nvPr/>
        </p:nvSpPr>
        <p:spPr>
          <a:xfrm>
            <a:off x="896112" y="4142232"/>
            <a:ext cx="2043684" cy="274320"/>
          </a:xfrm>
          <a:prstGeom prst="rect">
            <a:avLst/>
          </a:prstGeom>
          <a:noFill/>
          <a:ln/>
        </p:spPr>
        <p:txBody>
          <a:bodyPr wrap="square" lIns="0" tIns="0" rIns="0" bIns="0" rtlCol="0" anchor="ctr"/>
          <a:lstStyle/>
          <a:p>
            <a:pPr indent="0" marL="0">
              <a:buNone/>
            </a:pPr>
            <a:r>
              <a:rPr lang="en-US" sz="950" b="1" spc="160" kern="0" dirty="0">
                <a:solidFill>
                  <a:srgbClr val="1F6F5C"/>
                </a:solidFill>
                <a:latin typeface="Calibri" pitchFamily="34" charset="0"/>
                <a:ea typeface="Calibri" pitchFamily="34" charset="-122"/>
                <a:cs typeface="Calibri" pitchFamily="34" charset="-120"/>
              </a:rPr>
              <a:t>PRIMARY USER</a:t>
            </a:r>
            <a:endParaRPr lang="en-US" sz="950" dirty="0"/>
          </a:p>
        </p:txBody>
      </p:sp>
      <p:sp>
        <p:nvSpPr>
          <p:cNvPr id="9" name="Shape 7"/>
          <p:cNvSpPr/>
          <p:nvPr/>
        </p:nvSpPr>
        <p:spPr>
          <a:xfrm>
            <a:off x="3424428" y="1965960"/>
            <a:ext cx="2555748" cy="2651760"/>
          </a:xfrm>
          <a:prstGeom prst="roundRect">
            <a:avLst>
              <a:gd name="adj" fmla="val 1789"/>
            </a:avLst>
          </a:prstGeom>
          <a:solidFill>
            <a:srgbClr val="EFF4F1"/>
          </a:solidFill>
          <a:ln w="9525">
            <a:solidFill>
              <a:srgbClr val="D9E1DD"/>
            </a:solidFill>
            <a:prstDash val="solid"/>
          </a:ln>
        </p:spPr>
      </p:sp>
      <p:sp>
        <p:nvSpPr>
          <p:cNvPr id="10" name="Text 8"/>
          <p:cNvSpPr txBox="1"/>
          <p:nvPr/>
        </p:nvSpPr>
        <p:spPr>
          <a:xfrm>
            <a:off x="3680460" y="2221992"/>
            <a:ext cx="2043684" cy="566928"/>
          </a:xfrm>
          <a:prstGeom prst="rect">
            <a:avLst/>
          </a:prstGeom>
          <a:noFill/>
          <a:ln/>
        </p:spPr>
        <p:txBody>
          <a:bodyPr wrap="square" lIns="0" tIns="0" rIns="0" bIns="0" rtlCol="0" anchor="ctr"/>
          <a:lstStyle/>
          <a:p>
            <a:pPr indent="0" marL="0">
              <a:buNone/>
            </a:pPr>
            <a:r>
              <a:rPr lang="en-US" sz="1800" dirty="0">
                <a:solidFill>
                  <a:srgbClr val="16211E"/>
                </a:solidFill>
                <a:latin typeface="Cambria" pitchFamily="34" charset="0"/>
                <a:ea typeface="Cambria" pitchFamily="34" charset="-122"/>
                <a:cs typeface="Cambria" pitchFamily="34" charset="-120"/>
              </a:rPr>
              <a:t>Provider staff</a:t>
            </a:r>
            <a:endParaRPr lang="en-US" sz="1800" dirty="0"/>
          </a:p>
        </p:txBody>
      </p:sp>
      <p:sp>
        <p:nvSpPr>
          <p:cNvPr id="11" name="Text 9"/>
          <p:cNvSpPr txBox="1"/>
          <p:nvPr/>
        </p:nvSpPr>
        <p:spPr>
          <a:xfrm>
            <a:off x="3680460" y="2880360"/>
            <a:ext cx="2043684" cy="1143000"/>
          </a:xfrm>
          <a:prstGeom prst="rect">
            <a:avLst/>
          </a:prstGeom>
          <a:noFill/>
          <a:ln/>
        </p:spPr>
        <p:txBody>
          <a:bodyPr wrap="square" lIns="0" tIns="0" rIns="0" bIns="0" rtlCol="0" anchor="ctr"/>
          <a:lstStyle/>
          <a:p>
            <a:pPr indent="0" marL="0">
              <a:buNone/>
            </a:pPr>
            <a:r>
              <a:rPr lang="en-US" sz="1300" dirty="0">
                <a:solidFill>
                  <a:srgbClr val="5C6B66"/>
                </a:solidFill>
                <a:latin typeface="Calibri" pitchFamily="34" charset="0"/>
                <a:ea typeface="Calibri" pitchFamily="34" charset="-122"/>
                <a:cs typeface="Calibri" pitchFamily="34" charset="-120"/>
              </a:rPr>
              <a:t>Submits the request, receives the pend, has to work out what was actually being asked.</a:t>
            </a:r>
            <a:endParaRPr lang="en-US" sz="1300" dirty="0"/>
          </a:p>
        </p:txBody>
      </p:sp>
      <p:sp>
        <p:nvSpPr>
          <p:cNvPr id="12" name="Text 10"/>
          <p:cNvSpPr txBox="1"/>
          <p:nvPr/>
        </p:nvSpPr>
        <p:spPr>
          <a:xfrm>
            <a:off x="3680460" y="4142232"/>
            <a:ext cx="2043684" cy="274320"/>
          </a:xfrm>
          <a:prstGeom prst="rect">
            <a:avLst/>
          </a:prstGeom>
          <a:noFill/>
          <a:ln/>
        </p:spPr>
        <p:txBody>
          <a:bodyPr wrap="square" lIns="0" tIns="0" rIns="0" bIns="0" rtlCol="0" anchor="ctr"/>
          <a:lstStyle/>
          <a:p>
            <a:pPr indent="0" marL="0">
              <a:buNone/>
            </a:pPr>
            <a:r>
              <a:rPr lang="en-US" sz="950" b="1" spc="160" kern="0" dirty="0">
                <a:solidFill>
                  <a:srgbClr val="1F6F5C"/>
                </a:solidFill>
                <a:latin typeface="Calibri" pitchFamily="34" charset="0"/>
                <a:ea typeface="Calibri" pitchFamily="34" charset="-122"/>
                <a:cs typeface="Calibri" pitchFamily="34" charset="-120"/>
              </a:rPr>
              <a:t>IN THE PROTOTYPE</a:t>
            </a:r>
            <a:endParaRPr lang="en-US" sz="950" dirty="0"/>
          </a:p>
        </p:txBody>
      </p:sp>
      <p:sp>
        <p:nvSpPr>
          <p:cNvPr id="13" name="Shape 11"/>
          <p:cNvSpPr/>
          <p:nvPr/>
        </p:nvSpPr>
        <p:spPr>
          <a:xfrm>
            <a:off x="6208776" y="1965960"/>
            <a:ext cx="2555748" cy="2651760"/>
          </a:xfrm>
          <a:prstGeom prst="roundRect">
            <a:avLst>
              <a:gd name="adj" fmla="val 1789"/>
            </a:avLst>
          </a:prstGeom>
          <a:solidFill>
            <a:srgbClr val="EFF4F1"/>
          </a:solidFill>
          <a:ln w="9525">
            <a:solidFill>
              <a:srgbClr val="D9E1DD"/>
            </a:solidFill>
            <a:prstDash val="solid"/>
          </a:ln>
        </p:spPr>
      </p:sp>
      <p:sp>
        <p:nvSpPr>
          <p:cNvPr id="14" name="Text 12"/>
          <p:cNvSpPr txBox="1"/>
          <p:nvPr/>
        </p:nvSpPr>
        <p:spPr>
          <a:xfrm>
            <a:off x="6464808" y="2221992"/>
            <a:ext cx="2043684" cy="566928"/>
          </a:xfrm>
          <a:prstGeom prst="rect">
            <a:avLst/>
          </a:prstGeom>
          <a:noFill/>
          <a:ln/>
        </p:spPr>
        <p:txBody>
          <a:bodyPr wrap="square" lIns="0" tIns="0" rIns="0" bIns="0" rtlCol="0" anchor="ctr"/>
          <a:lstStyle/>
          <a:p>
            <a:pPr indent="0" marL="0">
              <a:buNone/>
            </a:pPr>
            <a:r>
              <a:rPr lang="en-US" sz="1800" dirty="0">
                <a:solidFill>
                  <a:srgbClr val="16211E"/>
                </a:solidFill>
                <a:latin typeface="Cambria" pitchFamily="34" charset="0"/>
                <a:ea typeface="Cambria" pitchFamily="34" charset="-122"/>
                <a:cs typeface="Cambria" pitchFamily="34" charset="-120"/>
              </a:rPr>
              <a:t>Medical director</a:t>
            </a:r>
            <a:endParaRPr lang="en-US" sz="1800" dirty="0"/>
          </a:p>
        </p:txBody>
      </p:sp>
      <p:sp>
        <p:nvSpPr>
          <p:cNvPr id="15" name="Text 13"/>
          <p:cNvSpPr txBox="1"/>
          <p:nvPr/>
        </p:nvSpPr>
        <p:spPr>
          <a:xfrm>
            <a:off x="6464808" y="2880360"/>
            <a:ext cx="2043684" cy="1143000"/>
          </a:xfrm>
          <a:prstGeom prst="rect">
            <a:avLst/>
          </a:prstGeom>
          <a:noFill/>
          <a:ln/>
        </p:spPr>
        <p:txBody>
          <a:bodyPr wrap="square" lIns="0" tIns="0" rIns="0" bIns="0" rtlCol="0" anchor="ctr"/>
          <a:lstStyle/>
          <a:p>
            <a:pPr indent="0" marL="0">
              <a:buNone/>
            </a:pPr>
            <a:r>
              <a:rPr lang="en-US" sz="1300" dirty="0">
                <a:solidFill>
                  <a:srgbClr val="5C6B66"/>
                </a:solidFill>
                <a:latin typeface="Calibri" pitchFamily="34" charset="0"/>
                <a:ea typeface="Calibri" pitchFamily="34" charset="-122"/>
                <a:cs typeface="Calibri" pitchFamily="34" charset="-120"/>
              </a:rPr>
              <a:t>Where escalation goes. The only person who can deny.</a:t>
            </a:r>
            <a:endParaRPr lang="en-US" sz="1300" dirty="0"/>
          </a:p>
        </p:txBody>
      </p:sp>
      <p:sp>
        <p:nvSpPr>
          <p:cNvPr id="16" name="Text 14"/>
          <p:cNvSpPr txBox="1"/>
          <p:nvPr/>
        </p:nvSpPr>
        <p:spPr>
          <a:xfrm>
            <a:off x="6464808" y="4142232"/>
            <a:ext cx="2043684" cy="274320"/>
          </a:xfrm>
          <a:prstGeom prst="rect">
            <a:avLst/>
          </a:prstGeom>
          <a:noFill/>
          <a:ln/>
        </p:spPr>
        <p:txBody>
          <a:bodyPr wrap="square" lIns="0" tIns="0" rIns="0" bIns="0" rtlCol="0" anchor="ctr"/>
          <a:lstStyle/>
          <a:p>
            <a:pPr indent="0" marL="0">
              <a:buNone/>
            </a:pPr>
            <a:r>
              <a:rPr lang="en-US" sz="950" b="1" spc="160" kern="0" dirty="0">
                <a:solidFill>
                  <a:srgbClr val="1F6F5C"/>
                </a:solidFill>
                <a:latin typeface="Calibri" pitchFamily="34" charset="0"/>
                <a:ea typeface="Calibri" pitchFamily="34" charset="-122"/>
                <a:cs typeface="Calibri" pitchFamily="34" charset="-120"/>
              </a:rPr>
              <a:t>IN THE PROTOTYPE</a:t>
            </a:r>
            <a:endParaRPr lang="en-US" sz="950" dirty="0"/>
          </a:p>
        </p:txBody>
      </p:sp>
      <p:sp>
        <p:nvSpPr>
          <p:cNvPr id="17" name="Shape 15"/>
          <p:cNvSpPr/>
          <p:nvPr/>
        </p:nvSpPr>
        <p:spPr>
          <a:xfrm>
            <a:off x="8993124" y="1965960"/>
            <a:ext cx="2555748" cy="2651760"/>
          </a:xfrm>
          <a:prstGeom prst="roundRect">
            <a:avLst>
              <a:gd name="adj" fmla="val 1789"/>
            </a:avLst>
          </a:prstGeom>
          <a:solidFill>
            <a:srgbClr val="F8E8E5"/>
          </a:solidFill>
          <a:ln w="9525">
            <a:solidFill>
              <a:srgbClr val="E9C9C3"/>
            </a:solidFill>
            <a:prstDash val="solid"/>
          </a:ln>
        </p:spPr>
      </p:sp>
      <p:sp>
        <p:nvSpPr>
          <p:cNvPr id="18" name="Text 16"/>
          <p:cNvSpPr txBox="1"/>
          <p:nvPr/>
        </p:nvSpPr>
        <p:spPr>
          <a:xfrm>
            <a:off x="9249156" y="2221992"/>
            <a:ext cx="2043684" cy="566928"/>
          </a:xfrm>
          <a:prstGeom prst="rect">
            <a:avLst/>
          </a:prstGeom>
          <a:noFill/>
          <a:ln/>
        </p:spPr>
        <p:txBody>
          <a:bodyPr wrap="square" lIns="0" tIns="0" rIns="0" bIns="0" rtlCol="0" anchor="ctr"/>
          <a:lstStyle/>
          <a:p>
            <a:pPr indent="0" marL="0">
              <a:buNone/>
            </a:pPr>
            <a:r>
              <a:rPr lang="en-US" sz="1800" dirty="0">
                <a:solidFill>
                  <a:srgbClr val="16211E"/>
                </a:solidFill>
                <a:latin typeface="Cambria" pitchFamily="34" charset="0"/>
                <a:ea typeface="Cambria" pitchFamily="34" charset="-122"/>
                <a:cs typeface="Cambria" pitchFamily="34" charset="-120"/>
              </a:rPr>
              <a:t>Member, John Doe, 71</a:t>
            </a:r>
            <a:endParaRPr lang="en-US" sz="1800" dirty="0"/>
          </a:p>
        </p:txBody>
      </p:sp>
      <p:sp>
        <p:nvSpPr>
          <p:cNvPr id="19" name="Text 17"/>
          <p:cNvSpPr txBox="1"/>
          <p:nvPr/>
        </p:nvSpPr>
        <p:spPr>
          <a:xfrm>
            <a:off x="9249156" y="2880360"/>
            <a:ext cx="2043684" cy="1143000"/>
          </a:xfrm>
          <a:prstGeom prst="rect">
            <a:avLst/>
          </a:prstGeom>
          <a:noFill/>
          <a:ln/>
        </p:spPr>
        <p:txBody>
          <a:bodyPr wrap="square" lIns="0" tIns="0" rIns="0" bIns="0" rtlCol="0" anchor="ctr"/>
          <a:lstStyle/>
          <a:p>
            <a:pPr indent="0" marL="0">
              <a:buNone/>
            </a:pPr>
            <a:r>
              <a:rPr lang="en-US" sz="1300" dirty="0">
                <a:solidFill>
                  <a:srgbClr val="5C6B66"/>
                </a:solidFill>
                <a:latin typeface="Calibri" pitchFamily="34" charset="0"/>
                <a:ea typeface="Calibri" pitchFamily="34" charset="-122"/>
                <a:cs typeface="Calibri" pitchFamily="34" charset="-120"/>
              </a:rPr>
              <a:t>Waiting on an elective lumbar spinal fusion. No visibility into any of it.</a:t>
            </a:r>
            <a:endParaRPr lang="en-US" sz="1300" dirty="0"/>
          </a:p>
        </p:txBody>
      </p:sp>
      <p:sp>
        <p:nvSpPr>
          <p:cNvPr id="20" name="Text 18"/>
          <p:cNvSpPr txBox="1"/>
          <p:nvPr/>
        </p:nvSpPr>
        <p:spPr>
          <a:xfrm>
            <a:off x="9249156" y="4142232"/>
            <a:ext cx="2043684" cy="274320"/>
          </a:xfrm>
          <a:prstGeom prst="rect">
            <a:avLst/>
          </a:prstGeom>
          <a:noFill/>
          <a:ln/>
        </p:spPr>
        <p:txBody>
          <a:bodyPr wrap="square" lIns="0" tIns="0" rIns="0" bIns="0" rtlCol="0" anchor="ctr"/>
          <a:lstStyle/>
          <a:p>
            <a:pPr indent="0" marL="0">
              <a:buNone/>
            </a:pPr>
            <a:r>
              <a:rPr lang="en-US" sz="950" b="1" spc="160" kern="0" dirty="0">
                <a:solidFill>
                  <a:srgbClr val="A3342B"/>
                </a:solidFill>
                <a:latin typeface="Calibri" pitchFamily="34" charset="0"/>
                <a:ea typeface="Calibri" pitchFamily="34" charset="-122"/>
                <a:cs typeface="Calibri" pitchFamily="34" charset="-120"/>
              </a:rPr>
              <a:t>JOURNEY ONLY</a:t>
            </a:r>
            <a:endParaRPr lang="en-US" sz="950" dirty="0"/>
          </a:p>
        </p:txBody>
      </p:sp>
      <p:sp>
        <p:nvSpPr>
          <p:cNvPr id="21" name="Text 19"/>
          <p:cNvSpPr txBox="1"/>
          <p:nvPr/>
        </p:nvSpPr>
        <p:spPr>
          <a:xfrm>
            <a:off x="640080" y="4892040"/>
            <a:ext cx="10908792" cy="365760"/>
          </a:xfrm>
          <a:prstGeom prst="rect">
            <a:avLst/>
          </a:prstGeom>
          <a:noFill/>
          <a:ln/>
        </p:spPr>
        <p:txBody>
          <a:bodyPr wrap="square" lIns="0" tIns="0" rIns="0" bIns="0" rtlCol="0" anchor="ctr"/>
          <a:lstStyle/>
          <a:p>
            <a:pPr indent="0" marL="0">
              <a:buNone/>
            </a:pPr>
            <a:r>
              <a:rPr lang="en-US" sz="1150" i="1" dirty="0">
                <a:solidFill>
                  <a:srgbClr val="8A9793"/>
                </a:solidFill>
                <a:latin typeface="Calibri" pitchFamily="34" charset="0"/>
                <a:ea typeface="Calibri" pitchFamily="34" charset="-122"/>
                <a:cs typeface="Calibri" pitchFamily="34" charset="-120"/>
              </a:rPr>
              <a:t>A case is one request for one member and one service. A packet is the clinical documentation attached to it. A pend is a held status, not a denial.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41512"/>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274320"/>
          </a:xfrm>
          <a:prstGeom prst="rect">
            <a:avLst/>
          </a:prstGeom>
          <a:noFill/>
          <a:ln/>
        </p:spPr>
        <p:txBody>
          <a:bodyPr wrap="square" lIns="0" tIns="0" rIns="0" bIns="0" rtlCol="0" anchor="ctr"/>
          <a:lstStyle/>
          <a:p>
            <a:pPr indent="0" marL="0">
              <a:buNone/>
            </a:pPr>
            <a:r>
              <a:rPr lang="en-US" sz="1100" b="1" spc="240" kern="0" dirty="0">
                <a:solidFill>
                  <a:srgbClr val="C79F94"/>
                </a:solidFill>
                <a:latin typeface="Calibri" pitchFamily="34" charset="0"/>
                <a:ea typeface="Calibri" pitchFamily="34" charset="-122"/>
                <a:cs typeface="Calibri" pitchFamily="34" charset="-120"/>
              </a:rPr>
              <a:t>WHAT THIS CURRENT STATE IS CAUSING</a:t>
            </a:r>
            <a:endParaRPr lang="en-US" sz="1100" dirty="0"/>
          </a:p>
        </p:txBody>
      </p:sp>
      <p:sp>
        <p:nvSpPr>
          <p:cNvPr id="3" name="Text 1"/>
          <p:cNvSpPr txBox="1"/>
          <p:nvPr/>
        </p:nvSpPr>
        <p:spPr>
          <a:xfrm>
            <a:off x="640080" y="960120"/>
            <a:ext cx="5943600" cy="1920240"/>
          </a:xfrm>
          <a:prstGeom prst="rect">
            <a:avLst/>
          </a:prstGeom>
          <a:noFill/>
          <a:ln/>
        </p:spPr>
        <p:txBody>
          <a:bodyPr wrap="square" lIns="0" tIns="0" rIns="0" bIns="0" rtlCol="0" anchor="t"/>
          <a:lstStyle/>
          <a:p>
            <a:pPr indent="0" marL="0">
              <a:buNone/>
            </a:pPr>
            <a:r>
              <a:rPr lang="en-US" sz="15000" dirty="0">
                <a:solidFill>
                  <a:srgbClr val="E08B7E"/>
                </a:solidFill>
                <a:latin typeface="Cambria" pitchFamily="34" charset="0"/>
                <a:ea typeface="Cambria" pitchFamily="34" charset="-122"/>
                <a:cs typeface="Cambria" pitchFamily="34" charset="-120"/>
              </a:rPr>
              <a:t>95%</a:t>
            </a:r>
            <a:endParaRPr lang="en-US" sz="15000" dirty="0"/>
          </a:p>
        </p:txBody>
      </p:sp>
      <p:sp>
        <p:nvSpPr>
          <p:cNvPr id="4" name="Text 2"/>
          <p:cNvSpPr txBox="1"/>
          <p:nvPr/>
        </p:nvSpPr>
        <p:spPr>
          <a:xfrm>
            <a:off x="640080" y="2880360"/>
            <a:ext cx="80467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of appealed skilled nursing facility denials were overturned</a:t>
            </a:r>
            <a:endParaRPr lang="en-US" sz="1800" dirty="0"/>
          </a:p>
        </p:txBody>
      </p:sp>
      <p:sp>
        <p:nvSpPr>
          <p:cNvPr id="5" name="Text 3"/>
          <p:cNvSpPr txBox="1"/>
          <p:nvPr/>
        </p:nvSpPr>
        <p:spPr>
          <a:xfrm>
            <a:off x="640080" y="3794760"/>
            <a:ext cx="1554480" cy="548640"/>
          </a:xfrm>
          <a:prstGeom prst="rect">
            <a:avLst/>
          </a:prstGeom>
          <a:noFill/>
          <a:ln/>
        </p:spPr>
        <p:txBody>
          <a:bodyPr wrap="square" lIns="0" tIns="0" rIns="0" bIns="0" rtlCol="0" anchor="ctr"/>
          <a:lstStyle/>
          <a:p>
            <a:pPr indent="0" marL="0">
              <a:buNone/>
            </a:pPr>
            <a:r>
              <a:rPr lang="en-US" sz="3400" dirty="0">
                <a:solidFill>
                  <a:srgbClr val="D8A79E"/>
                </a:solidFill>
                <a:latin typeface="Cambria" pitchFamily="34" charset="0"/>
                <a:ea typeface="Cambria" pitchFamily="34" charset="-122"/>
                <a:cs typeface="Cambria" pitchFamily="34" charset="-120"/>
              </a:rPr>
              <a:t>43%</a:t>
            </a:r>
            <a:endParaRPr lang="en-US" sz="3400" dirty="0"/>
          </a:p>
        </p:txBody>
      </p:sp>
      <p:sp>
        <p:nvSpPr>
          <p:cNvPr id="6" name="Text 4"/>
          <p:cNvSpPr txBox="1"/>
          <p:nvPr/>
        </p:nvSpPr>
        <p:spPr>
          <a:xfrm>
            <a:off x="640080" y="4370832"/>
            <a:ext cx="3749040" cy="685800"/>
          </a:xfrm>
          <a:prstGeom prst="rect">
            <a:avLst/>
          </a:prstGeom>
          <a:noFill/>
          <a:ln/>
        </p:spPr>
        <p:txBody>
          <a:bodyPr wrap="square" lIns="0" tIns="0" rIns="0" bIns="0" rtlCol="0" anchor="ctr"/>
          <a:lstStyle/>
          <a:p>
            <a:pPr indent="0" marL="0">
              <a:buNone/>
            </a:pPr>
            <a:r>
              <a:rPr lang="en-US" sz="1150" dirty="0">
                <a:solidFill>
                  <a:srgbClr val="C79F94"/>
                </a:solidFill>
                <a:latin typeface="Calibri" pitchFamily="34" charset="0"/>
                <a:ea typeface="Calibri" pitchFamily="34" charset="-122"/>
                <a:cs typeface="Calibri" pitchFamily="34" charset="-120"/>
              </a:rPr>
              <a:t>of appealed inpatient rehab denials, up to 86% at some plans</a:t>
            </a:r>
            <a:endParaRPr lang="en-US" sz="1150" dirty="0"/>
          </a:p>
        </p:txBody>
      </p:sp>
      <p:sp>
        <p:nvSpPr>
          <p:cNvPr id="7" name="Text 5"/>
          <p:cNvSpPr txBox="1"/>
          <p:nvPr/>
        </p:nvSpPr>
        <p:spPr>
          <a:xfrm>
            <a:off x="4754880" y="3794760"/>
            <a:ext cx="1554480" cy="548640"/>
          </a:xfrm>
          <a:prstGeom prst="rect">
            <a:avLst/>
          </a:prstGeom>
          <a:noFill/>
          <a:ln/>
        </p:spPr>
        <p:txBody>
          <a:bodyPr wrap="square" lIns="0" tIns="0" rIns="0" bIns="0" rtlCol="0" anchor="ctr"/>
          <a:lstStyle/>
          <a:p>
            <a:pPr indent="0" marL="0">
              <a:buNone/>
            </a:pPr>
            <a:r>
              <a:rPr lang="en-US" sz="3400" dirty="0">
                <a:solidFill>
                  <a:srgbClr val="D8A79E"/>
                </a:solidFill>
                <a:latin typeface="Cambria" pitchFamily="34" charset="0"/>
                <a:ea typeface="Cambria" pitchFamily="34" charset="-122"/>
                <a:cs typeface="Cambria" pitchFamily="34" charset="-120"/>
              </a:rPr>
              <a:t>36%</a:t>
            </a:r>
            <a:endParaRPr lang="en-US" sz="3400" dirty="0"/>
          </a:p>
        </p:txBody>
      </p:sp>
      <p:sp>
        <p:nvSpPr>
          <p:cNvPr id="8" name="Text 6"/>
          <p:cNvSpPr txBox="1"/>
          <p:nvPr/>
        </p:nvSpPr>
        <p:spPr>
          <a:xfrm>
            <a:off x="4754880" y="4370832"/>
            <a:ext cx="3749040" cy="685800"/>
          </a:xfrm>
          <a:prstGeom prst="rect">
            <a:avLst/>
          </a:prstGeom>
          <a:noFill/>
          <a:ln/>
        </p:spPr>
        <p:txBody>
          <a:bodyPr wrap="square" lIns="0" tIns="0" rIns="0" bIns="0" rtlCol="0" anchor="ctr"/>
          <a:lstStyle/>
          <a:p>
            <a:pPr indent="0" marL="0">
              <a:buNone/>
            </a:pPr>
            <a:r>
              <a:rPr lang="en-US" sz="1150" dirty="0">
                <a:solidFill>
                  <a:srgbClr val="C79F94"/>
                </a:solidFill>
                <a:latin typeface="Calibri" pitchFamily="34" charset="0"/>
                <a:ea typeface="Calibri" pitchFamily="34" charset="-122"/>
                <a:cs typeface="Calibri" pitchFamily="34" charset="-120"/>
              </a:rPr>
              <a:t>of appealed long-term acute care denials</a:t>
            </a:r>
            <a:endParaRPr lang="en-US" sz="1150" dirty="0"/>
          </a:p>
        </p:txBody>
      </p:sp>
      <p:sp>
        <p:nvSpPr>
          <p:cNvPr id="9" name="Shape 7"/>
          <p:cNvSpPr/>
          <p:nvPr/>
        </p:nvSpPr>
        <p:spPr>
          <a:xfrm>
            <a:off x="640080" y="5349240"/>
            <a:ext cx="10908792" cy="0"/>
          </a:xfrm>
          <a:prstGeom prst="line">
            <a:avLst/>
          </a:prstGeom>
          <a:noFill/>
          <a:ln w="9525">
            <a:solidFill>
              <a:srgbClr val="3A2B26"/>
            </a:solidFill>
            <a:prstDash val="solid"/>
          </a:ln>
        </p:spPr>
      </p:sp>
      <p:sp>
        <p:nvSpPr>
          <p:cNvPr id="10" name="Text 8"/>
          <p:cNvSpPr txBox="1"/>
          <p:nvPr/>
        </p:nvSpPr>
        <p:spPr>
          <a:xfrm>
            <a:off x="640080" y="5532120"/>
            <a:ext cx="8508858" cy="50292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A denial overturned on appeal means the member should have been approved the first time.</a:t>
            </a:r>
            <a:endParaRPr lang="en-US" sz="1800" dirty="0"/>
          </a:p>
        </p:txBody>
      </p:sp>
      <p:sp>
        <p:nvSpPr>
          <p:cNvPr id="11" name="Text 9"/>
          <p:cNvSpPr txBox="1"/>
          <p:nvPr/>
        </p:nvSpPr>
        <p:spPr>
          <a:xfrm>
            <a:off x="640080" y="6419088"/>
            <a:ext cx="10908792" cy="274320"/>
          </a:xfrm>
          <a:prstGeom prst="rect">
            <a:avLst/>
          </a:prstGeom>
          <a:noFill/>
          <a:ln/>
        </p:spPr>
        <p:txBody>
          <a:bodyPr wrap="square" lIns="0" tIns="0" rIns="0" bIns="0" rtlCol="0" anchor="ctr"/>
          <a:lstStyle/>
          <a:p>
            <a:pPr indent="0" marL="0">
              <a:buNone/>
            </a:pPr>
            <a:r>
              <a:rPr lang="en-US" sz="900" b="1" spc="120" kern="0" dirty="0">
                <a:solidFill>
                  <a:srgbClr val="8C6E66"/>
                </a:solidFill>
                <a:latin typeface="Calibri" pitchFamily="34" charset="0"/>
                <a:ea typeface="Calibri" pitchFamily="34" charset="-122"/>
                <a:cs typeface="Calibri" pitchFamily="34" charset="-120"/>
              </a:rPr>
              <a:t>SOURCE   HHS Office of Inspector General, two reports, June 2026 — 19 largest Medicare Advantage organizations, data from June 2024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A3342B"/>
                </a:solidFill>
                <a:latin typeface="Calibri" pitchFamily="34" charset="0"/>
                <a:ea typeface="Calibri" pitchFamily="34" charset="-122"/>
                <a:cs typeface="Calibri" pitchFamily="34" charset="-120"/>
              </a:rPr>
              <a:t>WHY NOW</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Three walls, all closing at once.</a:t>
            </a:r>
            <a:endParaRPr lang="en-US" sz="3200" dirty="0"/>
          </a:p>
        </p:txBody>
      </p:sp>
      <p:sp>
        <p:nvSpPr>
          <p:cNvPr id="4" name="Shape 2"/>
          <p:cNvSpPr/>
          <p:nvPr/>
        </p:nvSpPr>
        <p:spPr>
          <a:xfrm>
            <a:off x="640080" y="1691640"/>
            <a:ext cx="5271516" cy="1874520"/>
          </a:xfrm>
          <a:prstGeom prst="roundRect">
            <a:avLst>
              <a:gd name="adj" fmla="val 2439"/>
            </a:avLst>
          </a:prstGeom>
          <a:solidFill>
            <a:srgbClr val="F8E8E5"/>
          </a:solidFill>
          <a:ln w="9525">
            <a:solidFill>
              <a:srgbClr val="E9C9C3"/>
            </a:solidFill>
            <a:prstDash val="solid"/>
          </a:ln>
        </p:spPr>
      </p:sp>
      <p:sp>
        <p:nvSpPr>
          <p:cNvPr id="5" name="Text 3"/>
          <p:cNvSpPr txBox="1"/>
          <p:nvPr/>
        </p:nvSpPr>
        <p:spPr>
          <a:xfrm>
            <a:off x="914400" y="1874520"/>
            <a:ext cx="4722876" cy="457200"/>
          </a:xfrm>
          <a:prstGeom prst="rect">
            <a:avLst/>
          </a:prstGeom>
          <a:noFill/>
          <a:ln/>
        </p:spPr>
        <p:txBody>
          <a:bodyPr wrap="square" lIns="0" tIns="0" rIns="0" bIns="0" rtlCol="0" anchor="ctr"/>
          <a:lstStyle/>
          <a:p>
            <a:pPr indent="0" marL="0">
              <a:buNone/>
            </a:pPr>
            <a:r>
              <a:rPr lang="en-US" sz="2300" b="1" spc="100" kern="0" dirty="0">
                <a:solidFill>
                  <a:srgbClr val="A3342B"/>
                </a:solidFill>
                <a:latin typeface="Calibri" pitchFamily="34" charset="0"/>
                <a:ea typeface="Calibri" pitchFamily="34" charset="-122"/>
                <a:cs typeface="Calibri" pitchFamily="34" charset="-120"/>
              </a:rPr>
              <a:t>JANUARY 2026</a:t>
            </a:r>
            <a:endParaRPr lang="en-US" sz="2300" dirty="0"/>
          </a:p>
        </p:txBody>
      </p:sp>
      <p:sp>
        <p:nvSpPr>
          <p:cNvPr id="6" name="Text 4"/>
          <p:cNvSpPr txBox="1"/>
          <p:nvPr/>
        </p:nvSpPr>
        <p:spPr>
          <a:xfrm>
            <a:off x="914400" y="2313432"/>
            <a:ext cx="4722876" cy="237744"/>
          </a:xfrm>
          <a:prstGeom prst="rect">
            <a:avLst/>
          </a:prstGeom>
          <a:noFill/>
          <a:ln/>
        </p:spPr>
        <p:txBody>
          <a:bodyPr wrap="square" lIns="0" tIns="0" rIns="0" bIns="0" rtlCol="0" anchor="ctr"/>
          <a:lstStyle/>
          <a:p>
            <a:pPr indent="0" marL="0">
              <a:buNone/>
            </a:pPr>
            <a:r>
              <a:rPr lang="en-US" sz="1050" i="1" dirty="0">
                <a:solidFill>
                  <a:srgbClr val="5C6B66"/>
                </a:solidFill>
                <a:latin typeface="Calibri" pitchFamily="34" charset="0"/>
                <a:ea typeface="Calibri" pitchFamily="34" charset="-122"/>
                <a:cs typeface="Calibri" pitchFamily="34" charset="-120"/>
              </a:rPr>
              <a:t>live now</a:t>
            </a:r>
            <a:endParaRPr lang="en-US" sz="1050" dirty="0"/>
          </a:p>
        </p:txBody>
      </p:sp>
      <p:sp>
        <p:nvSpPr>
          <p:cNvPr id="7" name="Text 5"/>
          <p:cNvSpPr txBox="1"/>
          <p:nvPr/>
        </p:nvSpPr>
        <p:spPr>
          <a:xfrm>
            <a:off x="914400" y="2615184"/>
            <a:ext cx="4722876" cy="868680"/>
          </a:xfrm>
          <a:prstGeom prst="rect">
            <a:avLst/>
          </a:prstGeom>
          <a:noFill/>
          <a:ln/>
        </p:spPr>
        <p:txBody>
          <a:bodyPr wrap="square" lIns="0" tIns="0" rIns="0" bIns="0" rtlCol="0" anchor="ctr"/>
          <a:lstStyle/>
          <a:p>
            <a:pPr indent="0" marL="0">
              <a:buNone/>
            </a:pPr>
            <a:r>
              <a:rPr lang="en-US" sz="1200" dirty="0">
                <a:solidFill>
                  <a:srgbClr val="16211E"/>
                </a:solidFill>
                <a:latin typeface="Calibri" pitchFamily="34" charset="0"/>
                <a:ea typeface="Calibri" pitchFamily="34" charset="-122"/>
                <a:cs typeface="Calibri" pitchFamily="34" charset="-120"/>
              </a:rPr>
              <a:t>CMS-0057-F. Decisions within 72 hours expedited and 7 calendar days standard. A specific reason required on every denial. Prior authorization metrics reported publicly, every year.</a:t>
            </a:r>
            <a:endParaRPr lang="en-US" sz="1200" dirty="0"/>
          </a:p>
        </p:txBody>
      </p:sp>
      <p:sp>
        <p:nvSpPr>
          <p:cNvPr id="8" name="Shape 6"/>
          <p:cNvSpPr/>
          <p:nvPr/>
        </p:nvSpPr>
        <p:spPr>
          <a:xfrm>
            <a:off x="6277356" y="1691640"/>
            <a:ext cx="5271516" cy="1874520"/>
          </a:xfrm>
          <a:prstGeom prst="roundRect">
            <a:avLst>
              <a:gd name="adj" fmla="val 2439"/>
            </a:avLst>
          </a:prstGeom>
          <a:solidFill>
            <a:srgbClr val="EFF4F1"/>
          </a:solidFill>
          <a:ln w="9525">
            <a:solidFill>
              <a:srgbClr val="D9E1DD"/>
            </a:solidFill>
            <a:prstDash val="solid"/>
          </a:ln>
        </p:spPr>
      </p:sp>
      <p:sp>
        <p:nvSpPr>
          <p:cNvPr id="9" name="Text 7"/>
          <p:cNvSpPr txBox="1"/>
          <p:nvPr/>
        </p:nvSpPr>
        <p:spPr>
          <a:xfrm>
            <a:off x="6551676" y="1874520"/>
            <a:ext cx="4722876" cy="457200"/>
          </a:xfrm>
          <a:prstGeom prst="rect">
            <a:avLst/>
          </a:prstGeom>
          <a:noFill/>
          <a:ln/>
        </p:spPr>
        <p:txBody>
          <a:bodyPr wrap="square" lIns="0" tIns="0" rIns="0" bIns="0" rtlCol="0" anchor="ctr"/>
          <a:lstStyle/>
          <a:p>
            <a:pPr indent="0" marL="0">
              <a:buNone/>
            </a:pPr>
            <a:r>
              <a:rPr lang="en-US" sz="2300" b="1" spc="100" kern="0" dirty="0">
                <a:solidFill>
                  <a:srgbClr val="1F6F5C"/>
                </a:solidFill>
                <a:latin typeface="Calibri" pitchFamily="34" charset="0"/>
                <a:ea typeface="Calibri" pitchFamily="34" charset="-122"/>
                <a:cs typeface="Calibri" pitchFamily="34" charset="-120"/>
              </a:rPr>
              <a:t>JANUARY 2027</a:t>
            </a:r>
            <a:endParaRPr lang="en-US" sz="2300" dirty="0"/>
          </a:p>
        </p:txBody>
      </p:sp>
      <p:sp>
        <p:nvSpPr>
          <p:cNvPr id="10" name="Text 8"/>
          <p:cNvSpPr txBox="1"/>
          <p:nvPr/>
        </p:nvSpPr>
        <p:spPr>
          <a:xfrm>
            <a:off x="6551676" y="2313432"/>
            <a:ext cx="4722876" cy="237744"/>
          </a:xfrm>
          <a:prstGeom prst="rect">
            <a:avLst/>
          </a:prstGeom>
          <a:noFill/>
          <a:ln/>
        </p:spPr>
        <p:txBody>
          <a:bodyPr wrap="square" lIns="0" tIns="0" rIns="0" bIns="0" rtlCol="0" anchor="ctr"/>
          <a:lstStyle/>
          <a:p>
            <a:pPr indent="0" marL="0">
              <a:buNone/>
            </a:pPr>
            <a:r>
              <a:rPr lang="en-US" sz="1050" i="1" dirty="0">
                <a:solidFill>
                  <a:srgbClr val="5C6B66"/>
                </a:solidFill>
                <a:latin typeface="Calibri" pitchFamily="34" charset="0"/>
                <a:ea typeface="Calibri" pitchFamily="34" charset="-122"/>
                <a:cs typeface="Calibri" pitchFamily="34" charset="-120"/>
              </a:rPr>
              <a:t>fifteen months out</a:t>
            </a:r>
            <a:endParaRPr lang="en-US" sz="1050" dirty="0"/>
          </a:p>
        </p:txBody>
      </p:sp>
      <p:sp>
        <p:nvSpPr>
          <p:cNvPr id="11" name="Text 9"/>
          <p:cNvSpPr txBox="1"/>
          <p:nvPr/>
        </p:nvSpPr>
        <p:spPr>
          <a:xfrm>
            <a:off x="6551676" y="2615184"/>
            <a:ext cx="4722876" cy="868680"/>
          </a:xfrm>
          <a:prstGeom prst="rect">
            <a:avLst/>
          </a:prstGeom>
          <a:noFill/>
          <a:ln/>
        </p:spPr>
        <p:txBody>
          <a:bodyPr wrap="square" lIns="0" tIns="0" rIns="0" bIns="0" rtlCol="0" anchor="ctr"/>
          <a:lstStyle/>
          <a:p>
            <a:pPr indent="0" marL="0">
              <a:buNone/>
            </a:pPr>
            <a:r>
              <a:rPr lang="en-US" sz="1200" dirty="0">
                <a:solidFill>
                  <a:srgbClr val="16211E"/>
                </a:solidFill>
                <a:latin typeface="Calibri" pitchFamily="34" charset="0"/>
                <a:ea typeface="Calibri" pitchFamily="34" charset="-122"/>
                <a:cs typeface="Calibri" pitchFamily="34" charset="-120"/>
              </a:rPr>
              <a:t>Four FHIR APIs live, including a Patient Access API that must expose prior authorization status to the member.</a:t>
            </a:r>
            <a:endParaRPr lang="en-US" sz="1200" dirty="0"/>
          </a:p>
        </p:txBody>
      </p:sp>
      <p:sp>
        <p:nvSpPr>
          <p:cNvPr id="12" name="Shape 10"/>
          <p:cNvSpPr/>
          <p:nvPr/>
        </p:nvSpPr>
        <p:spPr>
          <a:xfrm>
            <a:off x="640080" y="3794760"/>
            <a:ext cx="10908792" cy="914400"/>
          </a:xfrm>
          <a:prstGeom prst="roundRect">
            <a:avLst>
              <a:gd name="adj" fmla="val 5000"/>
            </a:avLst>
          </a:prstGeom>
          <a:solidFill>
            <a:srgbClr val="1F2A26"/>
          </a:solidFill>
          <a:ln w="9525">
            <a:solidFill>
              <a:srgbClr val="1F2A26"/>
            </a:solidFill>
            <a:prstDash val="solid"/>
          </a:ln>
        </p:spPr>
      </p:sp>
      <p:sp>
        <p:nvSpPr>
          <p:cNvPr id="13" name="Text 11"/>
          <p:cNvSpPr txBox="1"/>
          <p:nvPr/>
        </p:nvSpPr>
        <p:spPr>
          <a:xfrm>
            <a:off x="914400" y="3950208"/>
            <a:ext cx="3657600" cy="237744"/>
          </a:xfrm>
          <a:prstGeom prst="rect">
            <a:avLst/>
          </a:prstGeom>
          <a:noFill/>
          <a:ln/>
        </p:spPr>
        <p:txBody>
          <a:bodyPr wrap="square" lIns="0" tIns="0" rIns="0" bIns="0" rtlCol="0" anchor="ctr"/>
          <a:lstStyle/>
          <a:p>
            <a:pPr indent="0" marL="0">
              <a:buNone/>
            </a:pPr>
            <a:r>
              <a:rPr lang="en-US" sz="950" b="1" spc="180" kern="0" dirty="0">
                <a:solidFill>
                  <a:srgbClr val="8FC9B5"/>
                </a:solidFill>
                <a:latin typeface="Calibri" pitchFamily="34" charset="0"/>
                <a:ea typeface="Calibri" pitchFamily="34" charset="-122"/>
                <a:cs typeface="Calibri" pitchFamily="34" charset="-120"/>
              </a:rPr>
              <a:t>AND THE THIRD WALL: THE LAW</a:t>
            </a:r>
            <a:endParaRPr lang="en-US" sz="950" dirty="0"/>
          </a:p>
        </p:txBody>
      </p:sp>
      <p:sp>
        <p:nvSpPr>
          <p:cNvPr id="14" name="Text 12"/>
          <p:cNvSpPr txBox="1"/>
          <p:nvPr/>
        </p:nvSpPr>
        <p:spPr>
          <a:xfrm>
            <a:off x="914400" y="4206240"/>
            <a:ext cx="10360152"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California and Texas already prohibit AI from being the sole basis of a denial. Eleven or more states have introduced similar bills.</a:t>
            </a:r>
            <a:endParaRPr lang="en-US" sz="1300" dirty="0"/>
          </a:p>
        </p:txBody>
      </p:sp>
      <p:sp>
        <p:nvSpPr>
          <p:cNvPr id="15" name="Text 13"/>
          <p:cNvSpPr txBox="1"/>
          <p:nvPr/>
        </p:nvSpPr>
        <p:spPr>
          <a:xfrm>
            <a:off x="640080" y="4937760"/>
            <a:ext cx="10908792" cy="457200"/>
          </a:xfrm>
          <a:prstGeom prst="rect">
            <a:avLst/>
          </a:prstGeom>
          <a:noFill/>
          <a:ln/>
        </p:spPr>
        <p:txBody>
          <a:bodyPr wrap="square" lIns="0" tIns="0" rIns="0" bIns="0" rtlCol="0" anchor="ctr"/>
          <a:lstStyle/>
          <a:p>
            <a:pPr indent="0" marL="0">
              <a:buNone/>
            </a:pPr>
            <a:r>
              <a:rPr lang="en-US" sz="2000" dirty="0">
                <a:solidFill>
                  <a:srgbClr val="16211E"/>
                </a:solidFill>
                <a:latin typeface="Cambria" pitchFamily="34" charset="0"/>
                <a:ea typeface="Cambria" pitchFamily="34" charset="-122"/>
                <a:cs typeface="Cambria" pitchFamily="34" charset="-120"/>
              </a:rPr>
              <a:t>Turnaround stops being an efficiency metric and becomes a compliance metric.</a:t>
            </a:r>
            <a:endParaRPr lang="en-US" sz="2000" dirty="0"/>
          </a:p>
        </p:txBody>
      </p:sp>
      <p:sp>
        <p:nvSpPr>
          <p:cNvPr id="16" name="Text 14"/>
          <p:cNvSpPr txBox="1"/>
          <p:nvPr/>
        </p:nvSpPr>
        <p:spPr>
          <a:xfrm>
            <a:off x="640080" y="5577840"/>
            <a:ext cx="9599737" cy="640080"/>
          </a:xfrm>
          <a:prstGeom prst="rect">
            <a:avLst/>
          </a:prstGeom>
          <a:noFill/>
          <a:ln/>
        </p:spPr>
        <p:txBody>
          <a:bodyPr wrap="square" lIns="0" tIns="0" rIns="0" bIns="0" rtlCol="0" anchor="ctr"/>
          <a:lstStyle/>
          <a:p>
            <a:pPr indent="0" marL="0">
              <a:buNone/>
            </a:pPr>
            <a:r>
              <a:rPr lang="en-US" sz="1100" dirty="0">
                <a:solidFill>
                  <a:srgbClr val="5C6B66"/>
                </a:solidFill>
                <a:latin typeface="Calibri" pitchFamily="34" charset="0"/>
                <a:ea typeface="Calibri" pitchFamily="34" charset="-122"/>
                <a:cs typeface="Calibri" pitchFamily="34" charset="-120"/>
              </a:rPr>
              <a:t>A pend does not stop the clock. A plan may take an extension of up to 14 calendar days, but only by justifying the delay as being in the member's interest and notifying the member in writing.</a:t>
            </a:r>
            <a:endParaRPr lang="en-US" sz="1100" dirty="0"/>
          </a:p>
        </p:txBody>
      </p:sp>
      <p:sp>
        <p:nvSpPr>
          <p:cNvPr id="17" name="Text 15"/>
          <p:cNvSpPr txBox="1"/>
          <p:nvPr/>
        </p:nvSpPr>
        <p:spPr>
          <a:xfrm>
            <a:off x="640080" y="6400800"/>
            <a:ext cx="10908792" cy="274320"/>
          </a:xfrm>
          <a:prstGeom prst="rect">
            <a:avLst/>
          </a:prstGeom>
          <a:noFill/>
          <a:ln/>
        </p:spPr>
        <p:txBody>
          <a:bodyPr wrap="square" lIns="0" tIns="0" rIns="0" bIns="0" rtlCol="0" anchor="ctr"/>
          <a:lstStyle/>
          <a:p>
            <a:pPr indent="0" marL="0">
              <a:buNone/>
            </a:pPr>
            <a:r>
              <a:rPr lang="en-US" sz="900" b="1" spc="120" kern="0" dirty="0">
                <a:solidFill>
                  <a:srgbClr val="8A9793"/>
                </a:solidFill>
                <a:latin typeface="Calibri" pitchFamily="34" charset="0"/>
                <a:ea typeface="Calibri" pitchFamily="34" charset="-122"/>
                <a:cs typeface="Calibri" pitchFamily="34" charset="-120"/>
              </a:rPr>
              <a:t>SOURCE   CMS-0057-F, CMS-4201-F, 42 CFR 422 (cms.gov)  ·  California SB 1120 (2024)  ·  Texas SB 815 (2025)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1F6F5C"/>
                </a:solidFill>
                <a:latin typeface="Calibri" pitchFamily="34" charset="0"/>
                <a:ea typeface="Calibri" pitchFamily="34" charset="-122"/>
                <a:cs typeface="Calibri" pitchFamily="34" charset="-120"/>
              </a:rPr>
              <a:t>WHAT THE MARKET IS DOING</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The industry has already answered one question.</a:t>
            </a:r>
            <a:endParaRPr lang="en-US" sz="3200" dirty="0"/>
          </a:p>
        </p:txBody>
      </p:sp>
      <p:sp>
        <p:nvSpPr>
          <p:cNvPr id="4" name="Shape 2"/>
          <p:cNvSpPr/>
          <p:nvPr/>
        </p:nvSpPr>
        <p:spPr>
          <a:xfrm>
            <a:off x="640080" y="1737360"/>
            <a:ext cx="3483864" cy="1783080"/>
          </a:xfrm>
          <a:prstGeom prst="roundRect">
            <a:avLst>
              <a:gd name="adj" fmla="val 2564"/>
            </a:avLst>
          </a:prstGeom>
          <a:solidFill>
            <a:srgbClr val="EFF4F1"/>
          </a:solidFill>
          <a:ln w="9525">
            <a:solidFill>
              <a:srgbClr val="D9E1DD"/>
            </a:solidFill>
            <a:prstDash val="solid"/>
          </a:ln>
        </p:spPr>
      </p:sp>
      <p:sp>
        <p:nvSpPr>
          <p:cNvPr id="5" name="Text 3"/>
          <p:cNvSpPr txBox="1"/>
          <p:nvPr/>
        </p:nvSpPr>
        <p:spPr>
          <a:xfrm>
            <a:off x="859536" y="1874520"/>
            <a:ext cx="3044952" cy="219456"/>
          </a:xfrm>
          <a:prstGeom prst="rect">
            <a:avLst/>
          </a:prstGeom>
          <a:noFill/>
          <a:ln/>
        </p:spPr>
        <p:txBody>
          <a:bodyPr wrap="square" lIns="0" tIns="0" rIns="0" bIns="0" rtlCol="0" anchor="ctr"/>
          <a:lstStyle/>
          <a:p>
            <a:pPr indent="0" marL="0">
              <a:buNone/>
            </a:pPr>
            <a:r>
              <a:rPr lang="en-US" sz="900" b="1" spc="160" kern="0" dirty="0">
                <a:solidFill>
                  <a:srgbClr val="A3342B"/>
                </a:solidFill>
                <a:latin typeface="Calibri" pitchFamily="34" charset="0"/>
                <a:ea typeface="Calibri" pitchFamily="34" charset="-122"/>
                <a:cs typeface="Calibri" pitchFamily="34" charset="-120"/>
              </a:rPr>
              <a:t>TODAY</a:t>
            </a:r>
            <a:endParaRPr lang="en-US" sz="900" dirty="0"/>
          </a:p>
        </p:txBody>
      </p:sp>
      <p:sp>
        <p:nvSpPr>
          <p:cNvPr id="6" name="Text 4"/>
          <p:cNvSpPr txBox="1"/>
          <p:nvPr/>
        </p:nvSpPr>
        <p:spPr>
          <a:xfrm>
            <a:off x="859536" y="2103120"/>
            <a:ext cx="3044952" cy="310896"/>
          </a:xfrm>
          <a:prstGeom prst="rect">
            <a:avLst/>
          </a:prstGeom>
          <a:noFill/>
          <a:ln/>
        </p:spPr>
        <p:txBody>
          <a:bodyPr wrap="square" lIns="0" tIns="0" rIns="0" bIns="0" rtlCol="0" anchor="ctr"/>
          <a:lstStyle/>
          <a:p>
            <a:pPr indent="0" marL="0">
              <a:buNone/>
            </a:pPr>
            <a:r>
              <a:rPr lang="en-US" sz="1350" b="1" spc="60" kern="0" dirty="0">
                <a:solidFill>
                  <a:srgbClr val="5C6B66"/>
                </a:solidFill>
                <a:latin typeface="Calibri" pitchFamily="34" charset="0"/>
                <a:ea typeface="Calibri" pitchFamily="34" charset="-122"/>
                <a:cs typeface="Calibri" pitchFamily="34" charset="-120"/>
              </a:rPr>
              <a:t>FRAGMENTED</a:t>
            </a:r>
            <a:endParaRPr lang="en-US" sz="1350" dirty="0"/>
          </a:p>
        </p:txBody>
      </p:sp>
      <p:sp>
        <p:nvSpPr>
          <p:cNvPr id="7" name="Text 5"/>
          <p:cNvSpPr txBox="1"/>
          <p:nvPr/>
        </p:nvSpPr>
        <p:spPr>
          <a:xfrm>
            <a:off x="859536" y="2450592"/>
            <a:ext cx="3044952" cy="1005840"/>
          </a:xfrm>
          <a:prstGeom prst="rect">
            <a:avLst/>
          </a:prstGeom>
          <a:noFill/>
          <a:ln/>
        </p:spPr>
        <p:txBody>
          <a:bodyPr wrap="square" lIns="0" tIns="0" rIns="0" bIns="0" rtlCol="0" anchor="ctr"/>
          <a:lstStyle/>
          <a:p>
            <a:pPr indent="0" marL="0">
              <a:buNone/>
            </a:pPr>
            <a:r>
              <a:rPr lang="en-US" sz="1100" dirty="0">
                <a:solidFill>
                  <a:srgbClr val="5C6B66"/>
                </a:solidFill>
                <a:latin typeface="Calibri" pitchFamily="34" charset="0"/>
                <a:ea typeface="Calibri" pitchFamily="34" charset="-122"/>
                <a:cs typeface="Calibri" pitchFamily="34" charset="-120"/>
              </a:rPr>
              <a:t>Review, escalation and appeals run as separate workflows. Information does not reliably follow the case.</a:t>
            </a:r>
            <a:endParaRPr lang="en-US" sz="1100" dirty="0"/>
          </a:p>
        </p:txBody>
      </p:sp>
      <p:sp>
        <p:nvSpPr>
          <p:cNvPr id="8" name="Shape 6"/>
          <p:cNvSpPr/>
          <p:nvPr/>
        </p:nvSpPr>
        <p:spPr>
          <a:xfrm>
            <a:off x="4352544" y="1737360"/>
            <a:ext cx="3483864" cy="1783080"/>
          </a:xfrm>
          <a:prstGeom prst="roundRect">
            <a:avLst>
              <a:gd name="adj" fmla="val 2564"/>
            </a:avLst>
          </a:prstGeom>
          <a:solidFill>
            <a:srgbClr val="DCEBE5"/>
          </a:solidFill>
          <a:ln w="9525">
            <a:solidFill>
              <a:srgbClr val="D9E1DD"/>
            </a:solidFill>
            <a:prstDash val="solid"/>
          </a:ln>
        </p:spPr>
      </p:sp>
      <p:sp>
        <p:nvSpPr>
          <p:cNvPr id="9" name="Text 7"/>
          <p:cNvSpPr txBox="1"/>
          <p:nvPr/>
        </p:nvSpPr>
        <p:spPr>
          <a:xfrm>
            <a:off x="4572000" y="1901952"/>
            <a:ext cx="3044952" cy="310896"/>
          </a:xfrm>
          <a:prstGeom prst="rect">
            <a:avLst/>
          </a:prstGeom>
          <a:noFill/>
          <a:ln/>
        </p:spPr>
        <p:txBody>
          <a:bodyPr wrap="square" lIns="0" tIns="0" rIns="0" bIns="0" rtlCol="0" anchor="ctr"/>
          <a:lstStyle/>
          <a:p>
            <a:pPr indent="0" marL="0">
              <a:buNone/>
            </a:pPr>
            <a:r>
              <a:rPr lang="en-US" sz="1350" b="1" spc="60" kern="0" dirty="0">
                <a:solidFill>
                  <a:srgbClr val="1F6F5C"/>
                </a:solidFill>
                <a:latin typeface="Calibri" pitchFamily="34" charset="0"/>
                <a:ea typeface="Calibri" pitchFamily="34" charset="-122"/>
                <a:cs typeface="Calibri" pitchFamily="34" charset="-120"/>
              </a:rPr>
              <a:t>MANAGED</a:t>
            </a:r>
            <a:endParaRPr lang="en-US" sz="1350" dirty="0"/>
          </a:p>
        </p:txBody>
      </p:sp>
      <p:sp>
        <p:nvSpPr>
          <p:cNvPr id="10" name="Text 8"/>
          <p:cNvSpPr txBox="1"/>
          <p:nvPr/>
        </p:nvSpPr>
        <p:spPr>
          <a:xfrm>
            <a:off x="4572000" y="2450592"/>
            <a:ext cx="3044952" cy="1005840"/>
          </a:xfrm>
          <a:prstGeom prst="rect">
            <a:avLst/>
          </a:prstGeom>
          <a:noFill/>
          <a:ln/>
        </p:spPr>
        <p:txBody>
          <a:bodyPr wrap="square" lIns="0" tIns="0" rIns="0" bIns="0" rtlCol="0" anchor="ctr"/>
          <a:lstStyle/>
          <a:p>
            <a:pPr indent="0" marL="0">
              <a:buNone/>
            </a:pPr>
            <a:r>
              <a:rPr lang="en-US" sz="1100" dirty="0">
                <a:solidFill>
                  <a:srgbClr val="5C6B66"/>
                </a:solidFill>
                <a:latin typeface="Calibri" pitchFamily="34" charset="0"/>
                <a:ea typeface="Calibri" pitchFamily="34" charset="-122"/>
                <a:cs typeface="Calibri" pitchFamily="34" charset="-120"/>
              </a:rPr>
              <a:t>Standardized timelines and shared visibility into documentation issues. Still learns retrospectively, not case by case.</a:t>
            </a:r>
            <a:endParaRPr lang="en-US" sz="1100" dirty="0"/>
          </a:p>
        </p:txBody>
      </p:sp>
      <p:sp>
        <p:nvSpPr>
          <p:cNvPr id="11" name="Shape 9"/>
          <p:cNvSpPr/>
          <p:nvPr/>
        </p:nvSpPr>
        <p:spPr>
          <a:xfrm>
            <a:off x="8065008" y="1737360"/>
            <a:ext cx="3483864" cy="1783080"/>
          </a:xfrm>
          <a:prstGeom prst="roundRect">
            <a:avLst>
              <a:gd name="adj" fmla="val 2564"/>
            </a:avLst>
          </a:prstGeom>
          <a:solidFill>
            <a:srgbClr val="1F6F5C"/>
          </a:solidFill>
          <a:ln w="9525">
            <a:solidFill>
              <a:srgbClr val="1F6F5C"/>
            </a:solidFill>
            <a:prstDash val="solid"/>
          </a:ln>
        </p:spPr>
      </p:sp>
      <p:sp>
        <p:nvSpPr>
          <p:cNvPr id="12" name="Text 10"/>
          <p:cNvSpPr txBox="1"/>
          <p:nvPr/>
        </p:nvSpPr>
        <p:spPr>
          <a:xfrm>
            <a:off x="8284464" y="1901952"/>
            <a:ext cx="3044952" cy="310896"/>
          </a:xfrm>
          <a:prstGeom prst="rect">
            <a:avLst/>
          </a:prstGeom>
          <a:noFill/>
          <a:ln/>
        </p:spPr>
        <p:txBody>
          <a:bodyPr wrap="square" lIns="0" tIns="0" rIns="0" bIns="0" rtlCol="0" anchor="ctr"/>
          <a:lstStyle/>
          <a:p>
            <a:pPr indent="0" marL="0">
              <a:buNone/>
            </a:pPr>
            <a:r>
              <a:rPr lang="en-US" sz="1350" b="1" spc="60" kern="0" dirty="0">
                <a:solidFill>
                  <a:srgbClr val="FFFFFF"/>
                </a:solidFill>
                <a:latin typeface="Calibri" pitchFamily="34" charset="0"/>
                <a:ea typeface="Calibri" pitchFamily="34" charset="-122"/>
                <a:cs typeface="Calibri" pitchFamily="34" charset="-120"/>
              </a:rPr>
              <a:t>INTELLIGENT</a:t>
            </a:r>
            <a:endParaRPr lang="en-US" sz="1350" dirty="0"/>
          </a:p>
        </p:txBody>
      </p:sp>
      <p:sp>
        <p:nvSpPr>
          <p:cNvPr id="13" name="Text 11"/>
          <p:cNvSpPr txBox="1"/>
          <p:nvPr/>
        </p:nvSpPr>
        <p:spPr>
          <a:xfrm>
            <a:off x="8284464" y="2450592"/>
            <a:ext cx="3044952" cy="1005840"/>
          </a:xfrm>
          <a:prstGeom prst="rect">
            <a:avLst/>
          </a:prstGeom>
          <a:noFill/>
          <a:ln/>
        </p:spPr>
        <p:txBody>
          <a:bodyPr wrap="square" lIns="0" tIns="0" rIns="0" bIns="0" rtlCol="0" anchor="ctr"/>
          <a:lstStyle/>
          <a:p>
            <a:pPr indent="0" marL="0">
              <a:buNone/>
            </a:pPr>
            <a:r>
              <a:rPr lang="en-US" sz="1100" dirty="0">
                <a:solidFill>
                  <a:srgbClr val="D9EDE5"/>
                </a:solidFill>
                <a:latin typeface="Calibri" pitchFamily="34" charset="0"/>
                <a:ea typeface="Calibri" pitchFamily="34" charset="-122"/>
                <a:cs typeface="Calibri" pitchFamily="34" charset="-120"/>
              </a:rPr>
              <a:t>Connected clinical and payer context, earlier intervention, and a feedback loop from denial and appeal outcomes.</a:t>
            </a:r>
            <a:endParaRPr lang="en-US" sz="1100" dirty="0"/>
          </a:p>
        </p:txBody>
      </p:sp>
      <p:sp>
        <p:nvSpPr>
          <p:cNvPr id="14" name="Shape 12"/>
          <p:cNvSpPr/>
          <p:nvPr/>
        </p:nvSpPr>
        <p:spPr>
          <a:xfrm>
            <a:off x="640080" y="3840480"/>
            <a:ext cx="10908792" cy="1234440"/>
          </a:xfrm>
          <a:prstGeom prst="roundRect">
            <a:avLst>
              <a:gd name="adj" fmla="val 3704"/>
            </a:avLst>
          </a:prstGeom>
          <a:solidFill>
            <a:srgbClr val="F5F0E4"/>
          </a:solidFill>
          <a:ln w="9525">
            <a:solidFill>
              <a:srgbClr val="E3D9BF"/>
            </a:solidFill>
            <a:prstDash val="solid"/>
          </a:ln>
        </p:spPr>
      </p:sp>
      <p:sp>
        <p:nvSpPr>
          <p:cNvPr id="15" name="Text 13"/>
          <p:cNvSpPr txBox="1"/>
          <p:nvPr/>
        </p:nvSpPr>
        <p:spPr>
          <a:xfrm>
            <a:off x="932688" y="4005072"/>
            <a:ext cx="5486400" cy="237744"/>
          </a:xfrm>
          <a:prstGeom prst="rect">
            <a:avLst/>
          </a:prstGeom>
          <a:noFill/>
          <a:ln/>
        </p:spPr>
        <p:txBody>
          <a:bodyPr wrap="square" lIns="0" tIns="0" rIns="0" bIns="0" rtlCol="0" anchor="ctr"/>
          <a:lstStyle/>
          <a:p>
            <a:pPr indent="0" marL="0">
              <a:buNone/>
            </a:pPr>
            <a:r>
              <a:rPr lang="en-US" sz="950" b="1" spc="140" kern="0" dirty="0">
                <a:solidFill>
                  <a:srgbClr val="9C5A22"/>
                </a:solidFill>
                <a:latin typeface="Calibri" pitchFamily="34" charset="0"/>
                <a:ea typeface="Calibri" pitchFamily="34" charset="-122"/>
                <a:cs typeface="Calibri" pitchFamily="34" charset="-120"/>
              </a:rPr>
              <a:t>COHERE HEALTH  ·  the direct payer-side comparable</a:t>
            </a:r>
            <a:endParaRPr lang="en-US" sz="950" dirty="0"/>
          </a:p>
        </p:txBody>
      </p:sp>
      <p:sp>
        <p:nvSpPr>
          <p:cNvPr id="16" name="Text 14"/>
          <p:cNvSpPr txBox="1"/>
          <p:nvPr/>
        </p:nvSpPr>
        <p:spPr>
          <a:xfrm>
            <a:off x="932688" y="4261104"/>
            <a:ext cx="10323576" cy="502920"/>
          </a:xfrm>
          <a:prstGeom prst="rect">
            <a:avLst/>
          </a:prstGeom>
          <a:noFill/>
          <a:ln/>
        </p:spPr>
        <p:txBody>
          <a:bodyPr wrap="square" lIns="0" tIns="0" rIns="0" bIns="0" rtlCol="0" anchor="ctr"/>
          <a:lstStyle/>
          <a:p>
            <a:pPr indent="0" marL="0">
              <a:buNone/>
            </a:pPr>
            <a:r>
              <a:rPr lang="en-US" sz="1700" i="1" dirty="0">
                <a:solidFill>
                  <a:srgbClr val="16211E"/>
                </a:solidFill>
                <a:latin typeface="Cambria" pitchFamily="34" charset="0"/>
                <a:ea typeface="Cambria" pitchFamily="34" charset="-122"/>
                <a:cs typeface="Cambria" pitchFamily="34" charset="-120"/>
              </a:rPr>
              <a:t>“No request is denied exclusively by AI. Only human clinical experts can make that call.”</a:t>
            </a:r>
            <a:endParaRPr lang="en-US" sz="1700" dirty="0"/>
          </a:p>
        </p:txBody>
      </p:sp>
      <p:sp>
        <p:nvSpPr>
          <p:cNvPr id="17" name="Text 15"/>
          <p:cNvSpPr txBox="1"/>
          <p:nvPr/>
        </p:nvSpPr>
        <p:spPr>
          <a:xfrm>
            <a:off x="932688" y="4754880"/>
            <a:ext cx="10323576" cy="274320"/>
          </a:xfrm>
          <a:prstGeom prst="rect">
            <a:avLst/>
          </a:prstGeom>
          <a:noFill/>
          <a:ln/>
        </p:spPr>
        <p:txBody>
          <a:bodyPr wrap="square" lIns="0" tIns="0" rIns="0" bIns="0" rtlCol="0" anchor="ctr"/>
          <a:lstStyle/>
          <a:p>
            <a:pPr indent="0" marL="0">
              <a:buNone/>
            </a:pPr>
            <a:r>
              <a:rPr lang="en-US" sz="1100" dirty="0">
                <a:solidFill>
                  <a:srgbClr val="5C6B66"/>
                </a:solidFill>
                <a:latin typeface="Calibri" pitchFamily="34" charset="0"/>
                <a:ea typeface="Calibri" pitchFamily="34" charset="-122"/>
                <a:cs typeface="Calibri" pitchFamily="34" charset="-120"/>
              </a:rPr>
              <a:t>Automates up to 90% of requests, 35 to 40% reduction in clinical review time — and still never lets AI deny alone.</a:t>
            </a:r>
            <a:endParaRPr lang="en-US" sz="1100" dirty="0"/>
          </a:p>
        </p:txBody>
      </p:sp>
      <p:sp>
        <p:nvSpPr>
          <p:cNvPr id="18" name="Text 16"/>
          <p:cNvSpPr txBox="1"/>
          <p:nvPr/>
        </p:nvSpPr>
        <p:spPr>
          <a:xfrm>
            <a:off x="640080" y="5257800"/>
            <a:ext cx="10908792" cy="274320"/>
          </a:xfrm>
          <a:prstGeom prst="rect">
            <a:avLst/>
          </a:prstGeom>
          <a:noFill/>
          <a:ln/>
        </p:spPr>
        <p:txBody>
          <a:bodyPr wrap="square" lIns="0" tIns="0" rIns="0" bIns="0" rtlCol="0" anchor="ctr"/>
          <a:lstStyle/>
          <a:p>
            <a:pPr indent="0" marL="0">
              <a:buNone/>
            </a:pPr>
            <a:r>
              <a:rPr lang="en-US" sz="1050" i="1" dirty="0">
                <a:solidFill>
                  <a:srgbClr val="8A9793"/>
                </a:solidFill>
                <a:latin typeface="Calibri" pitchFamily="34" charset="0"/>
                <a:ea typeface="Calibri" pitchFamily="34" charset="-122"/>
                <a:cs typeface="Calibri" pitchFamily="34" charset="-120"/>
              </a:rPr>
              <a:t>Provider-side tools solve a different problem — submitting and tracking, not deciding: Rhyme, Myndshft, Innovaccer, Availity.</a:t>
            </a:r>
            <a:endParaRPr lang="en-US" sz="1050" dirty="0"/>
          </a:p>
        </p:txBody>
      </p:sp>
      <p:sp>
        <p:nvSpPr>
          <p:cNvPr id="19" name="Text 17"/>
          <p:cNvSpPr txBox="1"/>
          <p:nvPr/>
        </p:nvSpPr>
        <p:spPr>
          <a:xfrm>
            <a:off x="640080" y="5623560"/>
            <a:ext cx="10908792" cy="457200"/>
          </a:xfrm>
          <a:prstGeom prst="rect">
            <a:avLst/>
          </a:prstGeom>
          <a:noFill/>
          <a:ln/>
        </p:spPr>
        <p:txBody>
          <a:bodyPr wrap="square" lIns="0" tIns="0" rIns="0" bIns="0" rtlCol="0" anchor="ctr"/>
          <a:lstStyle/>
          <a:p>
            <a:pPr indent="0" marL="0">
              <a:buNone/>
            </a:pPr>
            <a:r>
              <a:rPr lang="en-US" sz="1700" dirty="0">
                <a:solidFill>
                  <a:srgbClr val="16211E"/>
                </a:solidFill>
                <a:latin typeface="Cambria" pitchFamily="34" charset="0"/>
                <a:ea typeface="Cambria" pitchFamily="34" charset="-122"/>
                <a:cs typeface="Cambria" pitchFamily="34" charset="-120"/>
              </a:rPr>
              <a:t>Every serious player in this space has already converged on one rule: AI supports, it does not decide alone.</a:t>
            </a:r>
            <a:endParaRPr lang="en-US" sz="1700" dirty="0"/>
          </a:p>
        </p:txBody>
      </p:sp>
      <p:sp>
        <p:nvSpPr>
          <p:cNvPr id="20" name="Text 18"/>
          <p:cNvSpPr txBox="1"/>
          <p:nvPr/>
        </p:nvSpPr>
        <p:spPr>
          <a:xfrm>
            <a:off x="640080" y="6400800"/>
            <a:ext cx="10908792" cy="274320"/>
          </a:xfrm>
          <a:prstGeom prst="rect">
            <a:avLst/>
          </a:prstGeom>
          <a:noFill/>
          <a:ln/>
        </p:spPr>
        <p:txBody>
          <a:bodyPr wrap="square" lIns="0" tIns="0" rIns="0" bIns="0" rtlCol="0" anchor="ctr"/>
          <a:lstStyle/>
          <a:p>
            <a:pPr indent="0" marL="0">
              <a:buNone/>
            </a:pPr>
            <a:r>
              <a:rPr lang="en-US" sz="900" b="1" spc="120" kern="0" dirty="0">
                <a:solidFill>
                  <a:srgbClr val="8A9793"/>
                </a:solidFill>
                <a:latin typeface="Calibri" pitchFamily="34" charset="0"/>
                <a:ea typeface="Calibri" pitchFamily="34" charset="-122"/>
                <a:cs typeface="Calibri" pitchFamily="34" charset="-120"/>
              </a:rPr>
              <a:t>SOURCE   R1 RCM, “The Future of Utilization Management”  ·  Cohere Health, coherehealth.com/platform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1F6F5C"/>
                </a:solidFill>
                <a:latin typeface="Calibri" pitchFamily="34" charset="0"/>
                <a:ea typeface="Calibri" pitchFamily="34" charset="-122"/>
                <a:cs typeface="Calibri" pitchFamily="34" charset="-120"/>
              </a:rPr>
              <a:t>GIVEN ALL OF THAT</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How we will know this is working.</a:t>
            </a:r>
            <a:endParaRPr lang="en-US" sz="3200" dirty="0"/>
          </a:p>
        </p:txBody>
      </p:sp>
      <p:sp>
        <p:nvSpPr>
          <p:cNvPr id="4" name="Shape 2"/>
          <p:cNvSpPr/>
          <p:nvPr/>
        </p:nvSpPr>
        <p:spPr>
          <a:xfrm>
            <a:off x="640080" y="1737360"/>
            <a:ext cx="10908792" cy="1234440"/>
          </a:xfrm>
          <a:prstGeom prst="roundRect">
            <a:avLst>
              <a:gd name="adj" fmla="val 3704"/>
            </a:avLst>
          </a:prstGeom>
          <a:solidFill>
            <a:srgbClr val="1F6F5C"/>
          </a:solidFill>
          <a:ln w="9525">
            <a:solidFill>
              <a:srgbClr val="1F6F5C"/>
            </a:solidFill>
            <a:prstDash val="solid"/>
          </a:ln>
        </p:spPr>
      </p:sp>
      <p:sp>
        <p:nvSpPr>
          <p:cNvPr id="5" name="Text 3"/>
          <p:cNvSpPr txBox="1"/>
          <p:nvPr/>
        </p:nvSpPr>
        <p:spPr>
          <a:xfrm>
            <a:off x="960120" y="1901952"/>
            <a:ext cx="2743200" cy="237744"/>
          </a:xfrm>
          <a:prstGeom prst="rect">
            <a:avLst/>
          </a:prstGeom>
          <a:noFill/>
          <a:ln/>
        </p:spPr>
        <p:txBody>
          <a:bodyPr wrap="square" lIns="0" tIns="0" rIns="0" bIns="0" rtlCol="0" anchor="ctr"/>
          <a:lstStyle/>
          <a:p>
            <a:pPr indent="0" marL="0">
              <a:buNone/>
            </a:pPr>
            <a:r>
              <a:rPr lang="en-US" sz="950" b="1" spc="180" kern="0" dirty="0">
                <a:solidFill>
                  <a:srgbClr val="9FD6C4"/>
                </a:solidFill>
                <a:latin typeface="Calibri" pitchFamily="34" charset="0"/>
                <a:ea typeface="Calibri" pitchFamily="34" charset="-122"/>
                <a:cs typeface="Calibri" pitchFamily="34" charset="-120"/>
              </a:rPr>
              <a:t>NORTH STAR</a:t>
            </a:r>
            <a:endParaRPr lang="en-US" sz="950" dirty="0"/>
          </a:p>
        </p:txBody>
      </p:sp>
      <p:sp>
        <p:nvSpPr>
          <p:cNvPr id="6" name="Text 4"/>
          <p:cNvSpPr txBox="1"/>
          <p:nvPr/>
        </p:nvSpPr>
        <p:spPr>
          <a:xfrm>
            <a:off x="960120" y="2157984"/>
            <a:ext cx="6949440" cy="457200"/>
          </a:xfrm>
          <a:prstGeom prst="rect">
            <a:avLst/>
          </a:prstGeom>
          <a:noFill/>
          <a:ln/>
        </p:spPr>
        <p:txBody>
          <a:bodyPr wrap="square" lIns="0" tIns="0" rIns="0" bIns="0" rtlCol="0" anchor="ctr"/>
          <a:lstStyle/>
          <a:p>
            <a:pPr indent="0" marL="0">
              <a:buNone/>
            </a:pPr>
            <a:r>
              <a:rPr lang="en-US" sz="2400" dirty="0">
                <a:solidFill>
                  <a:srgbClr val="FFFFFF"/>
                </a:solidFill>
                <a:latin typeface="Cambria" pitchFamily="34" charset="0"/>
                <a:ea typeface="Cambria" pitchFamily="34" charset="-122"/>
                <a:cs typeface="Cambria" pitchFamily="34" charset="-120"/>
              </a:rPr>
              <a:t>Percentage of cases determined within the CMS clock</a:t>
            </a:r>
            <a:endParaRPr lang="en-US" sz="2400" dirty="0"/>
          </a:p>
        </p:txBody>
      </p:sp>
      <p:sp>
        <p:nvSpPr>
          <p:cNvPr id="7" name="Text 5"/>
          <p:cNvSpPr txBox="1"/>
          <p:nvPr/>
        </p:nvSpPr>
        <p:spPr>
          <a:xfrm>
            <a:off x="8229600" y="1938528"/>
            <a:ext cx="2999232" cy="914400"/>
          </a:xfrm>
          <a:prstGeom prst="rect">
            <a:avLst/>
          </a:prstGeom>
          <a:noFill/>
          <a:ln/>
        </p:spPr>
        <p:txBody>
          <a:bodyPr wrap="square" lIns="0" tIns="0" rIns="0" bIns="0" rtlCol="0" anchor="ctr"/>
          <a:lstStyle/>
          <a:p>
            <a:pPr indent="0" marL="0">
              <a:buNone/>
            </a:pPr>
            <a:r>
              <a:rPr lang="en-US" sz="1200" dirty="0">
                <a:solidFill>
                  <a:srgbClr val="CFE3DA"/>
                </a:solidFill>
                <a:latin typeface="Calibri" pitchFamily="34" charset="0"/>
                <a:ea typeface="Calibri" pitchFamily="34" charset="-122"/>
                <a:cs typeface="Calibri" pitchFamily="34" charset="-120"/>
              </a:rPr>
              <a:t>The one number the member, the provider, the plan and the regulator all care about. And one Humana now reports publicly.</a:t>
            </a:r>
            <a:endParaRPr lang="en-US" sz="1200" dirty="0"/>
          </a:p>
        </p:txBody>
      </p:sp>
      <p:sp>
        <p:nvSpPr>
          <p:cNvPr id="8" name="Shape 6"/>
          <p:cNvSpPr/>
          <p:nvPr/>
        </p:nvSpPr>
        <p:spPr>
          <a:xfrm>
            <a:off x="640080" y="3200400"/>
            <a:ext cx="3483864" cy="1691640"/>
          </a:xfrm>
          <a:prstGeom prst="roundRect">
            <a:avLst>
              <a:gd name="adj" fmla="val 2703"/>
            </a:avLst>
          </a:prstGeom>
          <a:solidFill>
            <a:srgbClr val="EFF4F1"/>
          </a:solidFill>
          <a:ln w="9525">
            <a:solidFill>
              <a:srgbClr val="D9E1DD"/>
            </a:solidFill>
            <a:prstDash val="solid"/>
          </a:ln>
        </p:spPr>
      </p:sp>
      <p:sp>
        <p:nvSpPr>
          <p:cNvPr id="9" name="Text 7"/>
          <p:cNvSpPr txBox="1"/>
          <p:nvPr/>
        </p:nvSpPr>
        <p:spPr>
          <a:xfrm>
            <a:off x="877824" y="3401568"/>
            <a:ext cx="3008376" cy="548640"/>
          </a:xfrm>
          <a:prstGeom prst="rect">
            <a:avLst/>
          </a:prstGeom>
          <a:noFill/>
          <a:ln/>
        </p:spPr>
        <p:txBody>
          <a:bodyPr wrap="square" lIns="0" tIns="0" rIns="0" bIns="0" rtlCol="0" anchor="ctr"/>
          <a:lstStyle/>
          <a:p>
            <a:pPr indent="0" marL="0">
              <a:buNone/>
            </a:pPr>
            <a:r>
              <a:rPr lang="en-US" sz="1450" b="1" dirty="0">
                <a:solidFill>
                  <a:srgbClr val="16211E"/>
                </a:solidFill>
                <a:latin typeface="Calibri" pitchFamily="34" charset="0"/>
                <a:ea typeface="Calibri" pitchFamily="34" charset="-122"/>
                <a:cs typeface="Calibri" pitchFamily="34" charset="-120"/>
              </a:rPr>
              <a:t>Avoidable pend rate</a:t>
            </a:r>
            <a:endParaRPr lang="en-US" sz="1450" dirty="0"/>
          </a:p>
        </p:txBody>
      </p:sp>
      <p:sp>
        <p:nvSpPr>
          <p:cNvPr id="10" name="Text 8"/>
          <p:cNvSpPr txBox="1"/>
          <p:nvPr/>
        </p:nvSpPr>
        <p:spPr>
          <a:xfrm>
            <a:off x="877824" y="3986784"/>
            <a:ext cx="3008376"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Pends caused by a fact that was determinable at submission.</a:t>
            </a:r>
            <a:endParaRPr lang="en-US" sz="1150" dirty="0"/>
          </a:p>
        </p:txBody>
      </p:sp>
      <p:sp>
        <p:nvSpPr>
          <p:cNvPr id="11" name="Text 9"/>
          <p:cNvSpPr txBox="1"/>
          <p:nvPr/>
        </p:nvSpPr>
        <p:spPr>
          <a:xfrm>
            <a:off x="877824" y="4572000"/>
            <a:ext cx="3008376" cy="256032"/>
          </a:xfrm>
          <a:prstGeom prst="rect">
            <a:avLst/>
          </a:prstGeom>
          <a:noFill/>
          <a:ln/>
        </p:spPr>
        <p:txBody>
          <a:bodyPr wrap="square" lIns="0" tIns="0" rIns="0" bIns="0" rtlCol="0" anchor="ctr"/>
          <a:lstStyle/>
          <a:p>
            <a:pPr indent="0" marL="0">
              <a:buNone/>
            </a:pPr>
            <a:r>
              <a:rPr lang="en-US" sz="850" b="1" spc="120" kern="0" dirty="0">
                <a:solidFill>
                  <a:srgbClr val="8A9793"/>
                </a:solidFill>
                <a:latin typeface="Calibri" pitchFamily="34" charset="0"/>
                <a:ea typeface="Calibri" pitchFamily="34" charset="-122"/>
                <a:cs typeface="Calibri" pitchFamily="34" charset="-120"/>
              </a:rPr>
              <a:t>SAMPLED MONTHLY · NEEDS HUMAN LABELLING</a:t>
            </a:r>
            <a:endParaRPr lang="en-US" sz="850" dirty="0"/>
          </a:p>
        </p:txBody>
      </p:sp>
      <p:sp>
        <p:nvSpPr>
          <p:cNvPr id="12" name="Shape 10"/>
          <p:cNvSpPr/>
          <p:nvPr/>
        </p:nvSpPr>
        <p:spPr>
          <a:xfrm>
            <a:off x="4352544" y="3200400"/>
            <a:ext cx="3483864" cy="1691640"/>
          </a:xfrm>
          <a:prstGeom prst="roundRect">
            <a:avLst>
              <a:gd name="adj" fmla="val 2703"/>
            </a:avLst>
          </a:prstGeom>
          <a:solidFill>
            <a:srgbClr val="EFF4F1"/>
          </a:solidFill>
          <a:ln w="9525">
            <a:solidFill>
              <a:srgbClr val="D9E1DD"/>
            </a:solidFill>
            <a:prstDash val="solid"/>
          </a:ln>
        </p:spPr>
      </p:sp>
      <p:sp>
        <p:nvSpPr>
          <p:cNvPr id="13" name="Text 11"/>
          <p:cNvSpPr txBox="1"/>
          <p:nvPr/>
        </p:nvSpPr>
        <p:spPr>
          <a:xfrm>
            <a:off x="4590288" y="3401568"/>
            <a:ext cx="3008376" cy="548640"/>
          </a:xfrm>
          <a:prstGeom prst="rect">
            <a:avLst/>
          </a:prstGeom>
          <a:noFill/>
          <a:ln/>
        </p:spPr>
        <p:txBody>
          <a:bodyPr wrap="square" lIns="0" tIns="0" rIns="0" bIns="0" rtlCol="0" anchor="ctr"/>
          <a:lstStyle/>
          <a:p>
            <a:pPr indent="0" marL="0">
              <a:buNone/>
            </a:pPr>
            <a:r>
              <a:rPr lang="en-US" sz="1450" b="1" dirty="0">
                <a:solidFill>
                  <a:srgbClr val="16211E"/>
                </a:solidFill>
                <a:latin typeface="Calibri" pitchFamily="34" charset="0"/>
                <a:ea typeface="Calibri" pitchFamily="34" charset="-122"/>
                <a:cs typeface="Calibri" pitchFamily="34" charset="-120"/>
              </a:rPr>
              <a:t>First-pass determination rate</a:t>
            </a:r>
            <a:endParaRPr lang="en-US" sz="1450" dirty="0"/>
          </a:p>
        </p:txBody>
      </p:sp>
      <p:sp>
        <p:nvSpPr>
          <p:cNvPr id="14" name="Text 12"/>
          <p:cNvSpPr txBox="1"/>
          <p:nvPr/>
        </p:nvSpPr>
        <p:spPr>
          <a:xfrm>
            <a:off x="4590288" y="3986784"/>
            <a:ext cx="3008376"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Cases that reach a determination without a pend cycle.</a:t>
            </a:r>
            <a:endParaRPr lang="en-US" sz="1150" dirty="0"/>
          </a:p>
        </p:txBody>
      </p:sp>
      <p:sp>
        <p:nvSpPr>
          <p:cNvPr id="15" name="Text 13"/>
          <p:cNvSpPr txBox="1"/>
          <p:nvPr/>
        </p:nvSpPr>
        <p:spPr>
          <a:xfrm>
            <a:off x="4590288" y="4572000"/>
            <a:ext cx="3008376" cy="256032"/>
          </a:xfrm>
          <a:prstGeom prst="rect">
            <a:avLst/>
          </a:prstGeom>
          <a:noFill/>
          <a:ln/>
        </p:spPr>
        <p:txBody>
          <a:bodyPr wrap="square" lIns="0" tIns="0" rIns="0" bIns="0" rtlCol="0" anchor="ctr"/>
          <a:lstStyle/>
          <a:p>
            <a:pPr indent="0" marL="0">
              <a:buNone/>
            </a:pPr>
            <a:r>
              <a:rPr lang="en-US" sz="850" b="1" spc="120" kern="0" dirty="0">
                <a:solidFill>
                  <a:srgbClr val="8A9793"/>
                </a:solidFill>
                <a:latin typeface="Calibri" pitchFamily="34" charset="0"/>
                <a:ea typeface="Calibri" pitchFamily="34" charset="-122"/>
                <a:cs typeface="Calibri" pitchFamily="34" charset="-120"/>
              </a:rPr>
              <a:t>MEASURED CONTINUOUSLY</a:t>
            </a:r>
            <a:endParaRPr lang="en-US" sz="850" dirty="0"/>
          </a:p>
        </p:txBody>
      </p:sp>
      <p:sp>
        <p:nvSpPr>
          <p:cNvPr id="16" name="Shape 14"/>
          <p:cNvSpPr/>
          <p:nvPr/>
        </p:nvSpPr>
        <p:spPr>
          <a:xfrm>
            <a:off x="8065008" y="3200400"/>
            <a:ext cx="3483864" cy="1691640"/>
          </a:xfrm>
          <a:prstGeom prst="roundRect">
            <a:avLst>
              <a:gd name="adj" fmla="val 2703"/>
            </a:avLst>
          </a:prstGeom>
          <a:solidFill>
            <a:srgbClr val="EFF4F1"/>
          </a:solidFill>
          <a:ln w="9525">
            <a:solidFill>
              <a:srgbClr val="D9E1DD"/>
            </a:solidFill>
            <a:prstDash val="solid"/>
          </a:ln>
        </p:spPr>
      </p:sp>
      <p:sp>
        <p:nvSpPr>
          <p:cNvPr id="17" name="Text 15"/>
          <p:cNvSpPr txBox="1"/>
          <p:nvPr/>
        </p:nvSpPr>
        <p:spPr>
          <a:xfrm>
            <a:off x="8302752" y="3401568"/>
            <a:ext cx="3008376" cy="548640"/>
          </a:xfrm>
          <a:prstGeom prst="rect">
            <a:avLst/>
          </a:prstGeom>
          <a:noFill/>
          <a:ln/>
        </p:spPr>
        <p:txBody>
          <a:bodyPr wrap="square" lIns="0" tIns="0" rIns="0" bIns="0" rtlCol="0" anchor="ctr"/>
          <a:lstStyle/>
          <a:p>
            <a:pPr indent="0" marL="0">
              <a:buNone/>
            </a:pPr>
            <a:r>
              <a:rPr lang="en-US" sz="1450" b="1" dirty="0">
                <a:solidFill>
                  <a:srgbClr val="16211E"/>
                </a:solidFill>
                <a:latin typeface="Calibri" pitchFamily="34" charset="0"/>
                <a:ea typeface="Calibri" pitchFamily="34" charset="-122"/>
                <a:cs typeface="Calibri" pitchFamily="34" charset="-120"/>
              </a:rPr>
              <a:t>Reviewer minutes on clear-cut cases</a:t>
            </a:r>
            <a:endParaRPr lang="en-US" sz="1450" dirty="0"/>
          </a:p>
        </p:txBody>
      </p:sp>
      <p:sp>
        <p:nvSpPr>
          <p:cNvPr id="18" name="Text 16"/>
          <p:cNvSpPr txBox="1"/>
          <p:nvPr/>
        </p:nvSpPr>
        <p:spPr>
          <a:xfrm>
            <a:off x="8302752" y="3986784"/>
            <a:ext cx="3008376"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Today a straightforward case costs almost as much as a hard one.</a:t>
            </a:r>
            <a:endParaRPr lang="en-US" sz="1150" dirty="0"/>
          </a:p>
        </p:txBody>
      </p:sp>
      <p:sp>
        <p:nvSpPr>
          <p:cNvPr id="19" name="Text 17"/>
          <p:cNvSpPr txBox="1"/>
          <p:nvPr/>
        </p:nvSpPr>
        <p:spPr>
          <a:xfrm>
            <a:off x="8302752" y="4572000"/>
            <a:ext cx="3008376" cy="256032"/>
          </a:xfrm>
          <a:prstGeom prst="rect">
            <a:avLst/>
          </a:prstGeom>
          <a:noFill/>
          <a:ln/>
        </p:spPr>
        <p:txBody>
          <a:bodyPr wrap="square" lIns="0" tIns="0" rIns="0" bIns="0" rtlCol="0" anchor="ctr"/>
          <a:lstStyle/>
          <a:p>
            <a:pPr indent="0" marL="0">
              <a:buNone/>
            </a:pPr>
            <a:r>
              <a:rPr lang="en-US" sz="850" b="1" spc="120" kern="0" dirty="0">
                <a:solidFill>
                  <a:srgbClr val="8A9793"/>
                </a:solidFill>
                <a:latin typeface="Calibri" pitchFamily="34" charset="0"/>
                <a:ea typeface="Calibri" pitchFamily="34" charset="-122"/>
                <a:cs typeface="Calibri" pitchFamily="34" charset="-120"/>
              </a:rPr>
              <a:t>MEASURED CONTINUOUSLY · PHASE 2</a:t>
            </a:r>
            <a:endParaRPr lang="en-US" sz="850" dirty="0"/>
          </a:p>
        </p:txBody>
      </p:sp>
      <p:sp>
        <p:nvSpPr>
          <p:cNvPr id="20" name="Shape 18"/>
          <p:cNvSpPr/>
          <p:nvPr/>
        </p:nvSpPr>
        <p:spPr>
          <a:xfrm>
            <a:off x="640080" y="5120640"/>
            <a:ext cx="10908792" cy="1051560"/>
          </a:xfrm>
          <a:prstGeom prst="roundRect">
            <a:avLst>
              <a:gd name="adj" fmla="val 4348"/>
            </a:avLst>
          </a:prstGeom>
          <a:solidFill>
            <a:srgbClr val="F8E8E5"/>
          </a:solidFill>
          <a:ln w="9525">
            <a:solidFill>
              <a:srgbClr val="E9C9C3"/>
            </a:solidFill>
            <a:prstDash val="solid"/>
          </a:ln>
        </p:spPr>
      </p:sp>
      <p:sp>
        <p:nvSpPr>
          <p:cNvPr id="21" name="Text 19"/>
          <p:cNvSpPr txBox="1"/>
          <p:nvPr/>
        </p:nvSpPr>
        <p:spPr>
          <a:xfrm>
            <a:off x="960120" y="5266944"/>
            <a:ext cx="2286000" cy="237744"/>
          </a:xfrm>
          <a:prstGeom prst="rect">
            <a:avLst/>
          </a:prstGeom>
          <a:noFill/>
          <a:ln/>
        </p:spPr>
        <p:txBody>
          <a:bodyPr wrap="square" lIns="0" tIns="0" rIns="0" bIns="0" rtlCol="0" anchor="ctr"/>
          <a:lstStyle/>
          <a:p>
            <a:pPr indent="0" marL="0">
              <a:buNone/>
            </a:pPr>
            <a:r>
              <a:rPr lang="en-US" sz="950" b="1" spc="180" kern="0" dirty="0">
                <a:solidFill>
                  <a:srgbClr val="A3342B"/>
                </a:solidFill>
                <a:latin typeface="Calibri" pitchFamily="34" charset="0"/>
                <a:ea typeface="Calibri" pitchFamily="34" charset="-122"/>
                <a:cs typeface="Calibri" pitchFamily="34" charset="-120"/>
              </a:rPr>
              <a:t>GUARDRAIL</a:t>
            </a:r>
            <a:endParaRPr lang="en-US" sz="950" dirty="0"/>
          </a:p>
        </p:txBody>
      </p:sp>
      <p:sp>
        <p:nvSpPr>
          <p:cNvPr id="22" name="Text 20"/>
          <p:cNvSpPr txBox="1"/>
          <p:nvPr/>
        </p:nvSpPr>
        <p:spPr>
          <a:xfrm>
            <a:off x="960120" y="5504688"/>
            <a:ext cx="5120640" cy="365760"/>
          </a:xfrm>
          <a:prstGeom prst="rect">
            <a:avLst/>
          </a:prstGeom>
          <a:noFill/>
          <a:ln/>
        </p:spPr>
        <p:txBody>
          <a:bodyPr wrap="square" lIns="0" tIns="0" rIns="0" bIns="0" rtlCol="0" anchor="ctr"/>
          <a:lstStyle/>
          <a:p>
            <a:pPr indent="0" marL="0">
              <a:buNone/>
            </a:pPr>
            <a:r>
              <a:rPr lang="en-US" sz="1550" b="1" dirty="0">
                <a:solidFill>
                  <a:srgbClr val="16211E"/>
                </a:solidFill>
                <a:latin typeface="Calibri" pitchFamily="34" charset="0"/>
                <a:ea typeface="Calibri" pitchFamily="34" charset="-122"/>
                <a:cs typeface="Calibri" pitchFamily="34" charset="-120"/>
              </a:rPr>
              <a:t>No increase in determinations overturned on appeal.</a:t>
            </a:r>
            <a:endParaRPr lang="en-US" sz="1550" dirty="0"/>
          </a:p>
        </p:txBody>
      </p:sp>
      <p:sp>
        <p:nvSpPr>
          <p:cNvPr id="23" name="Text 21"/>
          <p:cNvSpPr txBox="1"/>
          <p:nvPr/>
        </p:nvSpPr>
        <p:spPr>
          <a:xfrm>
            <a:off x="6400800" y="5394960"/>
            <a:ext cx="4828032" cy="640080"/>
          </a:xfrm>
          <a:prstGeom prst="rect">
            <a:avLst/>
          </a:prstGeom>
          <a:noFill/>
          <a:ln/>
        </p:spPr>
        <p:txBody>
          <a:bodyPr wrap="square" lIns="0" tIns="0" rIns="0" bIns="0" rtlCol="0" anchor="ctr"/>
          <a:lstStyle/>
          <a:p>
            <a:pPr indent="0" marL="0">
              <a:buNone/>
            </a:pPr>
            <a:r>
              <a:rPr lang="en-US" sz="1200" dirty="0">
                <a:solidFill>
                  <a:srgbClr val="16211E"/>
                </a:solidFill>
                <a:latin typeface="Calibri" pitchFamily="34" charset="0"/>
                <a:ea typeface="Calibri" pitchFamily="34" charset="-122"/>
                <a:cs typeface="Calibri" pitchFamily="34" charset="-120"/>
              </a:rPr>
              <a:t>Every one of the three levers above can be gamed by approving more. This is the metric that stops the product cheating.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1F6F5C"/>
                </a:solidFill>
                <a:latin typeface="Calibri" pitchFamily="34" charset="0"/>
                <a:ea typeface="Calibri" pitchFamily="34" charset="-122"/>
                <a:cs typeface="Calibri" pitchFamily="34" charset="-120"/>
              </a:rPr>
              <a:t>WHERE THE MONEY ACTUALLY IS</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This protects margin. It does not grow revenue.</a:t>
            </a:r>
            <a:endParaRPr lang="en-US" sz="3200" dirty="0"/>
          </a:p>
        </p:txBody>
      </p:sp>
      <p:sp>
        <p:nvSpPr>
          <p:cNvPr id="4" name="Shape 2"/>
          <p:cNvSpPr/>
          <p:nvPr/>
        </p:nvSpPr>
        <p:spPr>
          <a:xfrm>
            <a:off x="640080" y="1737360"/>
            <a:ext cx="5294376" cy="3657600"/>
          </a:xfrm>
          <a:prstGeom prst="roundRect">
            <a:avLst>
              <a:gd name="adj" fmla="val 1250"/>
            </a:avLst>
          </a:prstGeom>
          <a:solidFill>
            <a:srgbClr val="EFF4F1"/>
          </a:solidFill>
          <a:ln w="9525">
            <a:solidFill>
              <a:srgbClr val="D9E1DD"/>
            </a:solidFill>
            <a:prstDash val="solid"/>
          </a:ln>
        </p:spPr>
      </p:sp>
      <p:sp>
        <p:nvSpPr>
          <p:cNvPr id="5" name="Text 3"/>
          <p:cNvSpPr txBox="1"/>
          <p:nvPr/>
        </p:nvSpPr>
        <p:spPr>
          <a:xfrm>
            <a:off x="914400" y="1920240"/>
            <a:ext cx="4745736" cy="237744"/>
          </a:xfrm>
          <a:prstGeom prst="rect">
            <a:avLst/>
          </a:prstGeom>
          <a:noFill/>
          <a:ln/>
        </p:spPr>
        <p:txBody>
          <a:bodyPr wrap="square" lIns="0" tIns="0" rIns="0" bIns="0" rtlCol="0" anchor="ctr"/>
          <a:lstStyle/>
          <a:p>
            <a:pPr indent="0" marL="0">
              <a:buNone/>
            </a:pPr>
            <a:r>
              <a:rPr lang="en-US" sz="950" b="1" spc="160" kern="0" dirty="0">
                <a:solidFill>
                  <a:srgbClr val="1F6F5C"/>
                </a:solidFill>
                <a:latin typeface="Calibri" pitchFamily="34" charset="0"/>
                <a:ea typeface="Calibri" pitchFamily="34" charset="-122"/>
                <a:cs typeface="Calibri" pitchFamily="34" charset="-120"/>
              </a:rPr>
              <a:t>REVENUE VS. PROFIT</a:t>
            </a:r>
            <a:endParaRPr lang="en-US" sz="950" dirty="0"/>
          </a:p>
        </p:txBody>
      </p:sp>
      <p:sp>
        <p:nvSpPr>
          <p:cNvPr id="6" name="Text 4"/>
          <p:cNvSpPr txBox="1"/>
          <p:nvPr/>
        </p:nvSpPr>
        <p:spPr>
          <a:xfrm>
            <a:off x="914400" y="2176272"/>
            <a:ext cx="4745736" cy="237744"/>
          </a:xfrm>
          <a:prstGeom prst="rect">
            <a:avLst/>
          </a:prstGeom>
          <a:noFill/>
          <a:ln/>
        </p:spPr>
        <p:txBody>
          <a:bodyPr wrap="square" lIns="0" tIns="0" rIns="0" bIns="0" rtlCol="0" anchor="ctr"/>
          <a:lstStyle/>
          <a:p>
            <a:pPr indent="0" marL="0">
              <a:buNone/>
            </a:pPr>
            <a:r>
              <a:rPr lang="en-US" sz="1050" i="1" dirty="0">
                <a:solidFill>
                  <a:srgbClr val="8A9793"/>
                </a:solidFill>
                <a:latin typeface="Calibri" pitchFamily="34" charset="0"/>
                <a:ea typeface="Calibri" pitchFamily="34" charset="-122"/>
                <a:cs typeface="Calibri" pitchFamily="34" charset="-120"/>
              </a:rPr>
              <a:t>A worked example, illustrative numbers</a:t>
            </a:r>
            <a:endParaRPr lang="en-US" sz="1050" dirty="0"/>
          </a:p>
        </p:txBody>
      </p:sp>
      <p:sp>
        <p:nvSpPr>
          <p:cNvPr id="7" name="Text 5"/>
          <p:cNvSpPr txBox="1"/>
          <p:nvPr/>
        </p:nvSpPr>
        <p:spPr>
          <a:xfrm>
            <a:off x="914400" y="2523744"/>
            <a:ext cx="4745736" cy="292608"/>
          </a:xfrm>
          <a:prstGeom prst="rect">
            <a:avLst/>
          </a:prstGeom>
          <a:noFill/>
          <a:ln/>
        </p:spPr>
        <p:txBody>
          <a:bodyPr wrap="square" lIns="0" tIns="0" rIns="0" bIns="0" rtlCol="0" anchor="ctr"/>
          <a:lstStyle/>
          <a:p>
            <a:pPr indent="0" marL="0">
              <a:buNone/>
            </a:pPr>
            <a:r>
              <a:rPr lang="en-US" sz="1900" dirty="0">
                <a:solidFill>
                  <a:srgbClr val="16211E"/>
                </a:solidFill>
                <a:latin typeface="Cambria" pitchFamily="34" charset="0"/>
                <a:ea typeface="Cambria" pitchFamily="34" charset="-122"/>
                <a:cs typeface="Cambria" pitchFamily="34" charset="-120"/>
              </a:rPr>
              <a:t>$1,000 a month</a:t>
            </a:r>
            <a:endParaRPr lang="en-US" sz="1900" dirty="0"/>
          </a:p>
        </p:txBody>
      </p:sp>
      <p:sp>
        <p:nvSpPr>
          <p:cNvPr id="8" name="Text 6"/>
          <p:cNvSpPr txBox="1"/>
          <p:nvPr/>
        </p:nvSpPr>
        <p:spPr>
          <a:xfrm>
            <a:off x="914400" y="2834640"/>
            <a:ext cx="4745736" cy="548640"/>
          </a:xfrm>
          <a:prstGeom prst="rect">
            <a:avLst/>
          </a:prstGeom>
          <a:noFill/>
          <a:ln/>
        </p:spPr>
        <p:txBody>
          <a:bodyPr wrap="square" lIns="0" tIns="0" rIns="0" bIns="0" rtlCol="0" anchor="ctr"/>
          <a:lstStyle/>
          <a:p>
            <a:pPr indent="0" marL="0">
              <a:buNone/>
            </a:pPr>
            <a:r>
              <a:rPr lang="en-US" sz="1100" dirty="0">
                <a:solidFill>
                  <a:srgbClr val="5C6B66"/>
                </a:solidFill>
                <a:latin typeface="Calibri" pitchFamily="34" charset="0"/>
                <a:ea typeface="Calibri" pitchFamily="34" charset="-122"/>
                <a:cs typeface="Calibri" pitchFamily="34" charset="-120"/>
              </a:rPr>
              <a:t>This is Humana's revenue for one member, from CMS. It does not move based on how well UM runs.</a:t>
            </a:r>
            <a:endParaRPr lang="en-US" sz="1100" dirty="0"/>
          </a:p>
        </p:txBody>
      </p:sp>
      <p:sp>
        <p:nvSpPr>
          <p:cNvPr id="9" name="Text 7"/>
          <p:cNvSpPr txBox="1"/>
          <p:nvPr/>
        </p:nvSpPr>
        <p:spPr>
          <a:xfrm>
            <a:off x="914400" y="3383280"/>
            <a:ext cx="4745736" cy="292608"/>
          </a:xfrm>
          <a:prstGeom prst="rect">
            <a:avLst/>
          </a:prstGeom>
          <a:noFill/>
          <a:ln/>
        </p:spPr>
        <p:txBody>
          <a:bodyPr wrap="square" lIns="0" tIns="0" rIns="0" bIns="0" rtlCol="0" anchor="ctr"/>
          <a:lstStyle/>
          <a:p>
            <a:pPr indent="0" marL="0">
              <a:buNone/>
            </a:pPr>
            <a:r>
              <a:rPr lang="en-US" sz="1900" dirty="0">
                <a:solidFill>
                  <a:srgbClr val="16211E"/>
                </a:solidFill>
                <a:latin typeface="Cambria" pitchFamily="34" charset="0"/>
                <a:ea typeface="Cambria" pitchFamily="34" charset="-122"/>
                <a:cs typeface="Cambria" pitchFamily="34" charset="-120"/>
              </a:rPr>
              <a:t>85% out, 15% left</a:t>
            </a:r>
            <a:endParaRPr lang="en-US" sz="1900" dirty="0"/>
          </a:p>
        </p:txBody>
      </p:sp>
      <p:sp>
        <p:nvSpPr>
          <p:cNvPr id="10" name="Text 8"/>
          <p:cNvSpPr txBox="1"/>
          <p:nvPr/>
        </p:nvSpPr>
        <p:spPr>
          <a:xfrm>
            <a:off x="914400" y="3694176"/>
            <a:ext cx="4745736" cy="548640"/>
          </a:xfrm>
          <a:prstGeom prst="rect">
            <a:avLst/>
          </a:prstGeom>
          <a:noFill/>
          <a:ln/>
        </p:spPr>
        <p:txBody>
          <a:bodyPr wrap="square" lIns="0" tIns="0" rIns="0" bIns="0" rtlCol="0" anchor="ctr"/>
          <a:lstStyle/>
          <a:p>
            <a:pPr indent="0" marL="0">
              <a:buNone/>
            </a:pPr>
            <a:r>
              <a:rPr lang="en-US" sz="1100" dirty="0">
                <a:solidFill>
                  <a:srgbClr val="5C6B66"/>
                </a:solidFill>
                <a:latin typeface="Calibri" pitchFamily="34" charset="0"/>
                <a:ea typeface="Calibri" pitchFamily="34" charset="-122"/>
                <a:cs typeface="Calibri" pitchFamily="34" charset="-120"/>
              </a:rPr>
              <a:t>Medical Loss Ratio: at least 85% must go out as medical care. Admin and profit share the rest — the only part our work touches.</a:t>
            </a:r>
            <a:endParaRPr lang="en-US" sz="1100" dirty="0"/>
          </a:p>
        </p:txBody>
      </p:sp>
      <p:sp>
        <p:nvSpPr>
          <p:cNvPr id="11" name="Text 9"/>
          <p:cNvSpPr txBox="1"/>
          <p:nvPr/>
        </p:nvSpPr>
        <p:spPr>
          <a:xfrm>
            <a:off x="914400" y="4434840"/>
            <a:ext cx="4745736" cy="822960"/>
          </a:xfrm>
          <a:prstGeom prst="rect">
            <a:avLst/>
          </a:prstGeom>
          <a:noFill/>
          <a:ln/>
        </p:spPr>
        <p:txBody>
          <a:bodyPr wrap="square" lIns="0" tIns="0" rIns="0" bIns="0" rtlCol="0" anchor="ctr"/>
          <a:lstStyle/>
          <a:p>
            <a:pPr indent="0" marL="0">
              <a:buNone/>
            </a:pPr>
            <a:r>
              <a:rPr lang="en-US" sz="1150" b="1" dirty="0">
                <a:solidFill>
                  <a:srgbClr val="16211E"/>
                </a:solidFill>
                <a:latin typeface="Calibri" pitchFamily="34" charset="0"/>
                <a:ea typeface="Calibri" pitchFamily="34" charset="-122"/>
                <a:cs typeface="Calibri" pitchFamily="34" charset="-120"/>
              </a:rPr>
              <a:t>Cutting UM cost from, say, $30 to $10 out of that $150 does not bring in a single extra dollar of revenue. It turns $20 of cost into $20 of margin, on the same $1,000.</a:t>
            </a:r>
            <a:endParaRPr lang="en-US" sz="1150" dirty="0"/>
          </a:p>
        </p:txBody>
      </p:sp>
      <p:sp>
        <p:nvSpPr>
          <p:cNvPr id="12" name="Shape 10"/>
          <p:cNvSpPr/>
          <p:nvPr/>
        </p:nvSpPr>
        <p:spPr>
          <a:xfrm>
            <a:off x="6254496" y="1737360"/>
            <a:ext cx="5294376" cy="3657600"/>
          </a:xfrm>
          <a:prstGeom prst="roundRect">
            <a:avLst>
              <a:gd name="adj" fmla="val 1250"/>
            </a:avLst>
          </a:prstGeom>
          <a:solidFill>
            <a:srgbClr val="EFF4F1"/>
          </a:solidFill>
          <a:ln w="9525">
            <a:solidFill>
              <a:srgbClr val="D9E1DD"/>
            </a:solidFill>
            <a:prstDash val="solid"/>
          </a:ln>
        </p:spPr>
      </p:sp>
      <p:sp>
        <p:nvSpPr>
          <p:cNvPr id="13" name="Text 11"/>
          <p:cNvSpPr txBox="1"/>
          <p:nvPr/>
        </p:nvSpPr>
        <p:spPr>
          <a:xfrm>
            <a:off x="6528816" y="1920240"/>
            <a:ext cx="4745736" cy="237744"/>
          </a:xfrm>
          <a:prstGeom prst="rect">
            <a:avLst/>
          </a:prstGeom>
          <a:noFill/>
          <a:ln/>
        </p:spPr>
        <p:txBody>
          <a:bodyPr wrap="square" lIns="0" tIns="0" rIns="0" bIns="0" rtlCol="0" anchor="ctr"/>
          <a:lstStyle/>
          <a:p>
            <a:pPr indent="0" marL="0">
              <a:buNone/>
            </a:pPr>
            <a:r>
              <a:rPr lang="en-US" sz="950" b="1" spc="160" kern="0" dirty="0">
                <a:solidFill>
                  <a:srgbClr val="1F6F5C"/>
                </a:solidFill>
                <a:latin typeface="Calibri" pitchFamily="34" charset="0"/>
                <a:ea typeface="Calibri" pitchFamily="34" charset="-122"/>
                <a:cs typeface="Calibri" pitchFamily="34" charset="-120"/>
              </a:rPr>
              <a:t>HOW EFFICIENCY BECOMES MARGIN</a:t>
            </a:r>
            <a:endParaRPr lang="en-US" sz="950" dirty="0"/>
          </a:p>
        </p:txBody>
      </p:sp>
      <p:sp>
        <p:nvSpPr>
          <p:cNvPr id="14" name="Text 12"/>
          <p:cNvSpPr txBox="1"/>
          <p:nvPr/>
        </p:nvSpPr>
        <p:spPr>
          <a:xfrm>
            <a:off x="6528816" y="2212848"/>
            <a:ext cx="4745736" cy="502920"/>
          </a:xfrm>
          <a:prstGeom prst="rect">
            <a:avLst/>
          </a:prstGeom>
          <a:noFill/>
          <a:ln/>
        </p:spPr>
        <p:txBody>
          <a:bodyPr wrap="square" lIns="0" tIns="0" rIns="0" bIns="0" rtlCol="0" anchor="ctr"/>
          <a:lstStyle/>
          <a:p>
            <a:pPr indent="0" marL="0">
              <a:buNone/>
            </a:pPr>
            <a:r>
              <a:rPr lang="en-US" sz="1600" dirty="0">
                <a:solidFill>
                  <a:srgbClr val="16211E"/>
                </a:solidFill>
                <a:latin typeface="Cambria" pitchFamily="34" charset="0"/>
                <a:ea typeface="Cambria" pitchFamily="34" charset="-122"/>
                <a:cs typeface="Cambria" pitchFamily="34" charset="-120"/>
              </a:rPr>
              <a:t>A case decided right the first time never enters the expensive path.</a:t>
            </a:r>
            <a:endParaRPr lang="en-US" sz="1600" dirty="0"/>
          </a:p>
        </p:txBody>
      </p:sp>
      <p:sp>
        <p:nvSpPr>
          <p:cNvPr id="15" name="Text 13"/>
          <p:cNvSpPr txBox="1"/>
          <p:nvPr/>
        </p:nvSpPr>
        <p:spPr>
          <a:xfrm>
            <a:off x="6528816" y="2761488"/>
            <a:ext cx="4745736" cy="777240"/>
          </a:xfrm>
          <a:prstGeom prst="rect">
            <a:avLst/>
          </a:prstGeom>
          <a:noFill/>
          <a:ln/>
        </p:spPr>
        <p:txBody>
          <a:bodyPr wrap="square" lIns="0" tIns="0" rIns="0" bIns="0" rtlCol="0" anchor="ctr"/>
          <a:lstStyle/>
          <a:p>
            <a:pPr indent="0" marL="0">
              <a:buNone/>
            </a:pPr>
            <a:r>
              <a:rPr lang="en-US" sz="1200" dirty="0">
                <a:solidFill>
                  <a:srgbClr val="16211E"/>
                </a:solidFill>
                <a:latin typeface="Calibri" pitchFamily="34" charset="0"/>
                <a:ea typeface="Calibri" pitchFamily="34" charset="-122"/>
                <a:cs typeface="Calibri" pitchFamily="34" charset="-120"/>
              </a:rPr>
              <a:t>Review, denial, appeal, reversal — each step costs money inside the same $150. OIG data shows how often that path gets walked anyway: 95% of appealed SNF denials end up overturned.</a:t>
            </a:r>
            <a:endParaRPr lang="en-US" sz="1200" dirty="0"/>
          </a:p>
        </p:txBody>
      </p:sp>
      <p:sp>
        <p:nvSpPr>
          <p:cNvPr id="16" name="Text 14"/>
          <p:cNvSpPr txBox="1"/>
          <p:nvPr/>
        </p:nvSpPr>
        <p:spPr>
          <a:xfrm>
            <a:off x="6528816" y="3566160"/>
            <a:ext cx="4745736" cy="457200"/>
          </a:xfrm>
          <a:prstGeom prst="rect">
            <a:avLst/>
          </a:prstGeom>
          <a:noFill/>
          <a:ln/>
        </p:spPr>
        <p:txBody>
          <a:bodyPr wrap="square" lIns="0" tIns="0" rIns="0" bIns="0" rtlCol="0" anchor="ctr"/>
          <a:lstStyle/>
          <a:p>
            <a:pPr indent="0" marL="0">
              <a:buNone/>
            </a:pPr>
            <a:r>
              <a:rPr lang="en-US" sz="1200" b="1" dirty="0">
                <a:solidFill>
                  <a:srgbClr val="1F6F5C"/>
                </a:solidFill>
                <a:latin typeface="Calibri" pitchFamily="34" charset="0"/>
                <a:ea typeface="Calibri" pitchFamily="34" charset="-122"/>
                <a:cs typeface="Calibri" pitchFamily="34" charset="-120"/>
              </a:rPr>
              <a:t>Every one of those was money spent on a decision that should have taken one step, not four.</a:t>
            </a:r>
            <a:endParaRPr lang="en-US" sz="1200" dirty="0"/>
          </a:p>
        </p:txBody>
      </p:sp>
      <p:sp>
        <p:nvSpPr>
          <p:cNvPr id="17" name="Text 15"/>
          <p:cNvSpPr txBox="1"/>
          <p:nvPr/>
        </p:nvSpPr>
        <p:spPr>
          <a:xfrm>
            <a:off x="6528816" y="4160520"/>
            <a:ext cx="4745736" cy="1051560"/>
          </a:xfrm>
          <a:prstGeom prst="rect">
            <a:avLst/>
          </a:prstGeom>
          <a:noFill/>
          <a:ln/>
        </p:spPr>
        <p:txBody>
          <a:bodyPr wrap="square" lIns="0" tIns="0" rIns="0" bIns="0" rtlCol="0" anchor="ctr"/>
          <a:lstStyle/>
          <a:p>
            <a:pPr indent="0" marL="0">
              <a:buNone/>
            </a:pPr>
            <a:r>
              <a:rPr lang="en-US" sz="950" i="1" dirty="0">
                <a:solidFill>
                  <a:srgbClr val="5C6B66"/>
                </a:solidFill>
                <a:latin typeface="Calibri" pitchFamily="34" charset="0"/>
                <a:ea typeface="Calibri" pitchFamily="34" charset="-122"/>
                <a:cs typeface="Calibri" pitchFamily="34" charset="-120"/>
              </a:rPr>
              <a:t>Footnote: appeals measures used to feed Star Ratings once. CMS is retiring that measure for Star Year 2029, for being too uniform to differentiate plans — and is looking for a replacement that captures the same thing.</a:t>
            </a:r>
            <a:endParaRPr lang="en-US" sz="950" dirty="0"/>
          </a:p>
        </p:txBody>
      </p:sp>
      <p:sp>
        <p:nvSpPr>
          <p:cNvPr id="18" name="Text 16"/>
          <p:cNvSpPr txBox="1"/>
          <p:nvPr/>
        </p:nvSpPr>
        <p:spPr>
          <a:xfrm>
            <a:off x="640080" y="5623560"/>
            <a:ext cx="10908792" cy="457200"/>
          </a:xfrm>
          <a:prstGeom prst="rect">
            <a:avLst/>
          </a:prstGeom>
          <a:noFill/>
          <a:ln/>
        </p:spPr>
        <p:txBody>
          <a:bodyPr wrap="square" lIns="0" tIns="0" rIns="0" bIns="0" rtlCol="0" anchor="ctr"/>
          <a:lstStyle/>
          <a:p>
            <a:pPr indent="0" marL="0">
              <a:buNone/>
            </a:pPr>
            <a:r>
              <a:rPr lang="en-US" sz="1900" dirty="0">
                <a:solidFill>
                  <a:srgbClr val="16211E"/>
                </a:solidFill>
                <a:latin typeface="Cambria" pitchFamily="34" charset="0"/>
                <a:ea typeface="Cambria" pitchFamily="34" charset="-122"/>
                <a:cs typeface="Cambria" pitchFamily="34" charset="-120"/>
              </a:rPr>
              <a:t>Efficiency is the lever. Not the volume of approvals or denials.</a:t>
            </a:r>
            <a:endParaRPr lang="en-US" sz="1900" dirty="0"/>
          </a:p>
        </p:txBody>
      </p:sp>
      <p:sp>
        <p:nvSpPr>
          <p:cNvPr id="19" name="Text 17"/>
          <p:cNvSpPr txBox="1"/>
          <p:nvPr/>
        </p:nvSpPr>
        <p:spPr>
          <a:xfrm>
            <a:off x="640080" y="6263640"/>
            <a:ext cx="10908792" cy="274320"/>
          </a:xfrm>
          <a:prstGeom prst="rect">
            <a:avLst/>
          </a:prstGeom>
          <a:noFill/>
          <a:ln/>
        </p:spPr>
        <p:txBody>
          <a:bodyPr wrap="square" lIns="0" tIns="0" rIns="0" bIns="0" rtlCol="0" anchor="ctr"/>
          <a:lstStyle/>
          <a:p>
            <a:pPr indent="0" marL="0">
              <a:buNone/>
            </a:pPr>
            <a:r>
              <a:rPr lang="en-US" sz="900" b="1" spc="120" kern="0" dirty="0">
                <a:solidFill>
                  <a:srgbClr val="8A9793"/>
                </a:solidFill>
                <a:latin typeface="Calibri" pitchFamily="34" charset="0"/>
                <a:ea typeface="Calibri" pitchFamily="34" charset="-122"/>
                <a:cs typeface="Calibri" pitchFamily="34" charset="-120"/>
              </a:rPr>
              <a:t>SOURCE   42 CFR § 422.2410 (CMS minimum MLR, cms.gov)  ·  HHS OIG, June 2026  ·  CMS CY2027 MA &amp; Part D Final Rule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1F6F5C"/>
                </a:solidFill>
                <a:latin typeface="Calibri" pitchFamily="34" charset="0"/>
                <a:ea typeface="Calibri" pitchFamily="34" charset="-122"/>
                <a:cs typeface="Calibri" pitchFamily="34" charset="-120"/>
              </a:rPr>
              <a:t>SCOPE &amp; PHASING</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Today is fragmented. This prototype makes it managed.</a:t>
            </a:r>
            <a:endParaRPr lang="en-US" sz="3200" dirty="0"/>
          </a:p>
        </p:txBody>
      </p:sp>
      <p:sp>
        <p:nvSpPr>
          <p:cNvPr id="4" name="Shape 2"/>
          <p:cNvSpPr/>
          <p:nvPr/>
        </p:nvSpPr>
        <p:spPr>
          <a:xfrm>
            <a:off x="640080" y="1828800"/>
            <a:ext cx="3483864" cy="3200400"/>
          </a:xfrm>
          <a:prstGeom prst="roundRect">
            <a:avLst>
              <a:gd name="adj" fmla="val 1429"/>
            </a:avLst>
          </a:prstGeom>
          <a:solidFill>
            <a:srgbClr val="EFF4F1"/>
          </a:solidFill>
          <a:ln w="9525">
            <a:solidFill>
              <a:srgbClr val="D9E1DD"/>
            </a:solidFill>
            <a:prstDash val="solid"/>
          </a:ln>
        </p:spPr>
      </p:sp>
      <p:sp>
        <p:nvSpPr>
          <p:cNvPr id="5" name="Text 3"/>
          <p:cNvSpPr txBox="1"/>
          <p:nvPr/>
        </p:nvSpPr>
        <p:spPr>
          <a:xfrm>
            <a:off x="877824" y="2029968"/>
            <a:ext cx="3008376" cy="219456"/>
          </a:xfrm>
          <a:prstGeom prst="rect">
            <a:avLst/>
          </a:prstGeom>
          <a:noFill/>
          <a:ln/>
        </p:spPr>
        <p:txBody>
          <a:bodyPr wrap="square" lIns="0" tIns="0" rIns="0" bIns="0" rtlCol="0" anchor="ctr"/>
          <a:lstStyle/>
          <a:p>
            <a:pPr indent="0" marL="0">
              <a:buNone/>
            </a:pPr>
            <a:r>
              <a:rPr lang="en-US" sz="900" b="1" spc="140" kern="0" dirty="0">
                <a:solidFill>
                  <a:srgbClr val="5C6B66"/>
                </a:solidFill>
                <a:latin typeface="Calibri" pitchFamily="34" charset="0"/>
                <a:ea typeface="Calibri" pitchFamily="34" charset="-122"/>
                <a:cs typeface="Calibri" pitchFamily="34" charset="-120"/>
              </a:rPr>
              <a:t>TODAY</a:t>
            </a:r>
            <a:endParaRPr lang="en-US" sz="900" dirty="0"/>
          </a:p>
        </p:txBody>
      </p:sp>
      <p:sp>
        <p:nvSpPr>
          <p:cNvPr id="6" name="Text 4"/>
          <p:cNvSpPr txBox="1"/>
          <p:nvPr/>
        </p:nvSpPr>
        <p:spPr>
          <a:xfrm>
            <a:off x="877824" y="2286000"/>
            <a:ext cx="3008376" cy="411480"/>
          </a:xfrm>
          <a:prstGeom prst="rect">
            <a:avLst/>
          </a:prstGeom>
          <a:noFill/>
          <a:ln/>
        </p:spPr>
        <p:txBody>
          <a:bodyPr wrap="square" lIns="0" tIns="0" rIns="0" bIns="0" rtlCol="0" anchor="ctr"/>
          <a:lstStyle/>
          <a:p>
            <a:pPr indent="0" marL="0">
              <a:buNone/>
            </a:pPr>
            <a:r>
              <a:rPr lang="en-US" sz="2100" dirty="0">
                <a:solidFill>
                  <a:srgbClr val="16211E"/>
                </a:solidFill>
                <a:latin typeface="Cambria" pitchFamily="34" charset="0"/>
                <a:ea typeface="Cambria" pitchFamily="34" charset="-122"/>
                <a:cs typeface="Cambria" pitchFamily="34" charset="-120"/>
              </a:rPr>
              <a:t>FRAGMENTED</a:t>
            </a:r>
            <a:endParaRPr lang="en-US" sz="2100" dirty="0"/>
          </a:p>
        </p:txBody>
      </p:sp>
      <p:sp>
        <p:nvSpPr>
          <p:cNvPr id="7" name="Text 5"/>
          <p:cNvSpPr txBox="1"/>
          <p:nvPr/>
        </p:nvSpPr>
        <p:spPr>
          <a:xfrm>
            <a:off x="877824" y="2788920"/>
            <a:ext cx="3008376" cy="21488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Review, escalation and appeals as separate workflows. This is our current-state diagram.</a:t>
            </a:r>
            <a:endParaRPr lang="en-US" sz="1150" dirty="0"/>
          </a:p>
        </p:txBody>
      </p:sp>
      <p:sp>
        <p:nvSpPr>
          <p:cNvPr id="8" name="Shape 6"/>
          <p:cNvSpPr/>
          <p:nvPr/>
        </p:nvSpPr>
        <p:spPr>
          <a:xfrm>
            <a:off x="4352544" y="1828800"/>
            <a:ext cx="3483864" cy="3200400"/>
          </a:xfrm>
          <a:prstGeom prst="roundRect">
            <a:avLst>
              <a:gd name="adj" fmla="val 1429"/>
            </a:avLst>
          </a:prstGeom>
          <a:solidFill>
            <a:srgbClr val="DCEBE5"/>
          </a:solidFill>
          <a:ln w="9525">
            <a:solidFill>
              <a:srgbClr val="D9E1DD"/>
            </a:solidFill>
            <a:prstDash val="solid"/>
          </a:ln>
        </p:spPr>
      </p:sp>
      <p:sp>
        <p:nvSpPr>
          <p:cNvPr id="9" name="Text 7"/>
          <p:cNvSpPr txBox="1"/>
          <p:nvPr/>
        </p:nvSpPr>
        <p:spPr>
          <a:xfrm>
            <a:off x="4590288" y="2029968"/>
            <a:ext cx="3008376" cy="219456"/>
          </a:xfrm>
          <a:prstGeom prst="rect">
            <a:avLst/>
          </a:prstGeom>
          <a:noFill/>
          <a:ln/>
        </p:spPr>
        <p:txBody>
          <a:bodyPr wrap="square" lIns="0" tIns="0" rIns="0" bIns="0" rtlCol="0" anchor="ctr"/>
          <a:lstStyle/>
          <a:p>
            <a:pPr indent="0" marL="0">
              <a:buNone/>
            </a:pPr>
            <a:r>
              <a:rPr lang="en-US" sz="900" b="1" spc="140" kern="0" dirty="0">
                <a:solidFill>
                  <a:srgbClr val="1F6F5C"/>
                </a:solidFill>
                <a:latin typeface="Calibri" pitchFamily="34" charset="0"/>
                <a:ea typeface="Calibri" pitchFamily="34" charset="-122"/>
                <a:cs typeface="Calibri" pitchFamily="34" charset="-120"/>
              </a:rPr>
              <a:t>PHASE 1  ·  THIS PROTOTYPE</a:t>
            </a:r>
            <a:endParaRPr lang="en-US" sz="900" dirty="0"/>
          </a:p>
        </p:txBody>
      </p:sp>
      <p:sp>
        <p:nvSpPr>
          <p:cNvPr id="10" name="Text 8"/>
          <p:cNvSpPr txBox="1"/>
          <p:nvPr/>
        </p:nvSpPr>
        <p:spPr>
          <a:xfrm>
            <a:off x="4590288" y="2286000"/>
            <a:ext cx="3008376" cy="411480"/>
          </a:xfrm>
          <a:prstGeom prst="rect">
            <a:avLst/>
          </a:prstGeom>
          <a:noFill/>
          <a:ln/>
        </p:spPr>
        <p:txBody>
          <a:bodyPr wrap="square" lIns="0" tIns="0" rIns="0" bIns="0" rtlCol="0" anchor="ctr"/>
          <a:lstStyle/>
          <a:p>
            <a:pPr indent="0" marL="0">
              <a:buNone/>
            </a:pPr>
            <a:r>
              <a:rPr lang="en-US" sz="2100" dirty="0">
                <a:solidFill>
                  <a:srgbClr val="16211E"/>
                </a:solidFill>
                <a:latin typeface="Cambria" pitchFamily="34" charset="0"/>
                <a:ea typeface="Cambria" pitchFamily="34" charset="-122"/>
                <a:cs typeface="Cambria" pitchFamily="34" charset="-120"/>
              </a:rPr>
              <a:t>MANAGED</a:t>
            </a:r>
            <a:endParaRPr lang="en-US" sz="2100" dirty="0"/>
          </a:p>
        </p:txBody>
      </p:sp>
      <p:sp>
        <p:nvSpPr>
          <p:cNvPr id="11" name="Text 9"/>
          <p:cNvSpPr txBox="1"/>
          <p:nvPr/>
        </p:nvSpPr>
        <p:spPr>
          <a:xfrm>
            <a:off x="4590288" y="2788920"/>
            <a:ext cx="3008376" cy="21488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The completeness gate. Targets avoidable pend rate and first-pass determination rate.</a:t>
            </a:r>
            <a:endParaRPr lang="en-US" sz="1150" dirty="0"/>
          </a:p>
        </p:txBody>
      </p:sp>
      <p:sp>
        <p:nvSpPr>
          <p:cNvPr id="12" name="Shape 10"/>
          <p:cNvSpPr/>
          <p:nvPr/>
        </p:nvSpPr>
        <p:spPr>
          <a:xfrm>
            <a:off x="8065008" y="1828800"/>
            <a:ext cx="3483864" cy="3200400"/>
          </a:xfrm>
          <a:prstGeom prst="roundRect">
            <a:avLst>
              <a:gd name="adj" fmla="val 1429"/>
            </a:avLst>
          </a:prstGeom>
          <a:solidFill>
            <a:srgbClr val="1F6F5C"/>
          </a:solidFill>
          <a:ln w="9525">
            <a:solidFill>
              <a:srgbClr val="1F6F5C"/>
            </a:solidFill>
            <a:prstDash val="solid"/>
          </a:ln>
        </p:spPr>
      </p:sp>
      <p:sp>
        <p:nvSpPr>
          <p:cNvPr id="13" name="Text 11"/>
          <p:cNvSpPr txBox="1"/>
          <p:nvPr/>
        </p:nvSpPr>
        <p:spPr>
          <a:xfrm>
            <a:off x="8302752" y="2029968"/>
            <a:ext cx="3008376" cy="219456"/>
          </a:xfrm>
          <a:prstGeom prst="rect">
            <a:avLst/>
          </a:prstGeom>
          <a:noFill/>
          <a:ln/>
        </p:spPr>
        <p:txBody>
          <a:bodyPr wrap="square" lIns="0" tIns="0" rIns="0" bIns="0" rtlCol="0" anchor="ctr"/>
          <a:lstStyle/>
          <a:p>
            <a:pPr indent="0" marL="0">
              <a:buNone/>
            </a:pPr>
            <a:r>
              <a:rPr lang="en-US" sz="900" b="1" spc="140" kern="0" dirty="0">
                <a:solidFill>
                  <a:srgbClr val="9FD6C4"/>
                </a:solidFill>
                <a:latin typeface="Calibri" pitchFamily="34" charset="0"/>
                <a:ea typeface="Calibri" pitchFamily="34" charset="-122"/>
                <a:cs typeface="Calibri" pitchFamily="34" charset="-120"/>
              </a:rPr>
              <a:t>PHASE 2 AND BEYOND</a:t>
            </a:r>
            <a:endParaRPr lang="en-US" sz="900" dirty="0"/>
          </a:p>
        </p:txBody>
      </p:sp>
      <p:sp>
        <p:nvSpPr>
          <p:cNvPr id="14" name="Text 12"/>
          <p:cNvSpPr txBox="1"/>
          <p:nvPr/>
        </p:nvSpPr>
        <p:spPr>
          <a:xfrm>
            <a:off x="8302752" y="2286000"/>
            <a:ext cx="3008376" cy="411480"/>
          </a:xfrm>
          <a:prstGeom prst="rect">
            <a:avLst/>
          </a:prstGeom>
          <a:noFill/>
          <a:ln/>
        </p:spPr>
        <p:txBody>
          <a:bodyPr wrap="square" lIns="0" tIns="0" rIns="0" bIns="0" rtlCol="0" anchor="ctr"/>
          <a:lstStyle/>
          <a:p>
            <a:pPr indent="0" marL="0">
              <a:buNone/>
            </a:pPr>
            <a:r>
              <a:rPr lang="en-US" sz="2100" dirty="0">
                <a:solidFill>
                  <a:srgbClr val="FFFFFF"/>
                </a:solidFill>
                <a:latin typeface="Cambria" pitchFamily="34" charset="0"/>
                <a:ea typeface="Cambria" pitchFamily="34" charset="-122"/>
                <a:cs typeface="Cambria" pitchFamily="34" charset="-120"/>
              </a:rPr>
              <a:t>INTELLIGENT</a:t>
            </a:r>
            <a:endParaRPr lang="en-US" sz="2100" dirty="0"/>
          </a:p>
        </p:txBody>
      </p:sp>
      <p:sp>
        <p:nvSpPr>
          <p:cNvPr id="15" name="Text 13"/>
          <p:cNvSpPr txBox="1"/>
          <p:nvPr/>
        </p:nvSpPr>
        <p:spPr>
          <a:xfrm>
            <a:off x="8302752" y="2788920"/>
            <a:ext cx="3008376" cy="2148840"/>
          </a:xfrm>
          <a:prstGeom prst="rect">
            <a:avLst/>
          </a:prstGeom>
          <a:noFill/>
          <a:ln/>
        </p:spPr>
        <p:txBody>
          <a:bodyPr wrap="square" lIns="0" tIns="0" rIns="0" bIns="0" rtlCol="0" anchor="ctr"/>
          <a:lstStyle/>
          <a:p>
            <a:pPr indent="0" marL="0">
              <a:buNone/>
            </a:pPr>
            <a:r>
              <a:rPr lang="en-US" sz="1150" dirty="0">
                <a:solidFill>
                  <a:srgbClr val="D9EDE5"/>
                </a:solidFill>
                <a:latin typeface="Calibri" pitchFamily="34" charset="0"/>
                <a:ea typeface="Calibri" pitchFamily="34" charset="-122"/>
                <a:cs typeface="Calibri" pitchFamily="34" charset="-120"/>
              </a:rPr>
              <a:t>Gated auto-approve targets reviewer minutes. A true feedback loop from denial and appeal outcomes is the fully realized version. Member-facing visibility, required under the 2027 Patient Access API, belongs here too.</a:t>
            </a:r>
            <a:endParaRPr lang="en-US" sz="1150" dirty="0"/>
          </a:p>
        </p:txBody>
      </p:sp>
      <p:sp>
        <p:nvSpPr>
          <p:cNvPr id="16" name="Text 14"/>
          <p:cNvSpPr txBox="1"/>
          <p:nvPr/>
        </p:nvSpPr>
        <p:spPr>
          <a:xfrm>
            <a:off x="640080" y="5257800"/>
            <a:ext cx="10908792" cy="457200"/>
          </a:xfrm>
          <a:prstGeom prst="rect">
            <a:avLst/>
          </a:prstGeom>
          <a:noFill/>
          <a:ln/>
        </p:spPr>
        <p:txBody>
          <a:bodyPr wrap="square" lIns="0" tIns="0" rIns="0" bIns="0" rtlCol="0" anchor="ctr"/>
          <a:lstStyle/>
          <a:p>
            <a:pPr indent="0" marL="0">
              <a:buNone/>
            </a:pPr>
            <a:r>
              <a:rPr lang="en-US" sz="1250" i="1" dirty="0">
                <a:solidFill>
                  <a:srgbClr val="5C6B66"/>
                </a:solidFill>
                <a:latin typeface="Calibri" pitchFamily="34" charset="0"/>
                <a:ea typeface="Calibri" pitchFamily="34" charset="-122"/>
                <a:cs typeface="Calibri" pitchFamily="34" charset="-120"/>
              </a:rPr>
              <a:t>Phase 1 does not claim reviewer-time savings. It has not earned that trust yet, and the evals do not exist on day one to back the claim.</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1F6F5C"/>
                </a:solidFill>
                <a:latin typeface="Calibri" pitchFamily="34" charset="0"/>
                <a:ea typeface="Calibri" pitchFamily="34" charset="-122"/>
                <a:cs typeface="Calibri" pitchFamily="34" charset="-120"/>
              </a:rPr>
              <a:t>REQUIREMENTS  ·  FUNCTIONAL</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What this must do. No exceptions.</a:t>
            </a:r>
            <a:endParaRPr lang="en-US" sz="3200" dirty="0"/>
          </a:p>
        </p:txBody>
      </p:sp>
      <p:sp>
        <p:nvSpPr>
          <p:cNvPr id="4" name="Shape 2"/>
          <p:cNvSpPr/>
          <p:nvPr/>
        </p:nvSpPr>
        <p:spPr>
          <a:xfrm>
            <a:off x="640080" y="1783080"/>
            <a:ext cx="10908792" cy="786384"/>
          </a:xfrm>
          <a:prstGeom prst="roundRect">
            <a:avLst>
              <a:gd name="adj" fmla="val 5814"/>
            </a:avLst>
          </a:prstGeom>
          <a:solidFill>
            <a:srgbClr val="EFF4F1"/>
          </a:solidFill>
          <a:ln w="9525">
            <a:solidFill>
              <a:srgbClr val="D9E1DD"/>
            </a:solidFill>
            <a:prstDash val="solid"/>
          </a:ln>
        </p:spPr>
      </p:sp>
      <p:sp>
        <p:nvSpPr>
          <p:cNvPr id="5" name="Text 3"/>
          <p:cNvSpPr txBox="1"/>
          <p:nvPr/>
        </p:nvSpPr>
        <p:spPr>
          <a:xfrm>
            <a:off x="896112" y="1911096"/>
            <a:ext cx="4846320" cy="548640"/>
          </a:xfrm>
          <a:prstGeom prst="rect">
            <a:avLst/>
          </a:prstGeom>
          <a:noFill/>
          <a:ln/>
        </p:spPr>
        <p:txBody>
          <a:bodyPr wrap="square" lIns="0" tIns="0" rIns="0" bIns="0" rtlCol="0" anchor="ctr"/>
          <a:lstStyle/>
          <a:p>
            <a:pPr indent="0" marL="0">
              <a:buNone/>
            </a:pPr>
            <a:r>
              <a:rPr lang="en-US" sz="1350" b="1" dirty="0">
                <a:solidFill>
                  <a:srgbClr val="16211E"/>
                </a:solidFill>
                <a:latin typeface="Calibri" pitchFamily="34" charset="0"/>
                <a:ea typeface="Calibri" pitchFamily="34" charset="-122"/>
                <a:cs typeface="Calibri" pitchFamily="34" charset="-120"/>
              </a:rPr>
              <a:t>Never recommend or execute a denial</a:t>
            </a:r>
            <a:endParaRPr lang="en-US" sz="1350" dirty="0"/>
          </a:p>
        </p:txBody>
      </p:sp>
      <p:sp>
        <p:nvSpPr>
          <p:cNvPr id="6" name="Text 4"/>
          <p:cNvSpPr txBox="1"/>
          <p:nvPr/>
        </p:nvSpPr>
        <p:spPr>
          <a:xfrm>
            <a:off x="5897880" y="1911096"/>
            <a:ext cx="5376672"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Escalation only. A human, the medical director, decides every denial.</a:t>
            </a:r>
            <a:endParaRPr lang="en-US" sz="1150" dirty="0"/>
          </a:p>
        </p:txBody>
      </p:sp>
      <p:sp>
        <p:nvSpPr>
          <p:cNvPr id="7" name="Shape 5"/>
          <p:cNvSpPr/>
          <p:nvPr/>
        </p:nvSpPr>
        <p:spPr>
          <a:xfrm>
            <a:off x="640080" y="2660904"/>
            <a:ext cx="10908792" cy="786384"/>
          </a:xfrm>
          <a:prstGeom prst="roundRect">
            <a:avLst>
              <a:gd name="adj" fmla="val 5814"/>
            </a:avLst>
          </a:prstGeom>
          <a:solidFill>
            <a:srgbClr val="EFF4F1"/>
          </a:solidFill>
          <a:ln w="9525">
            <a:solidFill>
              <a:srgbClr val="D9E1DD"/>
            </a:solidFill>
            <a:prstDash val="solid"/>
          </a:ln>
        </p:spPr>
      </p:sp>
      <p:sp>
        <p:nvSpPr>
          <p:cNvPr id="8" name="Text 6"/>
          <p:cNvSpPr txBox="1"/>
          <p:nvPr/>
        </p:nvSpPr>
        <p:spPr>
          <a:xfrm>
            <a:off x="896112" y="2788920"/>
            <a:ext cx="4846320" cy="548640"/>
          </a:xfrm>
          <a:prstGeom prst="rect">
            <a:avLst/>
          </a:prstGeom>
          <a:noFill/>
          <a:ln/>
        </p:spPr>
        <p:txBody>
          <a:bodyPr wrap="square" lIns="0" tIns="0" rIns="0" bIns="0" rtlCol="0" anchor="ctr"/>
          <a:lstStyle/>
          <a:p>
            <a:pPr indent="0" marL="0">
              <a:buNone/>
            </a:pPr>
            <a:r>
              <a:rPr lang="en-US" sz="1350" b="1" dirty="0">
                <a:solidFill>
                  <a:srgbClr val="16211E"/>
                </a:solidFill>
                <a:latin typeface="Calibri" pitchFamily="34" charset="0"/>
                <a:ea typeface="Calibri" pitchFamily="34" charset="-122"/>
                <a:cs typeface="Calibri" pitchFamily="34" charset="-120"/>
              </a:rPr>
              <a:t>Every recommendation names its source</a:t>
            </a:r>
            <a:endParaRPr lang="en-US" sz="1350" dirty="0"/>
          </a:p>
        </p:txBody>
      </p:sp>
      <p:sp>
        <p:nvSpPr>
          <p:cNvPr id="9" name="Text 7"/>
          <p:cNvSpPr txBox="1"/>
          <p:nvPr/>
        </p:nvSpPr>
        <p:spPr>
          <a:xfrm>
            <a:off x="5897880" y="2788920"/>
            <a:ext cx="5376672"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Which tier of the hierarchy drove it — NCD, LCD, Humana policy, or MCG.</a:t>
            </a:r>
            <a:endParaRPr lang="en-US" sz="1150" dirty="0"/>
          </a:p>
        </p:txBody>
      </p:sp>
      <p:sp>
        <p:nvSpPr>
          <p:cNvPr id="10" name="Shape 8"/>
          <p:cNvSpPr/>
          <p:nvPr/>
        </p:nvSpPr>
        <p:spPr>
          <a:xfrm>
            <a:off x="640080" y="3538728"/>
            <a:ext cx="10908792" cy="786384"/>
          </a:xfrm>
          <a:prstGeom prst="roundRect">
            <a:avLst>
              <a:gd name="adj" fmla="val 5814"/>
            </a:avLst>
          </a:prstGeom>
          <a:solidFill>
            <a:srgbClr val="EFF4F1"/>
          </a:solidFill>
          <a:ln w="9525">
            <a:solidFill>
              <a:srgbClr val="D9E1DD"/>
            </a:solidFill>
            <a:prstDash val="solid"/>
          </a:ln>
        </p:spPr>
      </p:sp>
      <p:sp>
        <p:nvSpPr>
          <p:cNvPr id="11" name="Text 9"/>
          <p:cNvSpPr txBox="1"/>
          <p:nvPr/>
        </p:nvSpPr>
        <p:spPr>
          <a:xfrm>
            <a:off x="896112" y="3666744"/>
            <a:ext cx="4846320" cy="548640"/>
          </a:xfrm>
          <a:prstGeom prst="rect">
            <a:avLst/>
          </a:prstGeom>
          <a:noFill/>
          <a:ln/>
        </p:spPr>
        <p:txBody>
          <a:bodyPr wrap="square" lIns="0" tIns="0" rIns="0" bIns="0" rtlCol="0" anchor="ctr"/>
          <a:lstStyle/>
          <a:p>
            <a:pPr indent="0" marL="0">
              <a:buNone/>
            </a:pPr>
            <a:r>
              <a:rPr lang="en-US" sz="1350" b="1" dirty="0">
                <a:solidFill>
                  <a:srgbClr val="16211E"/>
                </a:solidFill>
                <a:latin typeface="Calibri" pitchFamily="34" charset="0"/>
                <a:ea typeface="Calibri" pitchFamily="34" charset="-122"/>
                <a:cs typeface="Calibri" pitchFamily="34" charset="-120"/>
              </a:rPr>
              <a:t>Two signals, tuned for recall, not one blanket target</a:t>
            </a:r>
            <a:endParaRPr lang="en-US" sz="1350" dirty="0"/>
          </a:p>
        </p:txBody>
      </p:sp>
      <p:sp>
        <p:nvSpPr>
          <p:cNvPr id="12" name="Text 10"/>
          <p:cNvSpPr txBox="1"/>
          <p:nvPr/>
        </p:nvSpPr>
        <p:spPr>
          <a:xfrm>
            <a:off x="5897880" y="3666744"/>
            <a:ext cx="5376672"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Completeness and criteria-met detection both err toward catching a gap or catching supporting evidence, not missing one.</a:t>
            </a:r>
            <a:endParaRPr lang="en-US" sz="1150" dirty="0"/>
          </a:p>
        </p:txBody>
      </p:sp>
      <p:sp>
        <p:nvSpPr>
          <p:cNvPr id="13" name="Shape 11"/>
          <p:cNvSpPr/>
          <p:nvPr/>
        </p:nvSpPr>
        <p:spPr>
          <a:xfrm>
            <a:off x="640080" y="4416552"/>
            <a:ext cx="10908792" cy="786384"/>
          </a:xfrm>
          <a:prstGeom prst="roundRect">
            <a:avLst>
              <a:gd name="adj" fmla="val 5814"/>
            </a:avLst>
          </a:prstGeom>
          <a:solidFill>
            <a:srgbClr val="EFF4F1"/>
          </a:solidFill>
          <a:ln w="9525">
            <a:solidFill>
              <a:srgbClr val="D9E1DD"/>
            </a:solidFill>
            <a:prstDash val="solid"/>
          </a:ln>
        </p:spPr>
      </p:sp>
      <p:sp>
        <p:nvSpPr>
          <p:cNvPr id="14" name="Text 12"/>
          <p:cNvSpPr txBox="1"/>
          <p:nvPr/>
        </p:nvSpPr>
        <p:spPr>
          <a:xfrm>
            <a:off x="896112" y="4544568"/>
            <a:ext cx="4846320" cy="548640"/>
          </a:xfrm>
          <a:prstGeom prst="rect">
            <a:avLst/>
          </a:prstGeom>
          <a:noFill/>
          <a:ln/>
        </p:spPr>
        <p:txBody>
          <a:bodyPr wrap="square" lIns="0" tIns="0" rIns="0" bIns="0" rtlCol="0" anchor="ctr"/>
          <a:lstStyle/>
          <a:p>
            <a:pPr indent="0" marL="0">
              <a:buNone/>
            </a:pPr>
            <a:r>
              <a:rPr lang="en-US" sz="1350" b="1" dirty="0">
                <a:solidFill>
                  <a:srgbClr val="16211E"/>
                </a:solidFill>
                <a:latin typeface="Calibri" pitchFamily="34" charset="0"/>
                <a:ea typeface="Calibri" pitchFamily="34" charset="-122"/>
                <a:cs typeface="Calibri" pitchFamily="34" charset="-120"/>
              </a:rPr>
              <a:t>The approve action is gated separately, on precision</a:t>
            </a:r>
            <a:endParaRPr lang="en-US" sz="1350" dirty="0"/>
          </a:p>
        </p:txBody>
      </p:sp>
      <p:sp>
        <p:nvSpPr>
          <p:cNvPr id="15" name="Text 13"/>
          <p:cNvSpPr txBox="1"/>
          <p:nvPr/>
        </p:nvSpPr>
        <p:spPr>
          <a:xfrm>
            <a:off x="5897880" y="4544568"/>
            <a:ext cx="5376672"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High recall on detection underneath, a stricter confidence bar before the system ever recommends approve.</a:t>
            </a:r>
            <a:endParaRPr lang="en-US" sz="1150" dirty="0"/>
          </a:p>
        </p:txBody>
      </p:sp>
      <p:sp>
        <p:nvSpPr>
          <p:cNvPr id="16" name="Shape 14"/>
          <p:cNvSpPr/>
          <p:nvPr/>
        </p:nvSpPr>
        <p:spPr>
          <a:xfrm>
            <a:off x="640080" y="5294376"/>
            <a:ext cx="10908792" cy="786384"/>
          </a:xfrm>
          <a:prstGeom prst="roundRect">
            <a:avLst>
              <a:gd name="adj" fmla="val 5814"/>
            </a:avLst>
          </a:prstGeom>
          <a:solidFill>
            <a:srgbClr val="EFF4F1"/>
          </a:solidFill>
          <a:ln w="9525">
            <a:solidFill>
              <a:srgbClr val="D9E1DD"/>
            </a:solidFill>
            <a:prstDash val="solid"/>
          </a:ln>
        </p:spPr>
      </p:sp>
      <p:sp>
        <p:nvSpPr>
          <p:cNvPr id="17" name="Text 15"/>
          <p:cNvSpPr txBox="1"/>
          <p:nvPr/>
        </p:nvSpPr>
        <p:spPr>
          <a:xfrm>
            <a:off x="896112" y="5422392"/>
            <a:ext cx="4846320" cy="548640"/>
          </a:xfrm>
          <a:prstGeom prst="rect">
            <a:avLst/>
          </a:prstGeom>
          <a:noFill/>
          <a:ln/>
        </p:spPr>
        <p:txBody>
          <a:bodyPr wrap="square" lIns="0" tIns="0" rIns="0" bIns="0" rtlCol="0" anchor="ctr"/>
          <a:lstStyle/>
          <a:p>
            <a:pPr indent="0" marL="0">
              <a:buNone/>
            </a:pPr>
            <a:r>
              <a:rPr lang="en-US" sz="1350" b="1" dirty="0">
                <a:solidFill>
                  <a:srgbClr val="16211E"/>
                </a:solidFill>
                <a:latin typeface="Calibri" pitchFamily="34" charset="0"/>
                <a:ea typeface="Calibri" pitchFamily="34" charset="-122"/>
                <a:cs typeface="Calibri" pitchFamily="34" charset="-120"/>
              </a:rPr>
              <a:t>A missing fact gets one targeted question</a:t>
            </a:r>
            <a:endParaRPr lang="en-US" sz="1350" dirty="0"/>
          </a:p>
        </p:txBody>
      </p:sp>
      <p:sp>
        <p:nvSpPr>
          <p:cNvPr id="18" name="Text 16"/>
          <p:cNvSpPr txBox="1"/>
          <p:nvPr/>
        </p:nvSpPr>
        <p:spPr>
          <a:xfrm>
            <a:off x="5897880" y="5422392"/>
            <a:ext cx="5376672"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Derived from the specific policy that applies, not a generic pend notice.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1F6F5C"/>
                </a:solidFill>
                <a:latin typeface="Calibri" pitchFamily="34" charset="0"/>
                <a:ea typeface="Calibri" pitchFamily="34" charset="-122"/>
                <a:cs typeface="Calibri" pitchFamily="34" charset="-120"/>
              </a:rPr>
              <a:t>REQUIREMENTS  ·  NON-FUNCTIONAL</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What has to be true of it, regardless of feature.</a:t>
            </a:r>
            <a:endParaRPr lang="en-US" sz="3200" dirty="0"/>
          </a:p>
        </p:txBody>
      </p:sp>
      <p:sp>
        <p:nvSpPr>
          <p:cNvPr id="4" name="Shape 2"/>
          <p:cNvSpPr/>
          <p:nvPr/>
        </p:nvSpPr>
        <p:spPr>
          <a:xfrm>
            <a:off x="640080" y="1783080"/>
            <a:ext cx="10908792" cy="786384"/>
          </a:xfrm>
          <a:prstGeom prst="roundRect">
            <a:avLst>
              <a:gd name="adj" fmla="val 5814"/>
            </a:avLst>
          </a:prstGeom>
          <a:solidFill>
            <a:srgbClr val="EFF4F1"/>
          </a:solidFill>
          <a:ln w="9525">
            <a:solidFill>
              <a:srgbClr val="D9E1DD"/>
            </a:solidFill>
            <a:prstDash val="solid"/>
          </a:ln>
        </p:spPr>
      </p:sp>
      <p:sp>
        <p:nvSpPr>
          <p:cNvPr id="5" name="Text 3"/>
          <p:cNvSpPr txBox="1"/>
          <p:nvPr/>
        </p:nvSpPr>
        <p:spPr>
          <a:xfrm>
            <a:off x="896112" y="1911096"/>
            <a:ext cx="3931920" cy="548640"/>
          </a:xfrm>
          <a:prstGeom prst="rect">
            <a:avLst/>
          </a:prstGeom>
          <a:noFill/>
          <a:ln/>
        </p:spPr>
        <p:txBody>
          <a:bodyPr wrap="square" lIns="0" tIns="0" rIns="0" bIns="0" rtlCol="0" anchor="ctr"/>
          <a:lstStyle/>
          <a:p>
            <a:pPr indent="0" marL="0">
              <a:buNone/>
            </a:pPr>
            <a:r>
              <a:rPr lang="en-US" sz="1350" b="1" dirty="0">
                <a:solidFill>
                  <a:srgbClr val="16211E"/>
                </a:solidFill>
                <a:latin typeface="Calibri" pitchFamily="34" charset="0"/>
                <a:ea typeface="Calibri" pitchFamily="34" charset="-122"/>
                <a:cs typeface="Calibri" pitchFamily="34" charset="-120"/>
              </a:rPr>
              <a:t>Auditability</a:t>
            </a:r>
            <a:endParaRPr lang="en-US" sz="1350" dirty="0"/>
          </a:p>
        </p:txBody>
      </p:sp>
      <p:sp>
        <p:nvSpPr>
          <p:cNvPr id="6" name="Text 4"/>
          <p:cNvSpPr txBox="1"/>
          <p:nvPr/>
        </p:nvSpPr>
        <p:spPr>
          <a:xfrm>
            <a:off x="4983480" y="1911096"/>
            <a:ext cx="6291072"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Every output traceable to its source page and its policy citation. Regulatory, not a nice-to-have.</a:t>
            </a:r>
            <a:endParaRPr lang="en-US" sz="1150" dirty="0"/>
          </a:p>
        </p:txBody>
      </p:sp>
      <p:sp>
        <p:nvSpPr>
          <p:cNvPr id="7" name="Shape 5"/>
          <p:cNvSpPr/>
          <p:nvPr/>
        </p:nvSpPr>
        <p:spPr>
          <a:xfrm>
            <a:off x="640080" y="2660904"/>
            <a:ext cx="10908792" cy="786384"/>
          </a:xfrm>
          <a:prstGeom prst="roundRect">
            <a:avLst>
              <a:gd name="adj" fmla="val 5814"/>
            </a:avLst>
          </a:prstGeom>
          <a:solidFill>
            <a:srgbClr val="EFF4F1"/>
          </a:solidFill>
          <a:ln w="9525">
            <a:solidFill>
              <a:srgbClr val="D9E1DD"/>
            </a:solidFill>
            <a:prstDash val="solid"/>
          </a:ln>
        </p:spPr>
      </p:sp>
      <p:sp>
        <p:nvSpPr>
          <p:cNvPr id="8" name="Text 6"/>
          <p:cNvSpPr txBox="1"/>
          <p:nvPr/>
        </p:nvSpPr>
        <p:spPr>
          <a:xfrm>
            <a:off x="896112" y="2788920"/>
            <a:ext cx="3931920" cy="548640"/>
          </a:xfrm>
          <a:prstGeom prst="rect">
            <a:avLst/>
          </a:prstGeom>
          <a:noFill/>
          <a:ln/>
        </p:spPr>
        <p:txBody>
          <a:bodyPr wrap="square" lIns="0" tIns="0" rIns="0" bIns="0" rtlCol="0" anchor="ctr"/>
          <a:lstStyle/>
          <a:p>
            <a:pPr indent="0" marL="0">
              <a:buNone/>
            </a:pPr>
            <a:r>
              <a:rPr lang="en-US" sz="1350" b="1" dirty="0">
                <a:solidFill>
                  <a:srgbClr val="16211E"/>
                </a:solidFill>
                <a:latin typeface="Calibri" pitchFamily="34" charset="0"/>
                <a:ea typeface="Calibri" pitchFamily="34" charset="-122"/>
                <a:cs typeface="Calibri" pitchFamily="34" charset="-120"/>
              </a:rPr>
              <a:t>Latency</a:t>
            </a:r>
            <a:endParaRPr lang="en-US" sz="1350" dirty="0"/>
          </a:p>
        </p:txBody>
      </p:sp>
      <p:sp>
        <p:nvSpPr>
          <p:cNvPr id="9" name="Text 7"/>
          <p:cNvSpPr txBox="1"/>
          <p:nvPr/>
        </p:nvSpPr>
        <p:spPr>
          <a:xfrm>
            <a:off x="4983480" y="2788920"/>
            <a:ext cx="6291072"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This is an interactive review. Seconds, not minutes, or the nurse stops using it.</a:t>
            </a:r>
            <a:endParaRPr lang="en-US" sz="1150" dirty="0"/>
          </a:p>
        </p:txBody>
      </p:sp>
      <p:sp>
        <p:nvSpPr>
          <p:cNvPr id="10" name="Shape 8"/>
          <p:cNvSpPr/>
          <p:nvPr/>
        </p:nvSpPr>
        <p:spPr>
          <a:xfrm>
            <a:off x="640080" y="3538728"/>
            <a:ext cx="10908792" cy="786384"/>
          </a:xfrm>
          <a:prstGeom prst="roundRect">
            <a:avLst>
              <a:gd name="adj" fmla="val 5814"/>
            </a:avLst>
          </a:prstGeom>
          <a:solidFill>
            <a:srgbClr val="EFF4F1"/>
          </a:solidFill>
          <a:ln w="9525">
            <a:solidFill>
              <a:srgbClr val="D9E1DD"/>
            </a:solidFill>
            <a:prstDash val="solid"/>
          </a:ln>
        </p:spPr>
      </p:sp>
      <p:sp>
        <p:nvSpPr>
          <p:cNvPr id="11" name="Text 9"/>
          <p:cNvSpPr txBox="1"/>
          <p:nvPr/>
        </p:nvSpPr>
        <p:spPr>
          <a:xfrm>
            <a:off x="896112" y="3666744"/>
            <a:ext cx="3931920" cy="548640"/>
          </a:xfrm>
          <a:prstGeom prst="rect">
            <a:avLst/>
          </a:prstGeom>
          <a:noFill/>
          <a:ln/>
        </p:spPr>
        <p:txBody>
          <a:bodyPr wrap="square" lIns="0" tIns="0" rIns="0" bIns="0" rtlCol="0" anchor="ctr"/>
          <a:lstStyle/>
          <a:p>
            <a:pPr indent="0" marL="0">
              <a:buNone/>
            </a:pPr>
            <a:r>
              <a:rPr lang="en-US" sz="1350" b="1" dirty="0">
                <a:solidFill>
                  <a:srgbClr val="16211E"/>
                </a:solidFill>
                <a:latin typeface="Calibri" pitchFamily="34" charset="0"/>
                <a:ea typeface="Calibri" pitchFamily="34" charset="-122"/>
                <a:cs typeface="Calibri" pitchFamily="34" charset="-120"/>
              </a:rPr>
              <a:t>Confidence as a first-class state</a:t>
            </a:r>
            <a:endParaRPr lang="en-US" sz="1350" dirty="0"/>
          </a:p>
        </p:txBody>
      </p:sp>
      <p:sp>
        <p:nvSpPr>
          <p:cNvPr id="12" name="Text 10"/>
          <p:cNvSpPr txBox="1"/>
          <p:nvPr/>
        </p:nvSpPr>
        <p:spPr>
          <a:xfrm>
            <a:off x="4983480" y="3666744"/>
            <a:ext cx="6291072"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“Uncertain” has to be a real output, never forced into met or not-met.</a:t>
            </a:r>
            <a:endParaRPr lang="en-US" sz="1150" dirty="0"/>
          </a:p>
        </p:txBody>
      </p:sp>
      <p:sp>
        <p:nvSpPr>
          <p:cNvPr id="13" name="Shape 11"/>
          <p:cNvSpPr/>
          <p:nvPr/>
        </p:nvSpPr>
        <p:spPr>
          <a:xfrm>
            <a:off x="640080" y="4416552"/>
            <a:ext cx="10908792" cy="786384"/>
          </a:xfrm>
          <a:prstGeom prst="roundRect">
            <a:avLst>
              <a:gd name="adj" fmla="val 5814"/>
            </a:avLst>
          </a:prstGeom>
          <a:solidFill>
            <a:srgbClr val="EFF4F1"/>
          </a:solidFill>
          <a:ln w="9525">
            <a:solidFill>
              <a:srgbClr val="D9E1DD"/>
            </a:solidFill>
            <a:prstDash val="solid"/>
          </a:ln>
        </p:spPr>
      </p:sp>
      <p:sp>
        <p:nvSpPr>
          <p:cNvPr id="14" name="Text 12"/>
          <p:cNvSpPr txBox="1"/>
          <p:nvPr/>
        </p:nvSpPr>
        <p:spPr>
          <a:xfrm>
            <a:off x="896112" y="4544568"/>
            <a:ext cx="3931920" cy="548640"/>
          </a:xfrm>
          <a:prstGeom prst="rect">
            <a:avLst/>
          </a:prstGeom>
          <a:noFill/>
          <a:ln/>
        </p:spPr>
        <p:txBody>
          <a:bodyPr wrap="square" lIns="0" tIns="0" rIns="0" bIns="0" rtlCol="0" anchor="ctr"/>
          <a:lstStyle/>
          <a:p>
            <a:pPr indent="0" marL="0">
              <a:buNone/>
            </a:pPr>
            <a:r>
              <a:rPr lang="en-US" sz="1350" b="1" dirty="0">
                <a:solidFill>
                  <a:srgbClr val="16211E"/>
                </a:solidFill>
                <a:latin typeface="Calibri" pitchFamily="34" charset="0"/>
                <a:ea typeface="Calibri" pitchFamily="34" charset="-122"/>
                <a:cs typeface="Calibri" pitchFamily="34" charset="-120"/>
              </a:rPr>
              <a:t>Reproducibility</a:t>
            </a:r>
            <a:endParaRPr lang="en-US" sz="1350" dirty="0"/>
          </a:p>
        </p:txBody>
      </p:sp>
      <p:sp>
        <p:nvSpPr>
          <p:cNvPr id="15" name="Text 13"/>
          <p:cNvSpPr txBox="1"/>
          <p:nvPr/>
        </p:nvSpPr>
        <p:spPr>
          <a:xfrm>
            <a:off x="4983480" y="4544568"/>
            <a:ext cx="6291072"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Same packet, same policy version, same output. Matters the moment this is ever audited.</a:t>
            </a:r>
            <a:endParaRPr lang="en-US" sz="1150" dirty="0"/>
          </a:p>
        </p:txBody>
      </p:sp>
      <p:sp>
        <p:nvSpPr>
          <p:cNvPr id="16" name="Shape 14"/>
          <p:cNvSpPr/>
          <p:nvPr/>
        </p:nvSpPr>
        <p:spPr>
          <a:xfrm>
            <a:off x="640080" y="5294376"/>
            <a:ext cx="10908792" cy="786384"/>
          </a:xfrm>
          <a:prstGeom prst="roundRect">
            <a:avLst>
              <a:gd name="adj" fmla="val 5814"/>
            </a:avLst>
          </a:prstGeom>
          <a:solidFill>
            <a:srgbClr val="EFF4F1"/>
          </a:solidFill>
          <a:ln w="9525">
            <a:solidFill>
              <a:srgbClr val="D9E1DD"/>
            </a:solidFill>
            <a:prstDash val="solid"/>
          </a:ln>
        </p:spPr>
      </p:sp>
      <p:sp>
        <p:nvSpPr>
          <p:cNvPr id="17" name="Text 15"/>
          <p:cNvSpPr txBox="1"/>
          <p:nvPr/>
        </p:nvSpPr>
        <p:spPr>
          <a:xfrm>
            <a:off x="896112" y="5422392"/>
            <a:ext cx="3931920" cy="548640"/>
          </a:xfrm>
          <a:prstGeom prst="rect">
            <a:avLst/>
          </a:prstGeom>
          <a:noFill/>
          <a:ln/>
        </p:spPr>
        <p:txBody>
          <a:bodyPr wrap="square" lIns="0" tIns="0" rIns="0" bIns="0" rtlCol="0" anchor="ctr"/>
          <a:lstStyle/>
          <a:p>
            <a:pPr indent="0" marL="0">
              <a:buNone/>
            </a:pPr>
            <a:r>
              <a:rPr lang="en-US" sz="1350" b="1" dirty="0">
                <a:solidFill>
                  <a:srgbClr val="16211E"/>
                </a:solidFill>
                <a:latin typeface="Calibri" pitchFamily="34" charset="0"/>
                <a:ea typeface="Calibri" pitchFamily="34" charset="-122"/>
                <a:cs typeface="Calibri" pitchFamily="34" charset="-120"/>
              </a:rPr>
              <a:t>Human-in-the-loop is architectural</a:t>
            </a:r>
            <a:endParaRPr lang="en-US" sz="1350" dirty="0"/>
          </a:p>
        </p:txBody>
      </p:sp>
      <p:sp>
        <p:nvSpPr>
          <p:cNvPr id="18" name="Text 16"/>
          <p:cNvSpPr txBox="1"/>
          <p:nvPr/>
        </p:nvSpPr>
        <p:spPr>
          <a:xfrm>
            <a:off x="4983480" y="5422392"/>
            <a:ext cx="6291072" cy="548640"/>
          </a:xfrm>
          <a:prstGeom prst="rect">
            <a:avLst/>
          </a:prstGeom>
          <a:noFill/>
          <a:ln/>
        </p:spPr>
        <p:txBody>
          <a:bodyPr wrap="square" lIns="0" tIns="0" rIns="0" bIns="0" rtlCol="0" anchor="ctr"/>
          <a:lstStyle/>
          <a:p>
            <a:pPr indent="0" marL="0">
              <a:buNone/>
            </a:pPr>
            <a:r>
              <a:rPr lang="en-US" sz="1150" dirty="0">
                <a:solidFill>
                  <a:srgbClr val="5C6B66"/>
                </a:solidFill>
                <a:latin typeface="Calibri" pitchFamily="34" charset="0"/>
                <a:ea typeface="Calibri" pitchFamily="34" charset="-122"/>
                <a:cs typeface="Calibri" pitchFamily="34" charset="-120"/>
              </a:rPr>
              <a:t>Not a setting that can be switched off. It is load-bearing in the design, not a UI toggle.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A3342B"/>
                </a:solidFill>
                <a:latin typeface="Calibri" pitchFamily="34" charset="0"/>
                <a:ea typeface="Calibri" pitchFamily="34" charset="-122"/>
                <a:cs typeface="Calibri" pitchFamily="34" charset="-120"/>
              </a:rPr>
              <a:t>THE TRADEOFF</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What we are deliberately not building.</a:t>
            </a:r>
            <a:endParaRPr lang="en-US" sz="3200" dirty="0"/>
          </a:p>
        </p:txBody>
      </p:sp>
      <p:sp>
        <p:nvSpPr>
          <p:cNvPr id="4" name="Shape 2"/>
          <p:cNvSpPr/>
          <p:nvPr/>
        </p:nvSpPr>
        <p:spPr>
          <a:xfrm>
            <a:off x="640080" y="1627632"/>
            <a:ext cx="10908792" cy="1508760"/>
          </a:xfrm>
          <a:prstGeom prst="roundRect">
            <a:avLst>
              <a:gd name="adj" fmla="val 3030"/>
            </a:avLst>
          </a:prstGeom>
          <a:solidFill>
            <a:srgbClr val="F8E8E5"/>
          </a:solidFill>
          <a:ln w="9525">
            <a:solidFill>
              <a:srgbClr val="E9C9C3"/>
            </a:solidFill>
            <a:prstDash val="solid"/>
          </a:ln>
        </p:spPr>
      </p:sp>
      <p:sp>
        <p:nvSpPr>
          <p:cNvPr id="5" name="Text 3"/>
          <p:cNvSpPr txBox="1"/>
          <p:nvPr/>
        </p:nvSpPr>
        <p:spPr>
          <a:xfrm>
            <a:off x="914400" y="1773936"/>
            <a:ext cx="4480560" cy="1234440"/>
          </a:xfrm>
          <a:prstGeom prst="rect">
            <a:avLst/>
          </a:prstGeom>
          <a:noFill/>
          <a:ln/>
        </p:spPr>
        <p:txBody>
          <a:bodyPr wrap="square" lIns="0" tIns="0" rIns="0" bIns="0" rtlCol="0" anchor="ctr"/>
          <a:lstStyle/>
          <a:p>
            <a:pPr indent="0" marL="0">
              <a:buNone/>
            </a:pPr>
            <a:r>
              <a:rPr lang="en-US" sz="1500" b="1" dirty="0">
                <a:solidFill>
                  <a:srgbClr val="16211E"/>
                </a:solidFill>
                <a:latin typeface="Calibri" pitchFamily="34" charset="0"/>
                <a:ea typeface="Calibri" pitchFamily="34" charset="-122"/>
                <a:cs typeface="Calibri" pitchFamily="34" charset="-120"/>
              </a:rPr>
              <a:t>The AI may auto-approve. It may never auto-deny.</a:t>
            </a:r>
            <a:endParaRPr lang="en-US" sz="1500" dirty="0"/>
          </a:p>
        </p:txBody>
      </p:sp>
      <p:sp>
        <p:nvSpPr>
          <p:cNvPr id="6" name="Text 4"/>
          <p:cNvSpPr txBox="1"/>
          <p:nvPr/>
        </p:nvSpPr>
        <p:spPr>
          <a:xfrm>
            <a:off x="5669280" y="1773936"/>
            <a:ext cx="5559552" cy="1234440"/>
          </a:xfrm>
          <a:prstGeom prst="rect">
            <a:avLst/>
          </a:prstGeom>
          <a:noFill/>
          <a:ln/>
        </p:spPr>
        <p:txBody>
          <a:bodyPr wrap="square" lIns="0" tIns="0" rIns="0" bIns="0" rtlCol="0" anchor="ctr"/>
          <a:lstStyle/>
          <a:p>
            <a:pPr indent="0" marL="0">
              <a:buNone/>
            </a:pPr>
            <a:r>
              <a:rPr lang="en-US" sz="1100" dirty="0">
                <a:solidFill>
                  <a:srgbClr val="16211E"/>
                </a:solidFill>
                <a:latin typeface="Calibri" pitchFamily="34" charset="0"/>
                <a:ea typeface="Calibri" pitchFamily="34" charset="-122"/>
                <a:cs typeface="Calibri" pitchFamily="34" charset="-120"/>
              </a:rPr>
              <a:t>A wrong approval means paying for care that probably met criteria anyway, and it is recoverable. A wrong denial means a member does not receive care they were entitled to — irreversible, appealable, and a regulated event. California and Texas already prohibit AI from being the sole basis of a denial, which keeps us ahead of where the law is going, not just cautious.</a:t>
            </a:r>
            <a:endParaRPr lang="en-US" sz="1100" dirty="0"/>
          </a:p>
        </p:txBody>
      </p:sp>
      <p:sp>
        <p:nvSpPr>
          <p:cNvPr id="7" name="Shape 5"/>
          <p:cNvSpPr/>
          <p:nvPr/>
        </p:nvSpPr>
        <p:spPr>
          <a:xfrm>
            <a:off x="640080" y="3236976"/>
            <a:ext cx="10908792" cy="777240"/>
          </a:xfrm>
          <a:prstGeom prst="roundRect">
            <a:avLst>
              <a:gd name="adj" fmla="val 5882"/>
            </a:avLst>
          </a:prstGeom>
          <a:solidFill>
            <a:srgbClr val="EFF4F1"/>
          </a:solidFill>
          <a:ln w="9525">
            <a:solidFill>
              <a:srgbClr val="D9E1DD"/>
            </a:solidFill>
            <a:prstDash val="solid"/>
          </a:ln>
        </p:spPr>
      </p:sp>
      <p:sp>
        <p:nvSpPr>
          <p:cNvPr id="8" name="Text 6"/>
          <p:cNvSpPr txBox="1"/>
          <p:nvPr/>
        </p:nvSpPr>
        <p:spPr>
          <a:xfrm>
            <a:off x="914400" y="3383280"/>
            <a:ext cx="4480560" cy="502920"/>
          </a:xfrm>
          <a:prstGeom prst="rect">
            <a:avLst/>
          </a:prstGeom>
          <a:noFill/>
          <a:ln/>
        </p:spPr>
        <p:txBody>
          <a:bodyPr wrap="square" lIns="0" tIns="0" rIns="0" bIns="0" rtlCol="0" anchor="ctr"/>
          <a:lstStyle/>
          <a:p>
            <a:pPr indent="0" marL="0">
              <a:buNone/>
            </a:pPr>
            <a:r>
              <a:rPr lang="en-US" sz="1300" b="1" dirty="0">
                <a:solidFill>
                  <a:srgbClr val="16211E"/>
                </a:solidFill>
                <a:latin typeface="Calibri" pitchFamily="34" charset="0"/>
                <a:ea typeface="Calibri" pitchFamily="34" charset="-122"/>
                <a:cs typeface="Calibri" pitchFamily="34" charset="-120"/>
              </a:rPr>
              <a:t>Appeals and peer-to-peer review stay out of scope.</a:t>
            </a:r>
            <a:endParaRPr lang="en-US" sz="1300" dirty="0"/>
          </a:p>
        </p:txBody>
      </p:sp>
      <p:sp>
        <p:nvSpPr>
          <p:cNvPr id="9" name="Text 7"/>
          <p:cNvSpPr txBox="1"/>
          <p:nvPr/>
        </p:nvSpPr>
        <p:spPr>
          <a:xfrm>
            <a:off x="5669280" y="3383280"/>
            <a:ext cx="5559552" cy="502920"/>
          </a:xfrm>
          <a:prstGeom prst="rect">
            <a:avLst/>
          </a:prstGeom>
          <a:noFill/>
          <a:ln/>
        </p:spPr>
        <p:txBody>
          <a:bodyPr wrap="square" lIns="0" tIns="0" rIns="0" bIns="0" rtlCol="0" anchor="ctr"/>
          <a:lstStyle/>
          <a:p>
            <a:pPr indent="0" marL="0">
              <a:buNone/>
            </a:pPr>
            <a:r>
              <a:rPr lang="en-US" sz="1050" dirty="0">
                <a:solidFill>
                  <a:srgbClr val="5C6B66"/>
                </a:solidFill>
                <a:latin typeface="Calibri" pitchFamily="34" charset="0"/>
                <a:ea typeface="Calibri" pitchFamily="34" charset="-122"/>
                <a:cs typeface="Calibri" pitchFamily="34" charset="-120"/>
              </a:rPr>
              <a:t>A separate, regulated process with its own timeline under 42 CFR 422. Naming the boundary rather than letting it be assumed.</a:t>
            </a:r>
            <a:endParaRPr lang="en-US" sz="1050" dirty="0"/>
          </a:p>
        </p:txBody>
      </p:sp>
      <p:sp>
        <p:nvSpPr>
          <p:cNvPr id="10" name="Shape 8"/>
          <p:cNvSpPr/>
          <p:nvPr/>
        </p:nvSpPr>
        <p:spPr>
          <a:xfrm>
            <a:off x="640080" y="4114800"/>
            <a:ext cx="10908792" cy="777240"/>
          </a:xfrm>
          <a:prstGeom prst="roundRect">
            <a:avLst>
              <a:gd name="adj" fmla="val 5882"/>
            </a:avLst>
          </a:prstGeom>
          <a:solidFill>
            <a:srgbClr val="EFF4F1"/>
          </a:solidFill>
          <a:ln w="9525">
            <a:solidFill>
              <a:srgbClr val="D9E1DD"/>
            </a:solidFill>
            <a:prstDash val="solid"/>
          </a:ln>
        </p:spPr>
      </p:sp>
      <p:sp>
        <p:nvSpPr>
          <p:cNvPr id="11" name="Text 9"/>
          <p:cNvSpPr txBox="1"/>
          <p:nvPr/>
        </p:nvSpPr>
        <p:spPr>
          <a:xfrm>
            <a:off x="914400" y="4261104"/>
            <a:ext cx="4480560" cy="502920"/>
          </a:xfrm>
          <a:prstGeom prst="rect">
            <a:avLst/>
          </a:prstGeom>
          <a:noFill/>
          <a:ln/>
        </p:spPr>
        <p:txBody>
          <a:bodyPr wrap="square" lIns="0" tIns="0" rIns="0" bIns="0" rtlCol="0" anchor="ctr"/>
          <a:lstStyle/>
          <a:p>
            <a:pPr indent="0" marL="0">
              <a:buNone/>
            </a:pPr>
            <a:r>
              <a:rPr lang="en-US" sz="1300" b="1" dirty="0">
                <a:solidFill>
                  <a:srgbClr val="16211E"/>
                </a:solidFill>
                <a:latin typeface="Calibri" pitchFamily="34" charset="0"/>
                <a:ea typeface="Calibri" pitchFamily="34" charset="-122"/>
                <a:cs typeface="Calibri" pitchFamily="34" charset="-120"/>
              </a:rPr>
              <a:t>We are not solving reviewer-to-reviewer variability.</a:t>
            </a:r>
            <a:endParaRPr lang="en-US" sz="1300" dirty="0"/>
          </a:p>
        </p:txBody>
      </p:sp>
      <p:sp>
        <p:nvSpPr>
          <p:cNvPr id="12" name="Text 10"/>
          <p:cNvSpPr txBox="1"/>
          <p:nvPr/>
        </p:nvSpPr>
        <p:spPr>
          <a:xfrm>
            <a:off x="5669280" y="4261104"/>
            <a:ext cx="5559552" cy="502920"/>
          </a:xfrm>
          <a:prstGeom prst="rect">
            <a:avLst/>
          </a:prstGeom>
          <a:noFill/>
          <a:ln/>
        </p:spPr>
        <p:txBody>
          <a:bodyPr wrap="square" lIns="0" tIns="0" rIns="0" bIns="0" rtlCol="0" anchor="ctr"/>
          <a:lstStyle/>
          <a:p>
            <a:pPr indent="0" marL="0">
              <a:buNone/>
            </a:pPr>
            <a:r>
              <a:rPr lang="en-US" sz="1050" dirty="0">
                <a:solidFill>
                  <a:srgbClr val="5C6B66"/>
                </a:solidFill>
                <a:latin typeface="Calibri" pitchFamily="34" charset="0"/>
                <a:ea typeface="Calibri" pitchFamily="34" charset="-122"/>
                <a:cs typeface="Calibri" pitchFamily="34" charset="-120"/>
              </a:rPr>
              <a:t>Citations should help, since two reviewers looking at the same cited criteria should land closer together. But consistency is not what we are optimising for.</a:t>
            </a:r>
            <a:endParaRPr lang="en-US" sz="1050" dirty="0"/>
          </a:p>
        </p:txBody>
      </p:sp>
      <p:sp>
        <p:nvSpPr>
          <p:cNvPr id="13" name="Shape 11"/>
          <p:cNvSpPr/>
          <p:nvPr/>
        </p:nvSpPr>
        <p:spPr>
          <a:xfrm>
            <a:off x="640080" y="4992624"/>
            <a:ext cx="10908792" cy="777240"/>
          </a:xfrm>
          <a:prstGeom prst="roundRect">
            <a:avLst>
              <a:gd name="adj" fmla="val 5882"/>
            </a:avLst>
          </a:prstGeom>
          <a:solidFill>
            <a:srgbClr val="EFF4F1"/>
          </a:solidFill>
          <a:ln w="9525">
            <a:solidFill>
              <a:srgbClr val="D9E1DD"/>
            </a:solidFill>
            <a:prstDash val="solid"/>
          </a:ln>
        </p:spPr>
      </p:sp>
      <p:sp>
        <p:nvSpPr>
          <p:cNvPr id="14" name="Text 12"/>
          <p:cNvSpPr txBox="1"/>
          <p:nvPr/>
        </p:nvSpPr>
        <p:spPr>
          <a:xfrm>
            <a:off x="914400" y="5138928"/>
            <a:ext cx="4480560" cy="502920"/>
          </a:xfrm>
          <a:prstGeom prst="rect">
            <a:avLst/>
          </a:prstGeom>
          <a:noFill/>
          <a:ln/>
        </p:spPr>
        <p:txBody>
          <a:bodyPr wrap="square" lIns="0" tIns="0" rIns="0" bIns="0" rtlCol="0" anchor="ctr"/>
          <a:lstStyle/>
          <a:p>
            <a:pPr indent="0" marL="0">
              <a:buNone/>
            </a:pPr>
            <a:r>
              <a:rPr lang="en-US" sz="1300" b="1" dirty="0">
                <a:solidFill>
                  <a:srgbClr val="16211E"/>
                </a:solidFill>
                <a:latin typeface="Calibri" pitchFamily="34" charset="0"/>
                <a:ea typeface="Calibri" pitchFamily="34" charset="-122"/>
                <a:cs typeface="Calibri" pitchFamily="34" charset="-120"/>
              </a:rPr>
              <a:t>The member stays out of version one.</a:t>
            </a:r>
            <a:endParaRPr lang="en-US" sz="1300" dirty="0"/>
          </a:p>
        </p:txBody>
      </p:sp>
      <p:sp>
        <p:nvSpPr>
          <p:cNvPr id="15" name="Text 13"/>
          <p:cNvSpPr txBox="1"/>
          <p:nvPr/>
        </p:nvSpPr>
        <p:spPr>
          <a:xfrm>
            <a:off x="5669280" y="5138928"/>
            <a:ext cx="5559552" cy="502920"/>
          </a:xfrm>
          <a:prstGeom prst="rect">
            <a:avLst/>
          </a:prstGeom>
          <a:noFill/>
          <a:ln/>
        </p:spPr>
        <p:txBody>
          <a:bodyPr wrap="square" lIns="0" tIns="0" rIns="0" bIns="0" rtlCol="0" anchor="ctr"/>
          <a:lstStyle/>
          <a:p>
            <a:pPr indent="0" marL="0">
              <a:buNone/>
            </a:pPr>
            <a:r>
              <a:rPr lang="en-US" sz="1050" dirty="0">
                <a:solidFill>
                  <a:srgbClr val="5C6B66"/>
                </a:solidFill>
                <a:latin typeface="Calibri" pitchFamily="34" charset="0"/>
                <a:ea typeface="Calibri" pitchFamily="34" charset="-122"/>
                <a:cs typeface="Calibri" pitchFamily="34" charset="-120"/>
              </a:rPr>
              <a:t>Visibility is coming anyway under the 2027 Patient Access API. A named later phase, not a gap we missed.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050" b="1" spc="220" kern="0" dirty="0">
                <a:solidFill>
                  <a:srgbClr val="1F6F5C"/>
                </a:solidFill>
                <a:latin typeface="Calibri" pitchFamily="34" charset="0"/>
                <a:ea typeface="Calibri" pitchFamily="34" charset="-122"/>
                <a:cs typeface="Calibri" pitchFamily="34" charset="-120"/>
              </a:rPr>
              <a:t>THE CONSTRAINT</a:t>
            </a:r>
            <a:endParaRPr lang="en-US" sz="1050" dirty="0"/>
          </a:p>
        </p:txBody>
      </p:sp>
      <p:sp>
        <p:nvSpPr>
          <p:cNvPr id="3" name="Text 1"/>
          <p:cNvSpPr txBox="1"/>
          <p:nvPr/>
        </p:nvSpPr>
        <p:spPr>
          <a:xfrm>
            <a:off x="640080" y="694944"/>
            <a:ext cx="10908792" cy="713232"/>
          </a:xfrm>
          <a:prstGeom prst="rect">
            <a:avLst/>
          </a:prstGeom>
          <a:noFill/>
          <a:ln/>
        </p:spPr>
        <p:txBody>
          <a:bodyPr wrap="square" lIns="0" tIns="0" rIns="0" bIns="0" rtlCol="0" anchor="t"/>
          <a:lstStyle/>
          <a:p>
            <a:pPr indent="0" marL="0">
              <a:buNone/>
            </a:pPr>
            <a:r>
              <a:rPr lang="en-US" sz="3200" dirty="0">
                <a:solidFill>
                  <a:srgbClr val="16211E"/>
                </a:solidFill>
                <a:latin typeface="Cambria" pitchFamily="34" charset="0"/>
                <a:ea typeface="Cambria" pitchFamily="34" charset="-122"/>
                <a:cs typeface="Cambria" pitchFamily="34" charset="-120"/>
              </a:rPr>
              <a:t>The hierarchy is a legal constraint, not a preference.</a:t>
            </a:r>
            <a:endParaRPr lang="en-US" sz="3200" dirty="0"/>
          </a:p>
        </p:txBody>
      </p:sp>
      <p:sp>
        <p:nvSpPr>
          <p:cNvPr id="4" name="Shape 2"/>
          <p:cNvSpPr/>
          <p:nvPr/>
        </p:nvSpPr>
        <p:spPr>
          <a:xfrm>
            <a:off x="640080" y="1874520"/>
            <a:ext cx="5852160" cy="749808"/>
          </a:xfrm>
          <a:prstGeom prst="roundRect">
            <a:avLst>
              <a:gd name="adj" fmla="val 4878"/>
            </a:avLst>
          </a:prstGeom>
          <a:solidFill>
            <a:srgbClr val="1F6F5C"/>
          </a:solidFill>
          <a:ln w="9525">
            <a:solidFill>
              <a:srgbClr val="1F6F5C"/>
            </a:solidFill>
            <a:prstDash val="solid"/>
          </a:ln>
        </p:spPr>
      </p:sp>
      <p:sp>
        <p:nvSpPr>
          <p:cNvPr id="5" name="Text 3"/>
          <p:cNvSpPr txBox="1"/>
          <p:nvPr/>
        </p:nvSpPr>
        <p:spPr>
          <a:xfrm>
            <a:off x="914400" y="2075688"/>
            <a:ext cx="365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2075688"/>
            <a:ext cx="48463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National Coverage Determinations  (NCD)</a:t>
            </a:r>
            <a:endParaRPr lang="en-US" sz="1500" dirty="0"/>
          </a:p>
        </p:txBody>
      </p:sp>
      <p:sp>
        <p:nvSpPr>
          <p:cNvPr id="7" name="Shape 5"/>
          <p:cNvSpPr/>
          <p:nvPr/>
        </p:nvSpPr>
        <p:spPr>
          <a:xfrm>
            <a:off x="640080" y="2761488"/>
            <a:ext cx="5394960" cy="749808"/>
          </a:xfrm>
          <a:prstGeom prst="roundRect">
            <a:avLst>
              <a:gd name="adj" fmla="val 4878"/>
            </a:avLst>
          </a:prstGeom>
          <a:solidFill>
            <a:srgbClr val="2F8672"/>
          </a:solidFill>
          <a:ln w="9525">
            <a:solidFill>
              <a:srgbClr val="2F8672"/>
            </a:solidFill>
            <a:prstDash val="solid"/>
          </a:ln>
        </p:spPr>
      </p:sp>
      <p:sp>
        <p:nvSpPr>
          <p:cNvPr id="8" name="Text 6"/>
          <p:cNvSpPr txBox="1"/>
          <p:nvPr/>
        </p:nvSpPr>
        <p:spPr>
          <a:xfrm>
            <a:off x="914400" y="2962656"/>
            <a:ext cx="365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962656"/>
            <a:ext cx="438912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Local Coverage Determinations  (LCD)</a:t>
            </a:r>
            <a:endParaRPr lang="en-US" sz="1500" dirty="0"/>
          </a:p>
        </p:txBody>
      </p:sp>
      <p:sp>
        <p:nvSpPr>
          <p:cNvPr id="10" name="Shape 8"/>
          <p:cNvSpPr/>
          <p:nvPr/>
        </p:nvSpPr>
        <p:spPr>
          <a:xfrm>
            <a:off x="640080" y="3648456"/>
            <a:ext cx="4937760" cy="749808"/>
          </a:xfrm>
          <a:prstGeom prst="roundRect">
            <a:avLst>
              <a:gd name="adj" fmla="val 4878"/>
            </a:avLst>
          </a:prstGeom>
          <a:solidFill>
            <a:srgbClr val="AFCCC2"/>
          </a:solidFill>
          <a:ln w="9525">
            <a:solidFill>
              <a:srgbClr val="AFCCC2"/>
            </a:solidFill>
            <a:prstDash val="solid"/>
          </a:ln>
        </p:spPr>
      </p:sp>
      <p:sp>
        <p:nvSpPr>
          <p:cNvPr id="11" name="Text 9"/>
          <p:cNvSpPr txBox="1"/>
          <p:nvPr/>
        </p:nvSpPr>
        <p:spPr>
          <a:xfrm>
            <a:off x="914400" y="3849624"/>
            <a:ext cx="365760" cy="365760"/>
          </a:xfrm>
          <a:prstGeom prst="rect">
            <a:avLst/>
          </a:prstGeom>
          <a:noFill/>
          <a:ln/>
        </p:spPr>
        <p:txBody>
          <a:bodyPr wrap="square" lIns="0" tIns="0" rIns="0" bIns="0" rtlCol="0" anchor="ctr"/>
          <a:lstStyle/>
          <a:p>
            <a:pPr indent="0" marL="0">
              <a:buNone/>
            </a:pPr>
            <a:r>
              <a:rPr lang="en-US" sz="1500" b="1" dirty="0">
                <a:solidFill>
                  <a:srgbClr val="16211E"/>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849624"/>
            <a:ext cx="3931920" cy="365760"/>
          </a:xfrm>
          <a:prstGeom prst="rect">
            <a:avLst/>
          </a:prstGeom>
          <a:noFill/>
          <a:ln/>
        </p:spPr>
        <p:txBody>
          <a:bodyPr wrap="square" lIns="0" tIns="0" rIns="0" bIns="0" rtlCol="0" anchor="ctr"/>
          <a:lstStyle/>
          <a:p>
            <a:pPr indent="0" marL="0">
              <a:buNone/>
            </a:pPr>
            <a:r>
              <a:rPr lang="en-US" sz="1500" dirty="0">
                <a:solidFill>
                  <a:srgbClr val="16211E"/>
                </a:solidFill>
                <a:latin typeface="Calibri" pitchFamily="34" charset="0"/>
                <a:ea typeface="Calibri" pitchFamily="34" charset="-122"/>
                <a:cs typeface="Calibri" pitchFamily="34" charset="-120"/>
              </a:rPr>
              <a:t>Humana internal medical policy</a:t>
            </a:r>
            <a:endParaRPr lang="en-US" sz="1500" dirty="0"/>
          </a:p>
        </p:txBody>
      </p:sp>
      <p:sp>
        <p:nvSpPr>
          <p:cNvPr id="13" name="Shape 11"/>
          <p:cNvSpPr/>
          <p:nvPr/>
        </p:nvSpPr>
        <p:spPr>
          <a:xfrm>
            <a:off x="640080" y="4535424"/>
            <a:ext cx="4480560" cy="749808"/>
          </a:xfrm>
          <a:prstGeom prst="roundRect">
            <a:avLst>
              <a:gd name="adj" fmla="val 4878"/>
            </a:avLst>
          </a:prstGeom>
          <a:solidFill>
            <a:srgbClr val="EFF4F1"/>
          </a:solidFill>
          <a:ln w="9525">
            <a:solidFill>
              <a:srgbClr val="D9E1DD"/>
            </a:solidFill>
            <a:prstDash val="solid"/>
          </a:ln>
        </p:spPr>
      </p:sp>
      <p:sp>
        <p:nvSpPr>
          <p:cNvPr id="14" name="Text 12"/>
          <p:cNvSpPr txBox="1"/>
          <p:nvPr/>
        </p:nvSpPr>
        <p:spPr>
          <a:xfrm>
            <a:off x="914400" y="4736592"/>
            <a:ext cx="365760" cy="365760"/>
          </a:xfrm>
          <a:prstGeom prst="rect">
            <a:avLst/>
          </a:prstGeom>
          <a:noFill/>
          <a:ln/>
        </p:spPr>
        <p:txBody>
          <a:bodyPr wrap="square" lIns="0" tIns="0" rIns="0" bIns="0" rtlCol="0" anchor="ctr"/>
          <a:lstStyle/>
          <a:p>
            <a:pPr indent="0" marL="0">
              <a:buNone/>
            </a:pPr>
            <a:r>
              <a:rPr lang="en-US" sz="1500" b="1" dirty="0">
                <a:solidFill>
                  <a:srgbClr val="5C6B66"/>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736592"/>
            <a:ext cx="3474720" cy="365760"/>
          </a:xfrm>
          <a:prstGeom prst="rect">
            <a:avLst/>
          </a:prstGeom>
          <a:noFill/>
          <a:ln/>
        </p:spPr>
        <p:txBody>
          <a:bodyPr wrap="square" lIns="0" tIns="0" rIns="0" bIns="0" rtlCol="0" anchor="ctr"/>
          <a:lstStyle/>
          <a:p>
            <a:pPr indent="0" marL="0">
              <a:buNone/>
            </a:pPr>
            <a:r>
              <a:rPr lang="en-US" sz="1500" dirty="0">
                <a:solidFill>
                  <a:srgbClr val="5C6B66"/>
                </a:solidFill>
                <a:latin typeface="Calibri" pitchFamily="34" charset="0"/>
                <a:ea typeface="Calibri" pitchFamily="34" charset="-122"/>
                <a:cs typeface="Calibri" pitchFamily="34" charset="-120"/>
              </a:rPr>
              <a:t>MCG and other commercial criteria sets</a:t>
            </a:r>
            <a:endParaRPr lang="en-US" sz="1500" dirty="0"/>
          </a:p>
        </p:txBody>
      </p:sp>
      <p:sp>
        <p:nvSpPr>
          <p:cNvPr id="16" name="Shape 14"/>
          <p:cNvSpPr/>
          <p:nvPr/>
        </p:nvSpPr>
        <p:spPr>
          <a:xfrm>
            <a:off x="7040880" y="1874520"/>
            <a:ext cx="4507992" cy="2468880"/>
          </a:xfrm>
          <a:prstGeom prst="roundRect">
            <a:avLst>
              <a:gd name="adj" fmla="val 1852"/>
            </a:avLst>
          </a:prstGeom>
          <a:solidFill>
            <a:srgbClr val="F8E8E5"/>
          </a:solidFill>
          <a:ln w="9525">
            <a:solidFill>
              <a:srgbClr val="E9C9C3"/>
            </a:solidFill>
            <a:prstDash val="solid"/>
          </a:ln>
        </p:spPr>
      </p:sp>
      <p:sp>
        <p:nvSpPr>
          <p:cNvPr id="17" name="Text 15"/>
          <p:cNvSpPr txBox="1"/>
          <p:nvPr/>
        </p:nvSpPr>
        <p:spPr>
          <a:xfrm>
            <a:off x="7315200" y="2084832"/>
            <a:ext cx="2743200" cy="274320"/>
          </a:xfrm>
          <a:prstGeom prst="rect">
            <a:avLst/>
          </a:prstGeom>
          <a:noFill/>
          <a:ln/>
        </p:spPr>
        <p:txBody>
          <a:bodyPr wrap="square" lIns="0" tIns="0" rIns="0" bIns="0" rtlCol="0" anchor="ctr"/>
          <a:lstStyle/>
          <a:p>
            <a:pPr indent="0" marL="0">
              <a:buNone/>
            </a:pPr>
            <a:r>
              <a:rPr lang="en-US" sz="1100" b="1" spc="160" kern="0" dirty="0">
                <a:solidFill>
                  <a:srgbClr val="A3342B"/>
                </a:solidFill>
                <a:latin typeface="Calibri" pitchFamily="34" charset="0"/>
                <a:ea typeface="Calibri" pitchFamily="34" charset="-122"/>
                <a:cs typeface="Calibri" pitchFamily="34" charset="-120"/>
              </a:rPr>
              <a:t>CMS-4201-F</a:t>
            </a:r>
            <a:endParaRPr lang="en-US" sz="1100" dirty="0"/>
          </a:p>
        </p:txBody>
      </p:sp>
      <p:sp>
        <p:nvSpPr>
          <p:cNvPr id="18" name="Text 16"/>
          <p:cNvSpPr txBox="1"/>
          <p:nvPr/>
        </p:nvSpPr>
        <p:spPr>
          <a:xfrm>
            <a:off x="7315200" y="2432304"/>
            <a:ext cx="3959352" cy="1737360"/>
          </a:xfrm>
          <a:prstGeom prst="rect">
            <a:avLst/>
          </a:prstGeom>
          <a:noFill/>
          <a:ln/>
        </p:spPr>
        <p:txBody>
          <a:bodyPr wrap="square" lIns="0" tIns="0" rIns="0" bIns="0" rtlCol="0" anchor="ctr"/>
          <a:lstStyle/>
          <a:p>
            <a:pPr indent="0" marL="0">
              <a:buNone/>
            </a:pPr>
            <a:r>
              <a:rPr lang="en-US" sz="1250" dirty="0">
                <a:solidFill>
                  <a:srgbClr val="16211E"/>
                </a:solidFill>
                <a:latin typeface="Calibri" pitchFamily="34" charset="0"/>
                <a:ea typeface="Calibri" pitchFamily="34" charset="-122"/>
                <a:cs typeface="Calibri" pitchFamily="34" charset="-120"/>
              </a:rPr>
              <a:t>Medicare Advantage plans may not use MCG or InterQual to change coverage criteria already established under Traditional Medicare. Commercial criteria may only assist in creating internal criteria where Medicare is silent.</a:t>
            </a:r>
            <a:endParaRPr lang="en-US" sz="1250" dirty="0"/>
          </a:p>
        </p:txBody>
      </p:sp>
      <p:sp>
        <p:nvSpPr>
          <p:cNvPr id="19" name="Text 17"/>
          <p:cNvSpPr txBox="1"/>
          <p:nvPr/>
        </p:nvSpPr>
        <p:spPr>
          <a:xfrm>
            <a:off x="640080" y="5486400"/>
            <a:ext cx="10908792" cy="822960"/>
          </a:xfrm>
          <a:prstGeom prst="rect">
            <a:avLst/>
          </a:prstGeom>
          <a:noFill/>
          <a:ln/>
        </p:spPr>
        <p:txBody>
          <a:bodyPr wrap="square" lIns="0" tIns="0" rIns="0" bIns="0" rtlCol="0" anchor="ctr"/>
          <a:lstStyle/>
          <a:p>
            <a:pPr indent="0" marL="0">
              <a:lnSpc>
                <a:spcPct val="115000"/>
              </a:lnSpc>
              <a:buNone/>
            </a:pPr>
            <a:r>
              <a:rPr lang="en-US" sz="2000" dirty="0">
                <a:solidFill>
                  <a:srgbClr val="16211E"/>
                </a:solidFill>
                <a:latin typeface="Cambria" pitchFamily="34" charset="0"/>
                <a:ea typeface="Cambria" pitchFamily="34" charset="-122"/>
                <a:cs typeface="Cambria" pitchFamily="34" charset="-120"/>
              </a:rPr>
              <a:t>So every recommendation has to name which source drove it.</a:t>
            </a:r>
            <a:endParaRPr lang="en-US" sz="2000" dirty="0"/>
          </a:p>
          <a:p>
            <a:pPr indent="0" marL="0">
              <a:lnSpc>
                <a:spcPct val="115000"/>
              </a:lnSpc>
              <a:buNone/>
            </a:pPr>
            <a:r>
              <a:rPr lang="en-US" sz="2000" dirty="0">
                <a:solidFill>
                  <a:srgbClr val="16211E"/>
                </a:solidFill>
                <a:latin typeface="Cambria" pitchFamily="34" charset="0"/>
                <a:ea typeface="Cambria" pitchFamily="34" charset="-122"/>
                <a:cs typeface="Cambria" pitchFamily="34" charset="-120"/>
              </a:rPr>
              <a:t>Citation is not a trust feature. It is a compliance requirement.</a:t>
            </a:r>
            <a:endParaRPr lang="en-US" sz="2000" dirty="0"/>
          </a:p>
        </p:txBody>
      </p:sp>
      <p:sp>
        <p:nvSpPr>
          <p:cNvPr id="20" name="Text 18"/>
          <p:cNvSpPr txBox="1"/>
          <p:nvPr/>
        </p:nvSpPr>
        <p:spPr>
          <a:xfrm>
            <a:off x="640080" y="6400800"/>
            <a:ext cx="10908792" cy="274320"/>
          </a:xfrm>
          <a:prstGeom prst="rect">
            <a:avLst/>
          </a:prstGeom>
          <a:noFill/>
          <a:ln/>
        </p:spPr>
        <p:txBody>
          <a:bodyPr wrap="square" lIns="0" tIns="0" rIns="0" bIns="0" rtlCol="0" anchor="ctr"/>
          <a:lstStyle/>
          <a:p>
            <a:pPr indent="0" marL="0">
              <a:buNone/>
            </a:pPr>
            <a:r>
              <a:rPr lang="en-US" sz="900" b="1" spc="120" kern="0" dirty="0">
                <a:solidFill>
                  <a:srgbClr val="8A9793"/>
                </a:solidFill>
                <a:latin typeface="Calibri" pitchFamily="34" charset="0"/>
                <a:ea typeface="Calibri" pitchFamily="34" charset="-122"/>
                <a:cs typeface="Calibri" pitchFamily="34" charset="-120"/>
              </a:rPr>
              <a:t>SOURCE   CMS-4201-F (cms.gov/newsroom/fact-sheets/2024-medicare-advantage-and-part-d-final-rule-cms-4201-f)</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 Authorization Decision Support</dc:title>
  <dc:subject>PptxGenJS Presentation</dc:subject>
  <dc:creator>Nisha Mishra</dc:creator>
  <cp:lastModifiedBy>Nisha Mishra</cp:lastModifiedBy>
  <cp:revision>1</cp:revision>
  <dcterms:created xsi:type="dcterms:W3CDTF">2026-09-25T21:45:10Z</dcterms:created>
  <dcterms:modified xsi:type="dcterms:W3CDTF">2026-09-25T21:45:10Z</dcterms:modified>
</cp:coreProperties>
</file>